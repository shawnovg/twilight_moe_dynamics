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6.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7.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fe6066a15e4de2" /><Relationship Type="http://schemas.openxmlformats.org/officeDocument/2006/relationships/extended-properties" Target="/docProps/app.xml" Id="Rbcd79957152940f1" /><Relationship Type="http://schemas.openxmlformats.org/officeDocument/2006/relationships/officeDocument" Target="/ppt/presentation.xml" Id="R9ae4e55335034859" /></Relationships>
</file>

<file path=ppt/presentation.xml><?xml version="1.0" encoding="utf-8"?>
<p:presentation xmlns:p="http://schemas.openxmlformats.org/presentationml/2006/main">
  <p:sldMasterIdLst>
    <p:sldMasterId xmlns:r="http://schemas.openxmlformats.org/officeDocument/2006/relationships" id="2147483648" r:id="Rc70f7d00adf24ba9"/>
  </p:sldMasterIdLst>
  <p:notesMasterIdLst>
    <p:notesMasterId xmlns:r="http://schemas.openxmlformats.org/officeDocument/2006/relationships" r:id="R2e27a15c6a21462f"/>
  </p:notesMasterIdLst>
  <p:sldIdLst>
    <p:sldId xmlns:r="http://schemas.openxmlformats.org/officeDocument/2006/relationships" id="256" r:id="Rc50975eb3c374a17"/>
    <p:sldId xmlns:r="http://schemas.openxmlformats.org/officeDocument/2006/relationships" id="257" r:id="R49307e7b772d4fb7"/>
    <p:sldId xmlns:r="http://schemas.openxmlformats.org/officeDocument/2006/relationships" id="258" r:id="R2ce9dddc99f94178"/>
    <p:sldId xmlns:r="http://schemas.openxmlformats.org/officeDocument/2006/relationships" id="259" r:id="Rce968457adb24f8d"/>
    <p:sldId xmlns:r="http://schemas.openxmlformats.org/officeDocument/2006/relationships" id="260" r:id="R58f0fc7c5feb45f8"/>
    <p:sldId xmlns:r="http://schemas.openxmlformats.org/officeDocument/2006/relationships" id="261" r:id="R192f5d0effa44f6d"/>
    <p:sldId xmlns:r="http://schemas.openxmlformats.org/officeDocument/2006/relationships" id="262" r:id="Rf513da4e15404d99"/>
    <p:sldId xmlns:r="http://schemas.openxmlformats.org/officeDocument/2006/relationships" id="263" r:id="R53d6e662563c4bfe"/>
    <p:sldId xmlns:r="http://schemas.openxmlformats.org/officeDocument/2006/relationships" id="264" r:id="Rf82c945481c84a8e"/>
    <p:sldId xmlns:r="http://schemas.openxmlformats.org/officeDocument/2006/relationships" id="265" r:id="R59743fb8b7044d4e"/>
    <p:sldId xmlns:r="http://schemas.openxmlformats.org/officeDocument/2006/relationships" id="266" r:id="R90e1ba912a5349e9"/>
    <p:sldId xmlns:r="http://schemas.openxmlformats.org/officeDocument/2006/relationships" id="267" r:id="R8f0beb43429b4c21"/>
    <p:sldId xmlns:r="http://schemas.openxmlformats.org/officeDocument/2006/relationships" id="268" r:id="Ra63f25fccc1e4436"/>
    <p:sldId xmlns:r="http://schemas.openxmlformats.org/officeDocument/2006/relationships" id="269" r:id="R7aa5bad1e3e14278"/>
    <p:sldId xmlns:r="http://schemas.openxmlformats.org/officeDocument/2006/relationships" id="270" r:id="R290436692963423f"/>
    <p:sldId xmlns:r="http://schemas.openxmlformats.org/officeDocument/2006/relationships" id="271" r:id="Rcd007bf5c7cc47e3"/>
    <p:sldId xmlns:r="http://schemas.openxmlformats.org/officeDocument/2006/relationships" id="272" r:id="R8abe2597194141d5"/>
    <p:sldId xmlns:r="http://schemas.openxmlformats.org/officeDocument/2006/relationships" id="273" r:id="Rc8aa60e616ca4910"/>
    <p:sldId xmlns:r="http://schemas.openxmlformats.org/officeDocument/2006/relationships" id="274" r:id="Rff65a35b05d54746"/>
    <p:sldId xmlns:r="http://schemas.openxmlformats.org/officeDocument/2006/relationships" id="275" r:id="R3ecbeefd45034e66"/>
    <p:sldId xmlns:r="http://schemas.openxmlformats.org/officeDocument/2006/relationships" id="276" r:id="R9b5f8e4975604573"/>
    <p:sldId xmlns:r="http://schemas.openxmlformats.org/officeDocument/2006/relationships" id="277" r:id="Rac85ca695f0e4129"/>
    <p:sldId xmlns:r="http://schemas.openxmlformats.org/officeDocument/2006/relationships" id="278" r:id="Rf0825ec09ec34c69"/>
    <p:sldId xmlns:r="http://schemas.openxmlformats.org/officeDocument/2006/relationships" id="279" r:id="R5275b8a724b14bd8"/>
    <p:sldId xmlns:r="http://schemas.openxmlformats.org/officeDocument/2006/relationships" id="280" r:id="R07b72b0a10a34200"/>
    <p:sldId xmlns:r="http://schemas.openxmlformats.org/officeDocument/2006/relationships" id="281" r:id="R4cca797c98a54300"/>
    <p:sldId xmlns:r="http://schemas.openxmlformats.org/officeDocument/2006/relationships" id="282" r:id="Rb90f8e428d1b4402"/>
    <p:sldId xmlns:r="http://schemas.openxmlformats.org/officeDocument/2006/relationships" id="283" r:id="R2d86d53927924676"/>
    <p:sldId xmlns:r="http://schemas.openxmlformats.org/officeDocument/2006/relationships" id="284" r:id="Rf2a87b404451458d"/>
    <p:sldId xmlns:r="http://schemas.openxmlformats.org/officeDocument/2006/relationships" id="285" r:id="R45a0c001e9244cf5"/>
    <p:sldId xmlns:r="http://schemas.openxmlformats.org/officeDocument/2006/relationships" id="286" r:id="R4d2380f40a674159"/>
    <p:sldId xmlns:r="http://schemas.openxmlformats.org/officeDocument/2006/relationships" id="287" r:id="Re80a7f9477ee4183"/>
    <p:sldId xmlns:r="http://schemas.openxmlformats.org/officeDocument/2006/relationships" id="288" r:id="R7c652e2bbfb94a0b"/>
    <p:sldId xmlns:r="http://schemas.openxmlformats.org/officeDocument/2006/relationships" id="289" r:id="R8049b1ebc3be47be"/>
    <p:sldId xmlns:r="http://schemas.openxmlformats.org/officeDocument/2006/relationships" id="290" r:id="Ree6ad0e91dfe499a"/>
    <p:sldId xmlns:r="http://schemas.openxmlformats.org/officeDocument/2006/relationships" id="291" r:id="R2d330ef51caa4a3f"/>
    <p:sldId xmlns:r="http://schemas.openxmlformats.org/officeDocument/2006/relationships" id="292" r:id="R517e572833ef4af9"/>
    <p:sldId xmlns:r="http://schemas.openxmlformats.org/officeDocument/2006/relationships" id="293" r:id="R3c9b85c4fb9e41d0"/>
    <p:sldId xmlns:r="http://schemas.openxmlformats.org/officeDocument/2006/relationships" id="294" r:id="Rd492193d1aca4cfe"/>
    <p:sldId xmlns:r="http://schemas.openxmlformats.org/officeDocument/2006/relationships" id="295" r:id="R2046db671fc0480e"/>
    <p:sldId xmlns:r="http://schemas.openxmlformats.org/officeDocument/2006/relationships" id="296" r:id="R76d051e63da142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dca4ad35f64a6f" /><Relationship Type="http://schemas.openxmlformats.org/officeDocument/2006/relationships/slideMaster" Target="/ppt/slideMasters/slideMaster1.xml" Id="Rc70f7d00adf24ba9" /><Relationship Type="http://schemas.openxmlformats.org/officeDocument/2006/relationships/notesMaster" Target="/ppt/notesMasters/notesMaster1.xml" Id="R2e27a15c6a21462f" /><Relationship Type="http://schemas.openxmlformats.org/officeDocument/2006/relationships/presProps" Target="/ppt/presProps.xml" Id="R4d7036d3f17b4553" /><Relationship Type="http://schemas.openxmlformats.org/officeDocument/2006/relationships/tableStyles" Target="/ppt/tableStyles.xml" Id="R4a9d698642dc4de5" /><Relationship Type="http://schemas.openxmlformats.org/officeDocument/2006/relationships/slide" Target="/ppt/slides/slide1.xml" Id="Rc50975eb3c374a17" /><Relationship Type="http://schemas.openxmlformats.org/officeDocument/2006/relationships/slide" Target="/ppt/slides/slide2.xml" Id="R49307e7b772d4fb7" /><Relationship Type="http://schemas.openxmlformats.org/officeDocument/2006/relationships/slide" Target="/ppt/slides/slide3.xml" Id="R2ce9dddc99f94178" /><Relationship Type="http://schemas.openxmlformats.org/officeDocument/2006/relationships/slide" Target="/ppt/slides/slide4.xml" Id="Rce968457adb24f8d" /><Relationship Type="http://schemas.openxmlformats.org/officeDocument/2006/relationships/slide" Target="/ppt/slides/slide5.xml" Id="R58f0fc7c5feb45f8" /><Relationship Type="http://schemas.openxmlformats.org/officeDocument/2006/relationships/slide" Target="/ppt/slides/slide6.xml" Id="R192f5d0effa44f6d" /><Relationship Type="http://schemas.openxmlformats.org/officeDocument/2006/relationships/slide" Target="/ppt/slides/slide7.xml" Id="Rf513da4e15404d99" /><Relationship Type="http://schemas.openxmlformats.org/officeDocument/2006/relationships/slide" Target="/ppt/slides/slide8.xml" Id="R53d6e662563c4bfe" /><Relationship Type="http://schemas.openxmlformats.org/officeDocument/2006/relationships/slide" Target="/ppt/slides/slide9.xml" Id="Rf82c945481c84a8e" /><Relationship Type="http://schemas.openxmlformats.org/officeDocument/2006/relationships/slide" Target="/ppt/slides/slide10.xml" Id="R59743fb8b7044d4e" /><Relationship Type="http://schemas.openxmlformats.org/officeDocument/2006/relationships/slide" Target="/ppt/slides/slide11.xml" Id="R90e1ba912a5349e9" /><Relationship Type="http://schemas.openxmlformats.org/officeDocument/2006/relationships/slide" Target="/ppt/slides/slide12.xml" Id="R8f0beb43429b4c21" /><Relationship Type="http://schemas.openxmlformats.org/officeDocument/2006/relationships/slide" Target="/ppt/slides/slide13.xml" Id="Ra63f25fccc1e4436" /><Relationship Type="http://schemas.openxmlformats.org/officeDocument/2006/relationships/slide" Target="/ppt/slides/slide14.xml" Id="R7aa5bad1e3e14278" /><Relationship Type="http://schemas.openxmlformats.org/officeDocument/2006/relationships/slide" Target="/ppt/slides/slide15.xml" Id="R290436692963423f" /><Relationship Type="http://schemas.openxmlformats.org/officeDocument/2006/relationships/slide" Target="/ppt/slides/slide16.xml" Id="Rcd007bf5c7cc47e3" /><Relationship Type="http://schemas.openxmlformats.org/officeDocument/2006/relationships/slide" Target="/ppt/slides/slide17.xml" Id="R8abe2597194141d5" /><Relationship Type="http://schemas.openxmlformats.org/officeDocument/2006/relationships/slide" Target="/ppt/slides/slide18.xml" Id="Rc8aa60e616ca4910" /><Relationship Type="http://schemas.openxmlformats.org/officeDocument/2006/relationships/slide" Target="/ppt/slides/slide19.xml" Id="Rff65a35b05d54746" /><Relationship Type="http://schemas.openxmlformats.org/officeDocument/2006/relationships/slide" Target="/ppt/slides/slide20.xml" Id="R3ecbeefd45034e66" /><Relationship Type="http://schemas.openxmlformats.org/officeDocument/2006/relationships/slide" Target="/ppt/slides/slide21.xml" Id="R9b5f8e4975604573" /><Relationship Type="http://schemas.openxmlformats.org/officeDocument/2006/relationships/slide" Target="/ppt/slides/slide22.xml" Id="Rac85ca695f0e4129" /><Relationship Type="http://schemas.openxmlformats.org/officeDocument/2006/relationships/slide" Target="/ppt/slides/slide23.xml" Id="Rf0825ec09ec34c69" /><Relationship Type="http://schemas.openxmlformats.org/officeDocument/2006/relationships/slide" Target="/ppt/slides/slide24.xml" Id="R5275b8a724b14bd8" /><Relationship Type="http://schemas.openxmlformats.org/officeDocument/2006/relationships/slide" Target="/ppt/slides/slide25.xml" Id="R07b72b0a10a34200" /><Relationship Type="http://schemas.openxmlformats.org/officeDocument/2006/relationships/slide" Target="/ppt/slides/slide26.xml" Id="R4cca797c98a54300" /><Relationship Type="http://schemas.openxmlformats.org/officeDocument/2006/relationships/slide" Target="/ppt/slides/slide27.xml" Id="Rb90f8e428d1b4402" /><Relationship Type="http://schemas.openxmlformats.org/officeDocument/2006/relationships/slide" Target="/ppt/slides/slide28.xml" Id="R2d86d53927924676" /><Relationship Type="http://schemas.openxmlformats.org/officeDocument/2006/relationships/slide" Target="/ppt/slides/slide29.xml" Id="Rf2a87b404451458d" /><Relationship Type="http://schemas.openxmlformats.org/officeDocument/2006/relationships/slide" Target="/ppt/slides/slide30.xml" Id="R45a0c001e9244cf5" /><Relationship Type="http://schemas.openxmlformats.org/officeDocument/2006/relationships/slide" Target="/ppt/slides/slide31.xml" Id="R4d2380f40a674159" /><Relationship Type="http://schemas.openxmlformats.org/officeDocument/2006/relationships/slide" Target="/ppt/slides/slide32.xml" Id="Re80a7f9477ee4183" /><Relationship Type="http://schemas.openxmlformats.org/officeDocument/2006/relationships/slide" Target="/ppt/slides/slide33.xml" Id="R7c652e2bbfb94a0b" /><Relationship Type="http://schemas.openxmlformats.org/officeDocument/2006/relationships/slide" Target="/ppt/slides/slide34.xml" Id="R8049b1ebc3be47be" /><Relationship Type="http://schemas.openxmlformats.org/officeDocument/2006/relationships/slide" Target="/ppt/slides/slide35.xml" Id="Ree6ad0e91dfe499a" /><Relationship Type="http://schemas.openxmlformats.org/officeDocument/2006/relationships/slide" Target="/ppt/slides/slide36.xml" Id="R2d330ef51caa4a3f" /><Relationship Type="http://schemas.openxmlformats.org/officeDocument/2006/relationships/slide" Target="/ppt/slides/slide37.xml" Id="R517e572833ef4af9" /><Relationship Type="http://schemas.openxmlformats.org/officeDocument/2006/relationships/slide" Target="/ppt/slides/slide38.xml" Id="R3c9b85c4fb9e41d0" /><Relationship Type="http://schemas.openxmlformats.org/officeDocument/2006/relationships/slide" Target="/ppt/slides/slide39.xml" Id="Rd492193d1aca4cfe" /><Relationship Type="http://schemas.openxmlformats.org/officeDocument/2006/relationships/slide" Target="/ppt/slides/slide40.xml" Id="R2046db671fc0480e" /><Relationship Type="http://schemas.openxmlformats.org/officeDocument/2006/relationships/slide" Target="/ppt/slides/slide41.xml" Id="R76d051e63da142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0d3b6d594c4b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296ef28bff4ac0" /><Relationship Type="http://schemas.openxmlformats.org/officeDocument/2006/relationships/notesMaster" Target="/ppt/notesMasters/notesMaster1.xml" Id="R8f64ad53570245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acfb973eff415f" /><Relationship Type="http://schemas.openxmlformats.org/officeDocument/2006/relationships/notesMaster" Target="/ppt/notesMasters/notesMaster1.xml" Id="Re69a1d4d0a1645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784940e45c46e5" /><Relationship Type="http://schemas.openxmlformats.org/officeDocument/2006/relationships/notesMaster" Target="/ppt/notesMasters/notesMaster1.xml" Id="Rcbcba978a9af4f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52179ece6845e3" /><Relationship Type="http://schemas.openxmlformats.org/officeDocument/2006/relationships/notesMaster" Target="/ppt/notesMasters/notesMaster1.xml" Id="R9eee705e048049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e71092776c46aa" /><Relationship Type="http://schemas.openxmlformats.org/officeDocument/2006/relationships/notesMaster" Target="/ppt/notesMasters/notesMaster1.xml" Id="R771287b2a5a149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6d2d8a8535427f" /><Relationship Type="http://schemas.openxmlformats.org/officeDocument/2006/relationships/notesMaster" Target="/ppt/notesMasters/notesMaster1.xml" Id="R200d6d65af3842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5983f7e63d4b4a" /><Relationship Type="http://schemas.openxmlformats.org/officeDocument/2006/relationships/notesMaster" Target="/ppt/notesMasters/notesMaster1.xml" Id="Ra130de46df6a46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28cfcba6e940e7" /><Relationship Type="http://schemas.openxmlformats.org/officeDocument/2006/relationships/notesMaster" Target="/ppt/notesMasters/notesMaster1.xml" Id="R7794c5aa37ba4c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622aa91903408e" /><Relationship Type="http://schemas.openxmlformats.org/officeDocument/2006/relationships/notesMaster" Target="/ppt/notesMasters/notesMaster1.xml" Id="Rc809971a9eed42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39a6417cf44bc5" /><Relationship Type="http://schemas.openxmlformats.org/officeDocument/2006/relationships/notesMaster" Target="/ppt/notesMasters/notesMaster1.xml" Id="Rdb4d4953a04644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b6af30d368426c" /><Relationship Type="http://schemas.openxmlformats.org/officeDocument/2006/relationships/notesMaster" Target="/ppt/notesMasters/notesMaster1.xml" Id="R9533fe13e9fc46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ed92dec8e043bc" /><Relationship Type="http://schemas.openxmlformats.org/officeDocument/2006/relationships/notesMaster" Target="/ppt/notesMasters/notesMaster1.xml" Id="R311d2988248c49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d7dee2d1774f03" /><Relationship Type="http://schemas.openxmlformats.org/officeDocument/2006/relationships/notesMaster" Target="/ppt/notesMasters/notesMaster1.xml" Id="R09dd33f889fa40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d2bcd0c96f4c83" /><Relationship Type="http://schemas.openxmlformats.org/officeDocument/2006/relationships/notesMaster" Target="/ppt/notesMasters/notesMaster1.xml" Id="R8b289e33f96146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6a74811fb541cc" /><Relationship Type="http://schemas.openxmlformats.org/officeDocument/2006/relationships/notesMaster" Target="/ppt/notesMasters/notesMaster1.xml" Id="R91cecd85fa344c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f5ffab569e43c7" /><Relationship Type="http://schemas.openxmlformats.org/officeDocument/2006/relationships/notesMaster" Target="/ppt/notesMasters/notesMaster1.xml" Id="Rfc344153c26347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c730ce9def409f" /><Relationship Type="http://schemas.openxmlformats.org/officeDocument/2006/relationships/notesMaster" Target="/ppt/notesMasters/notesMaster1.xml" Id="Re6ad0a6df07442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ad34f591154fc7" /><Relationship Type="http://schemas.openxmlformats.org/officeDocument/2006/relationships/notesMaster" Target="/ppt/notesMasters/notesMaster1.xml" Id="R9b31b1434e6548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ff1b44b7c8429d" /><Relationship Type="http://schemas.openxmlformats.org/officeDocument/2006/relationships/notesMaster" Target="/ppt/notesMasters/notesMaster1.xml" Id="R5fc40864d4204f3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cb57d4dd4f4195" /><Relationship Type="http://schemas.openxmlformats.org/officeDocument/2006/relationships/notesMaster" Target="/ppt/notesMasters/notesMaster1.xml" Id="R478c3c9d54cb43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b32015bb5045e7" /><Relationship Type="http://schemas.openxmlformats.org/officeDocument/2006/relationships/notesMaster" Target="/ppt/notesMasters/notesMaster1.xml" Id="R6de65decb86b45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59e570325040ec" /><Relationship Type="http://schemas.openxmlformats.org/officeDocument/2006/relationships/notesMaster" Target="/ppt/notesMasters/notesMaster1.xml" Id="Rbe99473a8f20402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777145b304f48b6" /><Relationship Type="http://schemas.openxmlformats.org/officeDocument/2006/relationships/notesMaster" Target="/ppt/notesMasters/notesMaster1.xml" Id="R264c97afe26949d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5fdd99b8e548a3" /><Relationship Type="http://schemas.openxmlformats.org/officeDocument/2006/relationships/notesMaster" Target="/ppt/notesMasters/notesMaster1.xml" Id="R4d2803a505d04e1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31490eef94e4ba3" /><Relationship Type="http://schemas.openxmlformats.org/officeDocument/2006/relationships/notesMaster" Target="/ppt/notesMasters/notesMaster1.xml" Id="R1cb774cb6940480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a5f066dba744f24" /><Relationship Type="http://schemas.openxmlformats.org/officeDocument/2006/relationships/notesMaster" Target="/ppt/notesMasters/notesMaster1.xml" Id="Rfec82b26448c4ad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3861fd98064655" /><Relationship Type="http://schemas.openxmlformats.org/officeDocument/2006/relationships/notesMaster" Target="/ppt/notesMasters/notesMaster1.xml" Id="R491a57085f44447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2880e0aa40f47dc" /><Relationship Type="http://schemas.openxmlformats.org/officeDocument/2006/relationships/notesMaster" Target="/ppt/notesMasters/notesMaster1.xml" Id="R6c41ef4cc3f14aa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8181af1713345a0" /><Relationship Type="http://schemas.openxmlformats.org/officeDocument/2006/relationships/notesMaster" Target="/ppt/notesMasters/notesMaster1.xml" Id="R9e688a11a9fd4b3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bb7e5650de4edb" /><Relationship Type="http://schemas.openxmlformats.org/officeDocument/2006/relationships/notesMaster" Target="/ppt/notesMasters/notesMaster1.xml" Id="Rd0fc21ddd15e4d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3c6599743f048c3" /><Relationship Type="http://schemas.openxmlformats.org/officeDocument/2006/relationships/notesMaster" Target="/ppt/notesMasters/notesMaster1.xml" Id="R6a72d44245294e1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e70590d8d649ca" /><Relationship Type="http://schemas.openxmlformats.org/officeDocument/2006/relationships/notesMaster" Target="/ppt/notesMasters/notesMaster1.xml" Id="R6c2c8e0ab7784eb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5ff6710c9a4424d" /><Relationship Type="http://schemas.openxmlformats.org/officeDocument/2006/relationships/notesMaster" Target="/ppt/notesMasters/notesMaster1.xml" Id="R71aed9c797d5481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678c4db8579485e" /><Relationship Type="http://schemas.openxmlformats.org/officeDocument/2006/relationships/notesMaster" Target="/ppt/notesMasters/notesMaster1.xml" Id="Re9d7239a96ad4f8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30c46f557ef46e7" /><Relationship Type="http://schemas.openxmlformats.org/officeDocument/2006/relationships/notesMaster" Target="/ppt/notesMasters/notesMaster1.xml" Id="R03fea151a289484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1a17d8f103459b" /><Relationship Type="http://schemas.openxmlformats.org/officeDocument/2006/relationships/notesMaster" Target="/ppt/notesMasters/notesMaster1.xml" Id="Rb5a87343db7a437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22158655fc04693" /><Relationship Type="http://schemas.openxmlformats.org/officeDocument/2006/relationships/notesMaster" Target="/ppt/notesMasters/notesMaster1.xml" Id="R4d5a21604c9b43b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7e8476811344c55" /><Relationship Type="http://schemas.openxmlformats.org/officeDocument/2006/relationships/notesMaster" Target="/ppt/notesMasters/notesMaster1.xml" Id="Racdfdf6fd23241a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7caa150463948d8" /><Relationship Type="http://schemas.openxmlformats.org/officeDocument/2006/relationships/notesMaster" Target="/ppt/notesMasters/notesMaster1.xml" Id="Ra1b96626e1914ac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ef8f6991bea48b9" /><Relationship Type="http://schemas.openxmlformats.org/officeDocument/2006/relationships/notesMaster" Target="/ppt/notesMasters/notesMaster1.xml" Id="R9f06a3462817433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42b98b455b54dae" /><Relationship Type="http://schemas.openxmlformats.org/officeDocument/2006/relationships/notesMaster" Target="/ppt/notesMasters/notesMaster1.xml" Id="R6961cfaa85d844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documents the implemented program and the saved full-preset experiment. All reported results come from experiment_57adae732ea0, seeds 7, 17, 27. Source hashes match the saved environment manifest. The study tests performance before interpretability. No SAE or DAS intervention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 motivation follows adaptive expert allocation (Jacobs et al., 1991) and switching dynamical models (Ghahramani &amp; Hinton, 2000). https://www.cs.toronto.edu/~fritz/absps/jjnh91.pdf https://www.cs.toronto.edu/~hinton/absps/switch.pdf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Conceptual sources: Jacobs et al. (1991) — Adaptive Mixtures of Local Experts — https://www.cs.toronto.edu/~fritz/absps/jjnh91.pdf</a:t>
            </a:r>
          </a:p>
          <a:p xmlns:a="http://schemas.openxmlformats.org/drawingml/2006/main">
            <a:r>
              <a:t>Ghahramani &amp; Hinton (2000) — Variational Learning for Switching State-Space Models — https://www.cs.toronto.edu/~hinton/absps/switch.pdf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Jacobs et al. (1991)</a:t>
            </a:r>
          </a:p>
          <a:p xmlns:a="http://schemas.openxmlformats.org/drawingml/2006/main">
            <a:r>
              <a:t>Adaptive Mixtures of Local Experts</a:t>
            </a:r>
          </a:p>
          <a:p xmlns:a="http://schemas.openxmlformats.org/drawingml/2006/main">
            <a:r>
              <a:t>https://www.cs.toronto.edu/~fritz/absps/jjnh91.pdf</a:t>
            </a:r>
          </a:p>
          <a:p xmlns:a="http://schemas.openxmlformats.org/drawingml/2006/main">
            <a:r>
              <a:t/>
            </a:r>
          </a:p>
          <a:p xmlns:a="http://schemas.openxmlformats.org/drawingml/2006/main">
            <a:r>
              <a:t>The current project uses deterministic top-2 sparse routing rather than reproducing the original learning formulation.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Ghahramani &amp; Hinton (2000)</a:t>
            </a:r>
          </a:p>
          <a:p xmlns:a="http://schemas.openxmlformats.org/drawingml/2006/main">
            <a:r>
              <a:t>Variational Learning for Switching State-Space Models</a:t>
            </a:r>
          </a:p>
          <a:p xmlns:a="http://schemas.openxmlformats.org/drawingml/2006/main">
            <a:r>
              <a:t>https://www.cs.toronto.edu/~hinton/absps/switch.pdf</a:t>
            </a:r>
          </a:p>
          <a:p xmlns:a="http://schemas.openxmlformats.org/drawingml/2006/main">
            <a:r>
              <a:t/>
            </a:r>
          </a:p>
          <a:p xmlns:a="http://schemas.openxmlformats.org/drawingml/2006/main">
            <a:r>
              <a:t>The toy exposes the continuous state and trains direct predictors. It does not implement Kalman filtering, latent-state inference or variational 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Namikawa &amp; Tani (2008)</a:t>
            </a:r>
          </a:p>
          <a:p xmlns:a="http://schemas.openxmlformats.org/drawingml/2006/main">
            <a:r>
              <a:t>A model for learning to segment temporal sequences, utilizing a mixture of RNN experts together with adaptive variance</a:t>
            </a:r>
          </a:p>
          <a:p xmlns:a="http://schemas.openxmlformats.org/drawingml/2006/main">
            <a:r>
              <a:t>https://www.oist.jp/sites/default/files/2024-03/cnru_nn08.pdf</a:t>
            </a:r>
          </a:p>
          <a:p xmlns:a="http://schemas.openxmlformats.org/drawingml/2006/main">
            <a:r>
              <a:t/>
            </a:r>
          </a:p>
          <a:p xmlns:a="http://schemas.openxmlformats.org/drawingml/2006/main">
            <a:r>
              <a:t>This is a close temporal-mixture precedent. Our experts are feedforward networks with a fixed history window and no adaptive output variance.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Shazeer et al. (2017)</a:t>
            </a:r>
          </a:p>
          <a:p xmlns:a="http://schemas.openxmlformats.org/drawingml/2006/main">
            <a:r>
              <a:t>Outrageously Large Neural Networks: The Sparsely-Gated Mixture-of-Experts Layer</a:t>
            </a:r>
          </a:p>
          <a:p xmlns:a="http://schemas.openxmlformats.org/drawingml/2006/main">
            <a:r>
              <a:t>https://arxiv.org/abs/1701.06538</a:t>
            </a:r>
          </a:p>
          <a:p xmlns:a="http://schemas.openxmlformats.org/drawingml/2006/main">
            <a:r>
              <a:t/>
            </a:r>
          </a:p>
          <a:p xmlns:a="http://schemas.openxmlformats.org/drawingml/2006/main">
            <a:r>
              <a:t>The project uses only three experts. Active parameter counts are proxies, not FLOPs or measured speedups. Original sparse-MoE details are not claimed to be replicated.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 et al. (2024)</a:t>
            </a:r>
          </a:p>
          <a:p xmlns:a="http://schemas.openxmlformats.org/drawingml/2006/main">
            <a:r>
              <a:t>Mixture-of-Linear-Experts for Long-term Time Series Forecasting</a:t>
            </a:r>
          </a:p>
          <a:p xmlns:a="http://schemas.openxmlformats.org/drawingml/2006/main">
            <a:r>
              <a:t>https://proceedings.mlr.press/v238/ni24a.html</a:t>
            </a:r>
          </a:p>
          <a:p xmlns:a="http://schemas.openxmlformats.org/drawingml/2006/main">
            <a:r>
              <a:t/>
            </a:r>
          </a:p>
          <a:p xmlns:a="http://schemas.openxmlformats.org/drawingml/2006/main">
            <a:r>
              <a:t>The toy router instead reads the recent state history. Its experts are nonlinear MLPs, and its target is one future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 et al. (2025)</a:t>
            </a:r>
          </a:p>
          <a:p xmlns:a="http://schemas.openxmlformats.org/drawingml/2006/main">
            <a:r>
              <a:t>Time-MoE: Billion-Scale Time Series Foundation Models with Mixture of Experts</a:t>
            </a:r>
          </a:p>
          <a:p xmlns:a="http://schemas.openxmlformats.org/drawingml/2006/main">
            <a:r>
              <a:t>https://proceedings.iclr.cc/paper_files/paper/2025/hash/558d48c1f08675daa636e09bfe94a89e-Abstract-Conference.html</a:t>
            </a:r>
          </a:p>
          <a:p xmlns:a="http://schemas.openxmlformats.org/drawingml/2006/main">
            <a:r>
              <a:t/>
            </a:r>
          </a:p>
          <a:p xmlns:a="http://schemas.openxmlformats.org/drawingml/2006/main">
            <a:r>
              <a:t>Time-MoE establishes a large-scale forecasting context. Our experiment is a small controlled study, not a replication or comparison of model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src/twilight_moe/dynamics.py. Angles in radians are (0.20,0.45), (1.10,-0.65), (-0.80,1.35). Each matrix has spectral radius 0.94 and operator norm 0.94, ensuring common contraction even when switching. The regime r[t] produces x[t+1] from 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train.npz in generated/f9cdcf050ad3 on E:. Sequence 0 after the 128-step burn-in. Four original-unit state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sequence has 192 transitions and 193 states after burn-in. Windows run from t=7 through t=191, yielding 185 windows per sequence. Splits use independent SeedSequence children before overlapping windows are formed. Seeds 7,17,27 each generate a new dataset. All data reside under E:/HarunoKen/Twilight_MoE_Dynamics. No external dataset is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data.windows, training.fit, evaluation.predict and evaluation.rollout. Standard deviations are clipped below at 1e-6. States become float32 tensors and regimes are integer tensors. Label presence in the dataset is not label access by ordinary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expert has two tanh hidden layers and a linear output. Router uses one tanh hidden layer and softmax probabilities. The diagram shows the routing/aggregation relationship. Expert inputs are the original 32-dimensional history, not the router hidden representation. Source: models.py and routers.py.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routers.sparse_gates and models.MoE.forward. Top-k index selection is discrete. Gradients pass through selected normalized probabilities and the balancing term. f is normalized by batch size times k. The auxiliary term encourages usage balance but does not impose regime semantics. The optional top-1 mode uses a straight-through selected gate, w=1+p-stopgrad(p), but full results use k=2.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All experts have 2,244 parameters. Learned router has 867. Random router is a frozen 32×3 linear map with no bias (96 parameters), leaving 6,732 trainable expert parameters. Oracle uses the regime label but still learns its predictors. It does not receive transition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configs/full.yaml and training.fit. Adam uses its library defaults for remaining parameters. Training records pure prediction MSE, excluding the auxiliary routing penalty. Validation selects strict improvements and deep-copies the model state. The normalized criterion weights state dimensions according to training variance. No test results influence checkpoint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 recovery threshold is model-specific: 1.5 times validation MSE on regime ages ≥ context length (8). Delay records the first index of a qualifying run retrospectively. Episodes without recovery remain unrecovered and are excluded from conditional mean delay. Routing permutation searches all six assignments using validation labels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Mean of three full-preset runs. Sample SD: dense active 0.000212, dense total 0.000165, MoE 0.000132, random 0.000192, oracle 0.000045. Oracle has privileged regime information. Known-dynamics reference averages 0.006396 and noise variance is 0.0064. Persistence averages 0.039325.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Paired differences use the same seed and dataset. Three seeds are insufficient for strong inferential claims. The small absolute error differences nevertheless have a consistent sign in this preset.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Curves use saved per-epoch histories. Best epochs by seeds7/17/27: dense active39/38/39, dense total37/38/38, MoE37/40/39, random40/40/40, oracle39/33/35. Late best epochs suggest that longer training is a reasonable future sensitivity check. This does not establish that longer training would reverse the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seed curve averages eligible episodes at each lag, stopping at the next regime change. The plotted curve is an equal mean across seeds. Later lags have fewer surviving episodes and a different population. This graph describes event-aligned error, not a causal intervention or per-sequence change-point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Values average three seed-level estimates. Each seed has578,556,580 eligible switch episodes. Different models use different validation-derived thresholds, so direct delay comparisons require care. A low conditional delay can hide a low recovery fraction. Delay is retrospective run start, not the time an online detector confirms three successes.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top-2 prediction contributes two route slots. Utilization is not a probability of being the highest-weight expert, and balanced utilization alone does not establish specialization.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Confusion counts show raw expert IDs for seed7, with rows=true regime and columns=highest-weight expert. The permutation is fit only on validation data, then held fixed on test. Learned agreements by seed:45.8%,60.1%,48.3%. Association between route and regime does not prove that experts implement the true transition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There are320 rollout origins per seed: five starts per64 test sequences. Origins are7,39,71,103,135, with32 target steps per origin. Ordinary models see only generated predictions after the origin. Oracle receives future true regime IDs, so it has privileged information throughout. Its one-step quality does not guarantee stable recursive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All entries average across three seeds. The experiment reports both the full curves and the horizon mean to avoid hiding instability or changing rankings. Do not treat the learned oracle as a universal lower bound on rollout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These are observations from one generator, three seeds and one primary hyperparameter preset. The oracle gap combines differences in available information, gating and optimization. The measurements do not isolate a causal decomposition of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All eight notebooks contain short executable cells. Plotting code stays visible in notebooks, while shared algorithms reside in src/twilight_moe. 05_compare_performance,06_analyze_routing,07_multi_step_rollout consume saved metrics and checkpoints. Run in numeric order. Full and smoke presets are distinct evidence levels.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src/twilight_moe/config.py,dynamics.py,data.py. The environment variable TWILIGHT_DATA_DIR overrides the default E: dataset root. Fingerprints identify configurations, not source revisions. Source hashes therefore provide a separate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DATA_VERSION=1. Generator changes require a version increment. Cache metadata includes matrices, split hashes, seed, data settings and regime alignment. The returned TensorDataset contains regime labels, but only oracle call sites pass them into the model. Windows overlap within partitions, never across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models.py and routers.py. MoE.forward returns prediction, auxiliary penalty and selected expert indices. Dense.forward follows the same return convention with zero penalty and no routes. Oracle directly selects the expert from the regime. Random routing freezes its weights. Dense active and total widths search for the nearest parameter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shuffled minibatches. Non-oracle models receive no labels. Validation excludes the auxiliary penalty. predict uses no gradients and returns per-window coordinate-mean squared errors and routes. evaluate computes references, recovery, event curves, routing and rollouts on the stored splits.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Recovered delay is conditional on success. Event-aligned episodes end at the next switch, so counts shrink with lag. Routing labels are exchangeable and need a validation-only permutation. Rollout persistence repeats the last observed state at the origin. Oracle rollout uses true future regime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Artifacts include metrics JSON, per-epoch CSV, NPZ diagnostics, PyTorch checkpoints and a source/environment manifest. Source files must match before comparing cached results. Re-run all families after algorithm changes, then regenerate the experiment log. plot COLORS is a shared constant rather than a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review recorded12 passing tests and executed all8 notebooks for smoke and full workflows. All15 full checkpoints reproduced their saved one-step MSE. These checks support reproducibility, not statistical generalization. Required after algorithm changes: python -m pytest and the notebook smoke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 technical report is docs/TECHNICAL_REPORT.md. Full config is configs/full.yaml. This deck uses saved full-preset results. Source hashes were rechecked during preparation. No algorithm or model source was changed to create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Jacobs et al. (1991)</a:t>
            </a:r>
          </a:p>
          <a:p xmlns:a="http://schemas.openxmlformats.org/drawingml/2006/main">
            <a:r>
              <a:t>Adaptive Mixtures of Local Experts</a:t>
            </a:r>
          </a:p>
          <a:p xmlns:a="http://schemas.openxmlformats.org/drawingml/2006/main">
            <a:r>
              <a:t>https://www.cs.toronto.edu/~fritz/absps/jjnh91.pdf</a:t>
            </a:r>
          </a:p>
          <a:p xmlns:a="http://schemas.openxmlformats.org/drawingml/2006/main">
            <a:r>
              <a:t/>
            </a:r>
          </a:p>
          <a:p xmlns:a="http://schemas.openxmlformats.org/drawingml/2006/main">
            <a:r>
              <a:t>Ghahramani &amp; Hinton (2000)</a:t>
            </a:r>
          </a:p>
          <a:p xmlns:a="http://schemas.openxmlformats.org/drawingml/2006/main">
            <a:r>
              <a:t>Variational Learning for Switching State-Space Models</a:t>
            </a:r>
          </a:p>
          <a:p xmlns:a="http://schemas.openxmlformats.org/drawingml/2006/main">
            <a:r>
              <a:t>https://www.cs.toronto.edu/~hinton/absps/switch.pdf</a:t>
            </a:r>
          </a:p>
          <a:p xmlns:a="http://schemas.openxmlformats.org/drawingml/2006/main">
            <a:r>
              <a:t/>
            </a:r>
          </a:p>
          <a:p xmlns:a="http://schemas.openxmlformats.org/drawingml/2006/main">
            <a:r>
              <a:t>Namikawa &amp; Tani (2008)</a:t>
            </a:r>
          </a:p>
          <a:p xmlns:a="http://schemas.openxmlformats.org/drawingml/2006/main">
            <a:r>
              <a:t>A model for learning to segment temporal sequences, utilizing a mixture of RNN experts together with adaptive variance</a:t>
            </a:r>
          </a:p>
          <a:p xmlns:a="http://schemas.openxmlformats.org/drawingml/2006/main">
            <a:r>
              <a:t>https://www.oist.jp/sites/default/files/2024-03/cnru_nn08.pdf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Shazeer et al. (2017)</a:t>
            </a:r>
          </a:p>
          <a:p xmlns:a="http://schemas.openxmlformats.org/drawingml/2006/main">
            <a:r>
              <a:t>Outrageously Large Neural Networks: The Sparsely-Gated Mixture-of-Experts Layer</a:t>
            </a:r>
          </a:p>
          <a:p xmlns:a="http://schemas.openxmlformats.org/drawingml/2006/main">
            <a:r>
              <a:t>https://arxiv.org/abs/1701.06538</a:t>
            </a:r>
          </a:p>
          <a:p xmlns:a="http://schemas.openxmlformats.org/drawingml/2006/main">
            <a:r>
              <a:t/>
            </a:r>
          </a:p>
          <a:p xmlns:a="http://schemas.openxmlformats.org/drawingml/2006/main">
            <a:r>
              <a:t>Ni et al. (2024)</a:t>
            </a:r>
          </a:p>
          <a:p xmlns:a="http://schemas.openxmlformats.org/drawingml/2006/main">
            <a:r>
              <a:t>Mixture-of-Linear-Experts for Long-term Time Series Forecasting</a:t>
            </a:r>
          </a:p>
          <a:p xmlns:a="http://schemas.openxmlformats.org/drawingml/2006/main">
            <a:r>
              <a:t>https://proceedings.mlr.press/v238/ni24a.html</a:t>
            </a:r>
          </a:p>
          <a:p xmlns:a="http://schemas.openxmlformats.org/drawingml/2006/main">
            <a:r>
              <a:t/>
            </a:r>
          </a:p>
          <a:p xmlns:a="http://schemas.openxmlformats.org/drawingml/2006/main">
            <a:r>
              <a:t>Shi et al. (2025)</a:t>
            </a:r>
          </a:p>
          <a:p xmlns:a="http://schemas.openxmlformats.org/drawingml/2006/main">
            <a:r>
              <a:t>Time-MoE: Billion-Scale Time Series Foundation Models with Mixture of Experts</a:t>
            </a:r>
          </a:p>
          <a:p xmlns:a="http://schemas.openxmlformats.org/drawingml/2006/main">
            <a:r>
              <a:t>https://proceedings.iclr.cc/paper_files/paper/2025/hash/558d48c1f08675daa636e09bfe94a89e-Abstract-Conference.html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f1b69a65343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d75512da764d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70d0c8b05f43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5bf488ab0e43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de7f31247b49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18ae718cc84c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AC3863-51BB-42A5-ADFC-B364B3EE98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4B54A2-F42E-48C7-8786-3B5BAE7E5D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81F691-0216-4DE7-AB37-379F381F58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20A0BE-EAF9-46E9-AFDF-E9697E128C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8F3614-FC97-4EE8-AE73-C6754BC70D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942980-7ED0-4DF7-8EBA-7EDF99A6FB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6AC69B-CA63-4123-B84A-E398D348D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D7BF09-5D91-47D2-A5ED-80785F97B4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31C00-B057-49A2-854D-EBA35DF9C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17B850-4233-4A81-8B20-A670E1D3B4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14b4e4f3334527" /><Relationship Type="http://schemas.openxmlformats.org/officeDocument/2006/relationships/slideLayout" Target="/ppt/slideLayouts/slideLayout1.xml" Id="Raf051c3322b64583" /><Relationship Type="http://schemas.openxmlformats.org/officeDocument/2006/relationships/slideLayout" Target="/ppt/slideLayouts/slideLayout2.xml" Id="Re665db77a64d4ad1" /><Relationship Type="http://schemas.openxmlformats.org/officeDocument/2006/relationships/slideLayout" Target="/ppt/slideLayouts/slideLayout3.xml" Id="R9a56327858314d21" /><Relationship Type="http://schemas.openxmlformats.org/officeDocument/2006/relationships/slideLayout" Target="/ppt/slideLayouts/slideLayout4.xml" Id="Rc873f776df30419e" /><Relationship Type="http://schemas.openxmlformats.org/officeDocument/2006/relationships/slideLayout" Target="/ppt/slideLayouts/slideLayout5.xml" Id="Rbb7b4decf65f48d5" /><Relationship Type="http://schemas.openxmlformats.org/officeDocument/2006/relationships/slideLayout" Target="/ppt/slideLayouts/slideLayout6.xml" Id="R8b5f395cd61347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051c3322b64583"/>
    <p:sldLayoutId xmlns:r="http://schemas.openxmlformats.org/officeDocument/2006/relationships" id="2147483650" r:id="Re665db77a64d4ad1"/>
    <p:sldLayoutId xmlns:r="http://schemas.openxmlformats.org/officeDocument/2006/relationships" id="2147483651" r:id="R9a56327858314d21"/>
    <p:sldLayoutId xmlns:r="http://schemas.openxmlformats.org/officeDocument/2006/relationships" id="2147483652" r:id="Rc873f776df30419e"/>
    <p:sldLayoutId xmlns:r="http://schemas.openxmlformats.org/officeDocument/2006/relationships" id="2147483653" r:id="Rbb7b4decf65f48d5"/>
    <p:sldLayoutId xmlns:r="http://schemas.openxmlformats.org/officeDocument/2006/relationships" id="2147483654" r:id="R8b5f395cd61347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9ad19c587e4929" /><Relationship Type="http://schemas.openxmlformats.org/officeDocument/2006/relationships/notesSlide" Target="/ppt/notesSlides/notesSlide1.xml" Id="R6adf42702d4d4b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4ebe11d5074c14" /><Relationship Type="http://schemas.openxmlformats.org/officeDocument/2006/relationships/notesSlide" Target="/ppt/notesSlides/notesSlide2.xml" Id="R2e9dff2ab2fb44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fd1cdcda8e4cd8" /><Relationship Type="http://schemas.openxmlformats.org/officeDocument/2006/relationships/notesSlide" Target="/ppt/notesSlides/notesSlide3.xml" Id="Ra72fdaa96ec944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71cf7ade1a443d" /><Relationship Type="http://schemas.openxmlformats.org/officeDocument/2006/relationships/notesSlide" Target="/ppt/notesSlides/notesSlide4.xml" Id="R6321a6e3a05844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ae29921da54e17" /><Relationship Type="http://schemas.openxmlformats.org/officeDocument/2006/relationships/notesSlide" Target="/ppt/notesSlides/notesSlide5.xml" Id="R363d5bffec2246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600e4cdf3e4061" /><Relationship Type="http://schemas.openxmlformats.org/officeDocument/2006/relationships/notesSlide" Target="/ppt/notesSlides/notesSlide6.xml" Id="Rd1ad78d10dd24e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c997b1f0314876" /><Relationship Type="http://schemas.openxmlformats.org/officeDocument/2006/relationships/notesSlide" Target="/ppt/notesSlides/notesSlide7.xml" Id="R67a4453c703746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f93adc277e4eef" /><Relationship Type="http://schemas.openxmlformats.org/officeDocument/2006/relationships/notesSlide" Target="/ppt/notesSlides/notesSlide8.xml" Id="R7d0f0c80a3fe44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352dd8f97343aa" /><Relationship Type="http://schemas.openxmlformats.org/officeDocument/2006/relationships/notesSlide" Target="/ppt/notesSlides/notesSlide9.xml" Id="Rc0f1cc3d30024b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668711c1b84b57" /><Relationship Type="http://schemas.openxmlformats.org/officeDocument/2006/relationships/notesSlide" Target="/ppt/notesSlides/notesSlide10.xml" Id="R9ccf9b19f66a42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cc1d42c117e4834" /><Relationship Type="http://schemas.openxmlformats.org/officeDocument/2006/relationships/notesSlide" Target="/ppt/notesSlides/notesSlide11.xml" Id="Rb6ac538b80e54c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f2d0f591ee040ab" /><Relationship Type="http://schemas.openxmlformats.org/officeDocument/2006/relationships/chart" Target="/ppt/slides/charts/chart1.xml" Id="R1aae75450748410a" /><Relationship Type="http://schemas.openxmlformats.org/officeDocument/2006/relationships/notesSlide" Target="/ppt/notesSlides/notesSlide12.xml" Id="R5db85c9f8d1745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f585fa1ccc4c27" /><Relationship Type="http://schemas.openxmlformats.org/officeDocument/2006/relationships/notesSlide" Target="/ppt/notesSlides/notesSlide13.xml" Id="Rc9599ee81f4e41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c73a56b6d544c2" /><Relationship Type="http://schemas.openxmlformats.org/officeDocument/2006/relationships/notesSlide" Target="/ppt/notesSlides/notesSlide14.xml" Id="Ra431214ec51d4f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c7271d99e264be6" /><Relationship Type="http://schemas.openxmlformats.org/officeDocument/2006/relationships/notesSlide" Target="/ppt/notesSlides/notesSlide15.xml" Id="R8976e3ea715b46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4af95fa12d441c" /><Relationship Type="http://schemas.openxmlformats.org/officeDocument/2006/relationships/notesSlide" Target="/ppt/notesSlides/notesSlide16.xml" Id="R4f37061c5af04b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26cedc93d0c452d" /><Relationship Type="http://schemas.openxmlformats.org/officeDocument/2006/relationships/notesSlide" Target="/ppt/notesSlides/notesSlide17.xml" Id="R076defb7fc1e4e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0a72db038074855" /><Relationship Type="http://schemas.openxmlformats.org/officeDocument/2006/relationships/notesSlide" Target="/ppt/notesSlides/notesSlide18.xml" Id="R186eef1b5f7346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3555b7e17114ace" /><Relationship Type="http://schemas.openxmlformats.org/officeDocument/2006/relationships/notesSlide" Target="/ppt/notesSlides/notesSlide19.xml" Id="R2f92554040cc42d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34063bfcb51423c" /><Relationship Type="http://schemas.openxmlformats.org/officeDocument/2006/relationships/chart" Target="/ppt/slides/charts/chart2.xml" Id="R8ff269184df84a30" /><Relationship Type="http://schemas.openxmlformats.org/officeDocument/2006/relationships/notesSlide" Target="/ppt/notesSlides/notesSlide20.xml" Id="Rcf02dc19d9f646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7e0a837e49d4567" /><Relationship Type="http://schemas.openxmlformats.org/officeDocument/2006/relationships/chart" Target="/ppt/slides/charts/chart3.xml" Id="R7ed7f84fd7f749c6" /><Relationship Type="http://schemas.openxmlformats.org/officeDocument/2006/relationships/notesSlide" Target="/ppt/notesSlides/notesSlide21.xml" Id="Rcc95aa956b3644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17fde4fbf4c43f7" /><Relationship Type="http://schemas.openxmlformats.org/officeDocument/2006/relationships/chart" Target="/ppt/slides/charts/chart4.xml" Id="Rb77c2fa4581e4375" /><Relationship Type="http://schemas.openxmlformats.org/officeDocument/2006/relationships/notesSlide" Target="/ppt/notesSlides/notesSlide22.xml" Id="R5c53c2bf6de142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b0851afe45347fd" /><Relationship Type="http://schemas.openxmlformats.org/officeDocument/2006/relationships/chart" Target="/ppt/slides/charts/chart5.xml" Id="R1ab4804e6b9d48a8" /><Relationship Type="http://schemas.openxmlformats.org/officeDocument/2006/relationships/notesSlide" Target="/ppt/notesSlides/notesSlide23.xml" Id="R66f99216e7434be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36b6c1b1da94bdc" /><Relationship Type="http://schemas.openxmlformats.org/officeDocument/2006/relationships/notesSlide" Target="/ppt/notesSlides/notesSlide24.xml" Id="R4f03714104aa4c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c521539e2a24e7f" /><Relationship Type="http://schemas.openxmlformats.org/officeDocument/2006/relationships/chart" Target="/ppt/slides/charts/chart6.xml" Id="Ra03c84b022004888" /><Relationship Type="http://schemas.openxmlformats.org/officeDocument/2006/relationships/notesSlide" Target="/ppt/notesSlides/notesSlide25.xml" Id="R712803a2fc4b42e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3ac0312033346db" /><Relationship Type="http://schemas.openxmlformats.org/officeDocument/2006/relationships/notesSlide" Target="/ppt/notesSlides/notesSlide26.xml" Id="R4059f400073143d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2bf5aaab3b149f9" /><Relationship Type="http://schemas.openxmlformats.org/officeDocument/2006/relationships/chart" Target="/ppt/slides/charts/chart7.xml" Id="R875cc1a2625642a1" /><Relationship Type="http://schemas.openxmlformats.org/officeDocument/2006/relationships/notesSlide" Target="/ppt/notesSlides/notesSlide27.xml" Id="Rf015276cf3aa4f4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a16cb5bc76a4ffb" /><Relationship Type="http://schemas.openxmlformats.org/officeDocument/2006/relationships/notesSlide" Target="/ppt/notesSlides/notesSlide28.xml" Id="R75c8553e06d640b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84219acb97e4f76" /><Relationship Type="http://schemas.openxmlformats.org/officeDocument/2006/relationships/notesSlide" Target="/ppt/notesSlides/notesSlide29.xml" Id="Rfc653db6659043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d2b0a195c564b84" /><Relationship Type="http://schemas.openxmlformats.org/officeDocument/2006/relationships/notesSlide" Target="/ppt/notesSlides/notesSlide30.xml" Id="R6d73324e5592432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6ae6b26e91447ee" /><Relationship Type="http://schemas.openxmlformats.org/officeDocument/2006/relationships/notesSlide" Target="/ppt/notesSlides/notesSlide31.xml" Id="R9dc2f47b8991435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366c65038c24788" /><Relationship Type="http://schemas.openxmlformats.org/officeDocument/2006/relationships/notesSlide" Target="/ppt/notesSlides/notesSlide32.xml" Id="Ra6d2f624d5684a0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bd292ad64094d9c" /><Relationship Type="http://schemas.openxmlformats.org/officeDocument/2006/relationships/notesSlide" Target="/ppt/notesSlides/notesSlide33.xml" Id="Rb3b6db7752574fb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145d0080b554c8e" /><Relationship Type="http://schemas.openxmlformats.org/officeDocument/2006/relationships/notesSlide" Target="/ppt/notesSlides/notesSlide34.xml" Id="R9a2c6f5b7fac423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a0ec398d5ee4a71" /><Relationship Type="http://schemas.openxmlformats.org/officeDocument/2006/relationships/notesSlide" Target="/ppt/notesSlides/notesSlide35.xml" Id="R3f74194b1365477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28b239159eb404f" /><Relationship Type="http://schemas.openxmlformats.org/officeDocument/2006/relationships/notesSlide" Target="/ppt/notesSlides/notesSlide36.xml" Id="R8b2808c1bdbb4c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f2fc3bb147c48da" /><Relationship Type="http://schemas.openxmlformats.org/officeDocument/2006/relationships/notesSlide" Target="/ppt/notesSlides/notesSlide37.xml" Id="Ra9d835f37b0a47f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840a37c23cd4c8e" /><Relationship Type="http://schemas.openxmlformats.org/officeDocument/2006/relationships/notesSlide" Target="/ppt/notesSlides/notesSlide38.xml" Id="Rfa8ab5dc85a1401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9a2b661a0834f98" /><Relationship Type="http://schemas.openxmlformats.org/officeDocument/2006/relationships/notesSlide" Target="/ppt/notesSlides/notesSlide39.xml" Id="Rd90d0b63ce17439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1a208ad115645c8" /><Relationship Type="http://schemas.openxmlformats.org/officeDocument/2006/relationships/hyperlink" Target="https://www.cs.toronto.edu/~fritz/absps/jjnh91.pdf" TargetMode="External" Id="R4366c9c963fa4fb8" /><Relationship Type="http://schemas.openxmlformats.org/officeDocument/2006/relationships/hyperlink" Target="https://www.cs.toronto.edu/~hinton/absps/switch.pdf" TargetMode="External" Id="R41922b0e5d364866" /><Relationship Type="http://schemas.openxmlformats.org/officeDocument/2006/relationships/hyperlink" Target="https://www.oist.jp/sites/default/files/2024-03/cnru_nn08.pdf" TargetMode="External" Id="Rd3c3ded890cb4fff" /><Relationship Type="http://schemas.openxmlformats.org/officeDocument/2006/relationships/notesSlide" Target="/ppt/notesSlides/notesSlide40.xml" Id="R031650874495407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ab78e90c4084ed4" /><Relationship Type="http://schemas.openxmlformats.org/officeDocument/2006/relationships/hyperlink" Target="https://arxiv.org/abs/1701.06538" TargetMode="External" Id="R28ceccb881fc4b0e" /><Relationship Type="http://schemas.openxmlformats.org/officeDocument/2006/relationships/hyperlink" Target="https://proceedings.mlr.press/v238/ni24a.html" TargetMode="External" Id="Rb4a092b88a0a44e3" /><Relationship Type="http://schemas.openxmlformats.org/officeDocument/2006/relationships/hyperlink" Target="https://proceedings.iclr.cc/paper_files/paper/2025/hash/558d48c1f08675daa636e09bfe94a89e-Abstract-Conference.html" TargetMode="External" Id="R63bd615d94414cf1" /><Relationship Type="http://schemas.openxmlformats.org/officeDocument/2006/relationships/notesSlide" Target="/ppt/notesSlides/notesSlide41.xml" Id="R11de3407aeec41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State 1</c:v>
          </c:tx>
          <c:spPr>
            <a:ln xmlns:a="http://schemas.openxmlformats.org/drawingml/2006/main" w="19050">
              <a:solidFill>
                <a:srgbClr val="5276A4"/>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Data'!$A$2:$A$194</c:f>
              <c:numCache>
                <c:formatCode>General</c:formatCode>
                <c:ptCount val="19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numCache>
            </c:numRef>
          </c:xVal>
          <c:yVal>
            <c:numRef>
              <c:f>'Chart Data'!$B$2:$B$194</c:f>
              <c:numCache>
                <c:formatCode>0.0</c:formatCode>
                <c:ptCount val="193"/>
                <c:pt idx="0">
                  <c:v>-0.01483086124</c:v>
                </c:pt>
                <c:pt idx="1">
                  <c:v>0.1200831085</c:v>
                </c:pt>
                <c:pt idx="2">
                  <c:v>0.01142073702</c:v>
                </c:pt>
                <c:pt idx="3">
                  <c:v>0.04721549153</c:v>
                </c:pt>
                <c:pt idx="4">
                  <c:v>-0.02490178123</c:v>
                </c:pt>
                <c:pt idx="5">
                  <c:v>-0.1421231925</c:v>
                </c:pt>
                <c:pt idx="6">
                  <c:v>-0.1868191659</c:v>
                </c:pt>
                <c:pt idx="7">
                  <c:v>-0.1758159697</c:v>
                </c:pt>
                <c:pt idx="8">
                  <c:v>-0.2013069391</c:v>
                </c:pt>
                <c:pt idx="9">
                  <c:v>-0.1134437919</c:v>
                </c:pt>
                <c:pt idx="10">
                  <c:v>-0.07072215527</c:v>
                </c:pt>
                <c:pt idx="11">
                  <c:v>0.04707796499</c:v>
                </c:pt>
                <c:pt idx="12">
                  <c:v>0.01498089358</c:v>
                </c:pt>
                <c:pt idx="13">
                  <c:v>0.04646254331</c:v>
                </c:pt>
                <c:pt idx="14">
                  <c:v>0.0325210467</c:v>
                </c:pt>
                <c:pt idx="15">
                  <c:v>0.1121784151</c:v>
                </c:pt>
                <c:pt idx="16">
                  <c:v>0.1295654178</c:v>
                </c:pt>
                <c:pt idx="17">
                  <c:v>0.1690445095</c:v>
                </c:pt>
                <c:pt idx="18">
                  <c:v>0.1606391519</c:v>
                </c:pt>
                <c:pt idx="19">
                  <c:v>0.1421568394</c:v>
                </c:pt>
                <c:pt idx="20">
                  <c:v>0.1545180231</c:v>
                </c:pt>
                <c:pt idx="21">
                  <c:v>0.07943435758</c:v>
                </c:pt>
                <c:pt idx="22">
                  <c:v>0.1114998981</c:v>
                </c:pt>
                <c:pt idx="23">
                  <c:v>0.06154401973</c:v>
                </c:pt>
                <c:pt idx="24">
                  <c:v>-0.01037391555</c:v>
                </c:pt>
                <c:pt idx="25">
                  <c:v>0.03938811645</c:v>
                </c:pt>
                <c:pt idx="26">
                  <c:v>0.05182630941</c:v>
                </c:pt>
                <c:pt idx="27">
                  <c:v>0.02251363359</c:v>
                </c:pt>
                <c:pt idx="28">
                  <c:v>-0.1719609648</c:v>
                </c:pt>
                <c:pt idx="29">
                  <c:v>-0.1729530841</c:v>
                </c:pt>
                <c:pt idx="30">
                  <c:v>-0.1463062912</c:v>
                </c:pt>
                <c:pt idx="31">
                  <c:v>-0.01443459094</c:v>
                </c:pt>
                <c:pt idx="32">
                  <c:v>-0.0008442215039</c:v>
                </c:pt>
                <c:pt idx="33">
                  <c:v>-0.002451435197</c:v>
                </c:pt>
                <c:pt idx="34">
                  <c:v>-0.01404245757</c:v>
                </c:pt>
                <c:pt idx="35">
                  <c:v>0.1200985014</c:v>
                </c:pt>
                <c:pt idx="36">
                  <c:v>0.2120011151</c:v>
                </c:pt>
                <c:pt idx="37">
                  <c:v>0.2764996886</c:v>
                </c:pt>
                <c:pt idx="38">
                  <c:v>0.2375591844</c:v>
                </c:pt>
                <c:pt idx="39">
                  <c:v>-0.118977949</c:v>
                </c:pt>
                <c:pt idx="40">
                  <c:v>-0.1918899715</c:v>
                </c:pt>
                <c:pt idx="41">
                  <c:v>0.1802348644</c:v>
                </c:pt>
                <c:pt idx="42">
                  <c:v>0.2433789521</c:v>
                </c:pt>
                <c:pt idx="43">
                  <c:v>0.03728735074</c:v>
                </c:pt>
                <c:pt idx="44">
                  <c:v>-0.1645295769</c:v>
                </c:pt>
                <c:pt idx="45">
                  <c:v>-0.445478797</c:v>
                </c:pt>
                <c:pt idx="46">
                  <c:v>-0.05217457563</c:v>
                </c:pt>
                <c:pt idx="47">
                  <c:v>0.2562832534</c:v>
                </c:pt>
                <c:pt idx="48">
                  <c:v>0.20006001</c:v>
                </c:pt>
                <c:pt idx="49">
                  <c:v>-0.1312381625</c:v>
                </c:pt>
                <c:pt idx="50">
                  <c:v>-0.3120526969</c:v>
                </c:pt>
                <c:pt idx="51">
                  <c:v>-0.1246188506</c:v>
                </c:pt>
                <c:pt idx="52">
                  <c:v>0.1292745024</c:v>
                </c:pt>
                <c:pt idx="53">
                  <c:v>0.200031206</c:v>
                </c:pt>
                <c:pt idx="54">
                  <c:v>0.07053347677</c:v>
                </c:pt>
                <c:pt idx="55">
                  <c:v>0.1060106307</c:v>
                </c:pt>
                <c:pt idx="56">
                  <c:v>-0.03404783085</c:v>
                </c:pt>
                <c:pt idx="57">
                  <c:v>0.08306431025</c:v>
                </c:pt>
                <c:pt idx="58">
                  <c:v>0.07491272688</c:v>
                </c:pt>
                <c:pt idx="59">
                  <c:v>-0.06765909493</c:v>
                </c:pt>
                <c:pt idx="60">
                  <c:v>-0.265606761</c:v>
                </c:pt>
                <c:pt idx="61">
                  <c:v>-0.07256715</c:v>
                </c:pt>
                <c:pt idx="62">
                  <c:v>0.2495702356</c:v>
                </c:pt>
                <c:pt idx="63">
                  <c:v>0.2859352231</c:v>
                </c:pt>
                <c:pt idx="64">
                  <c:v>0.02483521029</c:v>
                </c:pt>
                <c:pt idx="65">
                  <c:v>-0.3207392395</c:v>
                </c:pt>
                <c:pt idx="66">
                  <c:v>-0.4033862054</c:v>
                </c:pt>
                <c:pt idx="67">
                  <c:v>0.1956609488</c:v>
                </c:pt>
                <c:pt idx="68">
                  <c:v>0.2271836698</c:v>
                </c:pt>
                <c:pt idx="69">
                  <c:v>0.1318581402</c:v>
                </c:pt>
                <c:pt idx="70">
                  <c:v>0.02237144858</c:v>
                </c:pt>
                <c:pt idx="71">
                  <c:v>-0.3740308583</c:v>
                </c:pt>
                <c:pt idx="72">
                  <c:v>-0.4073550105</c:v>
                </c:pt>
                <c:pt idx="73">
                  <c:v>0.1281184852</c:v>
                </c:pt>
                <c:pt idx="74">
                  <c:v>0.4956569076</c:v>
                </c:pt>
                <c:pt idx="75">
                  <c:v>0.4004558921</c:v>
                </c:pt>
                <c:pt idx="76">
                  <c:v>-0.1366093904</c:v>
                </c:pt>
                <c:pt idx="77">
                  <c:v>-0.5584712625</c:v>
                </c:pt>
                <c:pt idx="78">
                  <c:v>-0.2058276832</c:v>
                </c:pt>
                <c:pt idx="79">
                  <c:v>0.3232653737</c:v>
                </c:pt>
                <c:pt idx="80">
                  <c:v>0.5104128122</c:v>
                </c:pt>
                <c:pt idx="81">
                  <c:v>0.4046438932</c:v>
                </c:pt>
                <c:pt idx="82">
                  <c:v>-0.3712956607</c:v>
                </c:pt>
                <c:pt idx="83">
                  <c:v>-0.5166146159</c:v>
                </c:pt>
                <c:pt idx="84">
                  <c:v>-0.1508302987</c:v>
                </c:pt>
                <c:pt idx="85">
                  <c:v>0.3355662227</c:v>
                </c:pt>
                <c:pt idx="86">
                  <c:v>0.6027072072</c:v>
                </c:pt>
                <c:pt idx="87">
                  <c:v>0.1135981381</c:v>
                </c:pt>
                <c:pt idx="88">
                  <c:v>-0.4252082109</c:v>
                </c:pt>
                <c:pt idx="89">
                  <c:v>-0.4159323275</c:v>
                </c:pt>
                <c:pt idx="90">
                  <c:v>0.1327196062</c:v>
                </c:pt>
                <c:pt idx="91">
                  <c:v>0.5079956055</c:v>
                </c:pt>
                <c:pt idx="92">
                  <c:v>0.1915690452</c:v>
                </c:pt>
                <c:pt idx="93">
                  <c:v>-0.2998404205</c:v>
                </c:pt>
                <c:pt idx="94">
                  <c:v>-0.33013919</c:v>
                </c:pt>
                <c:pt idx="95">
                  <c:v>-0.1244358048</c:v>
                </c:pt>
                <c:pt idx="96">
                  <c:v>-0.1534953266</c:v>
                </c:pt>
                <c:pt idx="97">
                  <c:v>-0.1691107601</c:v>
                </c:pt>
                <c:pt idx="98">
                  <c:v>-0.2050396055</c:v>
                </c:pt>
                <c:pt idx="99">
                  <c:v>-0.2814581096</c:v>
                </c:pt>
                <c:pt idx="100">
                  <c:v>-0.2724003196</c:v>
                </c:pt>
                <c:pt idx="101">
                  <c:v>-0.2365769595</c:v>
                </c:pt>
                <c:pt idx="102">
                  <c:v>-0.1083861515</c:v>
                </c:pt>
                <c:pt idx="103">
                  <c:v>-0.03554059193</c:v>
                </c:pt>
                <c:pt idx="104">
                  <c:v>0.0675875172</c:v>
                </c:pt>
                <c:pt idx="105">
                  <c:v>0.166714564</c:v>
                </c:pt>
                <c:pt idx="106">
                  <c:v>0.1996007413</c:v>
                </c:pt>
                <c:pt idx="107">
                  <c:v>0.1850467324</c:v>
                </c:pt>
                <c:pt idx="108">
                  <c:v>0.288990587</c:v>
                </c:pt>
                <c:pt idx="109">
                  <c:v>0.3766520023</c:v>
                </c:pt>
                <c:pt idx="110">
                  <c:v>0.3877097368</c:v>
                </c:pt>
                <c:pt idx="111">
                  <c:v>0.2997059524</c:v>
                </c:pt>
                <c:pt idx="112">
                  <c:v>0.1470602602</c:v>
                </c:pt>
                <c:pt idx="113">
                  <c:v>0.01418082137</c:v>
                </c:pt>
                <c:pt idx="114">
                  <c:v>-0.03599979728</c:v>
                </c:pt>
                <c:pt idx="115">
                  <c:v>-0.04875215143</c:v>
                </c:pt>
                <c:pt idx="116">
                  <c:v>0.03507105261</c:v>
                </c:pt>
                <c:pt idx="117">
                  <c:v>-0.0024805055</c:v>
                </c:pt>
                <c:pt idx="118">
                  <c:v>0.02123767696</c:v>
                </c:pt>
                <c:pt idx="119">
                  <c:v>-0.1441289485</c:v>
                </c:pt>
                <c:pt idx="120">
                  <c:v>-0.1567739695</c:v>
                </c:pt>
                <c:pt idx="121">
                  <c:v>-0.01823220961</c:v>
                </c:pt>
                <c:pt idx="122">
                  <c:v>-0.1049513295</c:v>
                </c:pt>
                <c:pt idx="123">
                  <c:v>-0.2342514396</c:v>
                </c:pt>
                <c:pt idx="124">
                  <c:v>-0.1761419624</c:v>
                </c:pt>
                <c:pt idx="125">
                  <c:v>-0.1947571784</c:v>
                </c:pt>
                <c:pt idx="126">
                  <c:v>-0.2330381572</c:v>
                </c:pt>
                <c:pt idx="127">
                  <c:v>-0.146954298</c:v>
                </c:pt>
                <c:pt idx="128">
                  <c:v>-0.2408789247</c:v>
                </c:pt>
                <c:pt idx="129">
                  <c:v>-0.390153259</c:v>
                </c:pt>
                <c:pt idx="130">
                  <c:v>-0.315505296</c:v>
                </c:pt>
                <c:pt idx="131">
                  <c:v>-0.3287073672</c:v>
                </c:pt>
                <c:pt idx="132">
                  <c:v>-0.1776361465</c:v>
                </c:pt>
                <c:pt idx="133">
                  <c:v>-0.04371162504</c:v>
                </c:pt>
                <c:pt idx="134">
                  <c:v>-0.1644280702</c:v>
                </c:pt>
                <c:pt idx="135">
                  <c:v>-0.1269806623</c:v>
                </c:pt>
                <c:pt idx="136">
                  <c:v>-0.04135438055</c:v>
                </c:pt>
                <c:pt idx="137">
                  <c:v>-0.09490329027</c:v>
                </c:pt>
                <c:pt idx="138">
                  <c:v>0.009859691374</c:v>
                </c:pt>
                <c:pt idx="139">
                  <c:v>0.3199412227</c:v>
                </c:pt>
                <c:pt idx="140">
                  <c:v>0.347630769</c:v>
                </c:pt>
                <c:pt idx="141">
                  <c:v>0.3964498341</c:v>
                </c:pt>
                <c:pt idx="142">
                  <c:v>0.359423995</c:v>
                </c:pt>
                <c:pt idx="143">
                  <c:v>0.5095056891</c:v>
                </c:pt>
                <c:pt idx="144">
                  <c:v>0.5802710652</c:v>
                </c:pt>
                <c:pt idx="145">
                  <c:v>0.5729739666</c:v>
                </c:pt>
                <c:pt idx="146">
                  <c:v>0.4527240694</c:v>
                </c:pt>
                <c:pt idx="147">
                  <c:v>0.3886657059</c:v>
                </c:pt>
                <c:pt idx="148">
                  <c:v>0.2115253955</c:v>
                </c:pt>
                <c:pt idx="149">
                  <c:v>0.173708573</c:v>
                </c:pt>
                <c:pt idx="150">
                  <c:v>0.03349466249</c:v>
                </c:pt>
                <c:pt idx="151">
                  <c:v>-0.07449999452</c:v>
                </c:pt>
                <c:pt idx="152">
                  <c:v>-0.1517803073</c:v>
                </c:pt>
                <c:pt idx="153">
                  <c:v>-0.01127990801</c:v>
                </c:pt>
                <c:pt idx="154">
                  <c:v>0.02070296928</c:v>
                </c:pt>
                <c:pt idx="155">
                  <c:v>-0.07486100495</c:v>
                </c:pt>
                <c:pt idx="156">
                  <c:v>-0.01494373661</c:v>
                </c:pt>
                <c:pt idx="157">
                  <c:v>0.08989113569</c:v>
                </c:pt>
                <c:pt idx="158">
                  <c:v>0.1177595556</c:v>
                </c:pt>
                <c:pt idx="159">
                  <c:v>-0.003114966676</c:v>
                </c:pt>
                <c:pt idx="160">
                  <c:v>-0.05810140073</c:v>
                </c:pt>
                <c:pt idx="161">
                  <c:v>-0.01293040626</c:v>
                </c:pt>
                <c:pt idx="162">
                  <c:v>0.06332433224</c:v>
                </c:pt>
                <c:pt idx="163">
                  <c:v>0.1582960933</c:v>
                </c:pt>
                <c:pt idx="164">
                  <c:v>0.1798894554</c:v>
                </c:pt>
                <c:pt idx="165">
                  <c:v>-0.01790490746</c:v>
                </c:pt>
                <c:pt idx="166">
                  <c:v>-0.2489909828</c:v>
                </c:pt>
                <c:pt idx="167">
                  <c:v>-0.2990129292</c:v>
                </c:pt>
                <c:pt idx="168">
                  <c:v>-0.311294347</c:v>
                </c:pt>
                <c:pt idx="169">
                  <c:v>-0.4028148055</c:v>
                </c:pt>
                <c:pt idx="170">
                  <c:v>-0.2707492411</c:v>
                </c:pt>
                <c:pt idx="171">
                  <c:v>-0.1799462736</c:v>
                </c:pt>
                <c:pt idx="172">
                  <c:v>-0.05530454591</c:v>
                </c:pt>
                <c:pt idx="173">
                  <c:v>0.09020808339</c:v>
                </c:pt>
                <c:pt idx="174">
                  <c:v>0.1918880194</c:v>
                </c:pt>
                <c:pt idx="175">
                  <c:v>0.2221027166</c:v>
                </c:pt>
                <c:pt idx="176">
                  <c:v>0.2678047717</c:v>
                </c:pt>
                <c:pt idx="177">
                  <c:v>0.410115242</c:v>
                </c:pt>
                <c:pt idx="178">
                  <c:v>0.5103591681</c:v>
                </c:pt>
                <c:pt idx="179">
                  <c:v>0.3363264799</c:v>
                </c:pt>
                <c:pt idx="180">
                  <c:v>0.1683175117</c:v>
                </c:pt>
                <c:pt idx="181">
                  <c:v>0.1801984757</c:v>
                </c:pt>
                <c:pt idx="182">
                  <c:v>0.005358595401</c:v>
                </c:pt>
                <c:pt idx="183">
                  <c:v>0.07207471132</c:v>
                </c:pt>
                <c:pt idx="184">
                  <c:v>0.01679236069</c:v>
                </c:pt>
                <c:pt idx="185">
                  <c:v>0.03377294913</c:v>
                </c:pt>
                <c:pt idx="186">
                  <c:v>0.2256176621</c:v>
                </c:pt>
                <c:pt idx="187">
                  <c:v>0.2303289622</c:v>
                </c:pt>
                <c:pt idx="188">
                  <c:v>0.1101908684</c:v>
                </c:pt>
                <c:pt idx="189">
                  <c:v>0.05962052569</c:v>
                </c:pt>
                <c:pt idx="190">
                  <c:v>-0.1003823131</c:v>
                </c:pt>
                <c:pt idx="191">
                  <c:v>-0.1111255214</c:v>
                </c:pt>
                <c:pt idx="192">
                  <c:v>-0.1511766165</c:v>
                </c:pt>
              </c:numCache>
            </c:numRef>
          </c:yVal>
        </c:ser>
        <c:ser>
          <c:idx val="1"/>
          <c:order val="1"/>
          <c:tx>
            <c:v>State 2</c:v>
          </c:tx>
          <c:spPr>
            <a:ln xmlns:a="http://schemas.openxmlformats.org/drawingml/2006/main" w="19050">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Data'!$C$2:$C$194</c:f>
              <c:numCache>
                <c:formatCode>General</c:formatCode>
                <c:ptCount val="19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numCache>
            </c:numRef>
          </c:xVal>
          <c:yVal>
            <c:numRef>
              <c:f>'Chart Data'!$D$2:$D$194</c:f>
              <c:numCache>
                <c:formatCode>0.0</c:formatCode>
                <c:ptCount val="193"/>
                <c:pt idx="0">
                  <c:v>-0.08520137519</c:v>
                </c:pt>
                <c:pt idx="1">
                  <c:v>-0.1247077435</c:v>
                </c:pt>
                <c:pt idx="2">
                  <c:v>-0.0222999081</c:v>
                </c:pt>
                <c:pt idx="3">
                  <c:v>-0.07276368886</c:v>
                </c:pt>
                <c:pt idx="4">
                  <c:v>-0.04434437305</c:v>
                </c:pt>
                <c:pt idx="5">
                  <c:v>0.09952555597</c:v>
                </c:pt>
                <c:pt idx="6">
                  <c:v>0.03582985327</c:v>
                </c:pt>
                <c:pt idx="7">
                  <c:v>-0.09711904079</c:v>
                </c:pt>
                <c:pt idx="8">
                  <c:v>-0.02556152642</c:v>
                </c:pt>
                <c:pt idx="9">
                  <c:v>0.002303993097</c:v>
                </c:pt>
                <c:pt idx="10">
                  <c:v>-0.09446562827</c:v>
                </c:pt>
                <c:pt idx="11">
                  <c:v>-0.1341625899</c:v>
                </c:pt>
                <c:pt idx="12">
                  <c:v>-0.201646328</c:v>
                </c:pt>
                <c:pt idx="13">
                  <c:v>-0.2053120434</c:v>
                </c:pt>
                <c:pt idx="14">
                  <c:v>-0.1043497771</c:v>
                </c:pt>
                <c:pt idx="15">
                  <c:v>0.03125919029</c:v>
                </c:pt>
                <c:pt idx="16">
                  <c:v>0.1679803729</c:v>
                </c:pt>
                <c:pt idx="17">
                  <c:v>0.06910465658</c:v>
                </c:pt>
                <c:pt idx="18">
                  <c:v>0.02957542613</c:v>
                </c:pt>
                <c:pt idx="19">
                  <c:v>-0.03366601467</c:v>
                </c:pt>
                <c:pt idx="20">
                  <c:v>0.01305370033</c:v>
                </c:pt>
                <c:pt idx="21">
                  <c:v>0.01745847426</c:v>
                </c:pt>
                <c:pt idx="22">
                  <c:v>0.0854812935</c:v>
                </c:pt>
                <c:pt idx="23">
                  <c:v>0.03673909232</c:v>
                </c:pt>
                <c:pt idx="24">
                  <c:v>0.1151971966</c:v>
                </c:pt>
                <c:pt idx="25">
                  <c:v>0.1354150474</c:v>
                </c:pt>
                <c:pt idx="26">
                  <c:v>0.04360698164</c:v>
                </c:pt>
                <c:pt idx="27">
                  <c:v>0.01454997808</c:v>
                </c:pt>
                <c:pt idx="28">
                  <c:v>0.1120830476</c:v>
                </c:pt>
                <c:pt idx="29">
                  <c:v>0.07438304275</c:v>
                </c:pt>
                <c:pt idx="30">
                  <c:v>-0.04485046118</c:v>
                </c:pt>
                <c:pt idx="31">
                  <c:v>-0.03530360386</c:v>
                </c:pt>
                <c:pt idx="32">
                  <c:v>-0.01018532086</c:v>
                </c:pt>
                <c:pt idx="33">
                  <c:v>-0.07570812106</c:v>
                </c:pt>
                <c:pt idx="34">
                  <c:v>-0.02959955111</c:v>
                </c:pt>
                <c:pt idx="35">
                  <c:v>-0.1249338165</c:v>
                </c:pt>
                <c:pt idx="36">
                  <c:v>0.02183467709</c:v>
                </c:pt>
                <c:pt idx="37">
                  <c:v>0.05963172391</c:v>
                </c:pt>
                <c:pt idx="38">
                  <c:v>0.0573091507</c:v>
                </c:pt>
                <c:pt idx="39">
                  <c:v>0.1414283663</c:v>
                </c:pt>
                <c:pt idx="40">
                  <c:v>-0.1557977647</c:v>
                </c:pt>
                <c:pt idx="41">
                  <c:v>-0.2816652656</c:v>
                </c:pt>
                <c:pt idx="42">
                  <c:v>0.1796480715</c:v>
                </c:pt>
                <c:pt idx="43">
                  <c:v>0.2881880403</c:v>
                </c:pt>
                <c:pt idx="44">
                  <c:v>0.2848783135</c:v>
                </c:pt>
                <c:pt idx="45">
                  <c:v>-0.09356392175</c:v>
                </c:pt>
                <c:pt idx="46">
                  <c:v>-0.3721131682</c:v>
                </c:pt>
                <c:pt idx="47">
                  <c:v>-0.1554213762</c:v>
                </c:pt>
                <c:pt idx="48">
                  <c:v>0.2307502925</c:v>
                </c:pt>
                <c:pt idx="49">
                  <c:v>0.2635680437</c:v>
                </c:pt>
                <c:pt idx="50">
                  <c:v>0.04393130541</c:v>
                </c:pt>
                <c:pt idx="51">
                  <c:v>-0.2026503235</c:v>
                </c:pt>
                <c:pt idx="52">
                  <c:v>-0.1288636029</c:v>
                </c:pt>
                <c:pt idx="53">
                  <c:v>0.0630877912</c:v>
                </c:pt>
                <c:pt idx="54">
                  <c:v>0.03253692761</c:v>
                </c:pt>
                <c:pt idx="55">
                  <c:v>-0.05822746828</c:v>
                </c:pt>
                <c:pt idx="56">
                  <c:v>0.002442373428</c:v>
                </c:pt>
                <c:pt idx="57">
                  <c:v>0.02103841491</c:v>
                </c:pt>
                <c:pt idx="58">
                  <c:v>0.1359705329</c:v>
                </c:pt>
                <c:pt idx="59">
                  <c:v>0.1467228532</c:v>
                </c:pt>
                <c:pt idx="60">
                  <c:v>-0.03649518639</c:v>
                </c:pt>
                <c:pt idx="61">
                  <c:v>-0.3467179537</c:v>
                </c:pt>
                <c:pt idx="62">
                  <c:v>-0.1736539751</c:v>
                </c:pt>
                <c:pt idx="63">
                  <c:v>0.1571960002</c:v>
                </c:pt>
                <c:pt idx="64">
                  <c:v>0.3236611784</c:v>
                </c:pt>
                <c:pt idx="65">
                  <c:v>0.2483572513</c:v>
                </c:pt>
                <c:pt idx="66">
                  <c:v>-0.2055008858</c:v>
                </c:pt>
                <c:pt idx="67">
                  <c:v>-0.3361862898</c:v>
                </c:pt>
                <c:pt idx="68">
                  <c:v>-0.06877731532</c:v>
                </c:pt>
                <c:pt idx="69">
                  <c:v>0.1452819407</c:v>
                </c:pt>
                <c:pt idx="70">
                  <c:v>0.2434362024</c:v>
                </c:pt>
                <c:pt idx="71">
                  <c:v>0.2534628212</c:v>
                </c:pt>
                <c:pt idx="72">
                  <c:v>-0.1754854321</c:v>
                </c:pt>
                <c:pt idx="73">
                  <c:v>-0.5251999497</c:v>
                </c:pt>
                <c:pt idx="74">
                  <c:v>-0.1260257512</c:v>
                </c:pt>
                <c:pt idx="75">
                  <c:v>0.3851723969</c:v>
                </c:pt>
                <c:pt idx="76">
                  <c:v>0.4713695943</c:v>
                </c:pt>
                <c:pt idx="77">
                  <c:v>0.01183895208</c:v>
                </c:pt>
                <c:pt idx="78">
                  <c:v>-0.4786282182</c:v>
                </c:pt>
                <c:pt idx="79">
                  <c:v>-0.3696920276</c:v>
                </c:pt>
                <c:pt idx="80">
                  <c:v>-0.001518162549</c:v>
                </c:pt>
                <c:pt idx="81">
                  <c:v>0.5657739639</c:v>
                </c:pt>
                <c:pt idx="82">
                  <c:v>0.536967814</c:v>
                </c:pt>
                <c:pt idx="83">
                  <c:v>-0.09315604717</c:v>
                </c:pt>
                <c:pt idx="84">
                  <c:v>-0.4017276764</c:v>
                </c:pt>
                <c:pt idx="85">
                  <c:v>-0.3952878416</c:v>
                </c:pt>
                <c:pt idx="86">
                  <c:v>0.08390650898</c:v>
                </c:pt>
                <c:pt idx="87">
                  <c:v>0.5002328157</c:v>
                </c:pt>
                <c:pt idx="88">
                  <c:v>0.3394204378</c:v>
                </c:pt>
                <c:pt idx="89">
                  <c:v>-0.388863802</c:v>
                </c:pt>
                <c:pt idx="90">
                  <c:v>-0.457107842</c:v>
                </c:pt>
                <c:pt idx="91">
                  <c:v>-0.1760834157</c:v>
                </c:pt>
                <c:pt idx="92">
                  <c:v>0.3634581268</c:v>
                </c:pt>
                <c:pt idx="93">
                  <c:v>0.2945752442</c:v>
                </c:pt>
                <c:pt idx="94">
                  <c:v>-0.1327254772</c:v>
                </c:pt>
                <c:pt idx="95">
                  <c:v>-0.2878245115</c:v>
                </c:pt>
                <c:pt idx="96">
                  <c:v>-0.2775559127</c:v>
                </c:pt>
                <c:pt idx="97">
                  <c:v>-0.264390111</c:v>
                </c:pt>
                <c:pt idx="98">
                  <c:v>-0.226132974</c:v>
                </c:pt>
                <c:pt idx="99">
                  <c:v>-0.3778031766</c:v>
                </c:pt>
                <c:pt idx="100">
                  <c:v>-0.4587866664</c:v>
                </c:pt>
                <c:pt idx="101">
                  <c:v>-0.4464635253</c:v>
                </c:pt>
                <c:pt idx="102">
                  <c:v>-0.4794004858</c:v>
                </c:pt>
                <c:pt idx="103">
                  <c:v>-0.4744809866</c:v>
                </c:pt>
                <c:pt idx="104">
                  <c:v>-0.4419904649</c:v>
                </c:pt>
                <c:pt idx="105">
                  <c:v>-0.4741669893</c:v>
                </c:pt>
                <c:pt idx="106">
                  <c:v>-0.3170160949</c:v>
                </c:pt>
                <c:pt idx="107">
                  <c:v>-0.3100129664</c:v>
                </c:pt>
                <c:pt idx="108">
                  <c:v>-0.2019661367</c:v>
                </c:pt>
                <c:pt idx="109">
                  <c:v>-0.04700862244</c:v>
                </c:pt>
                <c:pt idx="110">
                  <c:v>0.07691977173</c:v>
                </c:pt>
                <c:pt idx="111">
                  <c:v>0.08467077464</c:v>
                </c:pt>
                <c:pt idx="112">
                  <c:v>0.2428469509</c:v>
                </c:pt>
                <c:pt idx="113">
                  <c:v>0.2200579792</c:v>
                </c:pt>
                <c:pt idx="114">
                  <c:v>0.1951851249</c:v>
                </c:pt>
                <c:pt idx="115">
                  <c:v>0.2370182276</c:v>
                </c:pt>
                <c:pt idx="116">
                  <c:v>0.1501113772</c:v>
                </c:pt>
                <c:pt idx="117">
                  <c:v>0.1198987812</c:v>
                </c:pt>
                <c:pt idx="118">
                  <c:v>0.06939012557</c:v>
                </c:pt>
                <c:pt idx="119">
                  <c:v>-0.03647130355</c:v>
                </c:pt>
                <c:pt idx="120">
                  <c:v>-0.05119524151</c:v>
                </c:pt>
                <c:pt idx="121">
                  <c:v>0.2502057552</c:v>
                </c:pt>
                <c:pt idx="122">
                  <c:v>0.2087738365</c:v>
                </c:pt>
                <c:pt idx="123">
                  <c:v>0.2208508253</c:v>
                </c:pt>
                <c:pt idx="124">
                  <c:v>0.1325901151</c:v>
                </c:pt>
                <c:pt idx="125">
                  <c:v>0.094852373</c:v>
                </c:pt>
                <c:pt idx="126">
                  <c:v>-0.02173575386</c:v>
                </c:pt>
                <c:pt idx="127">
                  <c:v>-0.1012277231</c:v>
                </c:pt>
                <c:pt idx="128">
                  <c:v>-0.06173502654</c:v>
                </c:pt>
                <c:pt idx="129">
                  <c:v>-0.08297950029</c:v>
                </c:pt>
                <c:pt idx="130">
                  <c:v>-0.2603130937</c:v>
                </c:pt>
                <c:pt idx="131">
                  <c:v>-0.3395726383</c:v>
                </c:pt>
                <c:pt idx="132">
                  <c:v>-0.4188570082</c:v>
                </c:pt>
                <c:pt idx="133">
                  <c:v>-0.5477339625</c:v>
                </c:pt>
                <c:pt idx="134">
                  <c:v>-0.5677071214</c:v>
                </c:pt>
                <c:pt idx="135">
                  <c:v>-0.6129928827</c:v>
                </c:pt>
                <c:pt idx="136">
                  <c:v>-0.7206472158</c:v>
                </c:pt>
                <c:pt idx="137">
                  <c:v>-0.6286261678</c:v>
                </c:pt>
                <c:pt idx="138">
                  <c:v>-0.6329413056</c:v>
                </c:pt>
                <c:pt idx="139">
                  <c:v>-0.406657517</c:v>
                </c:pt>
                <c:pt idx="140">
                  <c:v>-0.3548855186</c:v>
                </c:pt>
                <c:pt idx="141">
                  <c:v>-0.3288748264</c:v>
                </c:pt>
                <c:pt idx="142">
                  <c:v>-0.1582467556</c:v>
                </c:pt>
                <c:pt idx="143">
                  <c:v>0.06929805875</c:v>
                </c:pt>
                <c:pt idx="144">
                  <c:v>0.1639123559</c:v>
                </c:pt>
                <c:pt idx="145">
                  <c:v>0.1744304895</c:v>
                </c:pt>
                <c:pt idx="146">
                  <c:v>0.2093793899</c:v>
                </c:pt>
                <c:pt idx="147">
                  <c:v>0.2538315654</c:v>
                </c:pt>
                <c:pt idx="148">
                  <c:v>0.1349053681</c:v>
                </c:pt>
                <c:pt idx="149">
                  <c:v>0.1499887407</c:v>
                </c:pt>
                <c:pt idx="150">
                  <c:v>0.2877759635</c:v>
                </c:pt>
                <c:pt idx="151">
                  <c:v>0.2129578441</c:v>
                </c:pt>
                <c:pt idx="152">
                  <c:v>0.03796477988</c:v>
                </c:pt>
                <c:pt idx="153">
                  <c:v>0.03825611994</c:v>
                </c:pt>
                <c:pt idx="154">
                  <c:v>0.07073123753</c:v>
                </c:pt>
                <c:pt idx="155">
                  <c:v>0.08905627578</c:v>
                </c:pt>
                <c:pt idx="156">
                  <c:v>0.1525648981</c:v>
                </c:pt>
                <c:pt idx="157">
                  <c:v>0.08179707825</c:v>
                </c:pt>
                <c:pt idx="158">
                  <c:v>-0.003898836439</c:v>
                </c:pt>
                <c:pt idx="159">
                  <c:v>-0.1021388471</c:v>
                </c:pt>
                <c:pt idx="160">
                  <c:v>-0.001804649364</c:v>
                </c:pt>
                <c:pt idx="161">
                  <c:v>0.08432649821</c:v>
                </c:pt>
                <c:pt idx="162">
                  <c:v>0.01656892896</c:v>
                </c:pt>
                <c:pt idx="163">
                  <c:v>0.09812441468</c:v>
                </c:pt>
                <c:pt idx="164">
                  <c:v>-0.08672842383</c:v>
                </c:pt>
                <c:pt idx="165">
                  <c:v>-0.2455898374</c:v>
                </c:pt>
                <c:pt idx="166">
                  <c:v>-0.2023797035</c:v>
                </c:pt>
                <c:pt idx="167">
                  <c:v>0.0551555194</c:v>
                </c:pt>
                <c:pt idx="168">
                  <c:v>-0.06503837556</c:v>
                </c:pt>
                <c:pt idx="169">
                  <c:v>-0.008309248835</c:v>
                </c:pt>
                <c:pt idx="170">
                  <c:v>-0.09318899363</c:v>
                </c:pt>
                <c:pt idx="171">
                  <c:v>-0.1723838001</c:v>
                </c:pt>
                <c:pt idx="172">
                  <c:v>-0.2963702679</c:v>
                </c:pt>
                <c:pt idx="173">
                  <c:v>-0.3119825721</c:v>
                </c:pt>
                <c:pt idx="174">
                  <c:v>-0.2740239799</c:v>
                </c:pt>
                <c:pt idx="175">
                  <c:v>-0.2880313098</c:v>
                </c:pt>
                <c:pt idx="176">
                  <c:v>-0.3258508742</c:v>
                </c:pt>
                <c:pt idx="177">
                  <c:v>-0.2350776345</c:v>
                </c:pt>
                <c:pt idx="178">
                  <c:v>0.1491124779</c:v>
                </c:pt>
                <c:pt idx="179">
                  <c:v>0.09802209586</c:v>
                </c:pt>
                <c:pt idx="180">
                  <c:v>0.1256845593</c:v>
                </c:pt>
                <c:pt idx="181">
                  <c:v>0.1593318135</c:v>
                </c:pt>
                <c:pt idx="182">
                  <c:v>0.1415642202</c:v>
                </c:pt>
                <c:pt idx="183">
                  <c:v>0.2131879628</c:v>
                </c:pt>
                <c:pt idx="184">
                  <c:v>0.2106514126</c:v>
                </c:pt>
                <c:pt idx="185">
                  <c:v>0.214116171</c:v>
                </c:pt>
                <c:pt idx="186">
                  <c:v>0.05484288186</c:v>
                </c:pt>
                <c:pt idx="187">
                  <c:v>0.08761488646</c:v>
                </c:pt>
                <c:pt idx="188">
                  <c:v>0.08216306567</c:v>
                </c:pt>
                <c:pt idx="189">
                  <c:v>0.05930934846</c:v>
                </c:pt>
                <c:pt idx="190">
                  <c:v>0.0255322326</c:v>
                </c:pt>
                <c:pt idx="191">
                  <c:v>-0.192196086</c:v>
                </c:pt>
                <c:pt idx="192">
                  <c:v>-0.107951656</c:v>
                </c:pt>
              </c:numCache>
            </c:numRef>
          </c:yVal>
        </c:ser>
        <c:ser>
          <c:idx val="2"/>
          <c:order val="2"/>
          <c:tx>
            <c:v>State 3</c:v>
          </c:tx>
          <c:spPr>
            <a:ln xmlns:a="http://schemas.openxmlformats.org/drawingml/2006/main" w="19050">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Data'!$E$2:$E$194</c:f>
              <c:numCache>
                <c:formatCode>General</c:formatCode>
                <c:ptCount val="19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numCache>
            </c:numRef>
          </c:xVal>
          <c:yVal>
            <c:numRef>
              <c:f>'Chart Data'!$F$2:$F$194</c:f>
              <c:numCache>
                <c:formatCode>0.0</c:formatCode>
                <c:ptCount val="193"/>
                <c:pt idx="0">
                  <c:v>-0.3591634035</c:v>
                </c:pt>
                <c:pt idx="1">
                  <c:v>-0.3095937669</c:v>
                </c:pt>
                <c:pt idx="2">
                  <c:v>-0.1505372524</c:v>
                </c:pt>
                <c:pt idx="3">
                  <c:v>-0.07167021185</c:v>
                </c:pt>
                <c:pt idx="4">
                  <c:v>-0.007331279572</c:v>
                </c:pt>
                <c:pt idx="5">
                  <c:v>0.09065941721</c:v>
                </c:pt>
                <c:pt idx="6">
                  <c:v>0.01848022267</c:v>
                </c:pt>
                <c:pt idx="7">
                  <c:v>0.0359618552</c:v>
                </c:pt>
                <c:pt idx="8">
                  <c:v>0.07407787442</c:v>
                </c:pt>
                <c:pt idx="9">
                  <c:v>0.1507982314</c:v>
                </c:pt>
                <c:pt idx="10">
                  <c:v>0.00933771953</c:v>
                </c:pt>
                <c:pt idx="11">
                  <c:v>-0.0848454535</c:v>
                </c:pt>
                <c:pt idx="12">
                  <c:v>-0.1685260385</c:v>
                </c:pt>
                <c:pt idx="13">
                  <c:v>-0.2320931256</c:v>
                </c:pt>
                <c:pt idx="14">
                  <c:v>-0.1684595942</c:v>
                </c:pt>
                <c:pt idx="15">
                  <c:v>-0.1200628653</c:v>
                </c:pt>
                <c:pt idx="16">
                  <c:v>-0.1969195604</c:v>
                </c:pt>
                <c:pt idx="17">
                  <c:v>-0.1083661839</c:v>
                </c:pt>
                <c:pt idx="18">
                  <c:v>0.03425155208</c:v>
                </c:pt>
                <c:pt idx="19">
                  <c:v>0.1223720387</c:v>
                </c:pt>
                <c:pt idx="20">
                  <c:v>0.0869744122</c:v>
                </c:pt>
                <c:pt idx="21">
                  <c:v>0.1105220392</c:v>
                </c:pt>
                <c:pt idx="22">
                  <c:v>0.04050036892</c:v>
                </c:pt>
                <c:pt idx="23">
                  <c:v>-0.07450252771</c:v>
                </c:pt>
                <c:pt idx="24">
                  <c:v>-0.1820754707</c:v>
                </c:pt>
                <c:pt idx="25">
                  <c:v>-0.1474383473</c:v>
                </c:pt>
                <c:pt idx="26">
                  <c:v>-0.1279766411</c:v>
                </c:pt>
                <c:pt idx="27">
                  <c:v>-0.009926587343</c:v>
                </c:pt>
                <c:pt idx="28">
                  <c:v>-0.006245333236</c:v>
                </c:pt>
                <c:pt idx="29">
                  <c:v>0.01837412454</c:v>
                </c:pt>
                <c:pt idx="30">
                  <c:v>0.07065096498</c:v>
                </c:pt>
                <c:pt idx="31">
                  <c:v>0.09603907168</c:v>
                </c:pt>
                <c:pt idx="32">
                  <c:v>0.1120486408</c:v>
                </c:pt>
                <c:pt idx="33">
                  <c:v>0.03413921967</c:v>
                </c:pt>
                <c:pt idx="34">
                  <c:v>-0.1129432619</c:v>
                </c:pt>
                <c:pt idx="35">
                  <c:v>-0.2122170627</c:v>
                </c:pt>
                <c:pt idx="36">
                  <c:v>-0.1291425675</c:v>
                </c:pt>
                <c:pt idx="37">
                  <c:v>0.02904850058</c:v>
                </c:pt>
                <c:pt idx="38">
                  <c:v>-0.003404536517</c:v>
                </c:pt>
                <c:pt idx="39">
                  <c:v>0.0571635589</c:v>
                </c:pt>
                <c:pt idx="40">
                  <c:v>0.09330593795</c:v>
                </c:pt>
                <c:pt idx="41">
                  <c:v>-0.01185661741</c:v>
                </c:pt>
                <c:pt idx="42">
                  <c:v>-0.2008275539</c:v>
                </c:pt>
                <c:pt idx="43">
                  <c:v>-0.171691224</c:v>
                </c:pt>
                <c:pt idx="44">
                  <c:v>0.03262432665</c:v>
                </c:pt>
                <c:pt idx="45">
                  <c:v>0.1952722073</c:v>
                </c:pt>
                <c:pt idx="46">
                  <c:v>0.2197281122</c:v>
                </c:pt>
                <c:pt idx="47">
                  <c:v>0.2267286479</c:v>
                </c:pt>
                <c:pt idx="48">
                  <c:v>0.03440530598</c:v>
                </c:pt>
                <c:pt idx="49">
                  <c:v>0.08380141109</c:v>
                </c:pt>
                <c:pt idx="50">
                  <c:v>0.08695240319</c:v>
                </c:pt>
                <c:pt idx="51">
                  <c:v>0.05160570145</c:v>
                </c:pt>
                <c:pt idx="52">
                  <c:v>0.04250758141</c:v>
                </c:pt>
                <c:pt idx="53">
                  <c:v>0.06384751201</c:v>
                </c:pt>
                <c:pt idx="54">
                  <c:v>0.05795161054</c:v>
                </c:pt>
                <c:pt idx="55">
                  <c:v>-0.1527162194</c:v>
                </c:pt>
                <c:pt idx="56">
                  <c:v>-0.1345964819</c:v>
                </c:pt>
                <c:pt idx="57">
                  <c:v>-0.1365184933</c:v>
                </c:pt>
                <c:pt idx="58">
                  <c:v>-0.07973042876</c:v>
                </c:pt>
                <c:pt idx="59">
                  <c:v>-0.07023303211</c:v>
                </c:pt>
                <c:pt idx="60">
                  <c:v>0.1972734034</c:v>
                </c:pt>
                <c:pt idx="61">
                  <c:v>0.3507334292</c:v>
                </c:pt>
                <c:pt idx="62">
                  <c:v>0.1910689026</c:v>
                </c:pt>
                <c:pt idx="63">
                  <c:v>-0.03530979156</c:v>
                </c:pt>
                <c:pt idx="64">
                  <c:v>-0.4690307677</c:v>
                </c:pt>
                <c:pt idx="65">
                  <c:v>-0.5375337601</c:v>
                </c:pt>
                <c:pt idx="66">
                  <c:v>-0.5608668923</c:v>
                </c:pt>
                <c:pt idx="67">
                  <c:v>-0.2703705728</c:v>
                </c:pt>
                <c:pt idx="68">
                  <c:v>-0.09913509339</c:v>
                </c:pt>
                <c:pt idx="69">
                  <c:v>0.09166838229</c:v>
                </c:pt>
                <c:pt idx="70">
                  <c:v>0.1788930744</c:v>
                </c:pt>
                <c:pt idx="71">
                  <c:v>0.311296165</c:v>
                </c:pt>
                <c:pt idx="72">
                  <c:v>0.2070203573</c:v>
                </c:pt>
                <c:pt idx="73">
                  <c:v>0.08686130494</c:v>
                </c:pt>
                <c:pt idx="74">
                  <c:v>0.02763396315</c:v>
                </c:pt>
                <c:pt idx="75">
                  <c:v>-0.07147986442</c:v>
                </c:pt>
                <c:pt idx="76">
                  <c:v>-0.2139176577</c:v>
                </c:pt>
                <c:pt idx="77">
                  <c:v>-0.206086576</c:v>
                </c:pt>
                <c:pt idx="78">
                  <c:v>0.08717988431</c:v>
                </c:pt>
                <c:pt idx="79">
                  <c:v>0.2719816864</c:v>
                </c:pt>
                <c:pt idx="80">
                  <c:v>0.1099196374</c:v>
                </c:pt>
                <c:pt idx="81">
                  <c:v>0.1360508204</c:v>
                </c:pt>
                <c:pt idx="82">
                  <c:v>0.2268867493</c:v>
                </c:pt>
                <c:pt idx="83">
                  <c:v>0.04574161023</c:v>
                </c:pt>
                <c:pt idx="84">
                  <c:v>0.002650755225</c:v>
                </c:pt>
                <c:pt idx="85">
                  <c:v>0.07953874022</c:v>
                </c:pt>
                <c:pt idx="86">
                  <c:v>-0.09409205616</c:v>
                </c:pt>
                <c:pt idx="87">
                  <c:v>-0.2071547806</c:v>
                </c:pt>
                <c:pt idx="88">
                  <c:v>-0.1186190993</c:v>
                </c:pt>
                <c:pt idx="89">
                  <c:v>-0.297693789</c:v>
                </c:pt>
                <c:pt idx="90">
                  <c:v>-0.1539343446</c:v>
                </c:pt>
                <c:pt idx="91">
                  <c:v>-0.02623219416</c:v>
                </c:pt>
                <c:pt idx="92">
                  <c:v>0.1659273654</c:v>
                </c:pt>
                <c:pt idx="93">
                  <c:v>0.1413844824</c:v>
                </c:pt>
                <c:pt idx="94">
                  <c:v>0.2218430042</c:v>
                </c:pt>
                <c:pt idx="95">
                  <c:v>-0.02807528712</c:v>
                </c:pt>
                <c:pt idx="96">
                  <c:v>0.02489946038</c:v>
                </c:pt>
                <c:pt idx="97">
                  <c:v>0.1384628415</c:v>
                </c:pt>
                <c:pt idx="98">
                  <c:v>0.09906832874</c:v>
                </c:pt>
                <c:pt idx="99">
                  <c:v>0.1095639393</c:v>
                </c:pt>
                <c:pt idx="100">
                  <c:v>-0.03907501698</c:v>
                </c:pt>
                <c:pt idx="101">
                  <c:v>-0.1765267551</c:v>
                </c:pt>
                <c:pt idx="102">
                  <c:v>-0.3030624986</c:v>
                </c:pt>
                <c:pt idx="103">
                  <c:v>-0.2571685016</c:v>
                </c:pt>
                <c:pt idx="104">
                  <c:v>-0.2271113843</c:v>
                </c:pt>
                <c:pt idx="105">
                  <c:v>0.07779802382</c:v>
                </c:pt>
                <c:pt idx="106">
                  <c:v>0.1469213367</c:v>
                </c:pt>
                <c:pt idx="107">
                  <c:v>0.2087862194</c:v>
                </c:pt>
                <c:pt idx="108">
                  <c:v>0.2999456823</c:v>
                </c:pt>
                <c:pt idx="109">
                  <c:v>0.4621183276</c:v>
                </c:pt>
                <c:pt idx="110">
                  <c:v>0.3682094216</c:v>
                </c:pt>
                <c:pt idx="111">
                  <c:v>0.2184854746</c:v>
                </c:pt>
                <c:pt idx="112">
                  <c:v>0.08075109124</c:v>
                </c:pt>
                <c:pt idx="113">
                  <c:v>-0.1207340881</c:v>
                </c:pt>
                <c:pt idx="114">
                  <c:v>-0.4004140496</c:v>
                </c:pt>
                <c:pt idx="115">
                  <c:v>-0.4942501187</c:v>
                </c:pt>
                <c:pt idx="116">
                  <c:v>-0.6127533317</c:v>
                </c:pt>
                <c:pt idx="117">
                  <c:v>-0.3471195102</c:v>
                </c:pt>
                <c:pt idx="118">
                  <c:v>-0.008712345734</c:v>
                </c:pt>
                <c:pt idx="119">
                  <c:v>0.1871676296</c:v>
                </c:pt>
                <c:pt idx="120">
                  <c:v>0.4477204382</c:v>
                </c:pt>
                <c:pt idx="121">
                  <c:v>0.4950561225</c:v>
                </c:pt>
                <c:pt idx="122">
                  <c:v>0.3976502717</c:v>
                </c:pt>
                <c:pt idx="123">
                  <c:v>0.2959527373</c:v>
                </c:pt>
                <c:pt idx="124">
                  <c:v>0.1749271452</c:v>
                </c:pt>
                <c:pt idx="125">
                  <c:v>0.01895551011</c:v>
                </c:pt>
                <c:pt idx="126">
                  <c:v>-0.02208833769</c:v>
                </c:pt>
                <c:pt idx="127">
                  <c:v>0.02733696997</c:v>
                </c:pt>
                <c:pt idx="128">
                  <c:v>-0.04239469022</c:v>
                </c:pt>
                <c:pt idx="129">
                  <c:v>-0.1497033536</c:v>
                </c:pt>
                <c:pt idx="130">
                  <c:v>-0.1850529909</c:v>
                </c:pt>
                <c:pt idx="131">
                  <c:v>-0.156302616</c:v>
                </c:pt>
                <c:pt idx="132">
                  <c:v>-0.1565012783</c:v>
                </c:pt>
                <c:pt idx="133">
                  <c:v>-0.313680321</c:v>
                </c:pt>
                <c:pt idx="134">
                  <c:v>-0.3205101788</c:v>
                </c:pt>
                <c:pt idx="135">
                  <c:v>-0.3047282696</c:v>
                </c:pt>
                <c:pt idx="136">
                  <c:v>-0.2531966567</c:v>
                </c:pt>
                <c:pt idx="137">
                  <c:v>-0.05239924416</c:v>
                </c:pt>
                <c:pt idx="138">
                  <c:v>0.1461174488</c:v>
                </c:pt>
                <c:pt idx="139">
                  <c:v>0.2374288142</c:v>
                </c:pt>
                <c:pt idx="140">
                  <c:v>0.2874506712</c:v>
                </c:pt>
                <c:pt idx="141">
                  <c:v>0.2725810111</c:v>
                </c:pt>
                <c:pt idx="142">
                  <c:v>0.1529881805</c:v>
                </c:pt>
                <c:pt idx="143">
                  <c:v>0.1034220532</c:v>
                </c:pt>
                <c:pt idx="144">
                  <c:v>0.04529922456</c:v>
                </c:pt>
                <c:pt idx="145">
                  <c:v>0.02573985048</c:v>
                </c:pt>
                <c:pt idx="146">
                  <c:v>0.05465207994</c:v>
                </c:pt>
                <c:pt idx="147">
                  <c:v>0.1799291521</c:v>
                </c:pt>
                <c:pt idx="148">
                  <c:v>0.3410882056</c:v>
                </c:pt>
                <c:pt idx="149">
                  <c:v>0.3904893696</c:v>
                </c:pt>
                <c:pt idx="150">
                  <c:v>0.2251915336</c:v>
                </c:pt>
                <c:pt idx="151">
                  <c:v>0.0717042014</c:v>
                </c:pt>
                <c:pt idx="152">
                  <c:v>0.01391104423</c:v>
                </c:pt>
                <c:pt idx="153">
                  <c:v>0.01681291685</c:v>
                </c:pt>
                <c:pt idx="154">
                  <c:v>-0.03575538844</c:v>
                </c:pt>
                <c:pt idx="155">
                  <c:v>-0.1538629681</c:v>
                </c:pt>
                <c:pt idx="156">
                  <c:v>-0.2971728146</c:v>
                </c:pt>
                <c:pt idx="157">
                  <c:v>0.04525399953</c:v>
                </c:pt>
                <c:pt idx="158">
                  <c:v>0.1986332685</c:v>
                </c:pt>
                <c:pt idx="159">
                  <c:v>0.07247957587</c:v>
                </c:pt>
                <c:pt idx="160">
                  <c:v>-0.06342469156</c:v>
                </c:pt>
                <c:pt idx="161">
                  <c:v>-0.02463013493</c:v>
                </c:pt>
                <c:pt idx="162">
                  <c:v>0.263100028</c:v>
                </c:pt>
                <c:pt idx="163">
                  <c:v>0.1322866976</c:v>
                </c:pt>
                <c:pt idx="164">
                  <c:v>-0.2061063051</c:v>
                </c:pt>
                <c:pt idx="165">
                  <c:v>-0.05302478746</c:v>
                </c:pt>
                <c:pt idx="166">
                  <c:v>0.2761446238</c:v>
                </c:pt>
                <c:pt idx="167">
                  <c:v>-0.01292803884</c:v>
                </c:pt>
                <c:pt idx="168">
                  <c:v>-0.1456812918</c:v>
                </c:pt>
                <c:pt idx="169">
                  <c:v>-0.4646625817</c:v>
                </c:pt>
                <c:pt idx="170">
                  <c:v>-0.3891298771</c:v>
                </c:pt>
                <c:pt idx="171">
                  <c:v>-0.3171149492</c:v>
                </c:pt>
                <c:pt idx="172">
                  <c:v>-0.1833425164</c:v>
                </c:pt>
                <c:pt idx="173">
                  <c:v>-0.1193578616</c:v>
                </c:pt>
                <c:pt idx="174">
                  <c:v>0.04696812108</c:v>
                </c:pt>
                <c:pt idx="175">
                  <c:v>0.02851702273</c:v>
                </c:pt>
                <c:pt idx="176">
                  <c:v>0.1178498939</c:v>
                </c:pt>
                <c:pt idx="177">
                  <c:v>0.264082551</c:v>
                </c:pt>
                <c:pt idx="178">
                  <c:v>0.2581467628</c:v>
                </c:pt>
                <c:pt idx="179">
                  <c:v>0.2850647569</c:v>
                </c:pt>
                <c:pt idx="180">
                  <c:v>0.06338012218</c:v>
                </c:pt>
                <c:pt idx="181">
                  <c:v>-0.06094231084</c:v>
                </c:pt>
                <c:pt idx="182">
                  <c:v>-0.05969243124</c:v>
                </c:pt>
                <c:pt idx="183">
                  <c:v>-0.176082164</c:v>
                </c:pt>
                <c:pt idx="184">
                  <c:v>-0.3206680119</c:v>
                </c:pt>
                <c:pt idx="185">
                  <c:v>-0.4341658652</c:v>
                </c:pt>
                <c:pt idx="186">
                  <c:v>-0.560406208</c:v>
                </c:pt>
                <c:pt idx="187">
                  <c:v>-0.4886068404</c:v>
                </c:pt>
                <c:pt idx="188">
                  <c:v>-0.465228796</c:v>
                </c:pt>
                <c:pt idx="189">
                  <c:v>-0.1254413426</c:v>
                </c:pt>
                <c:pt idx="190">
                  <c:v>-0.3838907778</c:v>
                </c:pt>
                <c:pt idx="191">
                  <c:v>-0.5704653263</c:v>
                </c:pt>
                <c:pt idx="192">
                  <c:v>0.0905129537</c:v>
                </c:pt>
              </c:numCache>
            </c:numRef>
          </c:yVal>
        </c:ser>
        <c:ser>
          <c:idx val="3"/>
          <c:order val="3"/>
          <c:tx>
            <c:v>State 4</c:v>
          </c:tx>
          <c:spPr>
            <a:ln xmlns:a="http://schemas.openxmlformats.org/drawingml/2006/main" w="19050">
              <a:solidFill>
                <a:srgbClr val="8B7AA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Data'!$G$2:$G$194</c:f>
              <c:numCache>
                <c:formatCode>General</c:formatCode>
                <c:ptCount val="19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numCache>
            </c:numRef>
          </c:xVal>
          <c:yVal>
            <c:numRef>
              <c:f>'Chart Data'!$H$2:$H$194</c:f>
              <c:numCache>
                <c:formatCode>0.0</c:formatCode>
                <c:ptCount val="193"/>
                <c:pt idx="0">
                  <c:v>-0.1756363809</c:v>
                </c:pt>
                <c:pt idx="1">
                  <c:v>-0.2372270972</c:v>
                </c:pt>
                <c:pt idx="2">
                  <c:v>-0.308247596</c:v>
                </c:pt>
                <c:pt idx="3">
                  <c:v>-0.325722456</c:v>
                </c:pt>
                <c:pt idx="4">
                  <c:v>-0.2799805701</c:v>
                </c:pt>
                <c:pt idx="5">
                  <c:v>-0.1796495467</c:v>
                </c:pt>
                <c:pt idx="6">
                  <c:v>-0.1592119783</c:v>
                </c:pt>
                <c:pt idx="7">
                  <c:v>0.001291884342</c:v>
                </c:pt>
                <c:pt idx="8">
                  <c:v>-0.03476862237</c:v>
                </c:pt>
                <c:pt idx="9">
                  <c:v>0.0632583648</c:v>
                </c:pt>
                <c:pt idx="10">
                  <c:v>0.08512433618</c:v>
                </c:pt>
                <c:pt idx="11">
                  <c:v>0.06042928994</c:v>
                </c:pt>
                <c:pt idx="12">
                  <c:v>0.00351391267</c:v>
                </c:pt>
                <c:pt idx="13">
                  <c:v>-0.07835018635</c:v>
                </c:pt>
                <c:pt idx="14">
                  <c:v>-0.0857084021</c:v>
                </c:pt>
                <c:pt idx="15">
                  <c:v>-0.1252202392</c:v>
                </c:pt>
                <c:pt idx="16">
                  <c:v>-0.1649267524</c:v>
                </c:pt>
                <c:pt idx="17">
                  <c:v>-0.2658747137</c:v>
                </c:pt>
                <c:pt idx="18">
                  <c:v>-0.2385682911</c:v>
                </c:pt>
                <c:pt idx="19">
                  <c:v>-0.1685290635</c:v>
                </c:pt>
                <c:pt idx="20">
                  <c:v>-0.04044500366</c:v>
                </c:pt>
                <c:pt idx="21">
                  <c:v>0.1129251793</c:v>
                </c:pt>
                <c:pt idx="22">
                  <c:v>0.1249164715</c:v>
                </c:pt>
                <c:pt idx="23">
                  <c:v>0.1700941622</c:v>
                </c:pt>
                <c:pt idx="24">
                  <c:v>0.2824502587</c:v>
                </c:pt>
                <c:pt idx="25">
                  <c:v>0.1025900766</c:v>
                </c:pt>
                <c:pt idx="26">
                  <c:v>-0.04857575148</c:v>
                </c:pt>
                <c:pt idx="27">
                  <c:v>0.002744466299</c:v>
                </c:pt>
                <c:pt idx="28">
                  <c:v>-0.07497939467</c:v>
                </c:pt>
                <c:pt idx="29">
                  <c:v>-0.09950688481</c:v>
                </c:pt>
                <c:pt idx="30">
                  <c:v>-0.01653413661</c:v>
                </c:pt>
                <c:pt idx="31">
                  <c:v>0.03342628852</c:v>
                </c:pt>
                <c:pt idx="32">
                  <c:v>0.1892933249</c:v>
                </c:pt>
                <c:pt idx="33">
                  <c:v>0.2300905436</c:v>
                </c:pt>
                <c:pt idx="34">
                  <c:v>0.1845556647</c:v>
                </c:pt>
                <c:pt idx="35">
                  <c:v>0.09500621259</c:v>
                </c:pt>
                <c:pt idx="36">
                  <c:v>-0.07549091429</c:v>
                </c:pt>
                <c:pt idx="37">
                  <c:v>-0.09347132593</c:v>
                </c:pt>
                <c:pt idx="38">
                  <c:v>-0.06158731878</c:v>
                </c:pt>
                <c:pt idx="39">
                  <c:v>-0.1222561523</c:v>
                </c:pt>
                <c:pt idx="40">
                  <c:v>-0.05595196784</c:v>
                </c:pt>
                <c:pt idx="41">
                  <c:v>-0.1254413575</c:v>
                </c:pt>
                <c:pt idx="42">
                  <c:v>-0.05014234036</c:v>
                </c:pt>
                <c:pt idx="43">
                  <c:v>0.1466834694</c:v>
                </c:pt>
                <c:pt idx="44">
                  <c:v>0.1815084219</c:v>
                </c:pt>
                <c:pt idx="45">
                  <c:v>0.09332472086</c:v>
                </c:pt>
                <c:pt idx="46">
                  <c:v>0.02577953599</c:v>
                </c:pt>
                <c:pt idx="47">
                  <c:v>-0.1164821908</c:v>
                </c:pt>
                <c:pt idx="48">
                  <c:v>-0.1274120808</c:v>
                </c:pt>
                <c:pt idx="49">
                  <c:v>0.02027759142</c:v>
                </c:pt>
                <c:pt idx="50">
                  <c:v>-0.09619447589</c:v>
                </c:pt>
                <c:pt idx="51">
                  <c:v>-0.06813474</c:v>
                </c:pt>
                <c:pt idx="52">
                  <c:v>-0.05994371697</c:v>
                </c:pt>
                <c:pt idx="53">
                  <c:v>-0.1040211841</c:v>
                </c:pt>
                <c:pt idx="54">
                  <c:v>-0.2272797078</c:v>
                </c:pt>
                <c:pt idx="55">
                  <c:v>-0.1741682887</c:v>
                </c:pt>
                <c:pt idx="56">
                  <c:v>-0.0298915673</c:v>
                </c:pt>
                <c:pt idx="57">
                  <c:v>0.07980585098</c:v>
                </c:pt>
                <c:pt idx="58">
                  <c:v>0.06134951487</c:v>
                </c:pt>
                <c:pt idx="59">
                  <c:v>0.1093685851</c:v>
                </c:pt>
                <c:pt idx="60">
                  <c:v>0.1072480381</c:v>
                </c:pt>
                <c:pt idx="61">
                  <c:v>-0.1403704286</c:v>
                </c:pt>
                <c:pt idx="62">
                  <c:v>-0.3204514384</c:v>
                </c:pt>
                <c:pt idx="63">
                  <c:v>-0.526001215</c:v>
                </c:pt>
                <c:pt idx="64">
                  <c:v>-0.3263300359</c:v>
                </c:pt>
                <c:pt idx="65">
                  <c:v>-0.02398863994</c:v>
                </c:pt>
                <c:pt idx="66">
                  <c:v>0.1897838861</c:v>
                </c:pt>
                <c:pt idx="67">
                  <c:v>0.4427118897</c:v>
                </c:pt>
                <c:pt idx="68">
                  <c:v>0.3832730651</c:v>
                </c:pt>
                <c:pt idx="69">
                  <c:v>0.3246897161</c:v>
                </c:pt>
                <c:pt idx="70">
                  <c:v>0.2788538337</c:v>
                </c:pt>
                <c:pt idx="71">
                  <c:v>0.1200130433</c:v>
                </c:pt>
                <c:pt idx="72">
                  <c:v>-0.04997155815</c:v>
                </c:pt>
                <c:pt idx="73">
                  <c:v>-0.1958211809</c:v>
                </c:pt>
                <c:pt idx="74">
                  <c:v>-0.1554926038</c:v>
                </c:pt>
                <c:pt idx="75">
                  <c:v>-0.1178043857</c:v>
                </c:pt>
                <c:pt idx="76">
                  <c:v>-0.05116019025</c:v>
                </c:pt>
                <c:pt idx="77">
                  <c:v>0.1623256803</c:v>
                </c:pt>
                <c:pt idx="78">
                  <c:v>0.1928417981</c:v>
                </c:pt>
                <c:pt idx="79">
                  <c:v>0.06783463806</c:v>
                </c:pt>
                <c:pt idx="80">
                  <c:v>0.008995610289</c:v>
                </c:pt>
                <c:pt idx="81">
                  <c:v>0.107166931</c:v>
                </c:pt>
                <c:pt idx="82">
                  <c:v>-0.07705724239</c:v>
                </c:pt>
                <c:pt idx="83">
                  <c:v>-0.08133452386</c:v>
                </c:pt>
                <c:pt idx="84">
                  <c:v>-0.04076654091</c:v>
                </c:pt>
                <c:pt idx="85">
                  <c:v>-0.2076922357</c:v>
                </c:pt>
                <c:pt idx="86">
                  <c:v>-0.2402692884</c:v>
                </c:pt>
                <c:pt idx="87">
                  <c:v>-0.0589125976</c:v>
                </c:pt>
                <c:pt idx="88">
                  <c:v>-0.0953361392</c:v>
                </c:pt>
                <c:pt idx="89">
                  <c:v>0.00398932863</c:v>
                </c:pt>
                <c:pt idx="90">
                  <c:v>0.1759936213</c:v>
                </c:pt>
                <c:pt idx="91">
                  <c:v>0.103226997</c:v>
                </c:pt>
                <c:pt idx="92">
                  <c:v>0.1087967381</c:v>
                </c:pt>
                <c:pt idx="93">
                  <c:v>0.1361970007</c:v>
                </c:pt>
                <c:pt idx="94">
                  <c:v>0.001975505613</c:v>
                </c:pt>
                <c:pt idx="95">
                  <c:v>-0.08326241374</c:v>
                </c:pt>
                <c:pt idx="96">
                  <c:v>-0.02435494959</c:v>
                </c:pt>
                <c:pt idx="97">
                  <c:v>-0.01504024118</c:v>
                </c:pt>
                <c:pt idx="98">
                  <c:v>0.05163558945</c:v>
                </c:pt>
                <c:pt idx="99">
                  <c:v>0.1030492634</c:v>
                </c:pt>
                <c:pt idx="100">
                  <c:v>0.2355345488</c:v>
                </c:pt>
                <c:pt idx="101">
                  <c:v>0.1816117615</c:v>
                </c:pt>
                <c:pt idx="102">
                  <c:v>0.07130794972</c:v>
                </c:pt>
                <c:pt idx="103">
                  <c:v>-0.1957304925</c:v>
                </c:pt>
                <c:pt idx="104">
                  <c:v>-0.2991569042</c:v>
                </c:pt>
                <c:pt idx="105">
                  <c:v>-0.4407323599</c:v>
                </c:pt>
                <c:pt idx="106">
                  <c:v>-0.3597138822</c:v>
                </c:pt>
                <c:pt idx="107">
                  <c:v>-0.2714547217</c:v>
                </c:pt>
                <c:pt idx="108">
                  <c:v>-0.205748722</c:v>
                </c:pt>
                <c:pt idx="109">
                  <c:v>-0.1966038942</c:v>
                </c:pt>
                <c:pt idx="110">
                  <c:v>0.1048122346</c:v>
                </c:pt>
                <c:pt idx="111">
                  <c:v>0.3530865312</c:v>
                </c:pt>
                <c:pt idx="112">
                  <c:v>0.4737593234</c:v>
                </c:pt>
                <c:pt idx="113">
                  <c:v>0.4578146338</c:v>
                </c:pt>
                <c:pt idx="114">
                  <c:v>0.275390476</c:v>
                </c:pt>
                <c:pt idx="115">
                  <c:v>-0.03364009038</c:v>
                </c:pt>
                <c:pt idx="116">
                  <c:v>-0.3351922929</c:v>
                </c:pt>
                <c:pt idx="117">
                  <c:v>-0.4612815678</c:v>
                </c:pt>
                <c:pt idx="118">
                  <c:v>-0.5349333882</c:v>
                </c:pt>
                <c:pt idx="119">
                  <c:v>-0.5048159361</c:v>
                </c:pt>
                <c:pt idx="120">
                  <c:v>-0.3905264735</c:v>
                </c:pt>
                <c:pt idx="121">
                  <c:v>-0.1282898933</c:v>
                </c:pt>
                <c:pt idx="122">
                  <c:v>-0.04704486579</c:v>
                </c:pt>
                <c:pt idx="123">
                  <c:v>0.10425964</c:v>
                </c:pt>
                <c:pt idx="124">
                  <c:v>0.1992921382</c:v>
                </c:pt>
                <c:pt idx="125">
                  <c:v>0.2400876284</c:v>
                </c:pt>
                <c:pt idx="126">
                  <c:v>0.2154921591</c:v>
                </c:pt>
                <c:pt idx="127">
                  <c:v>0.1650613248</c:v>
                </c:pt>
                <c:pt idx="128">
                  <c:v>0.2242585421</c:v>
                </c:pt>
                <c:pt idx="129">
                  <c:v>0.1528497487</c:v>
                </c:pt>
                <c:pt idx="130">
                  <c:v>0.05855767801</c:v>
                </c:pt>
                <c:pt idx="131">
                  <c:v>0.1099636331</c:v>
                </c:pt>
                <c:pt idx="132">
                  <c:v>0.1105262339</c:v>
                </c:pt>
                <c:pt idx="133">
                  <c:v>0.06243151054</c:v>
                </c:pt>
                <c:pt idx="134">
                  <c:v>0.02531114221</c:v>
                </c:pt>
                <c:pt idx="135">
                  <c:v>-0.1470971704</c:v>
                </c:pt>
                <c:pt idx="136">
                  <c:v>-0.3680377901</c:v>
                </c:pt>
                <c:pt idx="137">
                  <c:v>-0.4108746052</c:v>
                </c:pt>
                <c:pt idx="138">
                  <c:v>-0.4202474058</c:v>
                </c:pt>
                <c:pt idx="139">
                  <c:v>-0.3203870356</c:v>
                </c:pt>
                <c:pt idx="140">
                  <c:v>-0.1193187833</c:v>
                </c:pt>
                <c:pt idx="141">
                  <c:v>-0.02478080802</c:v>
                </c:pt>
                <c:pt idx="142">
                  <c:v>-0.03919444606</c:v>
                </c:pt>
                <c:pt idx="143">
                  <c:v>0.04074673355</c:v>
                </c:pt>
                <c:pt idx="144">
                  <c:v>0.007794662844</c:v>
                </c:pt>
                <c:pt idx="145">
                  <c:v>-0.03847320378</c:v>
                </c:pt>
                <c:pt idx="146">
                  <c:v>-0.197427243</c:v>
                </c:pt>
                <c:pt idx="147">
                  <c:v>-0.1848290712</c:v>
                </c:pt>
                <c:pt idx="148">
                  <c:v>-0.1237639189</c:v>
                </c:pt>
                <c:pt idx="149">
                  <c:v>0.162465632</c:v>
                </c:pt>
                <c:pt idx="150">
                  <c:v>0.1595117599</c:v>
                </c:pt>
                <c:pt idx="151">
                  <c:v>0.03773475066</c:v>
                </c:pt>
                <c:pt idx="152">
                  <c:v>0.070949696</c:v>
                </c:pt>
                <c:pt idx="153">
                  <c:v>0.1124987602</c:v>
                </c:pt>
                <c:pt idx="154">
                  <c:v>0.187400654</c:v>
                </c:pt>
                <c:pt idx="155">
                  <c:v>0.2499486357</c:v>
                </c:pt>
                <c:pt idx="156">
                  <c:v>-0.04295937717</c:v>
                </c:pt>
                <c:pt idx="157">
                  <c:v>-0.2460066676</c:v>
                </c:pt>
                <c:pt idx="158">
                  <c:v>-0.04154007509</c:v>
                </c:pt>
                <c:pt idx="159">
                  <c:v>0.09819173068</c:v>
                </c:pt>
                <c:pt idx="160">
                  <c:v>0.1285238862</c:v>
                </c:pt>
                <c:pt idx="161">
                  <c:v>-0.1119415238</c:v>
                </c:pt>
                <c:pt idx="162">
                  <c:v>-0.02286622114</c:v>
                </c:pt>
                <c:pt idx="163">
                  <c:v>0.2185493857</c:v>
                </c:pt>
                <c:pt idx="164">
                  <c:v>0.1569556147</c:v>
                </c:pt>
                <c:pt idx="165">
                  <c:v>-0.1272694319</c:v>
                </c:pt>
                <c:pt idx="166">
                  <c:v>0.01747953892</c:v>
                </c:pt>
                <c:pt idx="167">
                  <c:v>0.3728615642</c:v>
                </c:pt>
                <c:pt idx="168">
                  <c:v>0.2708908319</c:v>
                </c:pt>
                <c:pt idx="169">
                  <c:v>0.2315247953</c:v>
                </c:pt>
                <c:pt idx="170">
                  <c:v>0.07104267925</c:v>
                </c:pt>
                <c:pt idx="171">
                  <c:v>-0.01575020328</c:v>
                </c:pt>
                <c:pt idx="172">
                  <c:v>-0.1153170317</c:v>
                </c:pt>
                <c:pt idx="173">
                  <c:v>-0.1940657198</c:v>
                </c:pt>
                <c:pt idx="174">
                  <c:v>-0.2112548053</c:v>
                </c:pt>
                <c:pt idx="175">
                  <c:v>-0.1968040913</c:v>
                </c:pt>
                <c:pt idx="176">
                  <c:v>-0.1755866259</c:v>
                </c:pt>
                <c:pt idx="177">
                  <c:v>-0.04602459073</c:v>
                </c:pt>
                <c:pt idx="178">
                  <c:v>0.07203241438</c:v>
                </c:pt>
                <c:pt idx="179">
                  <c:v>0.2323141992</c:v>
                </c:pt>
                <c:pt idx="180">
                  <c:v>0.3982498944</c:v>
                </c:pt>
                <c:pt idx="181">
                  <c:v>0.3420746624</c:v>
                </c:pt>
                <c:pt idx="182">
                  <c:v>0.1915397793</c:v>
                </c:pt>
                <c:pt idx="183">
                  <c:v>0.2986586094</c:v>
                </c:pt>
                <c:pt idx="184">
                  <c:v>0.3451872468</c:v>
                </c:pt>
                <c:pt idx="185">
                  <c:v>0.2304425389</c:v>
                </c:pt>
                <c:pt idx="186">
                  <c:v>0.04841839895</c:v>
                </c:pt>
                <c:pt idx="187">
                  <c:v>-0.2090899348</c:v>
                </c:pt>
                <c:pt idx="188">
                  <c:v>-0.4842720032</c:v>
                </c:pt>
                <c:pt idx="189">
                  <c:v>-0.5785962343</c:v>
                </c:pt>
                <c:pt idx="190">
                  <c:v>-0.444396019</c:v>
                </c:pt>
                <c:pt idx="191">
                  <c:v>-0.06031043828</c:v>
                </c:pt>
                <c:pt idx="192">
                  <c:v>-0.5610570908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8"/>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Observed state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esAt val="-0.8"/>
      </c:valAx>
      <c:valAx>
        <c:axId val="48650112"/>
        <c:scaling>
          <c:orientation val="minMax"/>
          <c:max val="192"/>
          <c:min val="0"/>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Time step</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3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test MSE</c:v>
          </c:tx>
          <c:spPr>
            <a:solidFill xmlns:a="http://schemas.openxmlformats.org/drawingml/2006/main">
              <a:srgbClr val="152B45"/>
            </a:solidFill>
          </c:spPr>
          <c:dPt>
            <c:idx val="0"/>
            <c:invertIfNegative val="0"/>
            <c:spPr>
              <a:solidFill xmlns:a="http://schemas.openxmlformats.org/drawingml/2006/main">
                <a:srgbClr val="5276A4"/>
              </a:solidFill>
            </c:spPr>
          </c:dPt>
          <c:dPt>
            <c:idx val="1"/>
            <c:invertIfNegative val="0"/>
            <c:spPr>
              <a:solidFill xmlns:a="http://schemas.openxmlformats.org/drawingml/2006/main">
                <a:srgbClr val="152B45"/>
              </a:solidFill>
            </c:spPr>
          </c:dPt>
          <c:dPt>
            <c:idx val="2"/>
            <c:invertIfNegative val="0"/>
            <c:spPr>
              <a:solidFill xmlns:a="http://schemas.openxmlformats.org/drawingml/2006/main">
                <a:srgbClr val="B67818"/>
              </a:solidFill>
            </c:spPr>
          </c:dPt>
          <c:dPt>
            <c:idx val="3"/>
            <c:invertIfNegative val="0"/>
            <c:spPr>
              <a:solidFill xmlns:a="http://schemas.openxmlformats.org/drawingml/2006/main">
                <a:srgbClr val="8B7AA8"/>
              </a:solidFill>
            </c:spPr>
          </c:dPt>
          <c:dPt>
            <c:idx val="4"/>
            <c:invertIfNegative val="0"/>
            <c:spPr>
              <a:solidFill xmlns:a="http://schemas.openxmlformats.org/drawingml/2006/main">
                <a:srgbClr val="087E8B"/>
              </a:solidFill>
            </c:spPr>
          </c:dPt>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Data'!$A$2:$A$6</c:f>
              <c:strCache>
                <c:ptCount val="5"/>
                <c:pt idx="0">
                  <c:v>Dense active</c:v>
                </c:pt>
                <c:pt idx="1">
                  <c:v>Dense total</c:v>
                </c:pt>
                <c:pt idx="2">
                  <c:v>Learned MoE</c:v>
                </c:pt>
                <c:pt idx="3">
                  <c:v>Random routing</c:v>
                </c:pt>
                <c:pt idx="4">
                  <c:v>Oracle</c:v>
                </c:pt>
              </c:strCache>
            </c:strRef>
          </c:cat>
          <c:val>
            <c:numRef>
              <c:f>'Chart Data'!$B$2:$B$6</c:f>
              <c:numCache>
                <c:formatCode>0.000</c:formatCode>
                <c:ptCount val="5"/>
                <c:pt idx="0">
                  <c:v>0.01113085728</c:v>
                </c:pt>
                <c:pt idx="1">
                  <c:v>0.01106755622</c:v>
                </c:pt>
                <c:pt idx="2">
                  <c:v>0.01146624424</c:v>
                </c:pt>
                <c:pt idx="3">
                  <c:v>0.01170458055</c:v>
                </c:pt>
                <c:pt idx="4">
                  <c:v>0.006670727084</c:v>
                </c:pt>
              </c:numCache>
            </c:numRef>
          </c:val>
        </c:ser>
        <c:dLbls>
          <c:numFmt formatCode="0.00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500"/>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014"/>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Original-unit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0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Dense active</c:v>
          </c:tx>
          <c:spPr>
            <a:solidFill xmlns:a="http://schemas.openxmlformats.org/drawingml/2006/main">
              <a:srgbClr val="5276A4"/>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Data'!$A$2:$A$4</c:f>
              <c:strCache>
                <c:ptCount val="3"/>
                <c:pt idx="0">
                  <c:v>Seed 7</c:v>
                </c:pt>
                <c:pt idx="1">
                  <c:v>Seed 17</c:v>
                </c:pt>
                <c:pt idx="2">
                  <c:v>Seed 27</c:v>
                </c:pt>
              </c:strCache>
            </c:strRef>
          </c:cat>
          <c:val>
            <c:numRef>
              <c:f>'Chart Data'!$B$2:$B$4</c:f>
              <c:numCache>
                <c:formatCode>0.000</c:formatCode>
                <c:ptCount val="3"/>
                <c:pt idx="0">
                  <c:v>0.01118172053</c:v>
                </c:pt>
                <c:pt idx="1">
                  <c:v>0.01131236088</c:v>
                </c:pt>
                <c:pt idx="2">
                  <c:v>0.01089849044</c:v>
                </c:pt>
              </c:numCache>
            </c:numRef>
          </c:val>
        </c:ser>
        <c:ser>
          <c:idx val="1"/>
          <c:order val="1"/>
          <c:tx>
            <c:v>Dense total</c:v>
          </c:tx>
          <c:spPr>
            <a:solidFill xmlns:a="http://schemas.openxmlformats.org/drawingml/2006/main">
              <a:srgbClr val="152B45"/>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Data'!$C$2:$C$4</c:f>
              <c:strCache>
                <c:ptCount val="3"/>
                <c:pt idx="0">
                  <c:v>Seed 7</c:v>
                </c:pt>
                <c:pt idx="1">
                  <c:v>Seed 17</c:v>
                </c:pt>
                <c:pt idx="2">
                  <c:v>Seed 27</c:v>
                </c:pt>
              </c:strCache>
            </c:strRef>
          </c:cat>
          <c:val>
            <c:numRef>
              <c:f>'Chart Data'!$D$2:$D$4</c:f>
              <c:numCache>
                <c:formatCode>0.000</c:formatCode>
                <c:ptCount val="3"/>
                <c:pt idx="0">
                  <c:v>0.01111641992</c:v>
                </c:pt>
                <c:pt idx="1">
                  <c:v>0.01120240986</c:v>
                </c:pt>
                <c:pt idx="2">
                  <c:v>0.01088383887</c:v>
                </c:pt>
              </c:numCache>
            </c:numRef>
          </c:val>
        </c:ser>
        <c:ser>
          <c:idx val="2"/>
          <c:order val="2"/>
          <c:tx>
            <c:v>Learned MoE</c:v>
          </c:tx>
          <c:spPr>
            <a:solidFill xmlns:a="http://schemas.openxmlformats.org/drawingml/2006/main">
              <a:srgbClr val="B67818"/>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Data'!$E$2:$E$4</c:f>
              <c:strCache>
                <c:ptCount val="3"/>
                <c:pt idx="0">
                  <c:v>Seed 7</c:v>
                </c:pt>
                <c:pt idx="1">
                  <c:v>Seed 17</c:v>
                </c:pt>
                <c:pt idx="2">
                  <c:v>Seed 27</c:v>
                </c:pt>
              </c:strCache>
            </c:strRef>
          </c:cat>
          <c:val>
            <c:numRef>
              <c:f>'Chart Data'!$F$2:$F$4</c:f>
              <c:numCache>
                <c:formatCode>0.000</c:formatCode>
                <c:ptCount val="3"/>
                <c:pt idx="0">
                  <c:v>0.01159137301</c:v>
                </c:pt>
                <c:pt idx="1">
                  <c:v>0.01147943921</c:v>
                </c:pt>
                <c:pt idx="2">
                  <c:v>0.01132792048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500"/>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014"/>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Test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Dense active</c:v>
          </c:tx>
          <c:spPr>
            <a:ln xmlns:a="http://schemas.openxmlformats.org/drawingml/2006/main" w="28575">
              <a:solidFill>
                <a:srgbClr val="5276A4"/>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Data'!$B$2:$B$41</c:f>
              <c:numCache>
                <c:formatCode>0.0</c:formatCode>
                <c:ptCount val="40"/>
                <c:pt idx="0">
                  <c:v>0.3397164247</c:v>
                </c:pt>
                <c:pt idx="1">
                  <c:v>0.3044801967</c:v>
                </c:pt>
                <c:pt idx="2">
                  <c:v>0.2969275684</c:v>
                </c:pt>
                <c:pt idx="3">
                  <c:v>0.2903822119</c:v>
                </c:pt>
                <c:pt idx="4">
                  <c:v>0.2816155951</c:v>
                </c:pt>
                <c:pt idx="5">
                  <c:v>0.2708780993</c:v>
                </c:pt>
                <c:pt idx="6">
                  <c:v>0.2625912256</c:v>
                </c:pt>
                <c:pt idx="7">
                  <c:v>0.2538394741</c:v>
                </c:pt>
                <c:pt idx="8">
                  <c:v>0.2492382206</c:v>
                </c:pt>
                <c:pt idx="9">
                  <c:v>0.2419447337</c:v>
                </c:pt>
                <c:pt idx="10">
                  <c:v>0.2382934329</c:v>
                </c:pt>
                <c:pt idx="11">
                  <c:v>0.2337625628</c:v>
                </c:pt>
                <c:pt idx="12">
                  <c:v>0.2301150858</c:v>
                </c:pt>
                <c:pt idx="13">
                  <c:v>0.2275543565</c:v>
                </c:pt>
                <c:pt idx="14">
                  <c:v>0.2248610224</c:v>
                </c:pt>
                <c:pt idx="15">
                  <c:v>0.2222563577</c:v>
                </c:pt>
                <c:pt idx="16">
                  <c:v>0.2205683331</c:v>
                </c:pt>
                <c:pt idx="17">
                  <c:v>0.2197600848</c:v>
                </c:pt>
                <c:pt idx="18">
                  <c:v>0.2178848648</c:v>
                </c:pt>
                <c:pt idx="19">
                  <c:v>0.2166349894</c:v>
                </c:pt>
                <c:pt idx="20">
                  <c:v>0.2152410339</c:v>
                </c:pt>
                <c:pt idx="21">
                  <c:v>0.2147084164</c:v>
                </c:pt>
                <c:pt idx="22">
                  <c:v>0.213206906</c:v>
                </c:pt>
                <c:pt idx="23">
                  <c:v>0.2118939318</c:v>
                </c:pt>
                <c:pt idx="24">
                  <c:v>0.212372031</c:v>
                </c:pt>
                <c:pt idx="25">
                  <c:v>0.211946359</c:v>
                </c:pt>
                <c:pt idx="26">
                  <c:v>0.2110721884</c:v>
                </c:pt>
                <c:pt idx="27">
                  <c:v>0.210439593</c:v>
                </c:pt>
                <c:pt idx="28">
                  <c:v>0.2097717582</c:v>
                </c:pt>
                <c:pt idx="29">
                  <c:v>0.2091950036</c:v>
                </c:pt>
                <c:pt idx="30">
                  <c:v>0.2090670669</c:v>
                </c:pt>
                <c:pt idx="31">
                  <c:v>0.2082226361</c:v>
                </c:pt>
                <c:pt idx="32">
                  <c:v>0.208097462</c:v>
                </c:pt>
                <c:pt idx="33">
                  <c:v>0.2083960497</c:v>
                </c:pt>
                <c:pt idx="34">
                  <c:v>0.2078255018</c:v>
                </c:pt>
                <c:pt idx="35">
                  <c:v>0.2072873037</c:v>
                </c:pt>
                <c:pt idx="36">
                  <c:v>0.206862202</c:v>
                </c:pt>
                <c:pt idx="37">
                  <c:v>0.207668899</c:v>
                </c:pt>
                <c:pt idx="38">
                  <c:v>0.2066782863</c:v>
                </c:pt>
                <c:pt idx="39">
                  <c:v>0.2069196834</c:v>
                </c:pt>
              </c:numCache>
            </c:numRef>
          </c:yVal>
        </c:ser>
        <c:ser>
          <c:idx val="1"/>
          <c:order val="1"/>
          <c:tx>
            <c:v>Dense total</c:v>
          </c:tx>
          <c:spPr>
            <a:ln xmlns:a="http://schemas.openxmlformats.org/drawingml/2006/main" w="28575">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Data'!$D$2:$D$41</c:f>
              <c:numCache>
                <c:formatCode>0.0</c:formatCode>
                <c:ptCount val="40"/>
                <c:pt idx="0">
                  <c:v>0.3234874687</c:v>
                </c:pt>
                <c:pt idx="1">
                  <c:v>0.3022272481</c:v>
                </c:pt>
                <c:pt idx="2">
                  <c:v>0.2941905052</c:v>
                </c:pt>
                <c:pt idx="3">
                  <c:v>0.2857678344</c:v>
                </c:pt>
                <c:pt idx="4">
                  <c:v>0.2765371397</c:v>
                </c:pt>
                <c:pt idx="5">
                  <c:v>0.2650639238</c:v>
                </c:pt>
                <c:pt idx="6">
                  <c:v>0.2566307799</c:v>
                </c:pt>
                <c:pt idx="7">
                  <c:v>0.2472616677</c:v>
                </c:pt>
                <c:pt idx="8">
                  <c:v>0.2421693691</c:v>
                </c:pt>
                <c:pt idx="9">
                  <c:v>0.2347887298</c:v>
                </c:pt>
                <c:pt idx="10">
                  <c:v>0.2323268717</c:v>
                </c:pt>
                <c:pt idx="11">
                  <c:v>0.2282116134</c:v>
                </c:pt>
                <c:pt idx="12">
                  <c:v>0.2242579169</c:v>
                </c:pt>
                <c:pt idx="13">
                  <c:v>0.2216753473</c:v>
                </c:pt>
                <c:pt idx="14">
                  <c:v>0.2195117424</c:v>
                </c:pt>
                <c:pt idx="15">
                  <c:v>0.2172837149</c:v>
                </c:pt>
                <c:pt idx="16">
                  <c:v>0.215951949</c:v>
                </c:pt>
                <c:pt idx="17">
                  <c:v>0.2160182225</c:v>
                </c:pt>
                <c:pt idx="18">
                  <c:v>0.2148284128</c:v>
                </c:pt>
                <c:pt idx="19">
                  <c:v>0.2138212063</c:v>
                </c:pt>
                <c:pt idx="20">
                  <c:v>0.2122721146</c:v>
                </c:pt>
                <c:pt idx="21">
                  <c:v>0.2116491013</c:v>
                </c:pt>
                <c:pt idx="22">
                  <c:v>0.2108705107</c:v>
                </c:pt>
                <c:pt idx="23">
                  <c:v>0.2098200679</c:v>
                </c:pt>
                <c:pt idx="24">
                  <c:v>0.2099195676</c:v>
                </c:pt>
                <c:pt idx="25">
                  <c:v>0.2090539035</c:v>
                </c:pt>
                <c:pt idx="26">
                  <c:v>0.2089147581</c:v>
                </c:pt>
                <c:pt idx="27">
                  <c:v>0.20934374</c:v>
                </c:pt>
                <c:pt idx="28">
                  <c:v>0.2080556716</c:v>
                </c:pt>
                <c:pt idx="29">
                  <c:v>0.2073833114</c:v>
                </c:pt>
                <c:pt idx="30">
                  <c:v>0.2073788913</c:v>
                </c:pt>
                <c:pt idx="31">
                  <c:v>0.2074099736</c:v>
                </c:pt>
                <c:pt idx="32">
                  <c:v>0.2061877465</c:v>
                </c:pt>
                <c:pt idx="33">
                  <c:v>0.207628027</c:v>
                </c:pt>
                <c:pt idx="34">
                  <c:v>0.2069418169</c:v>
                </c:pt>
                <c:pt idx="35">
                  <c:v>0.2058169175</c:v>
                </c:pt>
                <c:pt idx="36">
                  <c:v>0.2055541763</c:v>
                </c:pt>
                <c:pt idx="37">
                  <c:v>0.2063198396</c:v>
                </c:pt>
                <c:pt idx="38">
                  <c:v>0.206189281</c:v>
                </c:pt>
                <c:pt idx="39">
                  <c:v>0.2058804903</c:v>
                </c:pt>
              </c:numCache>
            </c:numRef>
          </c:yVal>
        </c:ser>
        <c:ser>
          <c:idx val="2"/>
          <c:order val="2"/>
          <c:tx>
            <c:v>Learned MoE</c:v>
          </c:tx>
          <c:spPr>
            <a:ln xmlns:a="http://schemas.openxmlformats.org/drawingml/2006/main" w="28575">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Data'!$F$2:$F$41</c:f>
              <c:numCache>
                <c:formatCode>0.0</c:formatCode>
                <c:ptCount val="40"/>
                <c:pt idx="0">
                  <c:v>0.4060261259</c:v>
                </c:pt>
                <c:pt idx="1">
                  <c:v>0.3197568734</c:v>
                </c:pt>
                <c:pt idx="2">
                  <c:v>0.3021666978</c:v>
                </c:pt>
                <c:pt idx="3">
                  <c:v>0.2936413365</c:v>
                </c:pt>
                <c:pt idx="4">
                  <c:v>0.2868775049</c:v>
                </c:pt>
                <c:pt idx="5">
                  <c:v>0.2787899531</c:v>
                </c:pt>
                <c:pt idx="6">
                  <c:v>0.2722386368</c:v>
                </c:pt>
                <c:pt idx="7">
                  <c:v>0.2650551081</c:v>
                </c:pt>
                <c:pt idx="8">
                  <c:v>0.2590500493</c:v>
                </c:pt>
                <c:pt idx="9">
                  <c:v>0.2531365554</c:v>
                </c:pt>
                <c:pt idx="10">
                  <c:v>0.2495765709</c:v>
                </c:pt>
                <c:pt idx="11">
                  <c:v>0.2444745682</c:v>
                </c:pt>
                <c:pt idx="12">
                  <c:v>0.2408180164</c:v>
                </c:pt>
                <c:pt idx="13">
                  <c:v>0.2385666894</c:v>
                </c:pt>
                <c:pt idx="14">
                  <c:v>0.2346716335</c:v>
                </c:pt>
                <c:pt idx="15">
                  <c:v>0.2333740025</c:v>
                </c:pt>
                <c:pt idx="16">
                  <c:v>0.2309508485</c:v>
                </c:pt>
                <c:pt idx="17">
                  <c:v>0.229861612</c:v>
                </c:pt>
                <c:pt idx="18">
                  <c:v>0.2280207666</c:v>
                </c:pt>
                <c:pt idx="19">
                  <c:v>0.2260554749</c:v>
                </c:pt>
                <c:pt idx="20">
                  <c:v>0.2255739809</c:v>
                </c:pt>
                <c:pt idx="21">
                  <c:v>0.2239693709</c:v>
                </c:pt>
                <c:pt idx="22">
                  <c:v>0.2227239423</c:v>
                </c:pt>
                <c:pt idx="23">
                  <c:v>0.2217634891</c:v>
                </c:pt>
                <c:pt idx="24">
                  <c:v>0.2212889749</c:v>
                </c:pt>
                <c:pt idx="25">
                  <c:v>0.2200932724</c:v>
                </c:pt>
                <c:pt idx="26">
                  <c:v>0.2194324125</c:v>
                </c:pt>
                <c:pt idx="27">
                  <c:v>0.2182024568</c:v>
                </c:pt>
                <c:pt idx="28">
                  <c:v>0.2181239089</c:v>
                </c:pt>
                <c:pt idx="29">
                  <c:v>0.2178345169</c:v>
                </c:pt>
                <c:pt idx="30">
                  <c:v>0.2170124127</c:v>
                </c:pt>
                <c:pt idx="31">
                  <c:v>0.2159574661</c:v>
                </c:pt>
                <c:pt idx="32">
                  <c:v>0.2160487574</c:v>
                </c:pt>
                <c:pt idx="33">
                  <c:v>0.2156809648</c:v>
                </c:pt>
                <c:pt idx="34">
                  <c:v>0.2164009437</c:v>
                </c:pt>
                <c:pt idx="35">
                  <c:v>0.2146852359</c:v>
                </c:pt>
                <c:pt idx="36">
                  <c:v>0.2131556598</c:v>
                </c:pt>
                <c:pt idx="37">
                  <c:v>0.2141274567</c:v>
                </c:pt>
                <c:pt idx="38">
                  <c:v>0.2134103115</c:v>
                </c:pt>
                <c:pt idx="39">
                  <c:v>0.2132755444</c:v>
                </c:pt>
              </c:numCache>
            </c:numRef>
          </c:yVal>
        </c:ser>
        <c:ser>
          <c:idx val="3"/>
          <c:order val="3"/>
          <c:tx>
            <c:v>Random routing</c:v>
          </c:tx>
          <c:spPr>
            <a:ln xmlns:a="http://schemas.openxmlformats.org/drawingml/2006/main" w="28575">
              <a:solidFill>
                <a:srgbClr val="8B7AA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Data'!$H$2:$H$41</c:f>
              <c:numCache>
                <c:formatCode>0.0</c:formatCode>
                <c:ptCount val="40"/>
                <c:pt idx="0">
                  <c:v>0.4203089286</c:v>
                </c:pt>
                <c:pt idx="1">
                  <c:v>0.3203657239</c:v>
                </c:pt>
                <c:pt idx="2">
                  <c:v>0.3054909371</c:v>
                </c:pt>
                <c:pt idx="3">
                  <c:v>0.3002795463</c:v>
                </c:pt>
                <c:pt idx="4">
                  <c:v>0.2964668794</c:v>
                </c:pt>
                <c:pt idx="5">
                  <c:v>0.2897259608</c:v>
                </c:pt>
                <c:pt idx="6">
                  <c:v>0.2832211989</c:v>
                </c:pt>
                <c:pt idx="7">
                  <c:v>0.2753411374</c:v>
                </c:pt>
                <c:pt idx="8">
                  <c:v>0.2688827842</c:v>
                </c:pt>
                <c:pt idx="9">
                  <c:v>0.262198443</c:v>
                </c:pt>
                <c:pt idx="10">
                  <c:v>0.2568320086</c:v>
                </c:pt>
                <c:pt idx="11">
                  <c:v>0.252255914</c:v>
                </c:pt>
                <c:pt idx="12">
                  <c:v>0.247627916</c:v>
                </c:pt>
                <c:pt idx="13">
                  <c:v>0.2451236076</c:v>
                </c:pt>
                <c:pt idx="14">
                  <c:v>0.2411362564</c:v>
                </c:pt>
                <c:pt idx="15">
                  <c:v>0.239467234</c:v>
                </c:pt>
                <c:pt idx="16">
                  <c:v>0.2368194024</c:v>
                </c:pt>
                <c:pt idx="17">
                  <c:v>0.234754408</c:v>
                </c:pt>
                <c:pt idx="18">
                  <c:v>0.2337515075</c:v>
                </c:pt>
                <c:pt idx="19">
                  <c:v>0.231949344</c:v>
                </c:pt>
                <c:pt idx="20">
                  <c:v>0.2304042819</c:v>
                </c:pt>
                <c:pt idx="21">
                  <c:v>0.2281301519</c:v>
                </c:pt>
                <c:pt idx="22">
                  <c:v>0.2274628766</c:v>
                </c:pt>
                <c:pt idx="23">
                  <c:v>0.226090495</c:v>
                </c:pt>
                <c:pt idx="24">
                  <c:v>0.2261510223</c:v>
                </c:pt>
                <c:pt idx="25">
                  <c:v>0.2242465857</c:v>
                </c:pt>
                <c:pt idx="26">
                  <c:v>0.2248711858</c:v>
                </c:pt>
                <c:pt idx="27">
                  <c:v>0.2226139032</c:v>
                </c:pt>
                <c:pt idx="28">
                  <c:v>0.2227150321</c:v>
                </c:pt>
                <c:pt idx="29">
                  <c:v>0.2226272436</c:v>
                </c:pt>
                <c:pt idx="30">
                  <c:v>0.2212416344</c:v>
                </c:pt>
                <c:pt idx="31">
                  <c:v>0.2213194942</c:v>
                </c:pt>
                <c:pt idx="32">
                  <c:v>0.2208081899</c:v>
                </c:pt>
                <c:pt idx="33">
                  <c:v>0.2208902862</c:v>
                </c:pt>
                <c:pt idx="34">
                  <c:v>0.2202759737</c:v>
                </c:pt>
                <c:pt idx="35">
                  <c:v>0.2193889599</c:v>
                </c:pt>
                <c:pt idx="36">
                  <c:v>0.2185882572</c:v>
                </c:pt>
                <c:pt idx="37">
                  <c:v>0.2188721015</c:v>
                </c:pt>
                <c:pt idx="38">
                  <c:v>0.218257054</c:v>
                </c:pt>
                <c:pt idx="39">
                  <c:v>0.2179136087</c:v>
                </c:pt>
              </c:numCache>
            </c:numRef>
          </c:yVal>
        </c:ser>
        <c:ser>
          <c:idx val="4"/>
          <c:order val="4"/>
          <c:tx>
            <c:v>Oracle</c:v>
          </c:tx>
          <c:spPr>
            <a:ln xmlns:a="http://schemas.openxmlformats.org/drawingml/2006/main" w="28575">
              <a:solidFill>
                <a:srgbClr val="087E8B"/>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Data'!$I$2:$I$41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Data'!$J$2:$J$41</c:f>
              <c:numCache>
                <c:formatCode>0.0</c:formatCode>
                <c:ptCount val="40"/>
                <c:pt idx="0">
                  <c:v>0.239194649</c:v>
                </c:pt>
                <c:pt idx="1">
                  <c:v>0.153806675</c:v>
                </c:pt>
                <c:pt idx="2">
                  <c:v>0.1373804838</c:v>
                </c:pt>
                <c:pt idx="3">
                  <c:v>0.1328633319</c:v>
                </c:pt>
                <c:pt idx="4">
                  <c:v>0.1310604247</c:v>
                </c:pt>
                <c:pt idx="5">
                  <c:v>0.1293959509</c:v>
                </c:pt>
                <c:pt idx="6">
                  <c:v>0.1290158542</c:v>
                </c:pt>
                <c:pt idx="7">
                  <c:v>0.1271892203</c:v>
                </c:pt>
                <c:pt idx="8">
                  <c:v>0.1272845205</c:v>
                </c:pt>
                <c:pt idx="9">
                  <c:v>0.12607633</c:v>
                </c:pt>
                <c:pt idx="10">
                  <c:v>0.125593283</c:v>
                </c:pt>
                <c:pt idx="11">
                  <c:v>0.1261321391</c:v>
                </c:pt>
                <c:pt idx="12">
                  <c:v>0.1252593028</c:v>
                </c:pt>
                <c:pt idx="13">
                  <c:v>0.1256955386</c:v>
                </c:pt>
                <c:pt idx="14">
                  <c:v>0.1246214954</c:v>
                </c:pt>
                <c:pt idx="15">
                  <c:v>0.1245107118</c:v>
                </c:pt>
                <c:pt idx="16">
                  <c:v>0.1242679787</c:v>
                </c:pt>
                <c:pt idx="17">
                  <c:v>0.1239083155</c:v>
                </c:pt>
                <c:pt idx="18">
                  <c:v>0.1239056129</c:v>
                </c:pt>
                <c:pt idx="19">
                  <c:v>0.1236002485</c:v>
                </c:pt>
                <c:pt idx="20">
                  <c:v>0.1237062834</c:v>
                </c:pt>
                <c:pt idx="21">
                  <c:v>0.123874427</c:v>
                </c:pt>
                <c:pt idx="22">
                  <c:v>0.1236932822</c:v>
                </c:pt>
                <c:pt idx="23">
                  <c:v>0.123059442</c:v>
                </c:pt>
                <c:pt idx="24">
                  <c:v>0.1239458152</c:v>
                </c:pt>
                <c:pt idx="25">
                  <c:v>0.123061379</c:v>
                </c:pt>
                <c:pt idx="26">
                  <c:v>0.1235919703</c:v>
                </c:pt>
                <c:pt idx="27">
                  <c:v>0.1230319541</c:v>
                </c:pt>
                <c:pt idx="28">
                  <c:v>0.1229917525</c:v>
                </c:pt>
                <c:pt idx="29">
                  <c:v>0.1230506065</c:v>
                </c:pt>
                <c:pt idx="30">
                  <c:v>0.1232011831</c:v>
                </c:pt>
                <c:pt idx="31">
                  <c:v>0.1223219474</c:v>
                </c:pt>
                <c:pt idx="32">
                  <c:v>0.1227421082</c:v>
                </c:pt>
                <c:pt idx="33">
                  <c:v>0.1228839917</c:v>
                </c:pt>
                <c:pt idx="34">
                  <c:v>0.1232007064</c:v>
                </c:pt>
                <c:pt idx="35">
                  <c:v>0.1225428349</c:v>
                </c:pt>
                <c:pt idx="36">
                  <c:v>0.122558603</c:v>
                </c:pt>
                <c:pt idx="37">
                  <c:v>0.1225277858</c:v>
                </c:pt>
                <c:pt idx="38">
                  <c:v>0.1223060786</c:v>
                </c:pt>
                <c:pt idx="39">
                  <c:v>0.1234092215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Normalized validation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1"/>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Dense active</c:v>
          </c:tx>
          <c:spPr>
            <a:ln xmlns:a="http://schemas.openxmlformats.org/drawingml/2006/main" w="28575">
              <a:solidFill>
                <a:srgbClr val="5276A4"/>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0.00</c:formatCode>
                <c:ptCount val="24"/>
                <c:pt idx="0">
                  <c:v>0.07024813443</c:v>
                </c:pt>
                <c:pt idx="1">
                  <c:v>0.01297331663</c:v>
                </c:pt>
                <c:pt idx="2">
                  <c:v>0.009338025314</c:v>
                </c:pt>
                <c:pt idx="3">
                  <c:v>0.008311981646</c:v>
                </c:pt>
                <c:pt idx="4">
                  <c:v>0.007782862366</c:v>
                </c:pt>
                <c:pt idx="5">
                  <c:v>0.007892112869</c:v>
                </c:pt>
                <c:pt idx="6">
                  <c:v>0.007482556161</c:v>
                </c:pt>
                <c:pt idx="7">
                  <c:v>0.007836669683</c:v>
                </c:pt>
                <c:pt idx="8">
                  <c:v>0.007799242468</c:v>
                </c:pt>
                <c:pt idx="9">
                  <c:v>0.007853251571</c:v>
                </c:pt>
                <c:pt idx="10">
                  <c:v>0.007674547688</c:v>
                </c:pt>
                <c:pt idx="11">
                  <c:v>0.00802712872</c:v>
                </c:pt>
                <c:pt idx="12">
                  <c:v>0.007651928502</c:v>
                </c:pt>
                <c:pt idx="13">
                  <c:v>0.007855744412</c:v>
                </c:pt>
                <c:pt idx="14">
                  <c:v>0.007864828221</c:v>
                </c:pt>
                <c:pt idx="15">
                  <c:v>0.00783085109</c:v>
                </c:pt>
                <c:pt idx="16">
                  <c:v>0.007921952754</c:v>
                </c:pt>
                <c:pt idx="17">
                  <c:v>0.007598833181</c:v>
                </c:pt>
                <c:pt idx="18">
                  <c:v>0.00779476917</c:v>
                </c:pt>
                <c:pt idx="19">
                  <c:v>0.007862635422</c:v>
                </c:pt>
                <c:pt idx="20">
                  <c:v>0.007445392199</c:v>
                </c:pt>
                <c:pt idx="21">
                  <c:v>0.007525264906</c:v>
                </c:pt>
                <c:pt idx="22">
                  <c:v>0.00762870737</c:v>
                </c:pt>
                <c:pt idx="23">
                  <c:v>0.007622352491</c:v>
                </c:pt>
              </c:numCache>
            </c:numRef>
          </c:yVal>
        </c:ser>
        <c:ser>
          <c:idx val="1"/>
          <c:order val="1"/>
          <c:tx>
            <c:v>Dense total</c:v>
          </c:tx>
          <c:spPr>
            <a:ln xmlns:a="http://schemas.openxmlformats.org/drawingml/2006/main" w="28575">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0.00</c:formatCode>
                <c:ptCount val="24"/>
                <c:pt idx="0">
                  <c:v>0.07051731894</c:v>
                </c:pt>
                <c:pt idx="1">
                  <c:v>0.01271368874</c:v>
                </c:pt>
                <c:pt idx="2">
                  <c:v>0.009313173903</c:v>
                </c:pt>
                <c:pt idx="3">
                  <c:v>0.008192118568</c:v>
                </c:pt>
                <c:pt idx="4">
                  <c:v>0.007798269391</c:v>
                </c:pt>
                <c:pt idx="5">
                  <c:v>0.007740529099</c:v>
                </c:pt>
                <c:pt idx="6">
                  <c:v>0.007445423709</c:v>
                </c:pt>
                <c:pt idx="7">
                  <c:v>0.007737808085</c:v>
                </c:pt>
                <c:pt idx="8">
                  <c:v>0.007752827679</c:v>
                </c:pt>
                <c:pt idx="9">
                  <c:v>0.007669763329</c:v>
                </c:pt>
                <c:pt idx="10">
                  <c:v>0.007678059861</c:v>
                </c:pt>
                <c:pt idx="11">
                  <c:v>0.0080059402</c:v>
                </c:pt>
                <c:pt idx="12">
                  <c:v>0.007635153054</c:v>
                </c:pt>
                <c:pt idx="13">
                  <c:v>0.007782553012</c:v>
                </c:pt>
                <c:pt idx="14">
                  <c:v>0.007743831879</c:v>
                </c:pt>
                <c:pt idx="15">
                  <c:v>0.007764072623</c:v>
                </c:pt>
                <c:pt idx="16">
                  <c:v>0.007880729157</c:v>
                </c:pt>
                <c:pt idx="17">
                  <c:v>0.007482036638</c:v>
                </c:pt>
                <c:pt idx="18">
                  <c:v>0.007663016518</c:v>
                </c:pt>
                <c:pt idx="19">
                  <c:v>0.00784840202</c:v>
                </c:pt>
                <c:pt idx="20">
                  <c:v>0.007456211528</c:v>
                </c:pt>
                <c:pt idx="21">
                  <c:v>0.007504832776</c:v>
                </c:pt>
                <c:pt idx="22">
                  <c:v>0.007530894286</c:v>
                </c:pt>
                <c:pt idx="23">
                  <c:v>0.007498543089</c:v>
                </c:pt>
              </c:numCache>
            </c:numRef>
          </c:yVal>
        </c:ser>
        <c:ser>
          <c:idx val="2"/>
          <c:order val="2"/>
          <c:tx>
            <c:v>Learned MoE</c:v>
          </c:tx>
          <c:spPr>
            <a:ln xmlns:a="http://schemas.openxmlformats.org/drawingml/2006/main" w="28575">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Data'!$F$2:$F$25</c:f>
              <c:numCache>
                <c:formatCode>0.00</c:formatCode>
                <c:ptCount val="24"/>
                <c:pt idx="0">
                  <c:v>0.06920344383</c:v>
                </c:pt>
                <c:pt idx="1">
                  <c:v>0.01468481682</c:v>
                </c:pt>
                <c:pt idx="2">
                  <c:v>0.01046251164</c:v>
                </c:pt>
                <c:pt idx="3">
                  <c:v>0.009090087997</c:v>
                </c:pt>
                <c:pt idx="4">
                  <c:v>0.008101261376</c:v>
                </c:pt>
                <c:pt idx="5">
                  <c:v>0.008121663394</c:v>
                </c:pt>
                <c:pt idx="6">
                  <c:v>0.007887784236</c:v>
                </c:pt>
                <c:pt idx="7">
                  <c:v>0.008079557059</c:v>
                </c:pt>
                <c:pt idx="8">
                  <c:v>0.008041739464</c:v>
                </c:pt>
                <c:pt idx="9">
                  <c:v>0.008363880838</c:v>
                </c:pt>
                <c:pt idx="10">
                  <c:v>0.008144846186</c:v>
                </c:pt>
                <c:pt idx="11">
                  <c:v>0.008280227271</c:v>
                </c:pt>
                <c:pt idx="12">
                  <c:v>0.007898070694</c:v>
                </c:pt>
                <c:pt idx="13">
                  <c:v>0.008000929374</c:v>
                </c:pt>
                <c:pt idx="14">
                  <c:v>0.007907379419</c:v>
                </c:pt>
                <c:pt idx="15">
                  <c:v>0.008127673374</c:v>
                </c:pt>
                <c:pt idx="16">
                  <c:v>0.008172663705</c:v>
                </c:pt>
                <c:pt idx="17">
                  <c:v>0.007807726506</c:v>
                </c:pt>
                <c:pt idx="18">
                  <c:v>0.008159028366</c:v>
                </c:pt>
                <c:pt idx="19">
                  <c:v>0.007905512738</c:v>
                </c:pt>
                <c:pt idx="20">
                  <c:v>0.00758118974</c:v>
                </c:pt>
                <c:pt idx="21">
                  <c:v>0.007835853379</c:v>
                </c:pt>
                <c:pt idx="22">
                  <c:v>0.007928503988</c:v>
                </c:pt>
                <c:pt idx="23">
                  <c:v>0.007940827403</c:v>
                </c:pt>
              </c:numCache>
            </c:numRef>
          </c:yVal>
        </c:ser>
        <c:ser>
          <c:idx val="3"/>
          <c:order val="3"/>
          <c:tx>
            <c:v>Random routing</c:v>
          </c:tx>
          <c:spPr>
            <a:ln xmlns:a="http://schemas.openxmlformats.org/drawingml/2006/main" w="28575">
              <a:solidFill>
                <a:srgbClr val="8B7AA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Data'!$H$2:$H$25</c:f>
              <c:numCache>
                <c:formatCode>0.00</c:formatCode>
                <c:ptCount val="24"/>
                <c:pt idx="0">
                  <c:v>0.06904128442</c:v>
                </c:pt>
                <c:pt idx="1">
                  <c:v>0.01513508894</c:v>
                </c:pt>
                <c:pt idx="2">
                  <c:v>0.01132437183</c:v>
                </c:pt>
                <c:pt idx="3">
                  <c:v>0.009454193835</c:v>
                </c:pt>
                <c:pt idx="4">
                  <c:v>0.008472214763</c:v>
                </c:pt>
                <c:pt idx="5">
                  <c:v>0.008537152782</c:v>
                </c:pt>
                <c:pt idx="6">
                  <c:v>0.008009501733</c:v>
                </c:pt>
                <c:pt idx="7">
                  <c:v>0.008288605449</c:v>
                </c:pt>
                <c:pt idx="8">
                  <c:v>0.008236000314</c:v>
                </c:pt>
                <c:pt idx="9">
                  <c:v>0.008471763072</c:v>
                </c:pt>
                <c:pt idx="10">
                  <c:v>0.008205932565</c:v>
                </c:pt>
                <c:pt idx="11">
                  <c:v>0.008467583296</c:v>
                </c:pt>
                <c:pt idx="12">
                  <c:v>0.008222393381</c:v>
                </c:pt>
                <c:pt idx="13">
                  <c:v>0.008246924418</c:v>
                </c:pt>
                <c:pt idx="14">
                  <c:v>0.008142535885</c:v>
                </c:pt>
                <c:pt idx="15">
                  <c:v>0.008083207843</c:v>
                </c:pt>
                <c:pt idx="16">
                  <c:v>0.008389405906</c:v>
                </c:pt>
                <c:pt idx="17">
                  <c:v>0.008081529134</c:v>
                </c:pt>
                <c:pt idx="18">
                  <c:v>0.008292753249</c:v>
                </c:pt>
                <c:pt idx="19">
                  <c:v>0.008222257718</c:v>
                </c:pt>
                <c:pt idx="20">
                  <c:v>0.007907928278</c:v>
                </c:pt>
                <c:pt idx="21">
                  <c:v>0.008028612162</c:v>
                </c:pt>
                <c:pt idx="22">
                  <c:v>0.007964189009</c:v>
                </c:pt>
                <c:pt idx="23">
                  <c:v>0.008072781532</c:v>
                </c:pt>
              </c:numCache>
            </c:numRef>
          </c:yVal>
        </c:ser>
        <c:ser>
          <c:idx val="4"/>
          <c:order val="4"/>
          <c:tx>
            <c:v>Oracle</c:v>
          </c:tx>
          <c:spPr>
            <a:ln xmlns:a="http://schemas.openxmlformats.org/drawingml/2006/main" w="28575">
              <a:solidFill>
                <a:srgbClr val="087E8B"/>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Data'!$I$2:$I$25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Data'!$J$2:$J$25</c:f>
              <c:numCache>
                <c:formatCode>0.00</c:formatCode>
                <c:ptCount val="24"/>
                <c:pt idx="0">
                  <c:v>0.006915722974</c:v>
                </c:pt>
                <c:pt idx="1">
                  <c:v>0.00678058574</c:v>
                </c:pt>
                <c:pt idx="2">
                  <c:v>0.006791856606</c:v>
                </c:pt>
                <c:pt idx="3">
                  <c:v>0.006922964317</c:v>
                </c:pt>
                <c:pt idx="4">
                  <c:v>0.00652569936</c:v>
                </c:pt>
                <c:pt idx="5">
                  <c:v>0.006755417368</c:v>
                </c:pt>
                <c:pt idx="6">
                  <c:v>0.00634079442</c:v>
                </c:pt>
                <c:pt idx="7">
                  <c:v>0.006868448729</c:v>
                </c:pt>
                <c:pt idx="8">
                  <c:v>0.00662278384</c:v>
                </c:pt>
                <c:pt idx="9">
                  <c:v>0.006670773495</c:v>
                </c:pt>
                <c:pt idx="10">
                  <c:v>0.006499762492</c:v>
                </c:pt>
                <c:pt idx="11">
                  <c:v>0.006955173332</c:v>
                </c:pt>
                <c:pt idx="12">
                  <c:v>0.006438870759</c:v>
                </c:pt>
                <c:pt idx="13">
                  <c:v>0.00662661499</c:v>
                </c:pt>
                <c:pt idx="14">
                  <c:v>0.006776637708</c:v>
                </c:pt>
                <c:pt idx="15">
                  <c:v>0.006684560018</c:v>
                </c:pt>
                <c:pt idx="16">
                  <c:v>0.006726040505</c:v>
                </c:pt>
                <c:pt idx="17">
                  <c:v>0.006450009067</c:v>
                </c:pt>
                <c:pt idx="18">
                  <c:v>0.006577464597</c:v>
                </c:pt>
                <c:pt idx="19">
                  <c:v>0.006717737454</c:v>
                </c:pt>
                <c:pt idx="20">
                  <c:v>0.006513666517</c:v>
                </c:pt>
                <c:pt idx="21">
                  <c:v>0.006332144296</c:v>
                </c:pt>
                <c:pt idx="22">
                  <c:v>0.006451653627</c:v>
                </c:pt>
                <c:pt idx="23">
                  <c:v>0.006478897141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Original-unit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3"/>
          <c:min val="0"/>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Steps after a true regime switch</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Learned MoE</c:v>
          </c:tx>
          <c:spPr>
            <a:solidFill xmlns:a="http://schemas.openxmlformats.org/drawingml/2006/main">
              <a:srgbClr val="B67818"/>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Data'!$A$2:$A$4</c:f>
              <c:strCache>
                <c:ptCount val="3"/>
                <c:pt idx="0">
                  <c:v>Expert 0</c:v>
                </c:pt>
                <c:pt idx="1">
                  <c:v>Expert 1</c:v>
                </c:pt>
                <c:pt idx="2">
                  <c:v>Expert 2</c:v>
                </c:pt>
              </c:strCache>
            </c:strRef>
          </c:cat>
          <c:val>
            <c:numRef>
              <c:f>'Chart Data'!$B$2:$B$4</c:f>
              <c:numCache>
                <c:formatCode>0%</c:formatCode>
                <c:ptCount val="3"/>
                <c:pt idx="0">
                  <c:v>0.4212415541</c:v>
                </c:pt>
                <c:pt idx="1">
                  <c:v>0.2682432432</c:v>
                </c:pt>
                <c:pt idx="2">
                  <c:v>0.3105152027</c:v>
                </c:pt>
              </c:numCache>
            </c:numRef>
          </c:val>
        </c:ser>
        <c:ser>
          <c:idx val="1"/>
          <c:order val="1"/>
          <c:tx>
            <c:v>Random routing</c:v>
          </c:tx>
          <c:spPr>
            <a:solidFill xmlns:a="http://schemas.openxmlformats.org/drawingml/2006/main">
              <a:srgbClr val="8B7AA8"/>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Data'!$C$2:$C$4</c:f>
              <c:strCache>
                <c:ptCount val="3"/>
                <c:pt idx="0">
                  <c:v>Expert 0</c:v>
                </c:pt>
                <c:pt idx="1">
                  <c:v>Expert 1</c:v>
                </c:pt>
                <c:pt idx="2">
                  <c:v>Expert 2</c:v>
                </c:pt>
              </c:strCache>
            </c:strRef>
          </c:cat>
          <c:val>
            <c:numRef>
              <c:f>'Chart Data'!$D$2:$D$4</c:f>
              <c:numCache>
                <c:formatCode>0%</c:formatCode>
                <c:ptCount val="3"/>
                <c:pt idx="0">
                  <c:v>0.3266047297</c:v>
                </c:pt>
                <c:pt idx="1">
                  <c:v>0.3253378378</c:v>
                </c:pt>
                <c:pt idx="2">
                  <c:v>0.3480574324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500"/>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Fraction of selected expert slots</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Dense active</c:v>
          </c:tx>
          <c:spPr>
            <a:ln xmlns:a="http://schemas.openxmlformats.org/drawingml/2006/main" w="28575">
              <a:solidFill>
                <a:srgbClr val="5276A4"/>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Data'!$B$2:$B$33</c:f>
              <c:numCache>
                <c:formatCode>0.00</c:formatCode>
                <c:ptCount val="32"/>
                <c:pt idx="0">
                  <c:v>0.01117683171</c:v>
                </c:pt>
                <c:pt idx="1">
                  <c:v>0.02407977606</c:v>
                </c:pt>
                <c:pt idx="2">
                  <c:v>0.03481667489</c:v>
                </c:pt>
                <c:pt idx="3">
                  <c:v>0.0412760588</c:v>
                </c:pt>
                <c:pt idx="4">
                  <c:v>0.04746112972</c:v>
                </c:pt>
                <c:pt idx="5">
                  <c:v>0.05245836576</c:v>
                </c:pt>
                <c:pt idx="6">
                  <c:v>0.05461463953</c:v>
                </c:pt>
                <c:pt idx="7">
                  <c:v>0.05661350613</c:v>
                </c:pt>
                <c:pt idx="8">
                  <c:v>0.05717022841</c:v>
                </c:pt>
                <c:pt idx="9">
                  <c:v>0.05668580035</c:v>
                </c:pt>
                <c:pt idx="10">
                  <c:v>0.05790814757</c:v>
                </c:pt>
                <c:pt idx="11">
                  <c:v>0.06051839888</c:v>
                </c:pt>
                <c:pt idx="12">
                  <c:v>0.06243621558</c:v>
                </c:pt>
                <c:pt idx="13">
                  <c:v>0.06294223294</c:v>
                </c:pt>
                <c:pt idx="14">
                  <c:v>0.0624567382</c:v>
                </c:pt>
                <c:pt idx="15">
                  <c:v>0.06295580914</c:v>
                </c:pt>
                <c:pt idx="16">
                  <c:v>0.0627325053</c:v>
                </c:pt>
                <c:pt idx="17">
                  <c:v>0.06187097107</c:v>
                </c:pt>
                <c:pt idx="18">
                  <c:v>0.06340300292</c:v>
                </c:pt>
                <c:pt idx="19">
                  <c:v>0.06353680541</c:v>
                </c:pt>
                <c:pt idx="20">
                  <c:v>0.06413752586</c:v>
                </c:pt>
                <c:pt idx="21">
                  <c:v>0.06469442695</c:v>
                </c:pt>
                <c:pt idx="22">
                  <c:v>0.0643307964</c:v>
                </c:pt>
                <c:pt idx="23">
                  <c:v>0.06611081461</c:v>
                </c:pt>
                <c:pt idx="24">
                  <c:v>0.06648944194</c:v>
                </c:pt>
                <c:pt idx="25">
                  <c:v>0.06532569726</c:v>
                </c:pt>
                <c:pt idx="26">
                  <c:v>0.0658242479</c:v>
                </c:pt>
                <c:pt idx="27">
                  <c:v>0.06432269762</c:v>
                </c:pt>
                <c:pt idx="28">
                  <c:v>0.06385479867</c:v>
                </c:pt>
                <c:pt idx="29">
                  <c:v>0.06382749478</c:v>
                </c:pt>
                <c:pt idx="30">
                  <c:v>0.06458908071</c:v>
                </c:pt>
                <c:pt idx="31">
                  <c:v>0.06456854194</c:v>
                </c:pt>
              </c:numCache>
            </c:numRef>
          </c:yVal>
        </c:ser>
        <c:ser>
          <c:idx val="1"/>
          <c:order val="1"/>
          <c:tx>
            <c:v>Dense total</c:v>
          </c:tx>
          <c:spPr>
            <a:ln xmlns:a="http://schemas.openxmlformats.org/drawingml/2006/main" w="28575">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Data'!$D$2:$D$33</c:f>
              <c:numCache>
                <c:formatCode>0.00</c:formatCode>
                <c:ptCount val="32"/>
                <c:pt idx="0">
                  <c:v>0.01110361361</c:v>
                </c:pt>
                <c:pt idx="1">
                  <c:v>0.02407121472</c:v>
                </c:pt>
                <c:pt idx="2">
                  <c:v>0.03477010255</c:v>
                </c:pt>
                <c:pt idx="3">
                  <c:v>0.04111809408</c:v>
                </c:pt>
                <c:pt idx="4">
                  <c:v>0.0471503747</c:v>
                </c:pt>
                <c:pt idx="5">
                  <c:v>0.05133523792</c:v>
                </c:pt>
                <c:pt idx="6">
                  <c:v>0.05378022417</c:v>
                </c:pt>
                <c:pt idx="7">
                  <c:v>0.05572171385</c:v>
                </c:pt>
                <c:pt idx="8">
                  <c:v>0.05617271612</c:v>
                </c:pt>
                <c:pt idx="9">
                  <c:v>0.05582012609</c:v>
                </c:pt>
                <c:pt idx="10">
                  <c:v>0.05722301453</c:v>
                </c:pt>
                <c:pt idx="11">
                  <c:v>0.05965384841</c:v>
                </c:pt>
                <c:pt idx="12">
                  <c:v>0.06181942299</c:v>
                </c:pt>
                <c:pt idx="13">
                  <c:v>0.06252617141</c:v>
                </c:pt>
                <c:pt idx="14">
                  <c:v>0.0619327339</c:v>
                </c:pt>
                <c:pt idx="15">
                  <c:v>0.06225250537</c:v>
                </c:pt>
                <c:pt idx="16">
                  <c:v>0.06189638252</c:v>
                </c:pt>
                <c:pt idx="17">
                  <c:v>0.06196815521</c:v>
                </c:pt>
                <c:pt idx="18">
                  <c:v>0.06313397487</c:v>
                </c:pt>
                <c:pt idx="19">
                  <c:v>0.06310330828</c:v>
                </c:pt>
                <c:pt idx="20">
                  <c:v>0.06357407322</c:v>
                </c:pt>
                <c:pt idx="21">
                  <c:v>0.06429656098</c:v>
                </c:pt>
                <c:pt idx="22">
                  <c:v>0.0640187785</c:v>
                </c:pt>
                <c:pt idx="23">
                  <c:v>0.06484977653</c:v>
                </c:pt>
                <c:pt idx="24">
                  <c:v>0.06536069264</c:v>
                </c:pt>
                <c:pt idx="25">
                  <c:v>0.06610510995</c:v>
                </c:pt>
                <c:pt idx="26">
                  <c:v>0.06751677394</c:v>
                </c:pt>
                <c:pt idx="27">
                  <c:v>0.06630270928</c:v>
                </c:pt>
                <c:pt idx="28">
                  <c:v>0.06529708952</c:v>
                </c:pt>
                <c:pt idx="29">
                  <c:v>0.06468413522</c:v>
                </c:pt>
                <c:pt idx="30">
                  <c:v>0.0642399316</c:v>
                </c:pt>
                <c:pt idx="31">
                  <c:v>0.0646275878</c:v>
                </c:pt>
              </c:numCache>
            </c:numRef>
          </c:yVal>
        </c:ser>
        <c:ser>
          <c:idx val="2"/>
          <c:order val="2"/>
          <c:tx>
            <c:v>Learned MoE</c:v>
          </c:tx>
          <c:spPr>
            <a:ln xmlns:a="http://schemas.openxmlformats.org/drawingml/2006/main" w="28575">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Data'!$F$2:$F$33</c:f>
              <c:numCache>
                <c:formatCode>0.00</c:formatCode>
                <c:ptCount val="32"/>
                <c:pt idx="0">
                  <c:v>0.01154120329</c:v>
                </c:pt>
                <c:pt idx="1">
                  <c:v>0.02495770405</c:v>
                </c:pt>
                <c:pt idx="2">
                  <c:v>0.03597406795</c:v>
                </c:pt>
                <c:pt idx="3">
                  <c:v>0.04174947242</c:v>
                </c:pt>
                <c:pt idx="4">
                  <c:v>0.04753363753</c:v>
                </c:pt>
                <c:pt idx="5">
                  <c:v>0.05234504119</c:v>
                </c:pt>
                <c:pt idx="6">
                  <c:v>0.05425886561</c:v>
                </c:pt>
                <c:pt idx="7">
                  <c:v>0.0566876096</c:v>
                </c:pt>
                <c:pt idx="8">
                  <c:v>0.05730641509</c:v>
                </c:pt>
                <c:pt idx="9">
                  <c:v>0.05720694115</c:v>
                </c:pt>
                <c:pt idx="10">
                  <c:v>0.05917844549</c:v>
                </c:pt>
                <c:pt idx="11">
                  <c:v>0.06067764014</c:v>
                </c:pt>
                <c:pt idx="12">
                  <c:v>0.06262832383</c:v>
                </c:pt>
                <c:pt idx="13">
                  <c:v>0.06386843324</c:v>
                </c:pt>
                <c:pt idx="14">
                  <c:v>0.06295263519</c:v>
                </c:pt>
                <c:pt idx="15">
                  <c:v>0.06277617315</c:v>
                </c:pt>
                <c:pt idx="16">
                  <c:v>0.06269855797</c:v>
                </c:pt>
                <c:pt idx="17">
                  <c:v>0.06106683612</c:v>
                </c:pt>
                <c:pt idx="18">
                  <c:v>0.06292191148</c:v>
                </c:pt>
                <c:pt idx="19">
                  <c:v>0.063166935</c:v>
                </c:pt>
                <c:pt idx="20">
                  <c:v>0.06380566582</c:v>
                </c:pt>
                <c:pt idx="21">
                  <c:v>0.06457950175</c:v>
                </c:pt>
                <c:pt idx="22">
                  <c:v>0.06410662085</c:v>
                </c:pt>
                <c:pt idx="23">
                  <c:v>0.06602745006</c:v>
                </c:pt>
                <c:pt idx="24">
                  <c:v>0.06597647071</c:v>
                </c:pt>
                <c:pt idx="25">
                  <c:v>0.06543525308</c:v>
                </c:pt>
                <c:pt idx="26">
                  <c:v>0.06684786081</c:v>
                </c:pt>
                <c:pt idx="27">
                  <c:v>0.0655184264</c:v>
                </c:pt>
                <c:pt idx="28">
                  <c:v>0.06537154565</c:v>
                </c:pt>
                <c:pt idx="29">
                  <c:v>0.06490097319</c:v>
                </c:pt>
                <c:pt idx="30">
                  <c:v>0.06413166225</c:v>
                </c:pt>
                <c:pt idx="31">
                  <c:v>0.06408190479</c:v>
                </c:pt>
              </c:numCache>
            </c:numRef>
          </c:yVal>
        </c:ser>
        <c:ser>
          <c:idx val="3"/>
          <c:order val="3"/>
          <c:tx>
            <c:v>Random routing</c:v>
          </c:tx>
          <c:spPr>
            <a:ln xmlns:a="http://schemas.openxmlformats.org/drawingml/2006/main" w="28575">
              <a:solidFill>
                <a:srgbClr val="8B7AA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Data'!$H$2:$H$33</c:f>
              <c:numCache>
                <c:formatCode>0.00</c:formatCode>
                <c:ptCount val="32"/>
                <c:pt idx="0">
                  <c:v>0.01172185037</c:v>
                </c:pt>
                <c:pt idx="1">
                  <c:v>0.02524976122</c:v>
                </c:pt>
                <c:pt idx="2">
                  <c:v>0.03649871051</c:v>
                </c:pt>
                <c:pt idx="3">
                  <c:v>0.04294136539</c:v>
                </c:pt>
                <c:pt idx="4">
                  <c:v>0.049259644</c:v>
                </c:pt>
                <c:pt idx="5">
                  <c:v>0.05359668285</c:v>
                </c:pt>
                <c:pt idx="6">
                  <c:v>0.05485766629</c:v>
                </c:pt>
                <c:pt idx="7">
                  <c:v>0.05615217487</c:v>
                </c:pt>
                <c:pt idx="8">
                  <c:v>0.05713935693</c:v>
                </c:pt>
                <c:pt idx="9">
                  <c:v>0.05764748777</c:v>
                </c:pt>
                <c:pt idx="10">
                  <c:v>0.05897376438</c:v>
                </c:pt>
                <c:pt idx="11">
                  <c:v>0.06060315917</c:v>
                </c:pt>
                <c:pt idx="12">
                  <c:v>0.06130191187</c:v>
                </c:pt>
                <c:pt idx="13">
                  <c:v>0.06181514387</c:v>
                </c:pt>
                <c:pt idx="14">
                  <c:v>0.0616423438</c:v>
                </c:pt>
                <c:pt idx="15">
                  <c:v>0.06230018164</c:v>
                </c:pt>
                <c:pt idx="16">
                  <c:v>0.06262071307</c:v>
                </c:pt>
                <c:pt idx="17">
                  <c:v>0.06134208043</c:v>
                </c:pt>
                <c:pt idx="18">
                  <c:v>0.06236309434</c:v>
                </c:pt>
                <c:pt idx="19">
                  <c:v>0.06178584943</c:v>
                </c:pt>
                <c:pt idx="20">
                  <c:v>0.06265076374</c:v>
                </c:pt>
                <c:pt idx="21">
                  <c:v>0.06383739412</c:v>
                </c:pt>
                <c:pt idx="22">
                  <c:v>0.06415741642</c:v>
                </c:pt>
                <c:pt idx="23">
                  <c:v>0.06526453793</c:v>
                </c:pt>
                <c:pt idx="24">
                  <c:v>0.06454244504</c:v>
                </c:pt>
                <c:pt idx="25">
                  <c:v>0.06358500446</c:v>
                </c:pt>
                <c:pt idx="26">
                  <c:v>0.06484356523</c:v>
                </c:pt>
                <c:pt idx="27">
                  <c:v>0.06408030664</c:v>
                </c:pt>
                <c:pt idx="28">
                  <c:v>0.06460070362</c:v>
                </c:pt>
                <c:pt idx="29">
                  <c:v>0.06473529215</c:v>
                </c:pt>
                <c:pt idx="30">
                  <c:v>0.06359502176</c:v>
                </c:pt>
                <c:pt idx="31">
                  <c:v>0.06283752496</c:v>
                </c:pt>
              </c:numCache>
            </c:numRef>
          </c:yVal>
        </c:ser>
        <c:ser>
          <c:idx val="4"/>
          <c:order val="4"/>
          <c:tx>
            <c:v>Oracle</c:v>
          </c:tx>
          <c:spPr>
            <a:ln xmlns:a="http://schemas.openxmlformats.org/drawingml/2006/main" w="28575">
              <a:solidFill>
                <a:srgbClr val="087E8B"/>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Data'!$I$2:$I$33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Data'!$J$2:$J$33</c:f>
              <c:numCache>
                <c:formatCode>0.00</c:formatCode>
                <c:ptCount val="32"/>
                <c:pt idx="0">
                  <c:v>0.00655168714</c:v>
                </c:pt>
                <c:pt idx="1">
                  <c:v>0.0124610768</c:v>
                </c:pt>
                <c:pt idx="2">
                  <c:v>0.01836812062</c:v>
                </c:pt>
                <c:pt idx="3">
                  <c:v>0.02314415947</c:v>
                </c:pt>
                <c:pt idx="4">
                  <c:v>0.02797610685</c:v>
                </c:pt>
                <c:pt idx="5">
                  <c:v>0.03219464794</c:v>
                </c:pt>
                <c:pt idx="6">
                  <c:v>0.03625152508</c:v>
                </c:pt>
                <c:pt idx="7">
                  <c:v>0.03884455313</c:v>
                </c:pt>
                <c:pt idx="8">
                  <c:v>0.04123263185</c:v>
                </c:pt>
                <c:pt idx="9">
                  <c:v>0.04348925004</c:v>
                </c:pt>
                <c:pt idx="10">
                  <c:v>0.04673653096</c:v>
                </c:pt>
                <c:pt idx="11">
                  <c:v>0.04974510645</c:v>
                </c:pt>
                <c:pt idx="12">
                  <c:v>0.05172569181</c:v>
                </c:pt>
                <c:pt idx="13">
                  <c:v>0.05474839235</c:v>
                </c:pt>
                <c:pt idx="14">
                  <c:v>0.05602074042</c:v>
                </c:pt>
                <c:pt idx="15">
                  <c:v>0.05826704452</c:v>
                </c:pt>
                <c:pt idx="16">
                  <c:v>0.06060266619</c:v>
                </c:pt>
                <c:pt idx="17">
                  <c:v>0.06140373026</c:v>
                </c:pt>
                <c:pt idx="18">
                  <c:v>0.06376573195</c:v>
                </c:pt>
                <c:pt idx="19">
                  <c:v>0.06492517392</c:v>
                </c:pt>
                <c:pt idx="20">
                  <c:v>0.06653249264</c:v>
                </c:pt>
                <c:pt idx="21">
                  <c:v>0.06959593793</c:v>
                </c:pt>
                <c:pt idx="22">
                  <c:v>0.07019424935</c:v>
                </c:pt>
                <c:pt idx="23">
                  <c:v>0.07210972905</c:v>
                </c:pt>
                <c:pt idx="24">
                  <c:v>0.07299330582</c:v>
                </c:pt>
                <c:pt idx="25">
                  <c:v>0.07298629483</c:v>
                </c:pt>
                <c:pt idx="26">
                  <c:v>0.07531631986</c:v>
                </c:pt>
                <c:pt idx="27">
                  <c:v>0.0752555877</c:v>
                </c:pt>
                <c:pt idx="28">
                  <c:v>0.07569660495</c:v>
                </c:pt>
                <c:pt idx="29">
                  <c:v>0.07618141919</c:v>
                </c:pt>
                <c:pt idx="30">
                  <c:v>0.07659214238</c:v>
                </c:pt>
                <c:pt idx="31">
                  <c:v>0.07764549553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Original-unit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32"/>
          <c:min val="1"/>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Forecast horizon</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4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75D9EB-E1DE-49C2-ACEC-267D8753BF31}"/>
              </a:ext>
            </a:extLst>
          </p:cNvPr>
          <p:cNvSpPr>
            <a:spLocks xmlns:a="http://schemas.openxmlformats.org/drawingml/2006/main" noGrp="1"/>
          </p:cNvSpPr>
          <p:nvPr/>
        </p:nvSpPr>
        <p:spPr>
          <a:xfrm xmlns:a="http://schemas.openxmlformats.org/drawingml/2006/main">
            <a:off x="685800" y="1524000"/>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Twilight MoE</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Dynamics</a:t>
            </a:r>
          </a:p>
        </p:txBody>
      </p:sp>
      <p:sp>
        <p:nvSpPr>
          <p:cNvPr id="2" name="">
            <a:extLst xmlns:a="http://schemas.openxmlformats.org/drawingml/2006/main">
              <a:ext uri="{FF2B5EF4-FFF2-40B4-BE49-F238E27FC236}">
                <a16:creationId xmlns:a16="http://schemas.microsoft.com/office/drawing/2014/main" id="{18DF8DA2-F642-477A-A849-F031A2CF4C19}"/>
              </a:ext>
            </a:extLst>
          </p:cNvPr>
          <p:cNvSpPr>
            <a:spLocks xmlns:a="http://schemas.openxmlformats.org/drawingml/2006/main" noGrp="1"/>
          </p:cNvSpPr>
          <p:nvPr/>
        </p:nvSpPr>
        <p:spPr>
          <a:xfrm xmlns:a="http://schemas.openxmlformats.org/drawingml/2006/main">
            <a:off x="723900" y="3771900"/>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DCE5ED"/>
                </a:solidFill>
                <a:latin typeface="Arial"/>
                <a:ea typeface="Arial"/>
                <a:cs typeface="Arial"/>
              </a:defRPr>
            </a:defPPr>
          </a:lstStyle>
          <a:p xmlns:a="http://schemas.openxmlformats.org/drawingml/2006/main">
            <a:pPr>
              <a:defRPr sz="2400" b="0">
                <a:solidFill>
                  <a:srgbClr val="DCE5ED"/>
                </a:solidFill>
                <a:latin typeface="Arial"/>
                <a:ea typeface="Arial"/>
                <a:cs typeface="Arial"/>
              </a:defRPr>
            </a:pPr>
            <a:r>
              <a:rPr sz="2400" b="0">
                <a:solidFill>
                  <a:srgbClr val="DCE5ED"/>
                </a:solidFill>
                <a:latin typeface="Arial"/>
                <a:ea typeface="Arial"/>
                <a:cs typeface="Arial"/>
              </a:rPr>
              <a:t>A controlled study of prediction under switching dynamics</a:t>
            </a:r>
          </a:p>
        </p:txBody>
      </p:sp>
      <p:sp>
        <p:nvSpPr>
          <p:cNvPr id="3" name="">
            <a:extLst xmlns:a="http://schemas.openxmlformats.org/drawingml/2006/main">
              <a:ext uri="{FF2B5EF4-FFF2-40B4-BE49-F238E27FC236}">
                <a16:creationId xmlns:a16="http://schemas.microsoft.com/office/drawing/2014/main" id="{1BA4F1BF-2009-49D5-81C3-91164B74A56B}"/>
              </a:ext>
            </a:extLst>
          </p:cNvPr>
          <p:cNvSpPr>
            <a:spLocks xmlns:a="http://schemas.openxmlformats.org/drawingml/2006/main" noGrp="1"/>
          </p:cNvSpPr>
          <p:nvPr/>
        </p:nvSpPr>
        <p:spPr>
          <a:xfrm xmlns:a="http://schemas.openxmlformats.org/drawingml/2006/main">
            <a:off x="723900" y="5095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E4B65F"/>
                </a:solidFill>
                <a:latin typeface="Arial"/>
                <a:ea typeface="Arial"/>
                <a:cs typeface="Arial"/>
              </a:defRPr>
            </a:defPPr>
          </a:lstStyle>
          <a:p xmlns:a="http://schemas.openxmlformats.org/drawingml/2006/main">
            <a:pPr>
              <a:defRPr sz="1875" b="0">
                <a:solidFill>
                  <a:srgbClr val="E4B65F"/>
                </a:solidFill>
                <a:latin typeface="Arial"/>
                <a:ea typeface="Arial"/>
                <a:cs typeface="Arial"/>
              </a:defRPr>
            </a:pPr>
            <a:r>
              <a:rPr sz="1875" b="0">
                <a:solidFill>
                  <a:srgbClr val="E4B65F"/>
                </a:solidFill>
                <a:latin typeface="Arial"/>
                <a:ea typeface="Arial"/>
                <a:cs typeface="Arial"/>
              </a:rPr>
              <a:t>Background, methods, experiments and results</a:t>
            </a:r>
          </a:p>
        </p:txBody>
      </p:sp>
      <p:sp>
        <p:nvSpPr>
          <p:cNvPr id="4" name="">
            <a:extLst xmlns:a="http://schemas.openxmlformats.org/drawingml/2006/main">
              <a:ext uri="{FF2B5EF4-FFF2-40B4-BE49-F238E27FC236}">
                <a16:creationId xmlns:a16="http://schemas.microsoft.com/office/drawing/2014/main" id="{1B532278-942F-4F07-81DD-AC6BF5BAC7F4}"/>
              </a:ext>
            </a:extLst>
          </p:cNvPr>
          <p:cNvSpPr>
            <a:spLocks xmlns:a="http://schemas.openxmlformats.org/drawingml/2006/main" noGrp="1"/>
          </p:cNvSpPr>
          <p:nvPr/>
        </p:nvSpPr>
        <p:spPr>
          <a:xfrm xmlns:a="http://schemas.openxmlformats.org/drawingml/2006/main">
            <a:off x="723900" y="6134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DCE5ED"/>
                </a:solidFill>
                <a:latin typeface="Arial"/>
                <a:ea typeface="Arial"/>
                <a:cs typeface="Arial"/>
              </a:defRPr>
            </a:defPPr>
          </a:lstStyle>
          <a:p xmlns:a="http://schemas.openxmlformats.org/drawingml/2006/main">
            <a:pPr>
              <a:defRPr sz="1425" b="0">
                <a:solidFill>
                  <a:srgbClr val="DCE5ED"/>
                </a:solidFill>
                <a:latin typeface="Arial"/>
                <a:ea typeface="Arial"/>
                <a:cs typeface="Arial"/>
              </a:defRPr>
            </a:pPr>
            <a:r>
              <a:rPr sz="1425" b="0">
                <a:solidFill>
                  <a:srgbClr val="DCE5ED"/>
                </a:solidFill>
                <a:latin typeface="Arial"/>
                <a:ea typeface="Arial"/>
                <a:cs typeface="Arial"/>
              </a:rPr>
              <a:t>Version 1 · Research presentation · October 2026</a:t>
            </a:r>
          </a:p>
        </p:txBody>
      </p:sp>
    </p:spTree>
    <p:extLst>
      <p:ext uri="{BB962C8B-B14F-4D97-AF65-F5344CB8AC3E}">
        <p14:creationId xmlns:p14="http://schemas.microsoft.com/office/powerpoint/2010/main" val="16382444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0A188E-B928-442C-8B4D-C546ACEA264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BACKGROUND</a:t>
            </a:r>
          </a:p>
        </p:txBody>
      </p:sp>
      <p:sp>
        <p:nvSpPr>
          <p:cNvPr id="2" name="">
            <a:extLst xmlns:a="http://schemas.openxmlformats.org/drawingml/2006/main">
              <a:ext uri="{FF2B5EF4-FFF2-40B4-BE49-F238E27FC236}">
                <a16:creationId xmlns:a16="http://schemas.microsoft.com/office/drawing/2014/main" id="{9C0D6184-C65C-4753-A742-D5453815CF1F}"/>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Research question</a:t>
            </a:r>
          </a:p>
        </p:txBody>
      </p:sp>
      <p:sp>
        <p:nvSpPr>
          <p:cNvPr id="3" name="">
            <a:extLst xmlns:a="http://schemas.openxmlformats.org/drawingml/2006/main">
              <a:ext uri="{FF2B5EF4-FFF2-40B4-BE49-F238E27FC236}">
                <a16:creationId xmlns:a16="http://schemas.microsoft.com/office/drawing/2014/main" id="{BA71850D-8E47-4108-8F54-3703BAF7317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0715FE1C-3594-4118-B04C-937DE61365E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7B2434F-9F08-4156-992D-2E6F3506E7EE}"/>
              </a:ext>
            </a:extLst>
          </p:cNvPr>
          <p:cNvSpPr>
            <a:spLocks xmlns:a="http://schemas.openxmlformats.org/drawingml/2006/main" noGrp="1"/>
          </p:cNvSpPr>
          <p:nvPr/>
        </p:nvSpPr>
        <p:spPr>
          <a:xfrm xmlns:a="http://schemas.openxmlformats.org/drawingml/2006/main">
            <a:off x="571500" y="1809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Prediction with hidden changes</a:t>
            </a:r>
          </a:p>
        </p:txBody>
      </p:sp>
      <p:sp>
        <p:nvSpPr>
          <p:cNvPr id="6" name="">
            <a:extLst xmlns:a="http://schemas.openxmlformats.org/drawingml/2006/main">
              <a:ext uri="{FF2B5EF4-FFF2-40B4-BE49-F238E27FC236}">
                <a16:creationId xmlns:a16="http://schemas.microsoft.com/office/drawing/2014/main" id="{7BDD8769-D9CE-4127-AA92-2895735551B2}"/>
              </a:ext>
            </a:extLst>
          </p:cNvPr>
          <p:cNvSpPr>
            <a:spLocks xmlns:a="http://schemas.openxmlformats.org/drawingml/2006/main" noGrp="1"/>
          </p:cNvSpPr>
          <p:nvPr/>
        </p:nvSpPr>
        <p:spPr>
          <a:xfrm xmlns:a="http://schemas.openxmlformats.org/drawingml/2006/main">
            <a:off x="571500" y="2209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The same observed state can evolve under different transition rules. Recent observations may reveal which rule currently applies.</a:t>
            </a:r>
          </a:p>
        </p:txBody>
      </p:sp>
      <p:sp>
        <p:nvSpPr>
          <p:cNvPr id="7" name="">
            <a:extLst xmlns:a="http://schemas.openxmlformats.org/drawingml/2006/main">
              <a:ext uri="{FF2B5EF4-FFF2-40B4-BE49-F238E27FC236}">
                <a16:creationId xmlns:a16="http://schemas.microsoft.com/office/drawing/2014/main" id="{A3C1A097-19C5-494A-BC30-A239AC19DE52}"/>
              </a:ext>
            </a:extLst>
          </p:cNvPr>
          <p:cNvSpPr>
            <a:spLocks xmlns:a="http://schemas.openxmlformats.org/drawingml/2006/main" noGrp="1"/>
          </p:cNvSpPr>
          <p:nvPr/>
        </p:nvSpPr>
        <p:spPr>
          <a:xfrm xmlns:a="http://schemas.openxmlformats.org/drawingml/2006/main">
            <a:off x="571500" y="3095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A possible role for experts</a:t>
            </a:r>
          </a:p>
        </p:txBody>
      </p:sp>
      <p:sp>
        <p:nvSpPr>
          <p:cNvPr id="8" name="">
            <a:extLst xmlns:a="http://schemas.openxmlformats.org/drawingml/2006/main">
              <a:ext uri="{FF2B5EF4-FFF2-40B4-BE49-F238E27FC236}">
                <a16:creationId xmlns:a16="http://schemas.microsoft.com/office/drawing/2014/main" id="{B3A2452A-E80D-4D32-8E92-AB33E278D379}"/>
              </a:ext>
            </a:extLst>
          </p:cNvPr>
          <p:cNvSpPr>
            <a:spLocks xmlns:a="http://schemas.openxmlformats.org/drawingml/2006/main" noGrp="1"/>
          </p:cNvSpPr>
          <p:nvPr/>
        </p:nvSpPr>
        <p:spPr>
          <a:xfrm xmlns:a="http://schemas.openxmlformats.org/drawingml/2006/main">
            <a:off x="571500" y="3495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 router can allocate different histories to specialized predictors. The experiment tests whether this improves next-state prediction.</a:t>
            </a:r>
          </a:p>
        </p:txBody>
      </p:sp>
      <p:sp>
        <p:nvSpPr>
          <p:cNvPr id="9" name="">
            <a:extLst xmlns:a="http://schemas.openxmlformats.org/drawingml/2006/main">
              <a:ext uri="{FF2B5EF4-FFF2-40B4-BE49-F238E27FC236}">
                <a16:creationId xmlns:a16="http://schemas.microsoft.com/office/drawing/2014/main" id="{1AE735C4-CE0B-47B9-9EA0-8B6B7E53E08F}"/>
              </a:ext>
            </a:extLst>
          </p:cNvPr>
          <p:cNvSpPr>
            <a:spLocks xmlns:a="http://schemas.openxmlformats.org/drawingml/2006/main" noGrp="1"/>
          </p:cNvSpPr>
          <p:nvPr/>
        </p:nvSpPr>
        <p:spPr>
          <a:xfrm xmlns:a="http://schemas.openxmlformats.org/drawingml/2006/main">
            <a:off x="571500" y="43815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Controlled scope</a:t>
            </a:r>
          </a:p>
        </p:txBody>
      </p:sp>
      <p:sp>
        <p:nvSpPr>
          <p:cNvPr id="10" name="">
            <a:extLst xmlns:a="http://schemas.openxmlformats.org/drawingml/2006/main">
              <a:ext uri="{FF2B5EF4-FFF2-40B4-BE49-F238E27FC236}">
                <a16:creationId xmlns:a16="http://schemas.microsoft.com/office/drawing/2014/main" id="{9E0040CD-A019-47D6-8B65-E90DD36D06CC}"/>
              </a:ext>
            </a:extLst>
          </p:cNvPr>
          <p:cNvSpPr>
            <a:spLocks xmlns:a="http://schemas.openxmlformats.org/drawingml/2006/main" noGrp="1"/>
          </p:cNvSpPr>
          <p:nvPr/>
        </p:nvSpPr>
        <p:spPr>
          <a:xfrm xmlns:a="http://schemas.openxmlformats.org/drawingml/2006/main">
            <a:off x="571500" y="4781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Four observed dimensions, three hidden regimes and five model families. This is a performance study with known ground truth.</a:t>
            </a:r>
          </a:p>
        </p:txBody>
      </p:sp>
    </p:spTree>
    <p:extLst>
      <p:ext uri="{BB962C8B-B14F-4D97-AF65-F5344CB8AC3E}">
        <p14:creationId xmlns:p14="http://schemas.microsoft.com/office/powerpoint/2010/main" val="488660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788A02-5DC9-4FEE-88B3-0D54251E39A7}"/>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BACKGROUND</a:t>
            </a:r>
          </a:p>
        </p:txBody>
      </p:sp>
      <p:sp>
        <p:nvSpPr>
          <p:cNvPr id="2" name="">
            <a:extLst xmlns:a="http://schemas.openxmlformats.org/drawingml/2006/main">
              <a:ext uri="{FF2B5EF4-FFF2-40B4-BE49-F238E27FC236}">
                <a16:creationId xmlns:a16="http://schemas.microsoft.com/office/drawing/2014/main" id="{436B3C46-640A-410E-85C0-B01F3A0EA4E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Background mechanisms</a:t>
            </a:r>
          </a:p>
        </p:txBody>
      </p:sp>
      <p:sp>
        <p:nvSpPr>
          <p:cNvPr id="3" name="">
            <a:extLst xmlns:a="http://schemas.openxmlformats.org/drawingml/2006/main">
              <a:ext uri="{FF2B5EF4-FFF2-40B4-BE49-F238E27FC236}">
                <a16:creationId xmlns:a16="http://schemas.microsoft.com/office/drawing/2014/main" id="{C7144126-2CC2-4FDE-9559-7F4F2FAFA3F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2266E2BD-E655-4767-8FDA-161DBE56F69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CF6143AD-98F4-4FB0-8F1F-C223B3124C42}"/>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2190750"/>
                <a:gridCol w="4429125"/>
                <a:gridCol w="4429125"/>
              </a:tblGrid>
              <a:tr h="881063">
                <a:tc>
                  <a:txBody>
                    <a:bodyPr/>
                    <a:lstStyle/>
                    <a:p>
                      <a:r>
                        <a:rPr sz="1725" b="1">
                          <a:solidFill>
                            <a:srgbClr val="FFFFFF"/>
                          </a:solidFill>
                          <a:latin typeface="Arial"/>
                          <a:ea typeface="Arial"/>
                          <a:cs typeface="Arial"/>
                        </a:rPr>
                        <a:t>Concept</a:t>
                      </a:r>
                    </a:p>
                  </a:txBody>
                  <a:tcPr marL="91440" marR="91440" marT="45720" marB="45720">
                    <a:solidFill>
                      <a:srgbClr val="152B45"/>
                    </a:solidFill>
                  </a:tcPr>
                </a:tc>
                <a:tc>
                  <a:txBody>
                    <a:bodyPr/>
                    <a:lstStyle/>
                    <a:p>
                      <a:r>
                        <a:rPr sz="1725" b="1">
                          <a:solidFill>
                            <a:srgbClr val="FFFFFF"/>
                          </a:solidFill>
                          <a:latin typeface="Arial"/>
                          <a:ea typeface="Arial"/>
                          <a:cs typeface="Arial"/>
                        </a:rPr>
                        <a:t>Mechanism</a:t>
                      </a:r>
                    </a:p>
                  </a:txBody>
                  <a:tcPr marL="91440" marR="91440" marT="45720" marB="45720">
                    <a:solidFill>
                      <a:srgbClr val="152B45"/>
                    </a:solidFill>
                  </a:tcPr>
                </a:tc>
                <a:tc>
                  <a:txBody>
                    <a:bodyPr/>
                    <a:lstStyle/>
                    <a:p>
                      <a:r>
                        <a:rPr sz="1725" b="1">
                          <a:solidFill>
                            <a:srgbClr val="FFFFFF"/>
                          </a:solidFill>
                          <a:latin typeface="Arial"/>
                          <a:ea typeface="Arial"/>
                          <a:cs typeface="Arial"/>
                        </a:rPr>
                        <a:t>Role in this project</a:t>
                      </a:r>
                    </a:p>
                  </a:txBody>
                  <a:tcPr marL="91440" marR="91440" marT="45720" marB="45720">
                    <a:solidFill>
                      <a:srgbClr val="152B45"/>
                    </a:solidFill>
                  </a:tcPr>
                </a:tc>
              </a:tr>
              <a:tr h="881063">
                <a:tc>
                  <a:txBody>
                    <a:bodyPr/>
                    <a:lstStyle/>
                    <a:p>
                      <a:r>
                        <a:rPr sz="1725" b="0">
                          <a:solidFill>
                            <a:srgbClr val="24384D"/>
                          </a:solidFill>
                          <a:latin typeface="Arial"/>
                          <a:ea typeface="Arial"/>
                          <a:cs typeface="Arial"/>
                        </a:rPr>
                        <a:t>Dynamical system</a:t>
                      </a:r>
                    </a:p>
                  </a:txBody>
                  <a:tcPr marL="91440" marR="91440" marT="45720" marB="45720">
                    <a:solidFill>
                      <a:srgbClr val="F0F4F7"/>
                    </a:solidFill>
                  </a:tcPr>
                </a:tc>
                <a:tc>
                  <a:txBody>
                    <a:bodyPr/>
                    <a:lstStyle/>
                    <a:p>
                      <a:r>
                        <a:rPr sz="1725" b="0">
                          <a:solidFill>
                            <a:srgbClr val="24384D"/>
                          </a:solidFill>
                          <a:latin typeface="Arial"/>
                          <a:ea typeface="Arial"/>
                          <a:cs typeface="Arial"/>
                        </a:rPr>
                        <a:t>A transition maps the current state to the next state.</a:t>
                      </a:r>
                    </a:p>
                  </a:txBody>
                  <a:tcPr marL="91440" marR="91440" marT="45720" marB="45720">
                    <a:solidFill>
                      <a:srgbClr val="F0F4F7"/>
                    </a:solidFill>
                  </a:tcPr>
                </a:tc>
                <a:tc>
                  <a:txBody>
                    <a:bodyPr/>
                    <a:lstStyle/>
                    <a:p>
                      <a:r>
                        <a:rPr sz="1725" b="0">
                          <a:solidFill>
                            <a:srgbClr val="24384D"/>
                          </a:solidFill>
                          <a:latin typeface="Arial"/>
                          <a:ea typeface="Arial"/>
                          <a:cs typeface="Arial"/>
                        </a:rPr>
                        <a:t>Three stable linear transition matrices.</a:t>
                      </a:r>
                    </a:p>
                  </a:txBody>
                  <a:tcPr marL="91440" marR="91440" marT="45720" marB="45720">
                    <a:solidFill>
                      <a:srgbClr val="F0F4F7"/>
                    </a:solidFill>
                  </a:tcPr>
                </a:tc>
              </a:tr>
              <a:tr h="881063">
                <a:tc>
                  <a:txBody>
                    <a:bodyPr/>
                    <a:lstStyle/>
                    <a:p>
                      <a:r>
                        <a:rPr sz="1725" b="0">
                          <a:solidFill>
                            <a:srgbClr val="24384D"/>
                          </a:solidFill>
                          <a:latin typeface="Arial"/>
                          <a:ea typeface="Arial"/>
                          <a:cs typeface="Arial"/>
                        </a:rPr>
                        <a:t>Hidden switching</a:t>
                      </a:r>
                    </a:p>
                  </a:txBody>
                  <a:tcPr marL="91440" marR="91440" marT="45720" marB="45720">
                    <a:solidFill>
                      <a:srgbClr val="FFFFFF"/>
                    </a:solidFill>
                  </a:tcPr>
                </a:tc>
                <a:tc>
                  <a:txBody>
                    <a:bodyPr/>
                    <a:lstStyle/>
                    <a:p>
                      <a:r>
                        <a:rPr sz="1725" b="0">
                          <a:solidFill>
                            <a:srgbClr val="24384D"/>
                          </a:solidFill>
                          <a:latin typeface="Arial"/>
                          <a:ea typeface="Arial"/>
                          <a:cs typeface="Arial"/>
                        </a:rPr>
                        <a:t>A discrete process changes the active transition.</a:t>
                      </a:r>
                    </a:p>
                  </a:txBody>
                  <a:tcPr marL="91440" marR="91440" marT="45720" marB="45720">
                    <a:solidFill>
                      <a:srgbClr val="FFFFFF"/>
                    </a:solidFill>
                  </a:tcPr>
                </a:tc>
                <a:tc>
                  <a:txBody>
                    <a:bodyPr/>
                    <a:lstStyle/>
                    <a:p>
                      <a:r>
                        <a:rPr sz="1725" b="0">
                          <a:solidFill>
                            <a:srgbClr val="24384D"/>
                          </a:solidFill>
                          <a:latin typeface="Arial"/>
                          <a:ea typeface="Arial"/>
                          <a:cs typeface="Arial"/>
                        </a:rPr>
                        <a:t>Markov regimes create changes in prediction rules.</a:t>
                      </a:r>
                    </a:p>
                  </a:txBody>
                  <a:tcPr marL="91440" marR="91440" marT="45720" marB="45720">
                    <a:solidFill>
                      <a:srgbClr val="FFFFFF"/>
                    </a:solidFill>
                  </a:tcPr>
                </a:tc>
              </a:tr>
              <a:tr h="881063">
                <a:tc>
                  <a:txBody>
                    <a:bodyPr/>
                    <a:lstStyle/>
                    <a:p>
                      <a:r>
                        <a:rPr sz="1725" b="0">
                          <a:solidFill>
                            <a:srgbClr val="24384D"/>
                          </a:solidFill>
                          <a:latin typeface="Arial"/>
                          <a:ea typeface="Arial"/>
                          <a:cs typeface="Arial"/>
                        </a:rPr>
                        <a:t>Mixture of Experts</a:t>
                      </a:r>
                    </a:p>
                  </a:txBody>
                  <a:tcPr marL="91440" marR="91440" marT="45720" marB="45720">
                    <a:solidFill>
                      <a:srgbClr val="F0F4F7"/>
                    </a:solidFill>
                  </a:tcPr>
                </a:tc>
                <a:tc>
                  <a:txBody>
                    <a:bodyPr/>
                    <a:lstStyle/>
                    <a:p>
                      <a:r>
                        <a:rPr sz="1725" b="0">
                          <a:solidFill>
                            <a:srgbClr val="24384D"/>
                          </a:solidFill>
                          <a:latin typeface="Arial"/>
                          <a:ea typeface="Arial"/>
                          <a:cs typeface="Arial"/>
                        </a:rPr>
                        <a:t>A gate combines specialized model outputs.</a:t>
                      </a:r>
                    </a:p>
                  </a:txBody>
                  <a:tcPr marL="91440" marR="91440" marT="45720" marB="45720">
                    <a:solidFill>
                      <a:srgbClr val="F0F4F7"/>
                    </a:solidFill>
                  </a:tcPr>
                </a:tc>
                <a:tc>
                  <a:txBody>
                    <a:bodyPr/>
                    <a:lstStyle/>
                    <a:p>
                      <a:r>
                        <a:rPr sz="1725" b="0">
                          <a:solidFill>
                            <a:srgbClr val="24384D"/>
                          </a:solidFill>
                          <a:latin typeface="Arial"/>
                          <a:ea typeface="Arial"/>
                          <a:cs typeface="Arial"/>
                        </a:rPr>
                        <a:t>A learned gate selects two of three MLP experts.</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C549A3E5-E5E9-4D3A-85FD-0CFBC6CA8E00}"/>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Ground-truth regimes support evaluation and an oracle control. Ordinary predictors cannot see them.</a:t>
            </a:r>
          </a:p>
        </p:txBody>
      </p:sp>
    </p:spTree>
    <p:extLst>
      <p:ext uri="{BB962C8B-B14F-4D97-AF65-F5344CB8AC3E}">
        <p14:creationId xmlns:p14="http://schemas.microsoft.com/office/powerpoint/2010/main" val="18292923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06CA6B-9185-42A1-AB6B-F9C3577C503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50FB6A84-732C-4769-8B52-DD20FE5E266E}"/>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Learned division of labor</a:t>
            </a:r>
          </a:p>
        </p:txBody>
      </p:sp>
      <p:sp>
        <p:nvSpPr>
          <p:cNvPr id="3" name="">
            <a:extLst xmlns:a="http://schemas.openxmlformats.org/drawingml/2006/main">
              <a:ext uri="{FF2B5EF4-FFF2-40B4-BE49-F238E27FC236}">
                <a16:creationId xmlns:a16="http://schemas.microsoft.com/office/drawing/2014/main" id="{7E15BDCF-BB1D-440E-B608-C5365BB913C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4F14CD2-7B6A-494C-8E9F-7B36394913C6}"/>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CDB3FA5-F825-4E6A-AA4A-0DA4C7884DAB}"/>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Adaptive Mixtures of Local Experts</a:t>
            </a:r>
          </a:p>
        </p:txBody>
      </p:sp>
      <p:sp>
        <p:nvSpPr>
          <p:cNvPr id="6" name="">
            <a:extLst xmlns:a="http://schemas.openxmlformats.org/drawingml/2006/main">
              <a:ext uri="{FF2B5EF4-FFF2-40B4-BE49-F238E27FC236}">
                <a16:creationId xmlns:a16="http://schemas.microsoft.com/office/drawing/2014/main" id="{13678813-FE6B-44B4-AC11-728A0AFC4B75}"/>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defRPr sz="1650" b="1">
                <a:solidFill>
                  <a:srgbClr val="B67818"/>
                </a:solidFill>
                <a:latin typeface="Arial"/>
                <a:ea typeface="Arial"/>
                <a:cs typeface="Arial"/>
              </a:defRPr>
            </a:pPr>
            <a:r>
              <a:rPr sz="1650" b="1">
                <a:solidFill>
                  <a:srgbClr val="B67818"/>
                </a:solidFill>
                <a:latin typeface="Arial"/>
                <a:ea typeface="Arial"/>
                <a:cs typeface="Arial"/>
              </a:rPr>
              <a:t>Jacobs et al. (1991)</a:t>
            </a:r>
          </a:p>
        </p:txBody>
      </p:sp>
      <p:sp>
        <p:nvSpPr>
          <p:cNvPr id="7" name="">
            <a:extLst xmlns:a="http://schemas.openxmlformats.org/drawingml/2006/main">
              <a:ext uri="{FF2B5EF4-FFF2-40B4-BE49-F238E27FC236}">
                <a16:creationId xmlns:a16="http://schemas.microsoft.com/office/drawing/2014/main" id="{7E6E2191-CD85-498D-972F-1DBAEBEBAE49}"/>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EBB09969-0C8F-428A-B883-C00F26B4FDBE}"/>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Train a gate and local experts jointly. Input-dependent mixing allows different experts to handle different parts of a supervised task.</a:t>
            </a:r>
          </a:p>
        </p:txBody>
      </p:sp>
      <p:sp>
        <p:nvSpPr>
          <p:cNvPr id="9" name="">
            <a:extLst xmlns:a="http://schemas.openxmlformats.org/drawingml/2006/main">
              <a:ext uri="{FF2B5EF4-FFF2-40B4-BE49-F238E27FC236}">
                <a16:creationId xmlns:a16="http://schemas.microsoft.com/office/drawing/2014/main" id="{267452D4-4AB9-4AB8-8731-7708594C082E}"/>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9295B9C7-3D52-44DF-9318-DA82F96EECC6}"/>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Vowel discrimination experiments. This provides the general idea of learning expert allocation.</a:t>
            </a:r>
          </a:p>
        </p:txBody>
      </p:sp>
    </p:spTree>
    <p:extLst>
      <p:ext uri="{BB962C8B-B14F-4D97-AF65-F5344CB8AC3E}">
        <p14:creationId xmlns:p14="http://schemas.microsoft.com/office/powerpoint/2010/main" val="7782629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049913-B2DB-4050-AFFB-3A139072D11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B6F623A2-0AE1-438F-80BF-FEA279CFB30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Switching linear dynamics</a:t>
            </a:r>
          </a:p>
        </p:txBody>
      </p:sp>
      <p:sp>
        <p:nvSpPr>
          <p:cNvPr id="3" name="">
            <a:extLst xmlns:a="http://schemas.openxmlformats.org/drawingml/2006/main">
              <a:ext uri="{FF2B5EF4-FFF2-40B4-BE49-F238E27FC236}">
                <a16:creationId xmlns:a16="http://schemas.microsoft.com/office/drawing/2014/main" id="{461DDD59-C668-4FBC-8D55-B6DAF5E5E60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0A7DB4BC-88D4-48CA-94E9-550A612871BB}"/>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6FB785D-3776-4B93-A793-6C7C35F5C07C}"/>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Variational Learning for Switching State-Space Models</a:t>
            </a:r>
          </a:p>
        </p:txBody>
      </p:sp>
      <p:sp>
        <p:nvSpPr>
          <p:cNvPr id="6" name="">
            <a:extLst xmlns:a="http://schemas.openxmlformats.org/drawingml/2006/main">
              <a:ext uri="{FF2B5EF4-FFF2-40B4-BE49-F238E27FC236}">
                <a16:creationId xmlns:a16="http://schemas.microsoft.com/office/drawing/2014/main" id="{0D38C635-0D44-499D-BA1D-8E390F7F7F2D}"/>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defRPr sz="1650" b="1">
                <a:solidFill>
                  <a:srgbClr val="B67818"/>
                </a:solidFill>
                <a:latin typeface="Arial"/>
                <a:ea typeface="Arial"/>
                <a:cs typeface="Arial"/>
              </a:defRPr>
            </a:pPr>
            <a:r>
              <a:rPr sz="1650" b="1">
                <a:solidFill>
                  <a:srgbClr val="B67818"/>
                </a:solidFill>
                <a:latin typeface="Arial"/>
                <a:ea typeface="Arial"/>
                <a:cs typeface="Arial"/>
              </a:rPr>
              <a:t>Ghahramani &amp; Hinton (2000)</a:t>
            </a:r>
          </a:p>
        </p:txBody>
      </p:sp>
      <p:sp>
        <p:nvSpPr>
          <p:cNvPr id="7" name="">
            <a:extLst xmlns:a="http://schemas.openxmlformats.org/drawingml/2006/main">
              <a:ext uri="{FF2B5EF4-FFF2-40B4-BE49-F238E27FC236}">
                <a16:creationId xmlns:a16="http://schemas.microsoft.com/office/drawing/2014/main" id="{DCB4B463-BFD3-457F-8081-4D605E51492E}"/>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F7865C12-410C-4C99-9FE6-6E8E85C7F77B}"/>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Combine a discrete switching process with linear dynamical systems. Variational inference approximates the otherwise difficult posterior.</a:t>
            </a:r>
          </a:p>
        </p:txBody>
      </p:sp>
      <p:sp>
        <p:nvSpPr>
          <p:cNvPr id="9" name="">
            <a:extLst xmlns:a="http://schemas.openxmlformats.org/drawingml/2006/main">
              <a:ext uri="{FF2B5EF4-FFF2-40B4-BE49-F238E27FC236}">
                <a16:creationId xmlns:a16="http://schemas.microsoft.com/office/drawing/2014/main" id="{46306D1F-3792-4D92-8612-4FBCD6F835DA}"/>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FDF72A04-C0AE-4275-AF5A-A90B5425AFA4}"/>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Synthetic systems and respiration-force measurements from a sleep-apnea patient. This motivates the hidden-regime generator.</a:t>
            </a:r>
          </a:p>
        </p:txBody>
      </p:sp>
    </p:spTree>
    <p:extLst>
      <p:ext uri="{BB962C8B-B14F-4D97-AF65-F5344CB8AC3E}">
        <p14:creationId xmlns:p14="http://schemas.microsoft.com/office/powerpoint/2010/main" val="8378649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1671DA-93F7-43AD-963F-A5F451EDF5E3}"/>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17EA9013-B350-498C-B3B4-86F8B128610E}"/>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Experts for temporal segmentation</a:t>
            </a:r>
          </a:p>
        </p:txBody>
      </p:sp>
      <p:sp>
        <p:nvSpPr>
          <p:cNvPr id="3" name="">
            <a:extLst xmlns:a="http://schemas.openxmlformats.org/drawingml/2006/main">
              <a:ext uri="{FF2B5EF4-FFF2-40B4-BE49-F238E27FC236}">
                <a16:creationId xmlns:a16="http://schemas.microsoft.com/office/drawing/2014/main" id="{D1372014-21FF-407E-B8A6-FA7D2DB5A212}"/>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E9451C3-A112-428C-A043-B0E11976D3B0}"/>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34C2FBF-266E-4138-9C9A-09746DEC8EC1}"/>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2B45"/>
                </a:solidFill>
                <a:latin typeface="Arial"/>
                <a:ea typeface="Arial"/>
                <a:cs typeface="Arial"/>
              </a:defRPr>
            </a:defPPr>
          </a:lstStyle>
          <a:p xmlns:a="http://schemas.openxmlformats.org/drawingml/2006/main">
            <a:pPr>
              <a:defRPr sz="2175" b="1">
                <a:solidFill>
                  <a:srgbClr val="152B45"/>
                </a:solidFill>
                <a:latin typeface="Arial"/>
                <a:ea typeface="Arial"/>
                <a:cs typeface="Arial"/>
              </a:defRPr>
            </a:pPr>
            <a:r>
              <a:rPr sz="2175" b="1">
                <a:solidFill>
                  <a:srgbClr val="152B45"/>
                </a:solidFill>
                <a:latin typeface="Arial"/>
                <a:ea typeface="Arial"/>
                <a:cs typeface="Arial"/>
              </a:rPr>
              <a:t>A model for learning to segment temporal sequences, utilizing a mixture of RNN experts together with adaptive variance</a:t>
            </a:r>
          </a:p>
        </p:txBody>
      </p:sp>
      <p:sp>
        <p:nvSpPr>
          <p:cNvPr id="6" name="">
            <a:extLst xmlns:a="http://schemas.openxmlformats.org/drawingml/2006/main">
              <a:ext uri="{FF2B5EF4-FFF2-40B4-BE49-F238E27FC236}">
                <a16:creationId xmlns:a16="http://schemas.microsoft.com/office/drawing/2014/main" id="{08FF1EEF-30E8-4957-8244-403C1F6BFC2D}"/>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defRPr sz="1650" b="1">
                <a:solidFill>
                  <a:srgbClr val="B67818"/>
                </a:solidFill>
                <a:latin typeface="Arial"/>
                <a:ea typeface="Arial"/>
                <a:cs typeface="Arial"/>
              </a:defRPr>
            </a:pPr>
            <a:r>
              <a:rPr sz="1650" b="1">
                <a:solidFill>
                  <a:srgbClr val="B67818"/>
                </a:solidFill>
                <a:latin typeface="Arial"/>
                <a:ea typeface="Arial"/>
                <a:cs typeface="Arial"/>
              </a:rPr>
              <a:t>Namikawa &amp; Tani (2008)</a:t>
            </a:r>
          </a:p>
        </p:txBody>
      </p:sp>
      <p:sp>
        <p:nvSpPr>
          <p:cNvPr id="7" name="">
            <a:extLst xmlns:a="http://schemas.openxmlformats.org/drawingml/2006/main">
              <a:ext uri="{FF2B5EF4-FFF2-40B4-BE49-F238E27FC236}">
                <a16:creationId xmlns:a16="http://schemas.microsoft.com/office/drawing/2014/main" id="{C21C15E2-7B62-4AA7-B919-55E80942A8C0}"/>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E9D7C74D-2CF2-4CC6-88C7-C7F06E30E69B}"/>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Recurrent experts model temporal primitives. Adaptive output variance changes competition and specialization during likelihood-based learning.</a:t>
            </a:r>
          </a:p>
        </p:txBody>
      </p:sp>
      <p:sp>
        <p:nvSpPr>
          <p:cNvPr id="9" name="">
            <a:extLst xmlns:a="http://schemas.openxmlformats.org/drawingml/2006/main">
              <a:ext uri="{FF2B5EF4-FFF2-40B4-BE49-F238E27FC236}">
                <a16:creationId xmlns:a16="http://schemas.microsoft.com/office/drawing/2014/main" id="{DF0642FA-95AC-443D-AEA7-77495FBFA62B}"/>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03D4FF4C-B072-4F68-B440-BAADA1FC1C66}"/>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Sequences switch among nine Lissajous curves, followed by humanoid sensory–motor experiments.</a:t>
            </a:r>
          </a:p>
        </p:txBody>
      </p:sp>
    </p:spTree>
    <p:extLst>
      <p:ext uri="{BB962C8B-B14F-4D97-AF65-F5344CB8AC3E}">
        <p14:creationId xmlns:p14="http://schemas.microsoft.com/office/powerpoint/2010/main" val="1009865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F375D4-3033-4F44-966F-FEB8960B5359}"/>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25F3EFE7-4991-4D7F-A1FD-1E42D5CE30FB}"/>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Sparse conditional computation</a:t>
            </a:r>
          </a:p>
        </p:txBody>
      </p:sp>
      <p:sp>
        <p:nvSpPr>
          <p:cNvPr id="3" name="">
            <a:extLst xmlns:a="http://schemas.openxmlformats.org/drawingml/2006/main">
              <a:ext uri="{FF2B5EF4-FFF2-40B4-BE49-F238E27FC236}">
                <a16:creationId xmlns:a16="http://schemas.microsoft.com/office/drawing/2014/main" id="{2CDF6030-A23F-47E0-8488-FFD27E40E86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71AD8898-6B01-46F6-91CF-54BAE4595052}"/>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EBD4F391-8923-4CBE-9909-1E13E59243CD}"/>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Outrageously Large Neural Networks: The Sparsely-Gated Mixture-of-Experts Layer</a:t>
            </a:r>
          </a:p>
        </p:txBody>
      </p:sp>
      <p:sp>
        <p:nvSpPr>
          <p:cNvPr id="6" name="">
            <a:extLst xmlns:a="http://schemas.openxmlformats.org/drawingml/2006/main">
              <a:ext uri="{FF2B5EF4-FFF2-40B4-BE49-F238E27FC236}">
                <a16:creationId xmlns:a16="http://schemas.microsoft.com/office/drawing/2014/main" id="{7A81C3AD-EC73-4DCF-9BA6-54D1EA3E655F}"/>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defRPr sz="1650" b="1">
                <a:solidFill>
                  <a:srgbClr val="B67818"/>
                </a:solidFill>
                <a:latin typeface="Arial"/>
                <a:ea typeface="Arial"/>
                <a:cs typeface="Arial"/>
              </a:defRPr>
            </a:pPr>
            <a:r>
              <a:rPr sz="1650" b="1">
                <a:solidFill>
                  <a:srgbClr val="B67818"/>
                </a:solidFill>
                <a:latin typeface="Arial"/>
                <a:ea typeface="Arial"/>
                <a:cs typeface="Arial"/>
              </a:rPr>
              <a:t>Shazeer et al. (2017)</a:t>
            </a:r>
          </a:p>
        </p:txBody>
      </p:sp>
      <p:sp>
        <p:nvSpPr>
          <p:cNvPr id="7" name="">
            <a:extLst xmlns:a="http://schemas.openxmlformats.org/drawingml/2006/main">
              <a:ext uri="{FF2B5EF4-FFF2-40B4-BE49-F238E27FC236}">
                <a16:creationId xmlns:a16="http://schemas.microsoft.com/office/drawing/2014/main" id="{D1C8D13D-1EB8-4CD5-8302-B4FBF4B08613}"/>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73374B92-A87F-4F4C-BE40-96FC4495AB22}"/>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 trainable sparse gate activates a small subset of feedforward experts for each input, increasing total capacity while limiting active computation.</a:t>
            </a:r>
          </a:p>
        </p:txBody>
      </p:sp>
      <p:sp>
        <p:nvSpPr>
          <p:cNvPr id="9" name="">
            <a:extLst xmlns:a="http://schemas.openxmlformats.org/drawingml/2006/main">
              <a:ext uri="{FF2B5EF4-FFF2-40B4-BE49-F238E27FC236}">
                <a16:creationId xmlns:a16="http://schemas.microsoft.com/office/drawing/2014/main" id="{495BA26C-772A-42A8-B2AB-A195328D4C19}"/>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03ADD2B5-CCD7-49E6-AC9C-DE025F1D5B85}"/>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Language modeling and translation. This motivates explicit sparse dispatch and capacity controls.</a:t>
            </a:r>
          </a:p>
        </p:txBody>
      </p:sp>
    </p:spTree>
    <p:extLst>
      <p:ext uri="{BB962C8B-B14F-4D97-AF65-F5344CB8AC3E}">
        <p14:creationId xmlns:p14="http://schemas.microsoft.com/office/powerpoint/2010/main" val="6879941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816014-808B-475C-88A2-BABEC2B23AC1}"/>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E6F49176-63A5-4DC8-9FFA-FA8D56BB296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Linear experts for forecasting</a:t>
            </a:r>
          </a:p>
        </p:txBody>
      </p:sp>
      <p:sp>
        <p:nvSpPr>
          <p:cNvPr id="3" name="">
            <a:extLst xmlns:a="http://schemas.openxmlformats.org/drawingml/2006/main">
              <a:ext uri="{FF2B5EF4-FFF2-40B4-BE49-F238E27FC236}">
                <a16:creationId xmlns:a16="http://schemas.microsoft.com/office/drawing/2014/main" id="{94FC5F58-382D-471B-A1A1-0A7757A678C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539DB5C-8E13-4B44-9C3D-70BF0F61A4C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1B5AFC2-2FD1-44A2-B22A-F9344BC20701}"/>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Mixture-of-Linear-Experts for Long-term Time Series Forecasting</a:t>
            </a:r>
          </a:p>
        </p:txBody>
      </p:sp>
      <p:sp>
        <p:nvSpPr>
          <p:cNvPr id="6" name="">
            <a:extLst xmlns:a="http://schemas.openxmlformats.org/drawingml/2006/main">
              <a:ext uri="{FF2B5EF4-FFF2-40B4-BE49-F238E27FC236}">
                <a16:creationId xmlns:a16="http://schemas.microsoft.com/office/drawing/2014/main" id="{3C555FA8-8CE1-45EA-B2DE-4676EC1AF7D7}"/>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defRPr sz="1650" b="1">
                <a:solidFill>
                  <a:srgbClr val="B67818"/>
                </a:solidFill>
                <a:latin typeface="Arial"/>
                <a:ea typeface="Arial"/>
                <a:cs typeface="Arial"/>
              </a:defRPr>
            </a:pPr>
            <a:r>
              <a:rPr sz="1650" b="1">
                <a:solidFill>
                  <a:srgbClr val="B67818"/>
                </a:solidFill>
                <a:latin typeface="Arial"/>
                <a:ea typeface="Arial"/>
                <a:cs typeface="Arial"/>
              </a:rPr>
              <a:t>Ni et al. (2024)</a:t>
            </a:r>
          </a:p>
        </p:txBody>
      </p:sp>
      <p:sp>
        <p:nvSpPr>
          <p:cNvPr id="7" name="">
            <a:extLst xmlns:a="http://schemas.openxmlformats.org/drawingml/2006/main">
              <a:ext uri="{FF2B5EF4-FFF2-40B4-BE49-F238E27FC236}">
                <a16:creationId xmlns:a16="http://schemas.microsoft.com/office/drawing/2014/main" id="{9F16B4F6-BC9B-4170-8D70-BCEDDE38C510}"/>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04EF29B9-CF09-40CB-91B6-FCC0DFA29D77}"/>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MoLE combines multiple linear-centric forecasting experts. A router uses timestamp information to produce channel-specific mixing weights.</a:t>
            </a:r>
          </a:p>
        </p:txBody>
      </p:sp>
      <p:sp>
        <p:nvSpPr>
          <p:cNvPr id="9" name="">
            <a:extLst xmlns:a="http://schemas.openxmlformats.org/drawingml/2006/main">
              <a:ext uri="{FF2B5EF4-FFF2-40B4-BE49-F238E27FC236}">
                <a16:creationId xmlns:a16="http://schemas.microsoft.com/office/drawing/2014/main" id="{85261D97-A861-4E83-8653-C58CF55246F3}"/>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B5329E09-ABCF-4DA2-BB12-79A3FC71A90A}"/>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ETT, Weather, Electricity, Traffic and Weather2K benchmarks. Expert specialization can also help temporal forecasting.</a:t>
            </a:r>
          </a:p>
        </p:txBody>
      </p:sp>
    </p:spTree>
    <p:extLst>
      <p:ext uri="{BB962C8B-B14F-4D97-AF65-F5344CB8AC3E}">
        <p14:creationId xmlns:p14="http://schemas.microsoft.com/office/powerpoint/2010/main" val="1707389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527F6B-F7F8-4944-BAFC-DCD8D82AE981}"/>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204B03B8-D15C-4BC2-90EB-34FA28CCE94B}"/>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MoE at foundation-model scale</a:t>
            </a:r>
          </a:p>
        </p:txBody>
      </p:sp>
      <p:sp>
        <p:nvSpPr>
          <p:cNvPr id="3" name="">
            <a:extLst xmlns:a="http://schemas.openxmlformats.org/drawingml/2006/main">
              <a:ext uri="{FF2B5EF4-FFF2-40B4-BE49-F238E27FC236}">
                <a16:creationId xmlns:a16="http://schemas.microsoft.com/office/drawing/2014/main" id="{9C8E56BF-08C7-4970-AA3F-A0C3E24F6EE2}"/>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703D069-D476-46A9-87BF-AA837B88D32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37037ED-19FC-4795-AE78-DAF6C4DB1FCE}"/>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Time-MoE: Billion-Scale Time Series Foundation Models with Mixture of Experts</a:t>
            </a:r>
          </a:p>
        </p:txBody>
      </p:sp>
      <p:sp>
        <p:nvSpPr>
          <p:cNvPr id="6" name="">
            <a:extLst xmlns:a="http://schemas.openxmlformats.org/drawingml/2006/main">
              <a:ext uri="{FF2B5EF4-FFF2-40B4-BE49-F238E27FC236}">
                <a16:creationId xmlns:a16="http://schemas.microsoft.com/office/drawing/2014/main" id="{42750BC2-66E3-45C8-9C1E-425FD6AD1959}"/>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defRPr sz="1650" b="1">
                <a:solidFill>
                  <a:srgbClr val="B67818"/>
                </a:solidFill>
                <a:latin typeface="Arial"/>
                <a:ea typeface="Arial"/>
                <a:cs typeface="Arial"/>
              </a:defRPr>
            </a:pPr>
            <a:r>
              <a:rPr sz="1650" b="1">
                <a:solidFill>
                  <a:srgbClr val="B67818"/>
                </a:solidFill>
                <a:latin typeface="Arial"/>
                <a:ea typeface="Arial"/>
                <a:cs typeface="Arial"/>
              </a:rPr>
              <a:t>Shi et al. (2025)</a:t>
            </a:r>
          </a:p>
        </p:txBody>
      </p:sp>
      <p:sp>
        <p:nvSpPr>
          <p:cNvPr id="7" name="">
            <a:extLst xmlns:a="http://schemas.openxmlformats.org/drawingml/2006/main">
              <a:ext uri="{FF2B5EF4-FFF2-40B4-BE49-F238E27FC236}">
                <a16:creationId xmlns:a16="http://schemas.microsoft.com/office/drawing/2014/main" id="{5E8E9A09-C653-47DA-BEDE-A6B8FCADE3BD}"/>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FA3A2D1B-5D69-4D38-BEB7-1125792261E3}"/>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 decoder-only forecasting transformer uses sparse temporal experts, a shared expert and multiple forecast-output horizons.</a:t>
            </a:r>
          </a:p>
        </p:txBody>
      </p:sp>
      <p:sp>
        <p:nvSpPr>
          <p:cNvPr id="9" name="">
            <a:extLst xmlns:a="http://schemas.openxmlformats.org/drawingml/2006/main">
              <a:ext uri="{FF2B5EF4-FFF2-40B4-BE49-F238E27FC236}">
                <a16:creationId xmlns:a16="http://schemas.microsoft.com/office/drawing/2014/main" id="{323AFF8A-FE48-4BD3-AA1A-6DE34240D419}"/>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CB42EF69-0E80-4CF4-99CD-0F98CEEFC288}"/>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Time-300B contains more than 300 billion time points across heterogeneous domains.</a:t>
            </a:r>
          </a:p>
        </p:txBody>
      </p:sp>
    </p:spTree>
    <p:extLst>
      <p:ext uri="{BB962C8B-B14F-4D97-AF65-F5344CB8AC3E}">
        <p14:creationId xmlns:p14="http://schemas.microsoft.com/office/powerpoint/2010/main" val="19230434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2BA9C7-6184-4D38-96E1-5F13D7F3480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03E7D4FC-6154-4A99-9E21-3AF6D9CCC44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Position of the toy experiment</a:t>
            </a:r>
          </a:p>
        </p:txBody>
      </p:sp>
      <p:sp>
        <p:nvSpPr>
          <p:cNvPr id="3" name="">
            <a:extLst xmlns:a="http://schemas.openxmlformats.org/drawingml/2006/main">
              <a:ext uri="{FF2B5EF4-FFF2-40B4-BE49-F238E27FC236}">
                <a16:creationId xmlns:a16="http://schemas.microsoft.com/office/drawing/2014/main" id="{16397DFC-4ECB-47C3-8BEE-ED66514C555D}"/>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E3549E1-CD22-4622-911E-1917A3E058E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A474729C-42FA-4F49-A863-88BA0D25CCF3}"/>
              </a:ext>
            </a:extLst>
          </p:cNvPr>
          <p:cNvGraphicFramePr/>
          <p:nvPr/>
        </p:nvGraphicFramePr>
        <p:xfrm>
          <a:off xmlns:a="http://schemas.openxmlformats.org/drawingml/2006/main" x="571500" y="1714500"/>
          <a:ext xmlns:a="http://schemas.openxmlformats.org/drawingml/2006/main" cx="11049000" cy="3429000"/>
        </p:xfrm>
        <a:graphic xmlns:a="http://schemas.openxmlformats.org/drawingml/2006/main">
          <a:graphicData uri="http://schemas.openxmlformats.org/drawingml/2006/table">
            <a:tbl>
              <a:tblPr/>
              <a:tblGrid>
                <a:gridCol w="3714750"/>
                <a:gridCol w="7334250"/>
              </a:tblGrid>
              <a:tr h="685800">
                <a:tc>
                  <a:txBody>
                    <a:bodyPr/>
                    <a:lstStyle/>
                    <a:p>
                      <a:r>
                        <a:rPr sz="1725" b="1">
                          <a:solidFill>
                            <a:srgbClr val="FFFFFF"/>
                          </a:solidFill>
                          <a:latin typeface="Arial"/>
                          <a:ea typeface="Arial"/>
                          <a:cs typeface="Arial"/>
                        </a:rPr>
                        <a:t>Design choice</a:t>
                      </a:r>
                    </a:p>
                  </a:txBody>
                  <a:tcPr marL="91440" marR="91440" marT="45720" marB="45720">
                    <a:solidFill>
                      <a:srgbClr val="152B45"/>
                    </a:solidFill>
                  </a:tcPr>
                </a:tc>
                <a:tc>
                  <a:txBody>
                    <a:bodyPr/>
                    <a:lstStyle/>
                    <a:p>
                      <a:r>
                        <a:rPr sz="1725" b="1">
                          <a:solidFill>
                            <a:srgbClr val="FFFFFF"/>
                          </a:solidFill>
                          <a:latin typeface="Arial"/>
                          <a:ea typeface="Arial"/>
                          <a:cs typeface="Arial"/>
                        </a:rPr>
                        <a:t>What it makes testable</a:t>
                      </a:r>
                    </a:p>
                  </a:txBody>
                  <a:tcPr marL="91440" marR="91440" marT="45720" marB="45720">
                    <a:solidFill>
                      <a:srgbClr val="152B45"/>
                    </a:solidFill>
                  </a:tcPr>
                </a:tc>
              </a:tr>
              <a:tr h="685800">
                <a:tc>
                  <a:txBody>
                    <a:bodyPr/>
                    <a:lstStyle/>
                    <a:p>
                      <a:r>
                        <a:rPr sz="1725" b="0">
                          <a:solidFill>
                            <a:srgbClr val="24384D"/>
                          </a:solidFill>
                          <a:latin typeface="Arial"/>
                          <a:ea typeface="Arial"/>
                          <a:cs typeface="Arial"/>
                        </a:rPr>
                        <a:t>Known switching mechanism</a:t>
                      </a:r>
                    </a:p>
                  </a:txBody>
                  <a:tcPr marL="91440" marR="91440" marT="45720" marB="45720">
                    <a:solidFill>
                      <a:srgbClr val="F0F4F7"/>
                    </a:solidFill>
                  </a:tcPr>
                </a:tc>
                <a:tc>
                  <a:txBody>
                    <a:bodyPr/>
                    <a:lstStyle/>
                    <a:p>
                      <a:r>
                        <a:rPr sz="1725" b="0">
                          <a:solidFill>
                            <a:srgbClr val="24384D"/>
                          </a:solidFill>
                          <a:latin typeface="Arial"/>
                          <a:ea typeface="Arial"/>
                          <a:cs typeface="Arial"/>
                        </a:rPr>
                        <a:t>Prediction errors can be aligned to true switches.</a:t>
                      </a:r>
                    </a:p>
                  </a:txBody>
                  <a:tcPr marL="91440" marR="91440" marT="45720" marB="45720">
                    <a:solidFill>
                      <a:srgbClr val="F0F4F7"/>
                    </a:solidFill>
                  </a:tcPr>
                </a:tc>
              </a:tr>
              <a:tr h="685800">
                <a:tc>
                  <a:txBody>
                    <a:bodyPr/>
                    <a:lstStyle/>
                    <a:p>
                      <a:r>
                        <a:rPr sz="1725" b="0">
                          <a:solidFill>
                            <a:srgbClr val="24384D"/>
                          </a:solidFill>
                          <a:latin typeface="Arial"/>
                          <a:ea typeface="Arial"/>
                          <a:cs typeface="Arial"/>
                        </a:rPr>
                        <a:t>Small feedforward experts</a:t>
                      </a:r>
                    </a:p>
                  </a:txBody>
                  <a:tcPr marL="91440" marR="91440" marT="45720" marB="45720">
                    <a:solidFill>
                      <a:srgbClr val="FFFFFF"/>
                    </a:solidFill>
                  </a:tcPr>
                </a:tc>
                <a:tc>
                  <a:txBody>
                    <a:bodyPr/>
                    <a:lstStyle/>
                    <a:p>
                      <a:r>
                        <a:rPr sz="1725" b="0">
                          <a:solidFill>
                            <a:srgbClr val="24384D"/>
                          </a:solidFill>
                          <a:latin typeface="Arial"/>
                          <a:ea typeface="Arial"/>
                          <a:cs typeface="Arial"/>
                        </a:rPr>
                        <a:t>Architecture and capacity comparisons remain inspectable.</a:t>
                      </a:r>
                    </a:p>
                  </a:txBody>
                  <a:tcPr marL="91440" marR="91440" marT="45720" marB="45720">
                    <a:solidFill>
                      <a:srgbClr val="FFFFFF"/>
                    </a:solidFill>
                  </a:tcPr>
                </a:tc>
              </a:tr>
              <a:tr h="685800">
                <a:tc>
                  <a:txBody>
                    <a:bodyPr/>
                    <a:lstStyle/>
                    <a:p>
                      <a:r>
                        <a:rPr sz="1725" b="0">
                          <a:solidFill>
                            <a:srgbClr val="24384D"/>
                          </a:solidFill>
                          <a:latin typeface="Arial"/>
                          <a:ea typeface="Arial"/>
                          <a:cs typeface="Arial"/>
                        </a:rPr>
                        <a:t>Dense, random and oracle controls</a:t>
                      </a:r>
                    </a:p>
                  </a:txBody>
                  <a:tcPr marL="91440" marR="91440" marT="45720" marB="45720">
                    <a:solidFill>
                      <a:srgbClr val="F0F4F7"/>
                    </a:solidFill>
                  </a:tcPr>
                </a:tc>
                <a:tc>
                  <a:txBody>
                    <a:bodyPr/>
                    <a:lstStyle/>
                    <a:p>
                      <a:r>
                        <a:rPr sz="1725" b="0">
                          <a:solidFill>
                            <a:srgbClr val="24384D"/>
                          </a:solidFill>
                          <a:latin typeface="Arial"/>
                          <a:ea typeface="Arial"/>
                          <a:cs typeface="Arial"/>
                        </a:rPr>
                        <a:t>Separate extra parameters, learned routing and privileged labels.</a:t>
                      </a:r>
                    </a:p>
                  </a:txBody>
                  <a:tcPr marL="91440" marR="91440" marT="45720" marB="45720">
                    <a:solidFill>
                      <a:srgbClr val="F0F4F7"/>
                    </a:solidFill>
                  </a:tcPr>
                </a:tc>
              </a:tr>
              <a:tr h="685800">
                <a:tc>
                  <a:txBody>
                    <a:bodyPr/>
                    <a:lstStyle/>
                    <a:p>
                      <a:r>
                        <a:rPr sz="1725" b="0">
                          <a:solidFill>
                            <a:srgbClr val="24384D"/>
                          </a:solidFill>
                          <a:latin typeface="Arial"/>
                          <a:ea typeface="Arial"/>
                          <a:cs typeface="Arial"/>
                        </a:rPr>
                        <a:t>Independent generated sequences</a:t>
                      </a:r>
                    </a:p>
                  </a:txBody>
                  <a:tcPr marL="91440" marR="91440" marT="45720" marB="45720">
                    <a:solidFill>
                      <a:srgbClr val="FFFFFF"/>
                    </a:solidFill>
                  </a:tcPr>
                </a:tc>
                <a:tc>
                  <a:txBody>
                    <a:bodyPr/>
                    <a:lstStyle/>
                    <a:p>
                      <a:r>
                        <a:rPr sz="1725" b="0">
                          <a:solidFill>
                            <a:srgbClr val="24384D"/>
                          </a:solidFill>
                          <a:latin typeface="Arial"/>
                          <a:ea typeface="Arial"/>
                          <a:cs typeface="Arial"/>
                        </a:rPr>
                        <a:t>Repeat the entire experiment across data and training seeds.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521159-304B-45BD-B03D-A005D4C5FA55}"/>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The contribution here is a reproducible experimental platform. Novelty and MoE superiority remain unproven.</a:t>
            </a:r>
          </a:p>
        </p:txBody>
      </p:sp>
    </p:spTree>
    <p:extLst>
      <p:ext uri="{BB962C8B-B14F-4D97-AF65-F5344CB8AC3E}">
        <p14:creationId xmlns:p14="http://schemas.microsoft.com/office/powerpoint/2010/main" val="18512296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10661B-83E9-46DA-932A-570B65C3380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5DA5F145-B0C2-40B4-BB76-7A04447B3546}"/>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Synthetic data generator</a:t>
            </a:r>
          </a:p>
        </p:txBody>
      </p:sp>
      <p:sp>
        <p:nvSpPr>
          <p:cNvPr id="3" name="">
            <a:extLst xmlns:a="http://schemas.openxmlformats.org/drawingml/2006/main">
              <a:ext uri="{FF2B5EF4-FFF2-40B4-BE49-F238E27FC236}">
                <a16:creationId xmlns:a16="http://schemas.microsoft.com/office/drawing/2014/main" id="{DEB17145-9C1C-458A-BBEF-70863D018E9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255432F-A3BF-4559-9662-B58F93B1C13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38402D1-F9E3-42A7-8F8F-3592359E0468}"/>
              </a:ext>
            </a:extLst>
          </p:cNvPr>
          <p:cNvSpPr>
            <a:spLocks xmlns:a="http://schemas.openxmlformats.org/drawingml/2006/main" noGrp="1"/>
          </p:cNvSpPr>
          <p:nvPr/>
        </p:nvSpPr>
        <p:spPr>
          <a:xfrm xmlns:a="http://schemas.openxmlformats.org/drawingml/2006/main">
            <a:off x="619125" y="18288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x(t + 1) = A[r(t)] x(t) + ε(t)</a:t>
            </a:r>
          </a:p>
        </p:txBody>
      </p:sp>
      <p:sp>
        <p:nvSpPr>
          <p:cNvPr id="6" name="">
            <a:extLst xmlns:a="http://schemas.openxmlformats.org/drawingml/2006/main">
              <a:ext uri="{FF2B5EF4-FFF2-40B4-BE49-F238E27FC236}">
                <a16:creationId xmlns:a16="http://schemas.microsoft.com/office/drawing/2014/main" id="{61D46D75-9074-482C-9392-FAD7FBD75D4B}"/>
              </a:ext>
            </a:extLst>
          </p:cNvPr>
          <p:cNvSpPr>
            <a:spLocks xmlns:a="http://schemas.openxmlformats.org/drawingml/2006/main" noGrp="1"/>
          </p:cNvSpPr>
          <p:nvPr/>
        </p:nvSpPr>
        <p:spPr>
          <a:xfrm xmlns:a="http://schemas.openxmlformats.org/drawingml/2006/main">
            <a:off x="619125" y="2714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4384D"/>
                </a:solidFill>
                <a:latin typeface="Arial"/>
                <a:ea typeface="Arial"/>
                <a:cs typeface="Arial"/>
              </a:defRPr>
            </a:defPPr>
          </a:lstStyle>
          <a:p xmlns:a="http://schemas.openxmlformats.org/drawingml/2006/main">
            <a:pPr>
              <a:defRPr sz="2175" b="0">
                <a:solidFill>
                  <a:srgbClr val="24384D"/>
                </a:solidFill>
                <a:latin typeface="Arial"/>
                <a:ea typeface="Arial"/>
                <a:cs typeface="Arial"/>
              </a:defRPr>
            </a:pPr>
            <a:r>
              <a:rPr sz="2175" b="0">
                <a:solidFill>
                  <a:srgbClr val="24384D"/>
                </a:solidFill>
                <a:latin typeface="Arial"/>
                <a:ea typeface="Arial"/>
                <a:cs typeface="Arial"/>
              </a:rPr>
              <a:t>x(t) ∈ ℝ⁴     r(t) ∈ {0, 1, 2}     ε(t) ~ N(0, 0.08² I)</a:t>
            </a:r>
          </a:p>
        </p:txBody>
      </p:sp>
      <p:sp>
        <p:nvSpPr>
          <p:cNvPr id="7" name="">
            <a:extLst xmlns:a="http://schemas.openxmlformats.org/drawingml/2006/main">
              <a:ext uri="{FF2B5EF4-FFF2-40B4-BE49-F238E27FC236}">
                <a16:creationId xmlns:a16="http://schemas.microsoft.com/office/drawing/2014/main" id="{38E2D330-6111-43DE-A078-2EE67E7BC711}"/>
              </a:ext>
            </a:extLst>
          </p:cNvPr>
          <p:cNvSpPr>
            <a:spLocks xmlns:a="http://schemas.openxmlformats.org/drawingml/2006/main" noGrp="1"/>
          </p:cNvSpPr>
          <p:nvPr/>
        </p:nvSpPr>
        <p:spPr>
          <a:xfrm xmlns:a="http://schemas.openxmlformats.org/drawingml/2006/main">
            <a:off x="571500" y="36195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Stable transition matrices</a:t>
            </a:r>
          </a:p>
        </p:txBody>
      </p:sp>
      <p:sp>
        <p:nvSpPr>
          <p:cNvPr id="8" name="">
            <a:extLst xmlns:a="http://schemas.openxmlformats.org/drawingml/2006/main">
              <a:ext uri="{FF2B5EF4-FFF2-40B4-BE49-F238E27FC236}">
                <a16:creationId xmlns:a16="http://schemas.microsoft.com/office/drawing/2014/main" id="{65D7B089-6DFA-4830-BF29-559B353B5123}"/>
              </a:ext>
            </a:extLst>
          </p:cNvPr>
          <p:cNvSpPr>
            <a:spLocks xmlns:a="http://schemas.openxmlformats.org/drawingml/2006/main" noGrp="1"/>
          </p:cNvSpPr>
          <p:nvPr/>
        </p:nvSpPr>
        <p:spPr>
          <a:xfrm xmlns:a="http://schemas.openxmlformats.org/drawingml/2006/main">
            <a:off x="571500" y="4019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A[r] = 0.94 · blockdiag(R(αr), R(βr)), with two planar rotations.</a:t>
            </a:r>
          </a:p>
        </p:txBody>
      </p:sp>
      <p:sp>
        <p:nvSpPr>
          <p:cNvPr id="9" name="">
            <a:extLst xmlns:a="http://schemas.openxmlformats.org/drawingml/2006/main">
              <a:ext uri="{FF2B5EF4-FFF2-40B4-BE49-F238E27FC236}">
                <a16:creationId xmlns:a16="http://schemas.microsoft.com/office/drawing/2014/main" id="{5B064638-B1AC-4DE6-886C-808CD0A0EEA3}"/>
              </a:ext>
            </a:extLst>
          </p:cNvPr>
          <p:cNvSpPr>
            <a:spLocks xmlns:a="http://schemas.openxmlformats.org/drawingml/2006/main" noGrp="1"/>
          </p:cNvSpPr>
          <p:nvPr/>
        </p:nvSpPr>
        <p:spPr>
          <a:xfrm xmlns:a="http://schemas.openxmlformats.org/drawingml/2006/main">
            <a:off x="571500" y="4857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Regime persistence</a:t>
            </a:r>
          </a:p>
        </p:txBody>
      </p:sp>
      <p:sp>
        <p:nvSpPr>
          <p:cNvPr id="10" name="">
            <a:extLst xmlns:a="http://schemas.openxmlformats.org/drawingml/2006/main">
              <a:ext uri="{FF2B5EF4-FFF2-40B4-BE49-F238E27FC236}">
                <a16:creationId xmlns:a16="http://schemas.microsoft.com/office/drawing/2014/main" id="{0E173A84-47CD-473E-91D2-AE83A568A930}"/>
              </a:ext>
            </a:extLst>
          </p:cNvPr>
          <p:cNvSpPr>
            <a:spLocks xmlns:a="http://schemas.openxmlformats.org/drawingml/2006/main" noGrp="1"/>
          </p:cNvSpPr>
          <p:nvPr/>
        </p:nvSpPr>
        <p:spPr>
          <a:xfrm xmlns:a="http://schemas.openxmlformats.org/drawingml/2006/main">
            <a:off x="571500" y="5257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P(stay) = 0.95. Each alternative receives probability 0.025. Mean regime duration is 20 steps.</a:t>
            </a:r>
          </a:p>
        </p:txBody>
      </p:sp>
    </p:spTree>
    <p:extLst>
      <p:ext uri="{BB962C8B-B14F-4D97-AF65-F5344CB8AC3E}">
        <p14:creationId xmlns:p14="http://schemas.microsoft.com/office/powerpoint/2010/main" val="6932506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8E5F6C-B2B5-49EB-8B61-DD97F7F6A9A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E44667F8-CD87-4EC2-B6AB-08EDC558C37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Example generated sequence</a:t>
            </a:r>
          </a:p>
        </p:txBody>
      </p:sp>
      <p:sp>
        <p:nvSpPr>
          <p:cNvPr id="3" name="">
            <a:extLst xmlns:a="http://schemas.openxmlformats.org/drawingml/2006/main">
              <a:ext uri="{FF2B5EF4-FFF2-40B4-BE49-F238E27FC236}">
                <a16:creationId xmlns:a16="http://schemas.microsoft.com/office/drawing/2014/main" id="{082E27CF-2B8A-48EF-A784-1EE44BCAF90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C05C1CA-E56E-44CE-BD99-B300CC3C84B4}"/>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039D84C9-FCA5-453E-BF49-65C79C5E1FBD}"/>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1aae75450748410a"/>
          </a:graphicData>
        </a:graphic>
      </p:graphicFrame>
      <p:sp>
        <p:nvSpPr>
          <p:cNvPr id="6" name="">
            <a:extLst xmlns:a="http://schemas.openxmlformats.org/drawingml/2006/main">
              <a:ext uri="{FF2B5EF4-FFF2-40B4-BE49-F238E27FC236}">
                <a16:creationId xmlns:a16="http://schemas.microsoft.com/office/drawing/2014/main" id="{9D2A4839-25FC-4629-8519-224F53BD3A71}"/>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Actual training sequence, seed 7. Noise and hidden rule changes both affect the observations.</a:t>
            </a:r>
          </a:p>
        </p:txBody>
      </p:sp>
    </p:spTree>
    <p:extLst>
      <p:ext uri="{BB962C8B-B14F-4D97-AF65-F5344CB8AC3E}">
        <p14:creationId xmlns:p14="http://schemas.microsoft.com/office/powerpoint/2010/main" val="20912095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F2CC69-E387-459E-8AF7-04A4243EF92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4CC9BB79-F8DC-48C2-BB09-920F15D9FB25}"/>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Dataset partitions and causal windows</a:t>
            </a:r>
          </a:p>
        </p:txBody>
      </p:sp>
      <p:sp>
        <p:nvSpPr>
          <p:cNvPr id="3" name="">
            <a:extLst xmlns:a="http://schemas.openxmlformats.org/drawingml/2006/main">
              <a:ext uri="{FF2B5EF4-FFF2-40B4-BE49-F238E27FC236}">
                <a16:creationId xmlns:a16="http://schemas.microsoft.com/office/drawing/2014/main" id="{FE9BBD3A-B1B9-4F3A-BD85-86725FF8456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BED206F-C9DA-4AC8-A8BB-D4BF1E4BD593}"/>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18740532-6DA6-4E7B-8BDB-BB144DA86304}"/>
              </a:ext>
            </a:extLst>
          </p:cNvPr>
          <p:cNvGraphicFramePr/>
          <p:nvPr/>
        </p:nvGraphicFramePr>
        <p:xfrm>
          <a:off xmlns:a="http://schemas.openxmlformats.org/drawingml/2006/main" x="571500" y="1762125"/>
          <a:ext xmlns:a="http://schemas.openxmlformats.org/drawingml/2006/main" cx="11049000" cy="2762250"/>
        </p:xfrm>
        <a:graphic xmlns:a="http://schemas.openxmlformats.org/drawingml/2006/main">
          <a:graphicData uri="http://schemas.openxmlformats.org/drawingml/2006/table">
            <a:tbl>
              <a:tblPr/>
              <a:tblGrid>
                <a:gridCol w="2524125"/>
                <a:gridCol w="1809750"/>
                <a:gridCol w="3143250"/>
                <a:gridCol w="3571875"/>
              </a:tblGrid>
              <a:tr h="690563">
                <a:tc>
                  <a:txBody>
                    <a:bodyPr/>
                    <a:lstStyle/>
                    <a:p>
                      <a:r>
                        <a:rPr sz="1725" b="1">
                          <a:solidFill>
                            <a:srgbClr val="FFFFFF"/>
                          </a:solidFill>
                          <a:latin typeface="Arial"/>
                          <a:ea typeface="Arial"/>
                          <a:cs typeface="Arial"/>
                        </a:rPr>
                        <a:t>Partition</a:t>
                      </a:r>
                    </a:p>
                  </a:txBody>
                  <a:tcPr marL="91440" marR="91440" marT="45720" marB="45720">
                    <a:solidFill>
                      <a:srgbClr val="152B45"/>
                    </a:solidFill>
                  </a:tcPr>
                </a:tc>
                <a:tc>
                  <a:txBody>
                    <a:bodyPr/>
                    <a:lstStyle/>
                    <a:p>
                      <a:r>
                        <a:rPr sz="1725" b="1">
                          <a:solidFill>
                            <a:srgbClr val="FFFFFF"/>
                          </a:solidFill>
                          <a:latin typeface="Arial"/>
                          <a:ea typeface="Arial"/>
                          <a:cs typeface="Arial"/>
                        </a:rPr>
                        <a:t>Sequences</a:t>
                      </a:r>
                    </a:p>
                  </a:txBody>
                  <a:tcPr marL="91440" marR="91440" marT="45720" marB="45720">
                    <a:solidFill>
                      <a:srgbClr val="152B45"/>
                    </a:solidFill>
                  </a:tcPr>
                </a:tc>
                <a:tc>
                  <a:txBody>
                    <a:bodyPr/>
                    <a:lstStyle/>
                    <a:p>
                      <a:r>
                        <a:rPr sz="1725" b="1">
                          <a:solidFill>
                            <a:srgbClr val="FFFFFF"/>
                          </a:solidFill>
                          <a:latin typeface="Arial"/>
                          <a:ea typeface="Arial"/>
                          <a:cs typeface="Arial"/>
                        </a:rPr>
                        <a:t>States per sequence</a:t>
                      </a:r>
                    </a:p>
                  </a:txBody>
                  <a:tcPr marL="91440" marR="91440" marT="45720" marB="45720">
                    <a:solidFill>
                      <a:srgbClr val="152B45"/>
                    </a:solidFill>
                  </a:tcPr>
                </a:tc>
                <a:tc>
                  <a:txBody>
                    <a:bodyPr/>
                    <a:lstStyle/>
                    <a:p>
                      <a:r>
                        <a:rPr sz="1725" b="1">
                          <a:solidFill>
                            <a:srgbClr val="FFFFFF"/>
                          </a:solidFill>
                          <a:latin typeface="Arial"/>
                          <a:ea typeface="Arial"/>
                          <a:cs typeface="Arial"/>
                        </a:rPr>
                        <a:t>Prediction windows</a:t>
                      </a:r>
                    </a:p>
                  </a:txBody>
                  <a:tcPr marL="91440" marR="91440" marT="45720" marB="45720">
                    <a:solidFill>
                      <a:srgbClr val="152B45"/>
                    </a:solidFill>
                  </a:tcPr>
                </a:tc>
              </a:tr>
              <a:tr h="690563">
                <a:tc>
                  <a:txBody>
                    <a:bodyPr/>
                    <a:lstStyle/>
                    <a:p>
                      <a:r>
                        <a:rPr sz="1725" b="0">
                          <a:solidFill>
                            <a:srgbClr val="24384D"/>
                          </a:solidFill>
                          <a:latin typeface="Arial"/>
                          <a:ea typeface="Arial"/>
                          <a:cs typeface="Arial"/>
                        </a:rPr>
                        <a:t>Training</a:t>
                      </a:r>
                    </a:p>
                  </a:txBody>
                  <a:tcPr marL="91440" marR="91440" marT="45720" marB="45720">
                    <a:solidFill>
                      <a:srgbClr val="F0F4F7"/>
                    </a:solidFill>
                  </a:tcPr>
                </a:tc>
                <a:tc>
                  <a:txBody>
                    <a:bodyPr/>
                    <a:lstStyle/>
                    <a:p>
                      <a:r>
                        <a:rPr sz="1725" b="0">
                          <a:solidFill>
                            <a:srgbClr val="24384D"/>
                          </a:solidFill>
                          <a:latin typeface="Arial"/>
                          <a:ea typeface="Arial"/>
                          <a:cs typeface="Arial"/>
                        </a:rPr>
                        <a:t>256</a:t>
                      </a:r>
                    </a:p>
                  </a:txBody>
                  <a:tcPr marL="91440" marR="91440" marT="45720" marB="45720">
                    <a:solidFill>
                      <a:srgbClr val="F0F4F7"/>
                    </a:solidFill>
                  </a:tcPr>
                </a:tc>
                <a:tc>
                  <a:txBody>
                    <a:bodyPr/>
                    <a:lstStyle/>
                    <a:p>
                      <a:r>
                        <a:rPr sz="1725" b="0">
                          <a:solidFill>
                            <a:srgbClr val="24384D"/>
                          </a:solidFill>
                          <a:latin typeface="Arial"/>
                          <a:ea typeface="Arial"/>
                          <a:cs typeface="Arial"/>
                        </a:rPr>
                        <a:t>193 × 4</a:t>
                      </a:r>
                    </a:p>
                  </a:txBody>
                  <a:tcPr marL="91440" marR="91440" marT="45720" marB="45720">
                    <a:solidFill>
                      <a:srgbClr val="F0F4F7"/>
                    </a:solidFill>
                  </a:tcPr>
                </a:tc>
                <a:tc>
                  <a:txBody>
                    <a:bodyPr/>
                    <a:lstStyle/>
                    <a:p>
                      <a:r>
                        <a:rPr sz="1725" b="0">
                          <a:solidFill>
                            <a:srgbClr val="24384D"/>
                          </a:solidFill>
                          <a:latin typeface="Arial"/>
                          <a:ea typeface="Arial"/>
                          <a:cs typeface="Arial"/>
                        </a:rPr>
                        <a:t>47,360</a:t>
                      </a:r>
                    </a:p>
                  </a:txBody>
                  <a:tcPr marL="91440" marR="91440" marT="45720" marB="45720">
                    <a:solidFill>
                      <a:srgbClr val="F0F4F7"/>
                    </a:solidFill>
                  </a:tcPr>
                </a:tc>
              </a:tr>
              <a:tr h="690563">
                <a:tc>
                  <a:txBody>
                    <a:bodyPr/>
                    <a:lstStyle/>
                    <a:p>
                      <a:r>
                        <a:rPr sz="1725" b="0">
                          <a:solidFill>
                            <a:srgbClr val="24384D"/>
                          </a:solidFill>
                          <a:latin typeface="Arial"/>
                          <a:ea typeface="Arial"/>
                          <a:cs typeface="Arial"/>
                        </a:rPr>
                        <a:t>Validation</a:t>
                      </a:r>
                    </a:p>
                  </a:txBody>
                  <a:tcPr marL="91440" marR="91440" marT="45720" marB="45720">
                    <a:solidFill>
                      <a:srgbClr val="FFFFFF"/>
                    </a:solidFill>
                  </a:tcPr>
                </a:tc>
                <a:tc>
                  <a:txBody>
                    <a:bodyPr/>
                    <a:lstStyle/>
                    <a:p>
                      <a:r>
                        <a:rPr sz="1725" b="0">
                          <a:solidFill>
                            <a:srgbClr val="24384D"/>
                          </a:solidFill>
                          <a:latin typeface="Arial"/>
                          <a:ea typeface="Arial"/>
                          <a:cs typeface="Arial"/>
                        </a:rPr>
                        <a:t>64</a:t>
                      </a:r>
                    </a:p>
                  </a:txBody>
                  <a:tcPr marL="91440" marR="91440" marT="45720" marB="45720">
                    <a:solidFill>
                      <a:srgbClr val="FFFFFF"/>
                    </a:solidFill>
                  </a:tcPr>
                </a:tc>
                <a:tc>
                  <a:txBody>
                    <a:bodyPr/>
                    <a:lstStyle/>
                    <a:p>
                      <a:r>
                        <a:rPr sz="1725" b="0">
                          <a:solidFill>
                            <a:srgbClr val="24384D"/>
                          </a:solidFill>
                          <a:latin typeface="Arial"/>
                          <a:ea typeface="Arial"/>
                          <a:cs typeface="Arial"/>
                        </a:rPr>
                        <a:t>193 × 4</a:t>
                      </a:r>
                    </a:p>
                  </a:txBody>
                  <a:tcPr marL="91440" marR="91440" marT="45720" marB="45720">
                    <a:solidFill>
                      <a:srgbClr val="FFFFFF"/>
                    </a:solidFill>
                  </a:tcPr>
                </a:tc>
                <a:tc>
                  <a:txBody>
                    <a:bodyPr/>
                    <a:lstStyle/>
                    <a:p>
                      <a:r>
                        <a:rPr sz="1725" b="0">
                          <a:solidFill>
                            <a:srgbClr val="24384D"/>
                          </a:solidFill>
                          <a:latin typeface="Arial"/>
                          <a:ea typeface="Arial"/>
                          <a:cs typeface="Arial"/>
                        </a:rPr>
                        <a:t>11,840</a:t>
                      </a:r>
                    </a:p>
                  </a:txBody>
                  <a:tcPr marL="91440" marR="91440" marT="45720" marB="45720">
                    <a:solidFill>
                      <a:srgbClr val="FFFFFF"/>
                    </a:solidFill>
                  </a:tcPr>
                </a:tc>
              </a:tr>
              <a:tr h="690563">
                <a:tc>
                  <a:txBody>
                    <a:bodyPr/>
                    <a:lstStyle/>
                    <a:p>
                      <a:r>
                        <a:rPr sz="1725" b="0">
                          <a:solidFill>
                            <a:srgbClr val="24384D"/>
                          </a:solidFill>
                          <a:latin typeface="Arial"/>
                          <a:ea typeface="Arial"/>
                          <a:cs typeface="Arial"/>
                        </a:rPr>
                        <a:t>Test</a:t>
                      </a:r>
                    </a:p>
                  </a:txBody>
                  <a:tcPr marL="91440" marR="91440" marT="45720" marB="45720">
                    <a:solidFill>
                      <a:srgbClr val="F0F4F7"/>
                    </a:solidFill>
                  </a:tcPr>
                </a:tc>
                <a:tc>
                  <a:txBody>
                    <a:bodyPr/>
                    <a:lstStyle/>
                    <a:p>
                      <a:r>
                        <a:rPr sz="1725" b="0">
                          <a:solidFill>
                            <a:srgbClr val="24384D"/>
                          </a:solidFill>
                          <a:latin typeface="Arial"/>
                          <a:ea typeface="Arial"/>
                          <a:cs typeface="Arial"/>
                        </a:rPr>
                        <a:t>64</a:t>
                      </a:r>
                    </a:p>
                  </a:txBody>
                  <a:tcPr marL="91440" marR="91440" marT="45720" marB="45720">
                    <a:solidFill>
                      <a:srgbClr val="F0F4F7"/>
                    </a:solidFill>
                  </a:tcPr>
                </a:tc>
                <a:tc>
                  <a:txBody>
                    <a:bodyPr/>
                    <a:lstStyle/>
                    <a:p>
                      <a:r>
                        <a:rPr sz="1725" b="0">
                          <a:solidFill>
                            <a:srgbClr val="24384D"/>
                          </a:solidFill>
                          <a:latin typeface="Arial"/>
                          <a:ea typeface="Arial"/>
                          <a:cs typeface="Arial"/>
                        </a:rPr>
                        <a:t>193 × 4</a:t>
                      </a:r>
                    </a:p>
                  </a:txBody>
                  <a:tcPr marL="91440" marR="91440" marT="45720" marB="45720">
                    <a:solidFill>
                      <a:srgbClr val="F0F4F7"/>
                    </a:solidFill>
                  </a:tcPr>
                </a:tc>
                <a:tc>
                  <a:txBody>
                    <a:bodyPr/>
                    <a:lstStyle/>
                    <a:p>
                      <a:r>
                        <a:rPr sz="1725" b="0">
                          <a:solidFill>
                            <a:srgbClr val="24384D"/>
                          </a:solidFill>
                          <a:latin typeface="Arial"/>
                          <a:ea typeface="Arial"/>
                          <a:cs typeface="Arial"/>
                        </a:rPr>
                        <a:t>11,840</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EBAAB3C3-2E5B-4155-B511-A695704E174C}"/>
              </a:ext>
            </a:extLst>
          </p:cNvPr>
          <p:cNvSpPr>
            <a:spLocks xmlns:a="http://schemas.openxmlformats.org/drawingml/2006/main" noGrp="1"/>
          </p:cNvSpPr>
          <p:nvPr/>
        </p:nvSpPr>
        <p:spPr>
          <a:xfrm xmlns:a="http://schemas.openxmlformats.org/drawingml/2006/main">
            <a:off x="571500" y="4857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One input and one target</a:t>
            </a:r>
          </a:p>
        </p:txBody>
      </p:sp>
      <p:sp>
        <p:nvSpPr>
          <p:cNvPr id="7" name="">
            <a:extLst xmlns:a="http://schemas.openxmlformats.org/drawingml/2006/main">
              <a:ext uri="{FF2B5EF4-FFF2-40B4-BE49-F238E27FC236}">
                <a16:creationId xmlns:a16="http://schemas.microsoft.com/office/drawing/2014/main" id="{926F83A7-CD78-4868-9605-C50D51C53E6E}"/>
              </a:ext>
            </a:extLst>
          </p:cNvPr>
          <p:cNvSpPr>
            <a:spLocks xmlns:a="http://schemas.openxmlformats.org/drawingml/2006/main" noGrp="1"/>
          </p:cNvSpPr>
          <p:nvPr/>
        </p:nvSpPr>
        <p:spPr>
          <a:xfrm xmlns:a="http://schemas.openxmlformats.org/drawingml/2006/main">
            <a:off x="571500" y="5257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Eight observed states become 32 input values. The target is the next four-dimensional state.</a:t>
            </a:r>
          </a:p>
        </p:txBody>
      </p:sp>
    </p:spTree>
    <p:extLst>
      <p:ext uri="{BB962C8B-B14F-4D97-AF65-F5344CB8AC3E}">
        <p14:creationId xmlns:p14="http://schemas.microsoft.com/office/powerpoint/2010/main" val="21165612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380DBE-F1E9-4CFB-B95C-083B0817A3A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7F5252FB-120A-45AC-8BEA-9CC584255236}"/>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Preprocessing and information boundaries</a:t>
            </a:r>
          </a:p>
        </p:txBody>
      </p:sp>
      <p:sp>
        <p:nvSpPr>
          <p:cNvPr id="3" name="">
            <a:extLst xmlns:a="http://schemas.openxmlformats.org/drawingml/2006/main">
              <a:ext uri="{FF2B5EF4-FFF2-40B4-BE49-F238E27FC236}">
                <a16:creationId xmlns:a16="http://schemas.microsoft.com/office/drawing/2014/main" id="{21803602-9DF3-43F0-B02C-1B74B7DA6E51}"/>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66E3ABE-3432-4AB5-BC19-9DA87C60084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48344966-5405-4F2B-91DC-CE607F262DDD}"/>
              </a:ext>
            </a:extLst>
          </p:cNvPr>
          <p:cNvSpPr>
            <a:spLocks xmlns:a="http://schemas.openxmlformats.org/drawingml/2006/main" noGrp="1"/>
          </p:cNvSpPr>
          <p:nvPr/>
        </p:nvSpPr>
        <p:spPr>
          <a:xfrm xmlns:a="http://schemas.openxmlformats.org/drawingml/2006/main">
            <a:off x="571500" y="17907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Training-only normalization</a:t>
            </a:r>
          </a:p>
        </p:txBody>
      </p:sp>
      <p:sp>
        <p:nvSpPr>
          <p:cNvPr id="6" name="">
            <a:extLst xmlns:a="http://schemas.openxmlformats.org/drawingml/2006/main">
              <a:ext uri="{FF2B5EF4-FFF2-40B4-BE49-F238E27FC236}">
                <a16:creationId xmlns:a16="http://schemas.microsoft.com/office/drawing/2014/main" id="{1AAB37A6-FB32-4AB6-9A34-322D7C5EA2F9}"/>
              </a:ext>
            </a:extLst>
          </p:cNvPr>
          <p:cNvSpPr>
            <a:spLocks xmlns:a="http://schemas.openxmlformats.org/drawingml/2006/main" noGrp="1"/>
          </p:cNvSpPr>
          <p:nvPr/>
        </p:nvSpPr>
        <p:spPr>
          <a:xfrm xmlns:a="http://schemas.openxmlformats.org/drawingml/2006/main">
            <a:off x="571500" y="2190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Estimate four means and standard deviations from training states. Apply the same transform to validation and test histories and targets.</a:t>
            </a:r>
          </a:p>
        </p:txBody>
      </p:sp>
      <p:sp>
        <p:nvSpPr>
          <p:cNvPr id="7" name="">
            <a:extLst xmlns:a="http://schemas.openxmlformats.org/drawingml/2006/main">
              <a:ext uri="{FF2B5EF4-FFF2-40B4-BE49-F238E27FC236}">
                <a16:creationId xmlns:a16="http://schemas.microsoft.com/office/drawing/2014/main" id="{F6A68DBD-855D-4D11-A482-371DE5484AC3}"/>
              </a:ext>
            </a:extLst>
          </p:cNvPr>
          <p:cNvSpPr>
            <a:spLocks xmlns:a="http://schemas.openxmlformats.org/drawingml/2006/main" noGrp="1"/>
          </p:cNvSpPr>
          <p:nvPr/>
        </p:nvSpPr>
        <p:spPr>
          <a:xfrm xmlns:a="http://schemas.openxmlformats.org/drawingml/2006/main">
            <a:off x="571500" y="3143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Regime-label boundary</a:t>
            </a:r>
          </a:p>
        </p:txBody>
      </p:sp>
      <p:sp>
        <p:nvSpPr>
          <p:cNvPr id="8" name="">
            <a:extLst xmlns:a="http://schemas.openxmlformats.org/drawingml/2006/main">
              <a:ext uri="{FF2B5EF4-FFF2-40B4-BE49-F238E27FC236}">
                <a16:creationId xmlns:a16="http://schemas.microsoft.com/office/drawing/2014/main" id="{F2089EB4-9002-447F-8281-F30D0E72616F}"/>
              </a:ext>
            </a:extLst>
          </p:cNvPr>
          <p:cNvSpPr>
            <a:spLocks xmlns:a="http://schemas.openxmlformats.org/drawingml/2006/main" noGrp="1"/>
          </p:cNvSpPr>
          <p:nvPr/>
        </p:nvSpPr>
        <p:spPr>
          <a:xfrm xmlns:a="http://schemas.openxmlformats.org/drawingml/2006/main">
            <a:off x="571500" y="35433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Only the oracle receives the target transition’s true regime. Learned, random and dense models use observed histories only.</a:t>
            </a:r>
          </a:p>
        </p:txBody>
      </p:sp>
      <p:sp>
        <p:nvSpPr>
          <p:cNvPr id="9" name="">
            <a:extLst xmlns:a="http://schemas.openxmlformats.org/drawingml/2006/main">
              <a:ext uri="{FF2B5EF4-FFF2-40B4-BE49-F238E27FC236}">
                <a16:creationId xmlns:a16="http://schemas.microsoft.com/office/drawing/2014/main" id="{F0E1675B-50C7-4474-A3C6-68F0CCDFE147}"/>
              </a:ext>
            </a:extLst>
          </p:cNvPr>
          <p:cNvSpPr>
            <a:spLocks xmlns:a="http://schemas.openxmlformats.org/drawingml/2006/main" noGrp="1"/>
          </p:cNvSpPr>
          <p:nvPr/>
        </p:nvSpPr>
        <p:spPr>
          <a:xfrm xmlns:a="http://schemas.openxmlformats.org/drawingml/2006/main">
            <a:off x="571500" y="44958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Causal uncertainty at a switch</a:t>
            </a:r>
          </a:p>
        </p:txBody>
      </p:sp>
      <p:sp>
        <p:nvSpPr>
          <p:cNvPr id="10" name="">
            <a:extLst xmlns:a="http://schemas.openxmlformats.org/drawingml/2006/main">
              <a:ext uri="{FF2B5EF4-FFF2-40B4-BE49-F238E27FC236}">
                <a16:creationId xmlns:a16="http://schemas.microsoft.com/office/drawing/2014/main" id="{B556AA78-67A3-4CF3-8C89-98576108AB05}"/>
              </a:ext>
            </a:extLst>
          </p:cNvPr>
          <p:cNvSpPr>
            <a:spLocks xmlns:a="http://schemas.openxmlformats.org/drawingml/2006/main" noGrp="1"/>
          </p:cNvSpPr>
          <p:nvPr/>
        </p:nvSpPr>
        <p:spPr>
          <a:xfrm xmlns:a="http://schemas.openxmlformats.org/drawingml/2006/main">
            <a:off x="571500" y="48958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The next transition can change regime before its consequence becomes visible. Immediate switch errors therefore include genuine uncertainty.</a:t>
            </a:r>
          </a:p>
        </p:txBody>
      </p:sp>
    </p:spTree>
    <p:extLst>
      <p:ext uri="{BB962C8B-B14F-4D97-AF65-F5344CB8AC3E}">
        <p14:creationId xmlns:p14="http://schemas.microsoft.com/office/powerpoint/2010/main" val="19938196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F5CB49A-E7FB-407B-80A1-88C21A363FD0}"/>
              </a:ext>
            </a:extLst>
          </p:cNvPr>
          <p:cNvCxnSpPr>
            <a:stCxn xmlns:a="http://schemas.openxmlformats.org/drawingml/2006/main" id="9" idx="3"/>
            <a:endCxn xmlns:a="http://schemas.openxmlformats.org/drawingml/2006/main" id="10" idx="1"/>
          </p:cNvCxnSpPr>
          <p:nvPr/>
        </p:nvCxnSpPr>
        <p:spPr>
          <a:xfrm xmlns:a="http://schemas.openxmlformats.org/drawingml/2006/main" flipV="1">
            <a:off x="8953500" y="3643313"/>
            <a:ext cx="762000" cy="95250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6" name="">
            <a:extLst xmlns:a="http://schemas.openxmlformats.org/drawingml/2006/main">
              <a:ext uri="{FF2B5EF4-FFF2-40B4-BE49-F238E27FC236}">
                <a16:creationId xmlns:a16="http://schemas.microsoft.com/office/drawing/2014/main" id="{E8BC430F-9870-4662-892E-256A42C0945E}"/>
              </a:ext>
            </a:extLst>
          </p:cNvPr>
          <p:cNvCxnSpPr>
            <a:stCxn xmlns:a="http://schemas.openxmlformats.org/drawingml/2006/main" id="6" idx="3"/>
            <a:endCxn xmlns:a="http://schemas.openxmlformats.org/drawingml/2006/main" id="9" idx="1"/>
          </p:cNvCxnSpPr>
          <p:nvPr/>
        </p:nvCxnSpPr>
        <p:spPr>
          <a:xfrm xmlns:a="http://schemas.openxmlformats.org/drawingml/2006/main">
            <a:off x="5619750" y="2190750"/>
            <a:ext cx="571500" cy="2405063"/>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5" name="">
            <a:extLst xmlns:a="http://schemas.openxmlformats.org/drawingml/2006/main">
              <a:ext uri="{FF2B5EF4-FFF2-40B4-BE49-F238E27FC236}">
                <a16:creationId xmlns:a16="http://schemas.microsoft.com/office/drawing/2014/main" id="{5813A9EC-3856-4151-BAC4-C65086635A46}"/>
              </a:ext>
            </a:extLst>
          </p:cNvPr>
          <p:cNvCxnSpPr>
            <a:stCxn xmlns:a="http://schemas.openxmlformats.org/drawingml/2006/main" id="8" idx="3"/>
            <a:endCxn xmlns:a="http://schemas.openxmlformats.org/drawingml/2006/main" id="10" idx="1"/>
          </p:cNvCxnSpPr>
          <p:nvPr/>
        </p:nvCxnSpPr>
        <p:spPr>
          <a:xfrm xmlns:a="http://schemas.openxmlformats.org/drawingml/2006/main">
            <a:off x="8953500" y="3405188"/>
            <a:ext cx="762000" cy="238125"/>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4" name="">
            <a:extLst xmlns:a="http://schemas.openxmlformats.org/drawingml/2006/main">
              <a:ext uri="{FF2B5EF4-FFF2-40B4-BE49-F238E27FC236}">
                <a16:creationId xmlns:a16="http://schemas.microsoft.com/office/drawing/2014/main" id="{DB107E05-4E41-437D-9A9F-33EB4820149E}"/>
              </a:ext>
            </a:extLst>
          </p:cNvPr>
          <p:cNvCxnSpPr>
            <a:stCxn xmlns:a="http://schemas.openxmlformats.org/drawingml/2006/main" id="6" idx="3"/>
            <a:endCxn xmlns:a="http://schemas.openxmlformats.org/drawingml/2006/main" id="8" idx="1"/>
          </p:cNvCxnSpPr>
          <p:nvPr/>
        </p:nvCxnSpPr>
        <p:spPr>
          <a:xfrm xmlns:a="http://schemas.openxmlformats.org/drawingml/2006/main">
            <a:off x="5619750" y="2190750"/>
            <a:ext cx="571500" cy="1214438"/>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3" name="">
            <a:extLst xmlns:a="http://schemas.openxmlformats.org/drawingml/2006/main">
              <a:ext uri="{FF2B5EF4-FFF2-40B4-BE49-F238E27FC236}">
                <a16:creationId xmlns:a16="http://schemas.microsoft.com/office/drawing/2014/main" id="{56502188-FE06-41A8-A058-783C14EAB638}"/>
              </a:ext>
            </a:extLst>
          </p:cNvPr>
          <p:cNvCxnSpPr>
            <a:stCxn xmlns:a="http://schemas.openxmlformats.org/drawingml/2006/main" id="7" idx="3"/>
            <a:endCxn xmlns:a="http://schemas.openxmlformats.org/drawingml/2006/main" id="10" idx="1"/>
          </p:cNvCxnSpPr>
          <p:nvPr/>
        </p:nvCxnSpPr>
        <p:spPr>
          <a:xfrm xmlns:a="http://schemas.openxmlformats.org/drawingml/2006/main">
            <a:off x="8953500" y="2214563"/>
            <a:ext cx="762000" cy="142875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2" name="">
            <a:extLst xmlns:a="http://schemas.openxmlformats.org/drawingml/2006/main">
              <a:ext uri="{FF2B5EF4-FFF2-40B4-BE49-F238E27FC236}">
                <a16:creationId xmlns:a16="http://schemas.microsoft.com/office/drawing/2014/main" id="{0F93615A-A019-4674-B3F7-E8684D5BB0B0}"/>
              </a:ext>
            </a:extLst>
          </p:cNvPr>
          <p:cNvCxnSpPr>
            <a:stCxn xmlns:a="http://schemas.openxmlformats.org/drawingml/2006/main" id="6" idx="3"/>
            <a:endCxn xmlns:a="http://schemas.openxmlformats.org/drawingml/2006/main" id="7" idx="1"/>
          </p:cNvCxnSpPr>
          <p:nvPr/>
        </p:nvCxnSpPr>
        <p:spPr>
          <a:xfrm xmlns:a="http://schemas.openxmlformats.org/drawingml/2006/main">
            <a:off x="5619750" y="2190750"/>
            <a:ext cx="571500" cy="23813"/>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1" name="">
            <a:extLst xmlns:a="http://schemas.openxmlformats.org/drawingml/2006/main">
              <a:ext uri="{FF2B5EF4-FFF2-40B4-BE49-F238E27FC236}">
                <a16:creationId xmlns:a16="http://schemas.microsoft.com/office/drawing/2014/main" id="{74A805CB-5555-46F2-98C6-F8747F050C2C}"/>
              </a:ext>
            </a:extLst>
          </p:cNvPr>
          <p:cNvCxnSpPr>
            <a:stCxn xmlns:a="http://schemas.openxmlformats.org/drawingml/2006/main" id="5" idx="3"/>
            <a:endCxn xmlns:a="http://schemas.openxmlformats.org/drawingml/2006/main" id="6" idx="1"/>
          </p:cNvCxnSpPr>
          <p:nvPr/>
        </p:nvCxnSpPr>
        <p:spPr>
          <a:xfrm xmlns:a="http://schemas.openxmlformats.org/drawingml/2006/main" flipV="1">
            <a:off x="2619375" y="2190750"/>
            <a:ext cx="523875" cy="1423988"/>
          </a:xfrm>
          <a:prstGeom xmlns:a="http://schemas.openxmlformats.org/drawingml/2006/main" prst="straightConnector1">
            <a:avLst/>
          </a:prstGeom>
          <a:ln xmlns:a="http://schemas.openxmlformats.org/drawingml/2006/main" w="19050">
            <a:solidFill>
              <a:srgbClr val="607083"/>
            </a:solidFill>
            <a:tailEnd type="arrow" w="med" len="med"/>
          </a:ln>
        </p:spPr>
      </p:cxnSp>
      <p:sp>
        <p:nvSpPr>
          <p:cNvPr id="19" name="">
            <a:extLst xmlns:a="http://schemas.openxmlformats.org/drawingml/2006/main">
              <a:ext uri="{FF2B5EF4-FFF2-40B4-BE49-F238E27FC236}">
                <a16:creationId xmlns:a16="http://schemas.microsoft.com/office/drawing/2014/main" id="{F4DBB0C3-B2A1-48D4-A50E-E93AD9F913C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BCBB016D-A1ED-466A-B4FB-8BF263CDC3CF}"/>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Model architecture</a:t>
            </a:r>
          </a:p>
        </p:txBody>
      </p:sp>
      <p:sp>
        <p:nvSpPr>
          <p:cNvPr id="3" name="">
            <a:extLst xmlns:a="http://schemas.openxmlformats.org/drawingml/2006/main">
              <a:ext uri="{FF2B5EF4-FFF2-40B4-BE49-F238E27FC236}">
                <a16:creationId xmlns:a16="http://schemas.microsoft.com/office/drawing/2014/main" id="{11F984E2-0F95-4AA0-A53F-B9CF656C96E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34C760B-453A-4F3B-AF5E-C772EDD6ACA1}"/>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C37450D-EE97-4E99-BE66-C6CCD6E22297}"/>
              </a:ext>
            </a:extLst>
          </p:cNvPr>
          <p:cNvSpPr>
            <a:spLocks xmlns:a="http://schemas.openxmlformats.org/drawingml/2006/main" noGrp="1"/>
          </p:cNvSpPr>
          <p:nvPr/>
        </p:nvSpPr>
        <p:spPr>
          <a:xfrm xmlns:a="http://schemas.openxmlformats.org/drawingml/2006/main">
            <a:off x="571500" y="3162300"/>
            <a:ext cx="2047875" cy="90487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8 observed states</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values</a:t>
            </a:r>
          </a:p>
        </p:txBody>
      </p:sp>
      <p:sp>
        <p:nvSpPr>
          <p:cNvPr id="6" name="">
            <a:extLst xmlns:a="http://schemas.openxmlformats.org/drawingml/2006/main">
              <a:ext uri="{FF2B5EF4-FFF2-40B4-BE49-F238E27FC236}">
                <a16:creationId xmlns:a16="http://schemas.microsoft.com/office/drawing/2014/main" id="{685AB2C8-9EF7-4617-BA85-512189A6FC2F}"/>
              </a:ext>
            </a:extLst>
          </p:cNvPr>
          <p:cNvSpPr>
            <a:spLocks xmlns:a="http://schemas.openxmlformats.org/drawingml/2006/main" noGrp="1"/>
          </p:cNvSpPr>
          <p:nvPr/>
        </p:nvSpPr>
        <p:spPr>
          <a:xfrm xmlns:a="http://schemas.openxmlformats.org/drawingml/2006/main">
            <a:off x="3143250" y="1762125"/>
            <a:ext cx="2476500" cy="857250"/>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Router MLP</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 24 → 3</a:t>
            </a:r>
          </a:p>
        </p:txBody>
      </p:sp>
      <p:sp>
        <p:nvSpPr>
          <p:cNvPr id="7" name="">
            <a:extLst xmlns:a="http://schemas.openxmlformats.org/drawingml/2006/main">
              <a:ext uri="{FF2B5EF4-FFF2-40B4-BE49-F238E27FC236}">
                <a16:creationId xmlns:a16="http://schemas.microsoft.com/office/drawing/2014/main" id="{72454707-E287-4D28-BC20-E7A0179D5DD1}"/>
              </a:ext>
            </a:extLst>
          </p:cNvPr>
          <p:cNvSpPr>
            <a:spLocks xmlns:a="http://schemas.openxmlformats.org/drawingml/2006/main" noGrp="1"/>
          </p:cNvSpPr>
          <p:nvPr/>
        </p:nvSpPr>
        <p:spPr>
          <a:xfrm xmlns:a="http://schemas.openxmlformats.org/drawingml/2006/main">
            <a:off x="6191250" y="1809750"/>
            <a:ext cx="2762250" cy="80962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Expert 0</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 32 → 32 → 4</a:t>
            </a:r>
          </a:p>
        </p:txBody>
      </p:sp>
      <p:sp>
        <p:nvSpPr>
          <p:cNvPr id="8" name="">
            <a:extLst xmlns:a="http://schemas.openxmlformats.org/drawingml/2006/main">
              <a:ext uri="{FF2B5EF4-FFF2-40B4-BE49-F238E27FC236}">
                <a16:creationId xmlns:a16="http://schemas.microsoft.com/office/drawing/2014/main" id="{31F5A1F2-920D-45F8-A03B-9D16CDC076B5}"/>
              </a:ext>
            </a:extLst>
          </p:cNvPr>
          <p:cNvSpPr>
            <a:spLocks xmlns:a="http://schemas.openxmlformats.org/drawingml/2006/main" noGrp="1"/>
          </p:cNvSpPr>
          <p:nvPr/>
        </p:nvSpPr>
        <p:spPr>
          <a:xfrm xmlns:a="http://schemas.openxmlformats.org/drawingml/2006/main">
            <a:off x="6191250" y="3000375"/>
            <a:ext cx="2762250" cy="80962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Expert 1</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 32 → 32 → 4</a:t>
            </a:r>
          </a:p>
        </p:txBody>
      </p:sp>
      <p:sp>
        <p:nvSpPr>
          <p:cNvPr id="9" name="">
            <a:extLst xmlns:a="http://schemas.openxmlformats.org/drawingml/2006/main">
              <a:ext uri="{FF2B5EF4-FFF2-40B4-BE49-F238E27FC236}">
                <a16:creationId xmlns:a16="http://schemas.microsoft.com/office/drawing/2014/main" id="{48944F8A-4DD3-46BA-98A6-986EF7237BDA}"/>
              </a:ext>
            </a:extLst>
          </p:cNvPr>
          <p:cNvSpPr>
            <a:spLocks xmlns:a="http://schemas.openxmlformats.org/drawingml/2006/main" noGrp="1"/>
          </p:cNvSpPr>
          <p:nvPr/>
        </p:nvSpPr>
        <p:spPr>
          <a:xfrm xmlns:a="http://schemas.openxmlformats.org/drawingml/2006/main">
            <a:off x="6191250" y="4191000"/>
            <a:ext cx="2762250" cy="80962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Expert 2</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 32 → 32 → 4</a:t>
            </a:r>
          </a:p>
        </p:txBody>
      </p:sp>
      <p:sp>
        <p:nvSpPr>
          <p:cNvPr id="10" name="">
            <a:extLst xmlns:a="http://schemas.openxmlformats.org/drawingml/2006/main">
              <a:ext uri="{FF2B5EF4-FFF2-40B4-BE49-F238E27FC236}">
                <a16:creationId xmlns:a16="http://schemas.microsoft.com/office/drawing/2014/main" id="{E1F74AE4-F96F-4A00-9019-584FA3440368}"/>
              </a:ext>
            </a:extLst>
          </p:cNvPr>
          <p:cNvSpPr>
            <a:spLocks xmlns:a="http://schemas.openxmlformats.org/drawingml/2006/main" noGrp="1"/>
          </p:cNvSpPr>
          <p:nvPr/>
        </p:nvSpPr>
        <p:spPr>
          <a:xfrm xmlns:a="http://schemas.openxmlformats.org/drawingml/2006/main">
            <a:off x="9715500" y="3190875"/>
            <a:ext cx="2000250" cy="90487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Weighted sum</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4-state prediction</a:t>
            </a:r>
          </a:p>
        </p:txBody>
      </p:sp>
      <p:sp>
        <p:nvSpPr>
          <p:cNvPr id="18" name="">
            <a:extLst xmlns:a="http://schemas.openxmlformats.org/drawingml/2006/main">
              <a:ext uri="{FF2B5EF4-FFF2-40B4-BE49-F238E27FC236}">
                <a16:creationId xmlns:a16="http://schemas.microsoft.com/office/drawing/2014/main" id="{63658C28-DFCA-4371-A7D7-524F39812800}"/>
              </a:ext>
            </a:extLst>
          </p:cNvPr>
          <p:cNvSpPr>
            <a:spLocks xmlns:a="http://schemas.openxmlformats.org/drawingml/2006/main" noGrp="1"/>
          </p:cNvSpPr>
          <p:nvPr/>
        </p:nvSpPr>
        <p:spPr>
          <a:xfrm xmlns:a="http://schemas.openxmlformats.org/drawingml/2006/main">
            <a:off x="619125" y="56197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E8B"/>
                </a:solidFill>
                <a:latin typeface="Arial"/>
                <a:ea typeface="Arial"/>
                <a:cs typeface="Arial"/>
              </a:defRPr>
            </a:defPPr>
          </a:lstStyle>
          <a:p xmlns:a="http://schemas.openxmlformats.org/drawingml/2006/main">
            <a:pPr>
              <a:defRPr sz="1875" b="1">
                <a:solidFill>
                  <a:srgbClr val="087E8B"/>
                </a:solidFill>
                <a:latin typeface="Arial"/>
                <a:ea typeface="Arial"/>
                <a:cs typeface="Arial"/>
              </a:defRPr>
            </a:pPr>
            <a:r>
              <a:rPr sz="1875" b="1">
                <a:solidFill>
                  <a:srgbClr val="087E8B"/>
                </a:solidFill>
                <a:latin typeface="Arial"/>
                <a:ea typeface="Arial"/>
                <a:cs typeface="Arial"/>
              </a:rPr>
              <a:t>Same history enters each selected expert. Top-2 routing activates two experts per window.</a:t>
            </a:r>
          </a:p>
        </p:txBody>
      </p:sp>
    </p:spTree>
    <p:extLst>
      <p:ext uri="{BB962C8B-B14F-4D97-AF65-F5344CB8AC3E}">
        <p14:creationId xmlns:p14="http://schemas.microsoft.com/office/powerpoint/2010/main" val="1098432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388FDB-0B78-43AC-9D8D-83F7244B67E9}"/>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5A4A94BB-34FD-4C06-B684-9B23789B33B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Sparse routing and the training objective</a:t>
            </a:r>
          </a:p>
        </p:txBody>
      </p:sp>
      <p:sp>
        <p:nvSpPr>
          <p:cNvPr id="3" name="">
            <a:extLst xmlns:a="http://schemas.openxmlformats.org/drawingml/2006/main">
              <a:ext uri="{FF2B5EF4-FFF2-40B4-BE49-F238E27FC236}">
                <a16:creationId xmlns:a16="http://schemas.microsoft.com/office/drawing/2014/main" id="{D779C433-F9EC-40B7-81B6-A6960E4E92E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893F21E5-9A17-4FAE-97CC-2A87091445B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1AA10DF2-B42E-4892-BA6A-2D5624A2FD3A}"/>
              </a:ext>
            </a:extLst>
          </p:cNvPr>
          <p:cNvSpPr>
            <a:spLocks xmlns:a="http://schemas.openxmlformats.org/drawingml/2006/main" noGrp="1"/>
          </p:cNvSpPr>
          <p:nvPr/>
        </p:nvSpPr>
        <p:spPr>
          <a:xfrm xmlns:a="http://schemas.openxmlformats.org/drawingml/2006/main">
            <a:off x="571500" y="17335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Top-2 gate</a:t>
            </a:r>
          </a:p>
        </p:txBody>
      </p:sp>
      <p:sp>
        <p:nvSpPr>
          <p:cNvPr id="6" name="">
            <a:extLst xmlns:a="http://schemas.openxmlformats.org/drawingml/2006/main">
              <a:ext uri="{FF2B5EF4-FFF2-40B4-BE49-F238E27FC236}">
                <a16:creationId xmlns:a16="http://schemas.microsoft.com/office/drawing/2014/main" id="{C2F5A0D6-D069-4B68-A900-86897C769F43}"/>
              </a:ext>
            </a:extLst>
          </p:cNvPr>
          <p:cNvSpPr>
            <a:spLocks xmlns:a="http://schemas.openxmlformats.org/drawingml/2006/main" noGrp="1"/>
          </p:cNvSpPr>
          <p:nvPr/>
        </p:nvSpPr>
        <p:spPr>
          <a:xfrm xmlns:a="http://schemas.openxmlformats.org/drawingml/2006/main">
            <a:off x="571500" y="21336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Compute three probabilities, keep the two largest, and renormalize their weights to sum to one.</a:t>
            </a:r>
          </a:p>
        </p:txBody>
      </p:sp>
      <p:sp>
        <p:nvSpPr>
          <p:cNvPr id="7" name="">
            <a:extLst xmlns:a="http://schemas.openxmlformats.org/drawingml/2006/main">
              <a:ext uri="{FF2B5EF4-FFF2-40B4-BE49-F238E27FC236}">
                <a16:creationId xmlns:a16="http://schemas.microsoft.com/office/drawing/2014/main" id="{882777A3-1EBD-4DF8-BF50-FF16B8D0A22D}"/>
              </a:ext>
            </a:extLst>
          </p:cNvPr>
          <p:cNvSpPr>
            <a:spLocks xmlns:a="http://schemas.openxmlformats.org/drawingml/2006/main" noGrp="1"/>
          </p:cNvSpPr>
          <p:nvPr/>
        </p:nvSpPr>
        <p:spPr>
          <a:xfrm xmlns:a="http://schemas.openxmlformats.org/drawingml/2006/main">
            <a:off x="619125" y="30384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2B45"/>
                </a:solidFill>
                <a:latin typeface="Arial"/>
                <a:ea typeface="Arial"/>
                <a:cs typeface="Arial"/>
              </a:defRPr>
            </a:defPPr>
          </a:lstStyle>
          <a:p xmlns:a="http://schemas.openxmlformats.org/drawingml/2006/main">
            <a:pPr>
              <a:defRPr sz="2700" b="1">
                <a:solidFill>
                  <a:srgbClr val="152B45"/>
                </a:solidFill>
                <a:latin typeface="Arial"/>
                <a:ea typeface="Arial"/>
                <a:cs typeface="Arial"/>
              </a:defRPr>
            </a:pPr>
            <a:r>
              <a:rPr sz="2700" b="1">
                <a:solidFill>
                  <a:srgbClr val="152B45"/>
                </a:solidFill>
                <a:latin typeface="Arial"/>
                <a:ea typeface="Arial"/>
                <a:cs typeface="Arial"/>
              </a:rPr>
              <a:t>ŷ = Σ selected w[e] Expert[e](history)</a:t>
            </a:r>
          </a:p>
        </p:txBody>
      </p:sp>
      <p:sp>
        <p:nvSpPr>
          <p:cNvPr id="8" name="">
            <a:extLst xmlns:a="http://schemas.openxmlformats.org/drawingml/2006/main">
              <a:ext uri="{FF2B5EF4-FFF2-40B4-BE49-F238E27FC236}">
                <a16:creationId xmlns:a16="http://schemas.microsoft.com/office/drawing/2014/main" id="{2E836016-8575-415B-A94A-07FE13E7BCEC}"/>
              </a:ext>
            </a:extLst>
          </p:cNvPr>
          <p:cNvSpPr>
            <a:spLocks xmlns:a="http://schemas.openxmlformats.org/drawingml/2006/main" noGrp="1"/>
          </p:cNvSpPr>
          <p:nvPr/>
        </p:nvSpPr>
        <p:spPr>
          <a:xfrm xmlns:a="http://schemas.openxmlformats.org/drawingml/2006/main">
            <a:off x="571500" y="38766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Loss</a:t>
            </a:r>
          </a:p>
        </p:txBody>
      </p:sp>
      <p:sp>
        <p:nvSpPr>
          <p:cNvPr id="9" name="">
            <a:extLst xmlns:a="http://schemas.openxmlformats.org/drawingml/2006/main">
              <a:ext uri="{FF2B5EF4-FFF2-40B4-BE49-F238E27FC236}">
                <a16:creationId xmlns:a16="http://schemas.microsoft.com/office/drawing/2014/main" id="{6CB05239-4B26-47CA-9062-8E4DADB8109B}"/>
              </a:ext>
            </a:extLst>
          </p:cNvPr>
          <p:cNvSpPr>
            <a:spLocks xmlns:a="http://schemas.openxmlformats.org/drawingml/2006/main" noGrp="1"/>
          </p:cNvSpPr>
          <p:nvPr/>
        </p:nvSpPr>
        <p:spPr>
          <a:xfrm xmlns:a="http://schemas.openxmlformats.org/drawingml/2006/main">
            <a:off x="571500" y="42767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Normalized prediction MSE + 0.01 × 3 × Σe f[e] · mean(p[e])</a:t>
            </a:r>
          </a:p>
        </p:txBody>
      </p:sp>
      <p:sp>
        <p:nvSpPr>
          <p:cNvPr id="10" name="">
            <a:extLst xmlns:a="http://schemas.openxmlformats.org/drawingml/2006/main">
              <a:ext uri="{FF2B5EF4-FFF2-40B4-BE49-F238E27FC236}">
                <a16:creationId xmlns:a16="http://schemas.microsoft.com/office/drawing/2014/main" id="{5293F9AA-A3F1-4979-83F1-B033B5AD3AA3}"/>
              </a:ext>
            </a:extLst>
          </p:cNvPr>
          <p:cNvSpPr>
            <a:spLocks xmlns:a="http://schemas.openxmlformats.org/drawingml/2006/main" noGrp="1"/>
          </p:cNvSpPr>
          <p:nvPr/>
        </p:nvSpPr>
        <p:spPr>
          <a:xfrm xmlns:a="http://schemas.openxmlformats.org/drawingml/2006/main">
            <a:off x="619125" y="48958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f[e] is the fraction of selected slots assigned to expert e. Its gradient is stopped.</a:t>
            </a:r>
          </a:p>
        </p:txBody>
      </p:sp>
      <p:sp>
        <p:nvSpPr>
          <p:cNvPr id="11" name="">
            <a:extLst xmlns:a="http://schemas.openxmlformats.org/drawingml/2006/main">
              <a:ext uri="{FF2B5EF4-FFF2-40B4-BE49-F238E27FC236}">
                <a16:creationId xmlns:a16="http://schemas.microsoft.com/office/drawing/2014/main" id="{2CF93CD2-A76A-4771-8B2C-78E3780C49C8}"/>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Sparse dispatch evaluates an expert only for the batch rows that select it.</a:t>
            </a:r>
          </a:p>
        </p:txBody>
      </p:sp>
    </p:spTree>
    <p:extLst>
      <p:ext uri="{BB962C8B-B14F-4D97-AF65-F5344CB8AC3E}">
        <p14:creationId xmlns:p14="http://schemas.microsoft.com/office/powerpoint/2010/main" val="2267423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3E9D03-070D-42F4-9EDD-1AC71CE1616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53C45E2F-0ED1-48C5-BAD9-E0C5F5D1A94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Five model families and capacity controls</a:t>
            </a:r>
          </a:p>
        </p:txBody>
      </p:sp>
      <p:sp>
        <p:nvSpPr>
          <p:cNvPr id="3" name="">
            <a:extLst xmlns:a="http://schemas.openxmlformats.org/drawingml/2006/main">
              <a:ext uri="{FF2B5EF4-FFF2-40B4-BE49-F238E27FC236}">
                <a16:creationId xmlns:a16="http://schemas.microsoft.com/office/drawing/2014/main" id="{B9A38460-9A59-4C79-8EC9-A6F87E80628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C670567E-209E-498D-856D-E5730BC81CD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2E8F3BAE-6CD3-44E2-AD20-91019AAEE9B3}"/>
              </a:ext>
            </a:extLst>
          </p:cNvPr>
          <p:cNvGraphicFramePr/>
          <p:nvPr/>
        </p:nvGraphicFramePr>
        <p:xfrm>
          <a:off xmlns:a="http://schemas.openxmlformats.org/drawingml/2006/main" x="571500" y="1714500"/>
          <a:ext xmlns:a="http://schemas.openxmlformats.org/drawingml/2006/main" cx="11049000" cy="3667125"/>
        </p:xfrm>
        <a:graphic xmlns:a="http://schemas.openxmlformats.org/drawingml/2006/main">
          <a:graphicData uri="http://schemas.openxmlformats.org/drawingml/2006/table">
            <a:tbl>
              <a:tblPr/>
              <a:tblGrid>
                <a:gridCol w="2905125"/>
                <a:gridCol w="2095500"/>
                <a:gridCol w="2190750"/>
                <a:gridCol w="3857625"/>
              </a:tblGrid>
              <a:tr h="611188">
                <a:tc>
                  <a:txBody>
                    <a:bodyPr/>
                    <a:lstStyle/>
                    <a:p>
                      <a:r>
                        <a:rPr sz="1650" b="1">
                          <a:solidFill>
                            <a:srgbClr val="FFFFFF"/>
                          </a:solidFill>
                          <a:latin typeface="Arial"/>
                          <a:ea typeface="Arial"/>
                          <a:cs typeface="Arial"/>
                        </a:rPr>
                        <a:t>Family</a:t>
                      </a:r>
                    </a:p>
                  </a:txBody>
                  <a:tcPr marL="91440" marR="91440" marT="45720" marB="45720">
                    <a:solidFill>
                      <a:srgbClr val="152B45"/>
                    </a:solidFill>
                  </a:tcPr>
                </a:tc>
                <a:tc>
                  <a:txBody>
                    <a:bodyPr/>
                    <a:lstStyle/>
                    <a:p>
                      <a:r>
                        <a:rPr sz="1650" b="1">
                          <a:solidFill>
                            <a:srgbClr val="FFFFFF"/>
                          </a:solidFill>
                          <a:latin typeface="Arial"/>
                          <a:ea typeface="Arial"/>
                          <a:cs typeface="Arial"/>
                        </a:rPr>
                        <a:t>Total params</a:t>
                      </a:r>
                    </a:p>
                  </a:txBody>
                  <a:tcPr marL="91440" marR="91440" marT="45720" marB="45720">
                    <a:solidFill>
                      <a:srgbClr val="152B45"/>
                    </a:solidFill>
                  </a:tcPr>
                </a:tc>
                <a:tc>
                  <a:txBody>
                    <a:bodyPr/>
                    <a:lstStyle/>
                    <a:p>
                      <a:r>
                        <a:rPr sz="1650" b="1">
                          <a:solidFill>
                            <a:srgbClr val="FFFFFF"/>
                          </a:solidFill>
                          <a:latin typeface="Arial"/>
                          <a:ea typeface="Arial"/>
                          <a:cs typeface="Arial"/>
                        </a:rPr>
                        <a:t>Active proxy</a:t>
                      </a:r>
                    </a:p>
                  </a:txBody>
                  <a:tcPr marL="91440" marR="91440" marT="45720" marB="45720">
                    <a:solidFill>
                      <a:srgbClr val="152B45"/>
                    </a:solidFill>
                  </a:tcPr>
                </a:tc>
                <a:tc>
                  <a:txBody>
                    <a:bodyPr/>
                    <a:lstStyle/>
                    <a:p>
                      <a:r>
                        <a:rPr sz="1650" b="1">
                          <a:solidFill>
                            <a:srgbClr val="FFFFFF"/>
                          </a:solidFill>
                          <a:latin typeface="Arial"/>
                          <a:ea typeface="Arial"/>
                          <a:cs typeface="Arial"/>
                        </a:rPr>
                        <a:t>Purpose</a:t>
                      </a:r>
                    </a:p>
                  </a:txBody>
                  <a:tcPr marL="91440" marR="91440" marT="45720" marB="45720">
                    <a:solidFill>
                      <a:srgbClr val="152B45"/>
                    </a:solidFill>
                  </a:tcPr>
                </a:tc>
              </a:tr>
              <a:tr h="611188">
                <a:tc>
                  <a:txBody>
                    <a:bodyPr/>
                    <a:lstStyle/>
                    <a:p>
                      <a:r>
                        <a:rPr sz="1650" b="0">
                          <a:solidFill>
                            <a:srgbClr val="24384D"/>
                          </a:solidFill>
                          <a:latin typeface="Arial"/>
                          <a:ea typeface="Arial"/>
                          <a:cs typeface="Arial"/>
                        </a:rPr>
                        <a:t>Dense active</a:t>
                      </a:r>
                    </a:p>
                  </a:txBody>
                  <a:tcPr marL="91440" marR="91440" marT="45720" marB="45720">
                    <a:solidFill>
                      <a:srgbClr val="F0F4F7"/>
                    </a:solidFill>
                  </a:tcPr>
                </a:tc>
                <a:tc>
                  <a:txBody>
                    <a:bodyPr/>
                    <a:lstStyle/>
                    <a:p>
                      <a:r>
                        <a:rPr sz="1650" b="0">
                          <a:solidFill>
                            <a:srgbClr val="24384D"/>
                          </a:solidFill>
                          <a:latin typeface="Arial"/>
                          <a:ea typeface="Arial"/>
                          <a:cs typeface="Arial"/>
                        </a:rPr>
                        <a:t>5,419</a:t>
                      </a:r>
                    </a:p>
                  </a:txBody>
                  <a:tcPr marL="91440" marR="91440" marT="45720" marB="45720">
                    <a:solidFill>
                      <a:srgbClr val="F0F4F7"/>
                    </a:solidFill>
                  </a:tcPr>
                </a:tc>
                <a:tc>
                  <a:txBody>
                    <a:bodyPr/>
                    <a:lstStyle/>
                    <a:p>
                      <a:r>
                        <a:rPr sz="1650" b="0">
                          <a:solidFill>
                            <a:srgbClr val="24384D"/>
                          </a:solidFill>
                          <a:latin typeface="Arial"/>
                          <a:ea typeface="Arial"/>
                          <a:cs typeface="Arial"/>
                        </a:rPr>
                        <a:t>5,419</a:t>
                      </a:r>
                    </a:p>
                  </a:txBody>
                  <a:tcPr marL="91440" marR="91440" marT="45720" marB="45720">
                    <a:solidFill>
                      <a:srgbClr val="F0F4F7"/>
                    </a:solidFill>
                  </a:tcPr>
                </a:tc>
                <a:tc>
                  <a:txBody>
                    <a:bodyPr/>
                    <a:lstStyle/>
                    <a:p>
                      <a:r>
                        <a:rPr sz="1650" b="0">
                          <a:solidFill>
                            <a:srgbClr val="24384D"/>
                          </a:solidFill>
                          <a:latin typeface="Arial"/>
                          <a:ea typeface="Arial"/>
                          <a:cs typeface="Arial"/>
                        </a:rPr>
                        <a:t>32–57–57–4 MLP</a:t>
                      </a:r>
                    </a:p>
                  </a:txBody>
                  <a:tcPr marL="91440" marR="91440" marT="45720" marB="45720">
                    <a:solidFill>
                      <a:srgbClr val="F0F4F7"/>
                    </a:solidFill>
                  </a:tcPr>
                </a:tc>
              </a:tr>
              <a:tr h="611188">
                <a:tc>
                  <a:txBody>
                    <a:bodyPr/>
                    <a:lstStyle/>
                    <a:p>
                      <a:r>
                        <a:rPr sz="1650" b="0">
                          <a:solidFill>
                            <a:srgbClr val="24384D"/>
                          </a:solidFill>
                          <a:latin typeface="Arial"/>
                          <a:ea typeface="Arial"/>
                          <a:cs typeface="Arial"/>
                        </a:rPr>
                        <a:t>Dense total</a:t>
                      </a:r>
                    </a:p>
                  </a:txBody>
                  <a:tcPr marL="91440" marR="91440" marT="45720" marB="45720">
                    <a:solidFill>
                      <a:srgbClr val="FFFFFF"/>
                    </a:solidFill>
                  </a:tcPr>
                </a:tc>
                <a:tc>
                  <a:txBody>
                    <a:bodyPr/>
                    <a:lstStyle/>
                    <a:p>
                      <a:r>
                        <a:rPr sz="1650" b="0">
                          <a:solidFill>
                            <a:srgbClr val="24384D"/>
                          </a:solidFill>
                          <a:latin typeface="Arial"/>
                          <a:ea typeface="Arial"/>
                          <a:cs typeface="Arial"/>
                        </a:rPr>
                        <a:t>7,564</a:t>
                      </a:r>
                    </a:p>
                  </a:txBody>
                  <a:tcPr marL="91440" marR="91440" marT="45720" marB="45720">
                    <a:solidFill>
                      <a:srgbClr val="FFFFFF"/>
                    </a:solidFill>
                  </a:tcPr>
                </a:tc>
                <a:tc>
                  <a:txBody>
                    <a:bodyPr/>
                    <a:lstStyle/>
                    <a:p>
                      <a:r>
                        <a:rPr sz="1650" b="0">
                          <a:solidFill>
                            <a:srgbClr val="24384D"/>
                          </a:solidFill>
                          <a:latin typeface="Arial"/>
                          <a:ea typeface="Arial"/>
                          <a:cs typeface="Arial"/>
                        </a:rPr>
                        <a:t>7,564</a:t>
                      </a:r>
                    </a:p>
                  </a:txBody>
                  <a:tcPr marL="91440" marR="91440" marT="45720" marB="45720">
                    <a:solidFill>
                      <a:srgbClr val="FFFFFF"/>
                    </a:solidFill>
                  </a:tcPr>
                </a:tc>
                <a:tc>
                  <a:txBody>
                    <a:bodyPr/>
                    <a:lstStyle/>
                    <a:p>
                      <a:r>
                        <a:rPr sz="1650" b="0">
                          <a:solidFill>
                            <a:srgbClr val="24384D"/>
                          </a:solidFill>
                          <a:latin typeface="Arial"/>
                          <a:ea typeface="Arial"/>
                          <a:cs typeface="Arial"/>
                        </a:rPr>
                        <a:t>32–70–70–4 MLP</a:t>
                      </a:r>
                    </a:p>
                  </a:txBody>
                  <a:tcPr marL="91440" marR="91440" marT="45720" marB="45720">
                    <a:solidFill>
                      <a:srgbClr val="FFFFFF"/>
                    </a:solidFill>
                  </a:tcPr>
                </a:tc>
              </a:tr>
              <a:tr h="611188">
                <a:tc>
                  <a:txBody>
                    <a:bodyPr/>
                    <a:lstStyle/>
                    <a:p>
                      <a:r>
                        <a:rPr sz="1650" b="0">
                          <a:solidFill>
                            <a:srgbClr val="24384D"/>
                          </a:solidFill>
                          <a:latin typeface="Arial"/>
                          <a:ea typeface="Arial"/>
                          <a:cs typeface="Arial"/>
                        </a:rPr>
                        <a:t>Learned MoE</a:t>
                      </a:r>
                    </a:p>
                  </a:txBody>
                  <a:tcPr marL="91440" marR="91440" marT="45720" marB="45720">
                    <a:solidFill>
                      <a:srgbClr val="F0F4F7"/>
                    </a:solidFill>
                  </a:tcPr>
                </a:tc>
                <a:tc>
                  <a:txBody>
                    <a:bodyPr/>
                    <a:lstStyle/>
                    <a:p>
                      <a:r>
                        <a:rPr sz="1650" b="0">
                          <a:solidFill>
                            <a:srgbClr val="24384D"/>
                          </a:solidFill>
                          <a:latin typeface="Arial"/>
                          <a:ea typeface="Arial"/>
                          <a:cs typeface="Arial"/>
                        </a:rPr>
                        <a:t>7,599</a:t>
                      </a:r>
                    </a:p>
                  </a:txBody>
                  <a:tcPr marL="91440" marR="91440" marT="45720" marB="45720">
                    <a:solidFill>
                      <a:srgbClr val="F0F4F7"/>
                    </a:solidFill>
                  </a:tcPr>
                </a:tc>
                <a:tc>
                  <a:txBody>
                    <a:bodyPr/>
                    <a:lstStyle/>
                    <a:p>
                      <a:r>
                        <a:rPr sz="1650" b="0">
                          <a:solidFill>
                            <a:srgbClr val="24384D"/>
                          </a:solidFill>
                          <a:latin typeface="Arial"/>
                          <a:ea typeface="Arial"/>
                          <a:cs typeface="Arial"/>
                        </a:rPr>
                        <a:t>5,355</a:t>
                      </a:r>
                    </a:p>
                  </a:txBody>
                  <a:tcPr marL="91440" marR="91440" marT="45720" marB="45720">
                    <a:solidFill>
                      <a:srgbClr val="F0F4F7"/>
                    </a:solidFill>
                  </a:tcPr>
                </a:tc>
                <a:tc>
                  <a:txBody>
                    <a:bodyPr/>
                    <a:lstStyle/>
                    <a:p>
                      <a:r>
                        <a:rPr sz="1650" b="0">
                          <a:solidFill>
                            <a:srgbClr val="24384D"/>
                          </a:solidFill>
                          <a:latin typeface="Arial"/>
                          <a:ea typeface="Arial"/>
                          <a:cs typeface="Arial"/>
                        </a:rPr>
                        <a:t>Learned router, top-2</a:t>
                      </a:r>
                    </a:p>
                  </a:txBody>
                  <a:tcPr marL="91440" marR="91440" marT="45720" marB="45720">
                    <a:solidFill>
                      <a:srgbClr val="F0F4F7"/>
                    </a:solidFill>
                  </a:tcPr>
                </a:tc>
              </a:tr>
              <a:tr h="611188">
                <a:tc>
                  <a:txBody>
                    <a:bodyPr/>
                    <a:lstStyle/>
                    <a:p>
                      <a:r>
                        <a:rPr sz="1650" b="0">
                          <a:solidFill>
                            <a:srgbClr val="24384D"/>
                          </a:solidFill>
                          <a:latin typeface="Arial"/>
                          <a:ea typeface="Arial"/>
                          <a:cs typeface="Arial"/>
                        </a:rPr>
                        <a:t>Random routing</a:t>
                      </a:r>
                    </a:p>
                  </a:txBody>
                  <a:tcPr marL="91440" marR="91440" marT="45720" marB="45720">
                    <a:solidFill>
                      <a:srgbClr val="FFFFFF"/>
                    </a:solidFill>
                  </a:tcPr>
                </a:tc>
                <a:tc>
                  <a:txBody>
                    <a:bodyPr/>
                    <a:lstStyle/>
                    <a:p>
                      <a:r>
                        <a:rPr sz="1650" b="0">
                          <a:solidFill>
                            <a:srgbClr val="24384D"/>
                          </a:solidFill>
                          <a:latin typeface="Arial"/>
                          <a:ea typeface="Arial"/>
                          <a:cs typeface="Arial"/>
                        </a:rPr>
                        <a:t>6,828</a:t>
                      </a:r>
                    </a:p>
                  </a:txBody>
                  <a:tcPr marL="91440" marR="91440" marT="45720" marB="45720">
                    <a:solidFill>
                      <a:srgbClr val="FFFFFF"/>
                    </a:solidFill>
                  </a:tcPr>
                </a:tc>
                <a:tc>
                  <a:txBody>
                    <a:bodyPr/>
                    <a:lstStyle/>
                    <a:p>
                      <a:r>
                        <a:rPr sz="1650" b="0">
                          <a:solidFill>
                            <a:srgbClr val="24384D"/>
                          </a:solidFill>
                          <a:latin typeface="Arial"/>
                          <a:ea typeface="Arial"/>
                          <a:cs typeface="Arial"/>
                        </a:rPr>
                        <a:t>4,584</a:t>
                      </a:r>
                    </a:p>
                  </a:txBody>
                  <a:tcPr marL="91440" marR="91440" marT="45720" marB="45720">
                    <a:solidFill>
                      <a:srgbClr val="FFFFFF"/>
                    </a:solidFill>
                  </a:tcPr>
                </a:tc>
                <a:tc>
                  <a:txBody>
                    <a:bodyPr/>
                    <a:lstStyle/>
                    <a:p>
                      <a:r>
                        <a:rPr sz="1650" b="0">
                          <a:solidFill>
                            <a:srgbClr val="24384D"/>
                          </a:solidFill>
                          <a:latin typeface="Arial"/>
                          <a:ea typeface="Arial"/>
                          <a:cs typeface="Arial"/>
                        </a:rPr>
                        <a:t>Frozen random router, top-2</a:t>
                      </a:r>
                    </a:p>
                  </a:txBody>
                  <a:tcPr marL="91440" marR="91440" marT="45720" marB="45720">
                    <a:solidFill>
                      <a:srgbClr val="FFFFFF"/>
                    </a:solidFill>
                  </a:tcPr>
                </a:tc>
              </a:tr>
              <a:tr h="611188">
                <a:tc>
                  <a:txBody>
                    <a:bodyPr/>
                    <a:lstStyle/>
                    <a:p>
                      <a:r>
                        <a:rPr sz="1650" b="0">
                          <a:solidFill>
                            <a:srgbClr val="24384D"/>
                          </a:solidFill>
                          <a:latin typeface="Arial"/>
                          <a:ea typeface="Arial"/>
                          <a:cs typeface="Arial"/>
                        </a:rPr>
                        <a:t>Oracle</a:t>
                      </a:r>
                    </a:p>
                  </a:txBody>
                  <a:tcPr marL="91440" marR="91440" marT="45720" marB="45720">
                    <a:solidFill>
                      <a:srgbClr val="F0F4F7"/>
                    </a:solidFill>
                  </a:tcPr>
                </a:tc>
                <a:tc>
                  <a:txBody>
                    <a:bodyPr/>
                    <a:lstStyle/>
                    <a:p>
                      <a:r>
                        <a:rPr sz="1650" b="0">
                          <a:solidFill>
                            <a:srgbClr val="24384D"/>
                          </a:solidFill>
                          <a:latin typeface="Arial"/>
                          <a:ea typeface="Arial"/>
                          <a:cs typeface="Arial"/>
                        </a:rPr>
                        <a:t>6,732</a:t>
                      </a:r>
                    </a:p>
                  </a:txBody>
                  <a:tcPr marL="91440" marR="91440" marT="45720" marB="45720">
                    <a:solidFill>
                      <a:srgbClr val="F0F4F7"/>
                    </a:solidFill>
                  </a:tcPr>
                </a:tc>
                <a:tc>
                  <a:txBody>
                    <a:bodyPr/>
                    <a:lstStyle/>
                    <a:p>
                      <a:r>
                        <a:rPr sz="1650" b="0">
                          <a:solidFill>
                            <a:srgbClr val="24384D"/>
                          </a:solidFill>
                          <a:latin typeface="Arial"/>
                          <a:ea typeface="Arial"/>
                          <a:cs typeface="Arial"/>
                        </a:rPr>
                        <a:t>2,244</a:t>
                      </a:r>
                    </a:p>
                  </a:txBody>
                  <a:tcPr marL="91440" marR="91440" marT="45720" marB="45720">
                    <a:solidFill>
                      <a:srgbClr val="F0F4F7"/>
                    </a:solidFill>
                  </a:tcPr>
                </a:tc>
                <a:tc>
                  <a:txBody>
                    <a:bodyPr/>
                    <a:lstStyle/>
                    <a:p>
                      <a:r>
                        <a:rPr sz="1650" b="0">
                          <a:solidFill>
                            <a:srgbClr val="24384D"/>
                          </a:solidFill>
                          <a:latin typeface="Arial"/>
                          <a:ea typeface="Arial"/>
                          <a:cs typeface="Arial"/>
                        </a:rPr>
                        <a:t>True regime selects one expert</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1B42237D-9778-4BFB-8BB7-3E0348FD8A16}"/>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Two dense widths approximate active and total parameter capacity. These counts do not measure FLOPs.</a:t>
            </a:r>
          </a:p>
        </p:txBody>
      </p:sp>
    </p:spTree>
    <p:extLst>
      <p:ext uri="{BB962C8B-B14F-4D97-AF65-F5344CB8AC3E}">
        <p14:creationId xmlns:p14="http://schemas.microsoft.com/office/powerpoint/2010/main" val="204693680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30E79E-06DC-47A2-8EC9-678A3DD2891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5CDC4B49-9296-40AB-BFD4-F0DFA522A6A2}"/>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Training protocol</a:t>
            </a:r>
          </a:p>
        </p:txBody>
      </p:sp>
      <p:sp>
        <p:nvSpPr>
          <p:cNvPr id="3" name="">
            <a:extLst xmlns:a="http://schemas.openxmlformats.org/drawingml/2006/main">
              <a:ext uri="{FF2B5EF4-FFF2-40B4-BE49-F238E27FC236}">
                <a16:creationId xmlns:a16="http://schemas.microsoft.com/office/drawing/2014/main" id="{B1A13CAB-2079-4AED-A606-E1AEB4FE13AC}"/>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C32B9B9-DFB1-4D4B-A23C-B0A574C4468A}"/>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39222E84-9484-4477-A4A5-2BF9B97C03D0}"/>
              </a:ext>
            </a:extLst>
          </p:cNvPr>
          <p:cNvGraphicFramePr/>
          <p:nvPr/>
        </p:nvGraphicFramePr>
        <p:xfrm>
          <a:off xmlns:a="http://schemas.openxmlformats.org/drawingml/2006/main" x="571500" y="1714500"/>
          <a:ext xmlns:a="http://schemas.openxmlformats.org/drawingml/2006/main" cx="11049000" cy="3667125"/>
        </p:xfrm>
        <a:graphic xmlns:a="http://schemas.openxmlformats.org/drawingml/2006/main">
          <a:graphicData uri="http://schemas.openxmlformats.org/drawingml/2006/table">
            <a:tbl>
              <a:tblPr/>
              <a:tblGrid>
                <a:gridCol w="3524250"/>
                <a:gridCol w="7524750"/>
              </a:tblGrid>
              <a:tr h="523875">
                <a:tc>
                  <a:txBody>
                    <a:bodyPr/>
                    <a:lstStyle/>
                    <a:p>
                      <a:r>
                        <a:rPr sz="1725" b="1">
                          <a:solidFill>
                            <a:srgbClr val="FFFFFF"/>
                          </a:solidFill>
                          <a:latin typeface="Arial"/>
                          <a:ea typeface="Arial"/>
                          <a:cs typeface="Arial"/>
                        </a:rPr>
                        <a:t>Setting</a:t>
                      </a:r>
                    </a:p>
                  </a:txBody>
                  <a:tcPr marL="91440" marR="91440" marT="45720" marB="45720">
                    <a:solidFill>
                      <a:srgbClr val="152B45"/>
                    </a:solidFill>
                  </a:tcPr>
                </a:tc>
                <a:tc>
                  <a:txBody>
                    <a:bodyPr/>
                    <a:lstStyle/>
                    <a:p>
                      <a:r>
                        <a:rPr sz="1725" b="1">
                          <a:solidFill>
                            <a:srgbClr val="FFFFFF"/>
                          </a:solidFill>
                          <a:latin typeface="Arial"/>
                          <a:ea typeface="Arial"/>
                          <a:cs typeface="Arial"/>
                        </a:rPr>
                        <a:t>Full preset</a:t>
                      </a:r>
                    </a:p>
                  </a:txBody>
                  <a:tcPr marL="91440" marR="91440" marT="45720" marB="45720">
                    <a:solidFill>
                      <a:srgbClr val="152B45"/>
                    </a:solidFill>
                  </a:tcPr>
                </a:tc>
              </a:tr>
              <a:tr h="523875">
                <a:tc>
                  <a:txBody>
                    <a:bodyPr/>
                    <a:lstStyle/>
                    <a:p>
                      <a:r>
                        <a:rPr sz="1725" b="0">
                          <a:solidFill>
                            <a:srgbClr val="24384D"/>
                          </a:solidFill>
                          <a:latin typeface="Arial"/>
                          <a:ea typeface="Arial"/>
                          <a:cs typeface="Arial"/>
                        </a:rPr>
                        <a:t>Independent seeds</a:t>
                      </a:r>
                    </a:p>
                  </a:txBody>
                  <a:tcPr marL="91440" marR="91440" marT="45720" marB="45720">
                    <a:solidFill>
                      <a:srgbClr val="F0F4F7"/>
                    </a:solidFill>
                  </a:tcPr>
                </a:tc>
                <a:tc>
                  <a:txBody>
                    <a:bodyPr/>
                    <a:lstStyle/>
                    <a:p>
                      <a:r>
                        <a:rPr sz="1725" b="0">
                          <a:solidFill>
                            <a:srgbClr val="24384D"/>
                          </a:solidFill>
                          <a:latin typeface="Arial"/>
                          <a:ea typeface="Arial"/>
                          <a:cs typeface="Arial"/>
                        </a:rPr>
                        <a:t>7, 17, 27</a:t>
                      </a:r>
                    </a:p>
                  </a:txBody>
                  <a:tcPr marL="91440" marR="91440" marT="45720" marB="45720">
                    <a:solidFill>
                      <a:srgbClr val="F0F4F7"/>
                    </a:solidFill>
                  </a:tcPr>
                </a:tc>
              </a:tr>
              <a:tr h="523875">
                <a:tc>
                  <a:txBody>
                    <a:bodyPr/>
                    <a:lstStyle/>
                    <a:p>
                      <a:r>
                        <a:rPr sz="1725" b="0">
                          <a:solidFill>
                            <a:srgbClr val="24384D"/>
                          </a:solidFill>
                          <a:latin typeface="Arial"/>
                          <a:ea typeface="Arial"/>
                          <a:cs typeface="Arial"/>
                        </a:rPr>
                        <a:t>Optimization</a:t>
                      </a:r>
                    </a:p>
                  </a:txBody>
                  <a:tcPr marL="91440" marR="91440" marT="45720" marB="45720">
                    <a:solidFill>
                      <a:srgbClr val="FFFFFF"/>
                    </a:solidFill>
                  </a:tcPr>
                </a:tc>
                <a:tc>
                  <a:txBody>
                    <a:bodyPr/>
                    <a:lstStyle/>
                    <a:p>
                      <a:r>
                        <a:rPr sz="1725" b="0">
                          <a:solidFill>
                            <a:srgbClr val="24384D"/>
                          </a:solidFill>
                          <a:latin typeface="Arial"/>
                          <a:ea typeface="Arial"/>
                          <a:cs typeface="Arial"/>
                        </a:rPr>
                        <a:t>Adam, learning rate 0.001, batch size 512</a:t>
                      </a:r>
                    </a:p>
                  </a:txBody>
                  <a:tcPr marL="91440" marR="91440" marT="45720" marB="45720">
                    <a:solidFill>
                      <a:srgbClr val="FFFFFF"/>
                    </a:solidFill>
                  </a:tcPr>
                </a:tc>
              </a:tr>
              <a:tr h="523875">
                <a:tc>
                  <a:txBody>
                    <a:bodyPr/>
                    <a:lstStyle/>
                    <a:p>
                      <a:r>
                        <a:rPr sz="1725" b="0">
                          <a:solidFill>
                            <a:srgbClr val="24384D"/>
                          </a:solidFill>
                          <a:latin typeface="Arial"/>
                          <a:ea typeface="Arial"/>
                          <a:cs typeface="Arial"/>
                        </a:rPr>
                        <a:t>Budget</a:t>
                      </a:r>
                    </a:p>
                  </a:txBody>
                  <a:tcPr marL="91440" marR="91440" marT="45720" marB="45720">
                    <a:solidFill>
                      <a:srgbClr val="F0F4F7"/>
                    </a:solidFill>
                  </a:tcPr>
                </a:tc>
                <a:tc>
                  <a:txBody>
                    <a:bodyPr/>
                    <a:lstStyle/>
                    <a:p>
                      <a:r>
                        <a:rPr sz="1725" b="0">
                          <a:solidFill>
                            <a:srgbClr val="24384D"/>
                          </a:solidFill>
                          <a:latin typeface="Arial"/>
                          <a:ea typeface="Arial"/>
                          <a:cs typeface="Arial"/>
                        </a:rPr>
                        <a:t>40 epochs, 93 minibatches per epoch</a:t>
                      </a:r>
                    </a:p>
                  </a:txBody>
                  <a:tcPr marL="91440" marR="91440" marT="45720" marB="45720">
                    <a:solidFill>
                      <a:srgbClr val="F0F4F7"/>
                    </a:solidFill>
                  </a:tcPr>
                </a:tc>
              </a:tr>
              <a:tr h="523875">
                <a:tc>
                  <a:txBody>
                    <a:bodyPr/>
                    <a:lstStyle/>
                    <a:p>
                      <a:r>
                        <a:rPr sz="1725" b="0">
                          <a:solidFill>
                            <a:srgbClr val="24384D"/>
                          </a:solidFill>
                          <a:latin typeface="Arial"/>
                          <a:ea typeface="Arial"/>
                          <a:cs typeface="Arial"/>
                        </a:rPr>
                        <a:t>Stabilization</a:t>
                      </a:r>
                    </a:p>
                  </a:txBody>
                  <a:tcPr marL="91440" marR="91440" marT="45720" marB="45720">
                    <a:solidFill>
                      <a:srgbClr val="FFFFFF"/>
                    </a:solidFill>
                  </a:tcPr>
                </a:tc>
                <a:tc>
                  <a:txBody>
                    <a:bodyPr/>
                    <a:lstStyle/>
                    <a:p>
                      <a:r>
                        <a:rPr sz="1725" b="0">
                          <a:solidFill>
                            <a:srgbClr val="24384D"/>
                          </a:solidFill>
                          <a:latin typeface="Arial"/>
                          <a:ea typeface="Arial"/>
                          <a:cs typeface="Arial"/>
                        </a:rPr>
                        <a:t>Global gradient norm clipped to 5</a:t>
                      </a:r>
                    </a:p>
                  </a:txBody>
                  <a:tcPr marL="91440" marR="91440" marT="45720" marB="45720">
                    <a:solidFill>
                      <a:srgbClr val="FFFFFF"/>
                    </a:solidFill>
                  </a:tcPr>
                </a:tc>
              </a:tr>
              <a:tr h="523875">
                <a:tc>
                  <a:txBody>
                    <a:bodyPr/>
                    <a:lstStyle/>
                    <a:p>
                      <a:r>
                        <a:rPr sz="1725" b="0">
                          <a:solidFill>
                            <a:srgbClr val="24384D"/>
                          </a:solidFill>
                          <a:latin typeface="Arial"/>
                          <a:ea typeface="Arial"/>
                          <a:cs typeface="Arial"/>
                        </a:rPr>
                        <a:t>Checkpoint criterion</a:t>
                      </a:r>
                    </a:p>
                  </a:txBody>
                  <a:tcPr marL="91440" marR="91440" marT="45720" marB="45720">
                    <a:solidFill>
                      <a:srgbClr val="F0F4F7"/>
                    </a:solidFill>
                  </a:tcPr>
                </a:tc>
                <a:tc>
                  <a:txBody>
                    <a:bodyPr/>
                    <a:lstStyle/>
                    <a:p>
                      <a:r>
                        <a:rPr sz="1725" b="0">
                          <a:solidFill>
                            <a:srgbClr val="24384D"/>
                          </a:solidFill>
                          <a:latin typeface="Arial"/>
                          <a:ea typeface="Arial"/>
                          <a:cs typeface="Arial"/>
                        </a:rPr>
                        <a:t>Lowest validation prediction MSE</a:t>
                      </a:r>
                    </a:p>
                  </a:txBody>
                  <a:tcPr marL="91440" marR="91440" marT="45720" marB="45720">
                    <a:solidFill>
                      <a:srgbClr val="F0F4F7"/>
                    </a:solidFill>
                  </a:tcPr>
                </a:tc>
              </a:tr>
              <a:tr h="523875">
                <a:tc>
                  <a:txBody>
                    <a:bodyPr/>
                    <a:lstStyle/>
                    <a:p>
                      <a:r>
                        <a:rPr sz="1725" b="0">
                          <a:solidFill>
                            <a:srgbClr val="24384D"/>
                          </a:solidFill>
                          <a:latin typeface="Arial"/>
                          <a:ea typeface="Arial"/>
                          <a:cs typeface="Arial"/>
                        </a:rPr>
                        <a:t>Runtime</a:t>
                      </a:r>
                    </a:p>
                  </a:txBody>
                  <a:tcPr marL="91440" marR="91440" marT="45720" marB="45720">
                    <a:solidFill>
                      <a:srgbClr val="FFFFFF"/>
                    </a:solidFill>
                  </a:tcPr>
                </a:tc>
                <a:tc>
                  <a:txBody>
                    <a:bodyPr/>
                    <a:lstStyle/>
                    <a:p>
                      <a:r>
                        <a:rPr sz="1725" b="0">
                          <a:solidFill>
                            <a:srgbClr val="24384D"/>
                          </a:solidFill>
                          <a:latin typeface="Arial"/>
                          <a:ea typeface="Arial"/>
                          <a:cs typeface="Arial"/>
                        </a:rPr>
                        <a:t>CPU, two PyTorch threads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7A7BACD-E1BF-4A7E-8EDE-5F367E63D4DD}"/>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All families use the same data splits and training budget for each seed.</a:t>
            </a:r>
          </a:p>
        </p:txBody>
      </p:sp>
    </p:spTree>
    <p:extLst>
      <p:ext uri="{BB962C8B-B14F-4D97-AF65-F5344CB8AC3E}">
        <p14:creationId xmlns:p14="http://schemas.microsoft.com/office/powerpoint/2010/main" val="762610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D03F30-4863-4FD7-9476-3B9AB6A4D92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ED55F8F0-E25A-4AEF-B78C-FBE67F9657CA}"/>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Evaluation definitions</a:t>
            </a:r>
          </a:p>
        </p:txBody>
      </p:sp>
      <p:sp>
        <p:nvSpPr>
          <p:cNvPr id="3" name="">
            <a:extLst xmlns:a="http://schemas.openxmlformats.org/drawingml/2006/main">
              <a:ext uri="{FF2B5EF4-FFF2-40B4-BE49-F238E27FC236}">
                <a16:creationId xmlns:a16="http://schemas.microsoft.com/office/drawing/2014/main" id="{50F1F091-B8BF-4B0B-9A08-B405EC5E5F5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06C0582-333E-41FD-9579-7B42A98B9FEB}"/>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F57DD77C-AE5D-4E71-A59F-E7306906EBCB}"/>
              </a:ext>
            </a:extLst>
          </p:cNvPr>
          <p:cNvGraphicFramePr/>
          <p:nvPr/>
        </p:nvGraphicFramePr>
        <p:xfrm>
          <a:off xmlns:a="http://schemas.openxmlformats.org/drawingml/2006/main" x="571500" y="1714500"/>
          <a:ext xmlns:a="http://schemas.openxmlformats.org/drawingml/2006/main" cx="11049000" cy="3810000"/>
        </p:xfrm>
        <a:graphic xmlns:a="http://schemas.openxmlformats.org/drawingml/2006/main">
          <a:graphicData uri="http://schemas.openxmlformats.org/drawingml/2006/table">
            <a:tbl>
              <a:tblPr/>
              <a:tblGrid>
                <a:gridCol w="2952750"/>
                <a:gridCol w="8096250"/>
              </a:tblGrid>
              <a:tr h="635000">
                <a:tc>
                  <a:txBody>
                    <a:bodyPr/>
                    <a:lstStyle/>
                    <a:p>
                      <a:r>
                        <a:rPr sz="1725" b="1">
                          <a:solidFill>
                            <a:srgbClr val="FFFFFF"/>
                          </a:solidFill>
                          <a:latin typeface="Arial"/>
                          <a:ea typeface="Arial"/>
                          <a:cs typeface="Arial"/>
                        </a:rPr>
                        <a:t>Measure</a:t>
                      </a:r>
                    </a:p>
                  </a:txBody>
                  <a:tcPr marL="91440" marR="91440" marT="45720" marB="45720">
                    <a:solidFill>
                      <a:srgbClr val="152B45"/>
                    </a:solidFill>
                  </a:tcPr>
                </a:tc>
                <a:tc>
                  <a:txBody>
                    <a:bodyPr/>
                    <a:lstStyle/>
                    <a:p>
                      <a:r>
                        <a:rPr sz="1725" b="1">
                          <a:solidFill>
                            <a:srgbClr val="FFFFFF"/>
                          </a:solidFill>
                          <a:latin typeface="Arial"/>
                          <a:ea typeface="Arial"/>
                          <a:cs typeface="Arial"/>
                        </a:rPr>
                        <a:t>Definition</a:t>
                      </a:r>
                    </a:p>
                  </a:txBody>
                  <a:tcPr marL="91440" marR="91440" marT="45720" marB="45720">
                    <a:solidFill>
                      <a:srgbClr val="152B45"/>
                    </a:solidFill>
                  </a:tcPr>
                </a:tc>
              </a:tr>
              <a:tr h="635000">
                <a:tc>
                  <a:txBody>
                    <a:bodyPr/>
                    <a:lstStyle/>
                    <a:p>
                      <a:r>
                        <a:rPr sz="1725" b="0">
                          <a:solidFill>
                            <a:srgbClr val="24384D"/>
                          </a:solidFill>
                          <a:latin typeface="Arial"/>
                          <a:ea typeface="Arial"/>
                          <a:cs typeface="Arial"/>
                        </a:rPr>
                        <a:t>One-step MSE</a:t>
                      </a:r>
                    </a:p>
                  </a:txBody>
                  <a:tcPr marL="91440" marR="91440" marT="45720" marB="45720">
                    <a:solidFill>
                      <a:srgbClr val="F0F4F7"/>
                    </a:solidFill>
                  </a:tcPr>
                </a:tc>
                <a:tc>
                  <a:txBody>
                    <a:bodyPr/>
                    <a:lstStyle/>
                    <a:p>
                      <a:r>
                        <a:rPr sz="1725" b="0">
                          <a:solidFill>
                            <a:srgbClr val="24384D"/>
                          </a:solidFill>
                          <a:latin typeface="Arial"/>
                          <a:ea typeface="Arial"/>
                          <a:cs typeface="Arial"/>
                        </a:rPr>
                        <a:t>Mean squared error over test windows and 4 original-unit coordinates.</a:t>
                      </a:r>
                    </a:p>
                  </a:txBody>
                  <a:tcPr marL="91440" marR="91440" marT="45720" marB="45720">
                    <a:solidFill>
                      <a:srgbClr val="F0F4F7"/>
                    </a:solidFill>
                  </a:tcPr>
                </a:tc>
              </a:tr>
              <a:tr h="635000">
                <a:tc>
                  <a:txBody>
                    <a:bodyPr/>
                    <a:lstStyle/>
                    <a:p>
                      <a:r>
                        <a:rPr sz="1725" b="0">
                          <a:solidFill>
                            <a:srgbClr val="24384D"/>
                          </a:solidFill>
                          <a:latin typeface="Arial"/>
                          <a:ea typeface="Arial"/>
                          <a:cs typeface="Arial"/>
                        </a:rPr>
                        <a:t>Switch MSE</a:t>
                      </a:r>
                    </a:p>
                  </a:txBody>
                  <a:tcPr marL="91440" marR="91440" marT="45720" marB="45720">
                    <a:solidFill>
                      <a:srgbClr val="FFFFFF"/>
                    </a:solidFill>
                  </a:tcPr>
                </a:tc>
                <a:tc>
                  <a:txBody>
                    <a:bodyPr/>
                    <a:lstStyle/>
                    <a:p>
                      <a:r>
                        <a:rPr sz="1725" b="0">
                          <a:solidFill>
                            <a:srgbClr val="24384D"/>
                          </a:solidFill>
                          <a:latin typeface="Arial"/>
                          <a:ea typeface="Arial"/>
                          <a:cs typeface="Arial"/>
                        </a:rPr>
                        <a:t>Error on transitions whose regime age equals zero.</a:t>
                      </a:r>
                    </a:p>
                  </a:txBody>
                  <a:tcPr marL="91440" marR="91440" marT="45720" marB="45720">
                    <a:solidFill>
                      <a:srgbClr val="FFFFFF"/>
                    </a:solidFill>
                  </a:tcPr>
                </a:tc>
              </a:tr>
              <a:tr h="635000">
                <a:tc>
                  <a:txBody>
                    <a:bodyPr/>
                    <a:lstStyle/>
                    <a:p>
                      <a:r>
                        <a:rPr sz="1725" b="0">
                          <a:solidFill>
                            <a:srgbClr val="24384D"/>
                          </a:solidFill>
                          <a:latin typeface="Arial"/>
                          <a:ea typeface="Arial"/>
                          <a:cs typeface="Arial"/>
                        </a:rPr>
                        <a:t>Routing agreement</a:t>
                      </a:r>
                    </a:p>
                  </a:txBody>
                  <a:tcPr marL="91440" marR="91440" marT="45720" marB="45720">
                    <a:solidFill>
                      <a:srgbClr val="F0F4F7"/>
                    </a:solidFill>
                  </a:tcPr>
                </a:tc>
                <a:tc>
                  <a:txBody>
                    <a:bodyPr/>
                    <a:lstStyle/>
                    <a:p>
                      <a:r>
                        <a:rPr sz="1725" b="0">
                          <a:solidFill>
                            <a:srgbClr val="24384D"/>
                          </a:solidFill>
                          <a:latin typeface="Arial"/>
                          <a:ea typeface="Arial"/>
                          <a:cs typeface="Arial"/>
                        </a:rPr>
                        <a:t>Top expert mapped to regime using a validation-fitted permutation.</a:t>
                      </a:r>
                    </a:p>
                  </a:txBody>
                  <a:tcPr marL="91440" marR="91440" marT="45720" marB="45720">
                    <a:solidFill>
                      <a:srgbClr val="F0F4F7"/>
                    </a:solidFill>
                  </a:tcPr>
                </a:tc>
              </a:tr>
              <a:tr h="635000">
                <a:tc>
                  <a:txBody>
                    <a:bodyPr/>
                    <a:lstStyle/>
                    <a:p>
                      <a:r>
                        <a:rPr sz="1725" b="0">
                          <a:solidFill>
                            <a:srgbClr val="24384D"/>
                          </a:solidFill>
                          <a:latin typeface="Arial"/>
                          <a:ea typeface="Arial"/>
                          <a:cs typeface="Arial"/>
                        </a:rPr>
                        <a:t>Recovery</a:t>
                      </a:r>
                    </a:p>
                  </a:txBody>
                  <a:tcPr marL="91440" marR="91440" marT="45720" marB="45720">
                    <a:solidFill>
                      <a:srgbClr val="FFFFFF"/>
                    </a:solidFill>
                  </a:tcPr>
                </a:tc>
                <a:tc>
                  <a:txBody>
                    <a:bodyPr/>
                    <a:lstStyle/>
                    <a:p>
                      <a:r>
                        <a:rPr sz="1725" b="0">
                          <a:solidFill>
                            <a:srgbClr val="24384D"/>
                          </a:solidFill>
                          <a:latin typeface="Arial"/>
                          <a:ea typeface="Arial"/>
                          <a:cs typeface="Arial"/>
                        </a:rPr>
                        <a:t>First run of 3 sufficiently low-error predictions before the next switch.</a:t>
                      </a:r>
                    </a:p>
                  </a:txBody>
                  <a:tcPr marL="91440" marR="91440" marT="45720" marB="45720">
                    <a:solidFill>
                      <a:srgbClr val="FFFFFF"/>
                    </a:solidFill>
                  </a:tcPr>
                </a:tc>
              </a:tr>
              <a:tr h="635000">
                <a:tc>
                  <a:txBody>
                    <a:bodyPr/>
                    <a:lstStyle/>
                    <a:p>
                      <a:r>
                        <a:rPr sz="1725" b="0">
                          <a:solidFill>
                            <a:srgbClr val="24384D"/>
                          </a:solidFill>
                          <a:latin typeface="Arial"/>
                          <a:ea typeface="Arial"/>
                          <a:cs typeface="Arial"/>
                        </a:rPr>
                        <a:t>Rollout MSE</a:t>
                      </a:r>
                    </a:p>
                  </a:txBody>
                  <a:tcPr marL="91440" marR="91440" marT="45720" marB="45720">
                    <a:solidFill>
                      <a:srgbClr val="F0F4F7"/>
                    </a:solidFill>
                  </a:tcPr>
                </a:tc>
                <a:tc>
                  <a:txBody>
                    <a:bodyPr/>
                    <a:lstStyle/>
                    <a:p>
                      <a:r>
                        <a:rPr sz="1725" b="0">
                          <a:solidFill>
                            <a:srgbClr val="24384D"/>
                          </a:solidFill>
                          <a:latin typeface="Arial"/>
                          <a:ea typeface="Arial"/>
                          <a:cs typeface="Arial"/>
                        </a:rPr>
                        <a:t>Recursive predictions at horizons 1–32 without future observed states.</a:t>
                      </a:r>
                    </a:p>
                  </a:txBody>
                  <a:tcPr marL="91440" marR="91440" marT="45720" marB="45720">
                    <a:solidFill>
                      <a:srgbClr val="F0F4F7"/>
                    </a:solidFill>
                  </a:tcPr>
                </a:tc>
              </a:tr>
            </a:tbl>
          </a:graphicData>
        </a:graphic>
      </p:graphicFrame>
    </p:spTree>
    <p:extLst>
      <p:ext uri="{BB962C8B-B14F-4D97-AF65-F5344CB8AC3E}">
        <p14:creationId xmlns:p14="http://schemas.microsoft.com/office/powerpoint/2010/main" val="16358285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C6C6A2-1FDA-42C8-A38A-D46CBE758C4A}"/>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3AE2729-2721-431C-A39F-DB4802827B9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One-step error favors the dense controls</a:t>
            </a:r>
          </a:p>
        </p:txBody>
      </p:sp>
      <p:sp>
        <p:nvSpPr>
          <p:cNvPr id="3" name="">
            <a:extLst xmlns:a="http://schemas.openxmlformats.org/drawingml/2006/main">
              <a:ext uri="{FF2B5EF4-FFF2-40B4-BE49-F238E27FC236}">
                <a16:creationId xmlns:a16="http://schemas.microsoft.com/office/drawing/2014/main" id="{43DA3E75-41BB-425D-A7D3-3304D6333561}"/>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0FA9AB4-193B-42A1-B67D-3E3C34D13A84}"/>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20</a:t>
            </a:r>
          </a:p>
        </p:txBody>
      </p:sp>
      <p:graphicFrame>
        <p:nvGraphicFramePr>
          <p:cNvPr id="5" name="Chart">
            <a:extLst xmlns:a="http://schemas.openxmlformats.org/drawingml/2006/main">
              <a:ext uri="{FF2B5EF4-FFF2-40B4-BE49-F238E27FC236}">
                <a16:creationId xmlns:a16="http://schemas.microsoft.com/office/drawing/2014/main" id="{110AA449-1560-4F83-8F6C-52E559010354}"/>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8ff269184df84a30"/>
          </a:graphicData>
        </a:graphic>
      </p:graphicFrame>
      <p:sp>
        <p:nvSpPr>
          <p:cNvPr id="6" name="">
            <a:extLst xmlns:a="http://schemas.openxmlformats.org/drawingml/2006/main">
              <a:ext uri="{FF2B5EF4-FFF2-40B4-BE49-F238E27FC236}">
                <a16:creationId xmlns:a16="http://schemas.microsoft.com/office/drawing/2014/main" id="{2D1A82A9-002C-43B2-B5F0-F6840478075E}"/>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Learned MoE: 0.011466 MSE. Dense active: 0.011131. Dense total: 0.011068.</a:t>
            </a:r>
          </a:p>
        </p:txBody>
      </p:sp>
    </p:spTree>
    <p:extLst>
      <p:ext uri="{BB962C8B-B14F-4D97-AF65-F5344CB8AC3E}">
        <p14:creationId xmlns:p14="http://schemas.microsoft.com/office/powerpoint/2010/main" val="5989687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387EEE-BDEC-4933-86FC-A6323A0A4426}"/>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F21DC0BC-5DE8-4143-8E39-3D90CDD2F6B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The MoE disadvantage repeats across seeds</a:t>
            </a:r>
          </a:p>
        </p:txBody>
      </p:sp>
      <p:sp>
        <p:nvSpPr>
          <p:cNvPr id="3" name="">
            <a:extLst xmlns:a="http://schemas.openxmlformats.org/drawingml/2006/main">
              <a:ext uri="{FF2B5EF4-FFF2-40B4-BE49-F238E27FC236}">
                <a16:creationId xmlns:a16="http://schemas.microsoft.com/office/drawing/2014/main" id="{11079BC6-C003-4447-B7B9-32A1CE8630D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AC44B74B-79DA-4C37-B3B4-269A22F4FF00}"/>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21</a:t>
            </a:r>
          </a:p>
        </p:txBody>
      </p:sp>
      <p:graphicFrame>
        <p:nvGraphicFramePr>
          <p:cNvPr id="5" name="Chart">
            <a:extLst xmlns:a="http://schemas.openxmlformats.org/drawingml/2006/main">
              <a:ext uri="{FF2B5EF4-FFF2-40B4-BE49-F238E27FC236}">
                <a16:creationId xmlns:a16="http://schemas.microsoft.com/office/drawing/2014/main" id="{9632517D-A00A-4B80-95D2-E33E3D90BB8D}"/>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7ed7f84fd7f749c6"/>
          </a:graphicData>
        </a:graphic>
      </p:graphicFrame>
      <p:sp>
        <p:nvSpPr>
          <p:cNvPr id="6" name="">
            <a:extLst xmlns:a="http://schemas.openxmlformats.org/drawingml/2006/main">
              <a:ext uri="{FF2B5EF4-FFF2-40B4-BE49-F238E27FC236}">
                <a16:creationId xmlns:a16="http://schemas.microsoft.com/office/drawing/2014/main" id="{8E11EA96-CA90-4522-A53C-90F292654D7B}"/>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MoE wins in 0 of 3 seeds. Average paired relative error is +3.03% vs dense active and +3.61% vs dense total.</a:t>
            </a:r>
          </a:p>
        </p:txBody>
      </p:sp>
    </p:spTree>
    <p:extLst>
      <p:ext uri="{BB962C8B-B14F-4D97-AF65-F5344CB8AC3E}">
        <p14:creationId xmlns:p14="http://schemas.microsoft.com/office/powerpoint/2010/main" val="3093669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DF75B3-52CB-4A1D-A379-02DBC4DAEA45}"/>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4F318598-C83B-45D5-A9FF-C668B7E2E5B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Validation learning curves</a:t>
            </a:r>
          </a:p>
        </p:txBody>
      </p:sp>
      <p:sp>
        <p:nvSpPr>
          <p:cNvPr id="3" name="">
            <a:extLst xmlns:a="http://schemas.openxmlformats.org/drawingml/2006/main">
              <a:ext uri="{FF2B5EF4-FFF2-40B4-BE49-F238E27FC236}">
                <a16:creationId xmlns:a16="http://schemas.microsoft.com/office/drawing/2014/main" id="{A6C13592-A7F6-40A1-A789-21B877874872}"/>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756CAFDA-EAD8-4953-90B9-47BD139C329F}"/>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22</a:t>
            </a:r>
          </a:p>
        </p:txBody>
      </p:sp>
      <p:graphicFrame>
        <p:nvGraphicFramePr>
          <p:cNvPr id="5" name="Chart">
            <a:extLst xmlns:a="http://schemas.openxmlformats.org/drawingml/2006/main">
              <a:ext uri="{FF2B5EF4-FFF2-40B4-BE49-F238E27FC236}">
                <a16:creationId xmlns:a16="http://schemas.microsoft.com/office/drawing/2014/main" id="{0F8A3879-D32A-45B1-A82A-ACE1FBE2CBE5}"/>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b77c2fa4581e4375"/>
          </a:graphicData>
        </a:graphic>
      </p:graphicFrame>
      <p:sp>
        <p:nvSpPr>
          <p:cNvPr id="6" name="">
            <a:extLst xmlns:a="http://schemas.openxmlformats.org/drawingml/2006/main">
              <a:ext uri="{FF2B5EF4-FFF2-40B4-BE49-F238E27FC236}">
                <a16:creationId xmlns:a16="http://schemas.microsoft.com/office/drawing/2014/main" id="{884269A8-EE1A-4143-919D-3F7EDE68E0C9}"/>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Seed 7 shown. Most checkpoints occur late in the 40-epoch budget.</a:t>
            </a:r>
          </a:p>
        </p:txBody>
      </p:sp>
    </p:spTree>
    <p:extLst>
      <p:ext uri="{BB962C8B-B14F-4D97-AF65-F5344CB8AC3E}">
        <p14:creationId xmlns:p14="http://schemas.microsoft.com/office/powerpoint/2010/main" val="6698035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8C6400-E8B2-4068-B9E5-332FA93631C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C6D47F9-8FDA-4D22-82A8-43F0C867763A}"/>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Errors rise sharply at regime switches</a:t>
            </a:r>
          </a:p>
        </p:txBody>
      </p:sp>
      <p:sp>
        <p:nvSpPr>
          <p:cNvPr id="3" name="">
            <a:extLst xmlns:a="http://schemas.openxmlformats.org/drawingml/2006/main">
              <a:ext uri="{FF2B5EF4-FFF2-40B4-BE49-F238E27FC236}">
                <a16:creationId xmlns:a16="http://schemas.microsoft.com/office/drawing/2014/main" id="{F8027897-49C8-4E8A-AA28-DDD8A8D45BF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1B3B5C6-2BBF-4046-8D6A-B1EA85F9E75F}"/>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23</a:t>
            </a:r>
          </a:p>
        </p:txBody>
      </p:sp>
      <p:graphicFrame>
        <p:nvGraphicFramePr>
          <p:cNvPr id="5" name="Chart">
            <a:extLst xmlns:a="http://schemas.openxmlformats.org/drawingml/2006/main">
              <a:ext uri="{FF2B5EF4-FFF2-40B4-BE49-F238E27FC236}">
                <a16:creationId xmlns:a16="http://schemas.microsoft.com/office/drawing/2014/main" id="{4400954D-6B35-48CE-A19B-79F372E9C6BC}"/>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1ab4804e6b9d48a8"/>
          </a:graphicData>
        </a:graphic>
      </p:graphicFrame>
      <p:sp>
        <p:nvSpPr>
          <p:cNvPr id="6" name="">
            <a:extLst xmlns:a="http://schemas.openxmlformats.org/drawingml/2006/main">
              <a:ext uri="{FF2B5EF4-FFF2-40B4-BE49-F238E27FC236}">
                <a16:creationId xmlns:a16="http://schemas.microsoft.com/office/drawing/2014/main" id="{DD995613-41FD-4736-9826-A60EB6A06159}"/>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Ordinary models incur about 0.07 MSE at the switch. The oracle remains near the noise level.</a:t>
            </a:r>
          </a:p>
        </p:txBody>
      </p:sp>
    </p:spTree>
    <p:extLst>
      <p:ext uri="{BB962C8B-B14F-4D97-AF65-F5344CB8AC3E}">
        <p14:creationId xmlns:p14="http://schemas.microsoft.com/office/powerpoint/2010/main" val="12638410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DC85DA-446E-4329-8E8E-EDC18CF9E3B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33FA7FCE-459C-4D95-9351-688F00302FA3}"/>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Recovery needs both delay and coverage</a:t>
            </a:r>
          </a:p>
        </p:txBody>
      </p:sp>
      <p:sp>
        <p:nvSpPr>
          <p:cNvPr id="3" name="">
            <a:extLst xmlns:a="http://schemas.openxmlformats.org/drawingml/2006/main">
              <a:ext uri="{FF2B5EF4-FFF2-40B4-BE49-F238E27FC236}">
                <a16:creationId xmlns:a16="http://schemas.microsoft.com/office/drawing/2014/main" id="{9DF441F1-DA1C-4107-BF3A-EC5C0F1E70CE}"/>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92CBF58-A14E-4FCF-9533-831D47D17822}"/>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93068301-0055-49FC-A985-1F0EBC0E8563}"/>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3905250"/>
                <a:gridCol w="3429000"/>
                <a:gridCol w="3714750"/>
              </a:tblGrid>
              <a:tr h="587375">
                <a:tc>
                  <a:txBody>
                    <a:bodyPr/>
                    <a:lstStyle/>
                    <a:p>
                      <a:r>
                        <a:rPr sz="1725" b="1">
                          <a:solidFill>
                            <a:srgbClr val="FFFFFF"/>
                          </a:solidFill>
                          <a:latin typeface="Arial"/>
                          <a:ea typeface="Arial"/>
                          <a:cs typeface="Arial"/>
                        </a:rPr>
                        <a:t>Family</a:t>
                      </a:r>
                    </a:p>
                  </a:txBody>
                  <a:tcPr marL="91440" marR="91440" marT="45720" marB="45720">
                    <a:solidFill>
                      <a:srgbClr val="152B45"/>
                    </a:solidFill>
                  </a:tcPr>
                </a:tc>
                <a:tc>
                  <a:txBody>
                    <a:bodyPr/>
                    <a:lstStyle/>
                    <a:p>
                      <a:r>
                        <a:rPr sz="1725" b="1">
                          <a:solidFill>
                            <a:srgbClr val="FFFFFF"/>
                          </a:solidFill>
                          <a:latin typeface="Arial"/>
                          <a:ea typeface="Arial"/>
                          <a:cs typeface="Arial"/>
                        </a:rPr>
                        <a:t>Recovered episodes</a:t>
                      </a:r>
                    </a:p>
                  </a:txBody>
                  <a:tcPr marL="91440" marR="91440" marT="45720" marB="45720">
                    <a:solidFill>
                      <a:srgbClr val="152B45"/>
                    </a:solidFill>
                  </a:tcPr>
                </a:tc>
                <a:tc>
                  <a:txBody>
                    <a:bodyPr/>
                    <a:lstStyle/>
                    <a:p>
                      <a:r>
                        <a:rPr sz="1725" b="1">
                          <a:solidFill>
                            <a:srgbClr val="FFFFFF"/>
                          </a:solidFill>
                          <a:latin typeface="Arial"/>
                          <a:ea typeface="Arial"/>
                          <a:cs typeface="Arial"/>
                        </a:rPr>
                        <a:t>Delay among recovered</a:t>
                      </a:r>
                    </a:p>
                  </a:txBody>
                  <a:tcPr marL="91440" marR="91440" marT="45720" marB="45720">
                    <a:solidFill>
                      <a:srgbClr val="152B45"/>
                    </a:solidFill>
                  </a:tcPr>
                </a:tc>
              </a:tr>
              <a:tr h="587375">
                <a:tc>
                  <a:txBody>
                    <a:bodyPr/>
                    <a:lstStyle/>
                    <a:p>
                      <a:r>
                        <a:rPr sz="1725" b="0">
                          <a:solidFill>
                            <a:srgbClr val="24384D"/>
                          </a:solidFill>
                          <a:latin typeface="Arial"/>
                          <a:ea typeface="Arial"/>
                          <a:cs typeface="Arial"/>
                        </a:rPr>
                        <a:t>Dense active</a:t>
                      </a:r>
                    </a:p>
                  </a:txBody>
                  <a:tcPr marL="91440" marR="91440" marT="45720" marB="45720">
                    <a:solidFill>
                      <a:srgbClr val="F0F4F7"/>
                    </a:solidFill>
                  </a:tcPr>
                </a:tc>
                <a:tc>
                  <a:txBody>
                    <a:bodyPr/>
                    <a:lstStyle/>
                    <a:p>
                      <a:r>
                        <a:rPr sz="1725" b="0">
                          <a:solidFill>
                            <a:srgbClr val="24384D"/>
                          </a:solidFill>
                          <a:latin typeface="Arial"/>
                          <a:ea typeface="Arial"/>
                          <a:cs typeface="Arial"/>
                        </a:rPr>
                        <a:t>76.4%</a:t>
                      </a:r>
                    </a:p>
                  </a:txBody>
                  <a:tcPr marL="91440" marR="91440" marT="45720" marB="45720">
                    <a:solidFill>
                      <a:srgbClr val="F0F4F7"/>
                    </a:solidFill>
                  </a:tcPr>
                </a:tc>
                <a:tc>
                  <a:txBody>
                    <a:bodyPr/>
                    <a:lstStyle/>
                    <a:p>
                      <a:r>
                        <a:rPr sz="1725" b="0">
                          <a:solidFill>
                            <a:srgbClr val="24384D"/>
                          </a:solidFill>
                          <a:latin typeface="Arial"/>
                          <a:ea typeface="Arial"/>
                          <a:cs typeface="Arial"/>
                        </a:rPr>
                        <a:t>2.65 steps</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Dense total</a:t>
                      </a:r>
                    </a:p>
                  </a:txBody>
                  <a:tcPr marL="91440" marR="91440" marT="45720" marB="45720">
                    <a:solidFill>
                      <a:srgbClr val="FFFFFF"/>
                    </a:solidFill>
                  </a:tcPr>
                </a:tc>
                <a:tc>
                  <a:txBody>
                    <a:bodyPr/>
                    <a:lstStyle/>
                    <a:p>
                      <a:r>
                        <a:rPr sz="1725" b="0">
                          <a:solidFill>
                            <a:srgbClr val="24384D"/>
                          </a:solidFill>
                          <a:latin typeface="Arial"/>
                          <a:ea typeface="Arial"/>
                          <a:cs typeface="Arial"/>
                        </a:rPr>
                        <a:t>76.2%</a:t>
                      </a:r>
                    </a:p>
                  </a:txBody>
                  <a:tcPr marL="91440" marR="91440" marT="45720" marB="45720">
                    <a:solidFill>
                      <a:srgbClr val="FFFFFF"/>
                    </a:solidFill>
                  </a:tcPr>
                </a:tc>
                <a:tc>
                  <a:txBody>
                    <a:bodyPr/>
                    <a:lstStyle/>
                    <a:p>
                      <a:r>
                        <a:rPr sz="1725" b="0">
                          <a:solidFill>
                            <a:srgbClr val="24384D"/>
                          </a:solidFill>
                          <a:latin typeface="Arial"/>
                          <a:ea typeface="Arial"/>
                          <a:cs typeface="Arial"/>
                        </a:rPr>
                        <a:t>2.65 steps</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Learned MoE</a:t>
                      </a:r>
                    </a:p>
                  </a:txBody>
                  <a:tcPr marL="91440" marR="91440" marT="45720" marB="45720">
                    <a:solidFill>
                      <a:srgbClr val="F0F4F7"/>
                    </a:solidFill>
                  </a:tcPr>
                </a:tc>
                <a:tc>
                  <a:txBody>
                    <a:bodyPr/>
                    <a:lstStyle/>
                    <a:p>
                      <a:r>
                        <a:rPr sz="1725" b="0">
                          <a:solidFill>
                            <a:srgbClr val="24384D"/>
                          </a:solidFill>
                          <a:latin typeface="Arial"/>
                          <a:ea typeface="Arial"/>
                          <a:cs typeface="Arial"/>
                        </a:rPr>
                        <a:t>76.2%</a:t>
                      </a:r>
                    </a:p>
                  </a:txBody>
                  <a:tcPr marL="91440" marR="91440" marT="45720" marB="45720">
                    <a:solidFill>
                      <a:srgbClr val="F0F4F7"/>
                    </a:solidFill>
                  </a:tcPr>
                </a:tc>
                <a:tc>
                  <a:txBody>
                    <a:bodyPr/>
                    <a:lstStyle/>
                    <a:p>
                      <a:r>
                        <a:rPr sz="1725" b="0">
                          <a:solidFill>
                            <a:srgbClr val="24384D"/>
                          </a:solidFill>
                          <a:latin typeface="Arial"/>
                          <a:ea typeface="Arial"/>
                          <a:cs typeface="Arial"/>
                        </a:rPr>
                        <a:t>2.92 steps</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Random routing</a:t>
                      </a:r>
                    </a:p>
                  </a:txBody>
                  <a:tcPr marL="91440" marR="91440" marT="45720" marB="45720">
                    <a:solidFill>
                      <a:srgbClr val="FFFFFF"/>
                    </a:solidFill>
                  </a:tcPr>
                </a:tc>
                <a:tc>
                  <a:txBody>
                    <a:bodyPr/>
                    <a:lstStyle/>
                    <a:p>
                      <a:r>
                        <a:rPr sz="1725" b="0">
                          <a:solidFill>
                            <a:srgbClr val="24384D"/>
                          </a:solidFill>
                          <a:latin typeface="Arial"/>
                          <a:ea typeface="Arial"/>
                          <a:cs typeface="Arial"/>
                        </a:rPr>
                        <a:t>75.6%</a:t>
                      </a:r>
                    </a:p>
                  </a:txBody>
                  <a:tcPr marL="91440" marR="91440" marT="45720" marB="45720">
                    <a:solidFill>
                      <a:srgbClr val="FFFFFF"/>
                    </a:solidFill>
                  </a:tcPr>
                </a:tc>
                <a:tc>
                  <a:txBody>
                    <a:bodyPr/>
                    <a:lstStyle/>
                    <a:p>
                      <a:r>
                        <a:rPr sz="1725" b="0">
                          <a:solidFill>
                            <a:srgbClr val="24384D"/>
                          </a:solidFill>
                          <a:latin typeface="Arial"/>
                          <a:ea typeface="Arial"/>
                          <a:cs typeface="Arial"/>
                        </a:rPr>
                        <a:t>2.94 steps</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Oracle</a:t>
                      </a:r>
                    </a:p>
                  </a:txBody>
                  <a:tcPr marL="91440" marR="91440" marT="45720" marB="45720">
                    <a:solidFill>
                      <a:srgbClr val="F0F4F7"/>
                    </a:solidFill>
                  </a:tcPr>
                </a:tc>
                <a:tc>
                  <a:txBody>
                    <a:bodyPr/>
                    <a:lstStyle/>
                    <a:p>
                      <a:r>
                        <a:rPr sz="1725" b="0">
                          <a:solidFill>
                            <a:srgbClr val="24384D"/>
                          </a:solidFill>
                          <a:latin typeface="Arial"/>
                          <a:ea typeface="Arial"/>
                          <a:cs typeface="Arial"/>
                        </a:rPr>
                        <a:t>81.6%</a:t>
                      </a:r>
                    </a:p>
                  </a:txBody>
                  <a:tcPr marL="91440" marR="91440" marT="45720" marB="45720">
                    <a:solidFill>
                      <a:srgbClr val="F0F4F7"/>
                    </a:solidFill>
                  </a:tcPr>
                </a:tc>
                <a:tc>
                  <a:txBody>
                    <a:bodyPr/>
                    <a:lstStyle/>
                    <a:p>
                      <a:r>
                        <a:rPr sz="1725" b="0">
                          <a:solidFill>
                            <a:srgbClr val="24384D"/>
                          </a:solidFill>
                          <a:latin typeface="Arial"/>
                          <a:ea typeface="Arial"/>
                          <a:cs typeface="Arial"/>
                        </a:rPr>
                        <a:t>1.48 steps</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8F9D3A05-EA3F-440B-B7A8-A5FF40FE99A2}"/>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Learned MoE recovers in 76.2% of episodes, with a conditional mean delay of 2.92 steps.</a:t>
            </a:r>
          </a:p>
        </p:txBody>
      </p:sp>
    </p:spTree>
    <p:extLst>
      <p:ext uri="{BB962C8B-B14F-4D97-AF65-F5344CB8AC3E}">
        <p14:creationId xmlns:p14="http://schemas.microsoft.com/office/powerpoint/2010/main" val="1561261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CD1999-46FA-44A0-86F1-4182B6456574}"/>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1F9428F6-ECD9-435A-AE50-2CFD15604937}"/>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Expert use is distributed across all three routes</a:t>
            </a:r>
          </a:p>
        </p:txBody>
      </p:sp>
      <p:sp>
        <p:nvSpPr>
          <p:cNvPr id="3" name="">
            <a:extLst xmlns:a="http://schemas.openxmlformats.org/drawingml/2006/main">
              <a:ext uri="{FF2B5EF4-FFF2-40B4-BE49-F238E27FC236}">
                <a16:creationId xmlns:a16="http://schemas.microsoft.com/office/drawing/2014/main" id="{2883F5B4-50A7-4884-92BA-E6048E3DF0C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F2AAA66B-E8EF-4764-A507-B50C93D8C5B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25</a:t>
            </a:r>
          </a:p>
        </p:txBody>
      </p:sp>
      <p:graphicFrame>
        <p:nvGraphicFramePr>
          <p:cNvPr id="5" name="Chart">
            <a:extLst xmlns:a="http://schemas.openxmlformats.org/drawingml/2006/main">
              <a:ext uri="{FF2B5EF4-FFF2-40B4-BE49-F238E27FC236}">
                <a16:creationId xmlns:a16="http://schemas.microsoft.com/office/drawing/2014/main" id="{8B65A00C-BB7C-4735-AAD9-B929F4D276EB}"/>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a03c84b022004888"/>
          </a:graphicData>
        </a:graphic>
      </p:graphicFrame>
      <p:sp>
        <p:nvSpPr>
          <p:cNvPr id="6" name="">
            <a:extLst xmlns:a="http://schemas.openxmlformats.org/drawingml/2006/main">
              <a:ext uri="{FF2B5EF4-FFF2-40B4-BE49-F238E27FC236}">
                <a16:creationId xmlns:a16="http://schemas.microsoft.com/office/drawing/2014/main" id="{3585E7B7-326A-439E-A4BE-E913D330B5C9}"/>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Seed 7 learned routing uses experts in proportions 42.1%, 26.8% and 31.1%.</a:t>
            </a:r>
          </a:p>
        </p:txBody>
      </p:sp>
    </p:spTree>
    <p:extLst>
      <p:ext uri="{BB962C8B-B14F-4D97-AF65-F5344CB8AC3E}">
        <p14:creationId xmlns:p14="http://schemas.microsoft.com/office/powerpoint/2010/main" val="9841512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922AD4-2E6E-4A46-AB5D-882292B6B129}"/>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2CC72303-B1EA-47A4-BD5F-206CCCC4FA1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Routing only partly aligns with the regimes</a:t>
            </a:r>
          </a:p>
        </p:txBody>
      </p:sp>
      <p:sp>
        <p:nvSpPr>
          <p:cNvPr id="3" name="">
            <a:extLst xmlns:a="http://schemas.openxmlformats.org/drawingml/2006/main">
              <a:ext uri="{FF2B5EF4-FFF2-40B4-BE49-F238E27FC236}">
                <a16:creationId xmlns:a16="http://schemas.microsoft.com/office/drawing/2014/main" id="{68B13C4B-133E-4975-8A6A-37D79AE867C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30823EC-2B57-431A-B99B-116435C01EC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26</a:t>
            </a:r>
          </a:p>
        </p:txBody>
      </p:sp>
      <p:graphicFrame>
        <p:nvGraphicFramePr>
          <p:cNvPr id="5" name="">
            <a:extLst xmlns:a="http://schemas.openxmlformats.org/drawingml/2006/main">
              <a:ext uri="{FF2B5EF4-FFF2-40B4-BE49-F238E27FC236}">
                <a16:creationId xmlns:a16="http://schemas.microsoft.com/office/drawing/2014/main" id="{3B55FCF5-DB0A-445C-8507-89A22844DBCC}"/>
              </a:ext>
            </a:extLst>
          </p:cNvPr>
          <p:cNvGraphicFramePr/>
          <p:nvPr/>
        </p:nvGraphicFramePr>
        <p:xfrm>
          <a:off xmlns:a="http://schemas.openxmlformats.org/drawingml/2006/main" x="571500" y="1809750"/>
          <a:ext xmlns:a="http://schemas.openxmlformats.org/drawingml/2006/main" cx="11049000" cy="2571750"/>
        </p:xfrm>
        <a:graphic xmlns:a="http://schemas.openxmlformats.org/drawingml/2006/main">
          <a:graphicData uri="http://schemas.openxmlformats.org/drawingml/2006/table">
            <a:tbl>
              <a:tblPr/>
              <a:tblGrid>
                <a:gridCol w="3048000"/>
                <a:gridCol w="2667000"/>
                <a:gridCol w="2667000"/>
                <a:gridCol w="2667000"/>
              </a:tblGrid>
              <a:tr h="642938">
                <a:tc>
                  <a:txBody>
                    <a:bodyPr/>
                    <a:lstStyle/>
                    <a:p>
                      <a:r>
                        <a:rPr sz="1725" b="1">
                          <a:solidFill>
                            <a:srgbClr val="FFFFFF"/>
                          </a:solidFill>
                          <a:latin typeface="Arial"/>
                          <a:ea typeface="Arial"/>
                          <a:cs typeface="Arial"/>
                        </a:rPr>
                        <a:t>True regime</a:t>
                      </a:r>
                    </a:p>
                  </a:txBody>
                  <a:tcPr marL="91440" marR="91440" marT="45720" marB="45720">
                    <a:solidFill>
                      <a:srgbClr val="152B45"/>
                    </a:solidFill>
                  </a:tcPr>
                </a:tc>
                <a:tc>
                  <a:txBody>
                    <a:bodyPr/>
                    <a:lstStyle/>
                    <a:p>
                      <a:r>
                        <a:rPr sz="1725" b="1">
                          <a:solidFill>
                            <a:srgbClr val="FFFFFF"/>
                          </a:solidFill>
                          <a:latin typeface="Arial"/>
                          <a:ea typeface="Arial"/>
                          <a:cs typeface="Arial"/>
                        </a:rPr>
                        <a:t>Top expert 0</a:t>
                      </a:r>
                    </a:p>
                  </a:txBody>
                  <a:tcPr marL="91440" marR="91440" marT="45720" marB="45720">
                    <a:solidFill>
                      <a:srgbClr val="152B45"/>
                    </a:solidFill>
                  </a:tcPr>
                </a:tc>
                <a:tc>
                  <a:txBody>
                    <a:bodyPr/>
                    <a:lstStyle/>
                    <a:p>
                      <a:r>
                        <a:rPr sz="1725" b="1">
                          <a:solidFill>
                            <a:srgbClr val="FFFFFF"/>
                          </a:solidFill>
                          <a:latin typeface="Arial"/>
                          <a:ea typeface="Arial"/>
                          <a:cs typeface="Arial"/>
                        </a:rPr>
                        <a:t>Top expert 1</a:t>
                      </a:r>
                    </a:p>
                  </a:txBody>
                  <a:tcPr marL="91440" marR="91440" marT="45720" marB="45720">
                    <a:solidFill>
                      <a:srgbClr val="152B45"/>
                    </a:solidFill>
                  </a:tcPr>
                </a:tc>
                <a:tc>
                  <a:txBody>
                    <a:bodyPr/>
                    <a:lstStyle/>
                    <a:p>
                      <a:r>
                        <a:rPr sz="1725" b="1">
                          <a:solidFill>
                            <a:srgbClr val="FFFFFF"/>
                          </a:solidFill>
                          <a:latin typeface="Arial"/>
                          <a:ea typeface="Arial"/>
                          <a:cs typeface="Arial"/>
                        </a:rPr>
                        <a:t>Top expert 2</a:t>
                      </a:r>
                    </a:p>
                  </a:txBody>
                  <a:tcPr marL="91440" marR="91440" marT="45720" marB="45720">
                    <a:solidFill>
                      <a:srgbClr val="152B45"/>
                    </a:solidFill>
                  </a:tcPr>
                </a:tc>
              </a:tr>
              <a:tr h="642938">
                <a:tc>
                  <a:txBody>
                    <a:bodyPr/>
                    <a:lstStyle/>
                    <a:p>
                      <a:r>
                        <a:rPr sz="1725" b="0">
                          <a:solidFill>
                            <a:srgbClr val="24384D"/>
                          </a:solidFill>
                          <a:latin typeface="Arial"/>
                          <a:ea typeface="Arial"/>
                          <a:cs typeface="Arial"/>
                        </a:rPr>
                        <a:t>Regime 0</a:t>
                      </a:r>
                    </a:p>
                  </a:txBody>
                  <a:tcPr marL="91440" marR="91440" marT="45720" marB="45720">
                    <a:solidFill>
                      <a:srgbClr val="F0F4F7"/>
                    </a:solidFill>
                  </a:tcPr>
                </a:tc>
                <a:tc>
                  <a:txBody>
                    <a:bodyPr/>
                    <a:lstStyle/>
                    <a:p>
                      <a:r>
                        <a:rPr sz="1725" b="0">
                          <a:solidFill>
                            <a:srgbClr val="24384D"/>
                          </a:solidFill>
                          <a:latin typeface="Arial"/>
                          <a:ea typeface="Arial"/>
                          <a:cs typeface="Arial"/>
                        </a:rPr>
                        <a:t>2211</a:t>
                      </a:r>
                    </a:p>
                  </a:txBody>
                  <a:tcPr marL="91440" marR="91440" marT="45720" marB="45720">
                    <a:solidFill>
                      <a:srgbClr val="F0F4F7"/>
                    </a:solidFill>
                  </a:tcPr>
                </a:tc>
                <a:tc>
                  <a:txBody>
                    <a:bodyPr/>
                    <a:lstStyle/>
                    <a:p>
                      <a:r>
                        <a:rPr sz="1725" b="0">
                          <a:solidFill>
                            <a:srgbClr val="24384D"/>
                          </a:solidFill>
                          <a:latin typeface="Arial"/>
                          <a:ea typeface="Arial"/>
                          <a:cs typeface="Arial"/>
                        </a:rPr>
                        <a:t>384</a:t>
                      </a:r>
                    </a:p>
                  </a:txBody>
                  <a:tcPr marL="91440" marR="91440" marT="45720" marB="45720">
                    <a:solidFill>
                      <a:srgbClr val="F0F4F7"/>
                    </a:solidFill>
                  </a:tcPr>
                </a:tc>
                <a:tc>
                  <a:txBody>
                    <a:bodyPr/>
                    <a:lstStyle/>
                    <a:p>
                      <a:r>
                        <a:rPr sz="1725" b="0">
                          <a:solidFill>
                            <a:srgbClr val="24384D"/>
                          </a:solidFill>
                          <a:latin typeface="Arial"/>
                          <a:ea typeface="Arial"/>
                          <a:cs typeface="Arial"/>
                        </a:rPr>
                        <a:t>1254</a:t>
                      </a:r>
                    </a:p>
                  </a:txBody>
                  <a:tcPr marL="91440" marR="91440" marT="45720" marB="45720">
                    <a:solidFill>
                      <a:srgbClr val="F0F4F7"/>
                    </a:solidFill>
                  </a:tcPr>
                </a:tc>
              </a:tr>
              <a:tr h="642938">
                <a:tc>
                  <a:txBody>
                    <a:bodyPr/>
                    <a:lstStyle/>
                    <a:p>
                      <a:r>
                        <a:rPr sz="1725" b="0">
                          <a:solidFill>
                            <a:srgbClr val="24384D"/>
                          </a:solidFill>
                          <a:latin typeface="Arial"/>
                          <a:ea typeface="Arial"/>
                          <a:cs typeface="Arial"/>
                        </a:rPr>
                        <a:t>Regime 1</a:t>
                      </a:r>
                    </a:p>
                  </a:txBody>
                  <a:tcPr marL="91440" marR="91440" marT="45720" marB="45720">
                    <a:solidFill>
                      <a:srgbClr val="FFFFFF"/>
                    </a:solidFill>
                  </a:tcPr>
                </a:tc>
                <a:tc>
                  <a:txBody>
                    <a:bodyPr/>
                    <a:lstStyle/>
                    <a:p>
                      <a:r>
                        <a:rPr sz="1725" b="0">
                          <a:solidFill>
                            <a:srgbClr val="24384D"/>
                          </a:solidFill>
                          <a:latin typeface="Arial"/>
                          <a:ea typeface="Arial"/>
                          <a:cs typeface="Arial"/>
                        </a:rPr>
                        <a:t>1343</a:t>
                      </a:r>
                    </a:p>
                  </a:txBody>
                  <a:tcPr marL="91440" marR="91440" marT="45720" marB="45720">
                    <a:solidFill>
                      <a:srgbClr val="FFFFFF"/>
                    </a:solidFill>
                  </a:tcPr>
                </a:tc>
                <a:tc>
                  <a:txBody>
                    <a:bodyPr/>
                    <a:lstStyle/>
                    <a:p>
                      <a:r>
                        <a:rPr sz="1725" b="0">
                          <a:solidFill>
                            <a:srgbClr val="24384D"/>
                          </a:solidFill>
                          <a:latin typeface="Arial"/>
                          <a:ea typeface="Arial"/>
                          <a:cs typeface="Arial"/>
                        </a:rPr>
                        <a:t>732</a:t>
                      </a:r>
                    </a:p>
                  </a:txBody>
                  <a:tcPr marL="91440" marR="91440" marT="45720" marB="45720">
                    <a:solidFill>
                      <a:srgbClr val="FFFFFF"/>
                    </a:solidFill>
                  </a:tcPr>
                </a:tc>
                <a:tc>
                  <a:txBody>
                    <a:bodyPr/>
                    <a:lstStyle/>
                    <a:p>
                      <a:r>
                        <a:rPr sz="1725" b="0">
                          <a:solidFill>
                            <a:srgbClr val="24384D"/>
                          </a:solidFill>
                          <a:latin typeface="Arial"/>
                          <a:ea typeface="Arial"/>
                          <a:cs typeface="Arial"/>
                        </a:rPr>
                        <a:t>1562</a:t>
                      </a:r>
                    </a:p>
                  </a:txBody>
                  <a:tcPr marL="91440" marR="91440" marT="45720" marB="45720">
                    <a:solidFill>
                      <a:srgbClr val="FFFFFF"/>
                    </a:solidFill>
                  </a:tcPr>
                </a:tc>
              </a:tr>
              <a:tr h="642938">
                <a:tc>
                  <a:txBody>
                    <a:bodyPr/>
                    <a:lstStyle/>
                    <a:p>
                      <a:r>
                        <a:rPr sz="1725" b="0">
                          <a:solidFill>
                            <a:srgbClr val="24384D"/>
                          </a:solidFill>
                          <a:latin typeface="Arial"/>
                          <a:ea typeface="Arial"/>
                          <a:cs typeface="Arial"/>
                        </a:rPr>
                        <a:t>Regime 2</a:t>
                      </a:r>
                    </a:p>
                  </a:txBody>
                  <a:tcPr marL="91440" marR="91440" marT="45720" marB="45720">
                    <a:solidFill>
                      <a:srgbClr val="F0F4F7"/>
                    </a:solidFill>
                  </a:tcPr>
                </a:tc>
                <a:tc>
                  <a:txBody>
                    <a:bodyPr/>
                    <a:lstStyle/>
                    <a:p>
                      <a:r>
                        <a:rPr sz="1725" b="0">
                          <a:solidFill>
                            <a:srgbClr val="24384D"/>
                          </a:solidFill>
                          <a:latin typeface="Arial"/>
                          <a:ea typeface="Arial"/>
                          <a:cs typeface="Arial"/>
                        </a:rPr>
                        <a:t>2571</a:t>
                      </a:r>
                    </a:p>
                  </a:txBody>
                  <a:tcPr marL="91440" marR="91440" marT="45720" marB="45720">
                    <a:solidFill>
                      <a:srgbClr val="F0F4F7"/>
                    </a:solidFill>
                  </a:tcPr>
                </a:tc>
                <a:tc>
                  <a:txBody>
                    <a:bodyPr/>
                    <a:lstStyle/>
                    <a:p>
                      <a:r>
                        <a:rPr sz="1725" b="0">
                          <a:solidFill>
                            <a:srgbClr val="24384D"/>
                          </a:solidFill>
                          <a:latin typeface="Arial"/>
                          <a:ea typeface="Arial"/>
                          <a:cs typeface="Arial"/>
                        </a:rPr>
                        <a:t>1652</a:t>
                      </a:r>
                    </a:p>
                  </a:txBody>
                  <a:tcPr marL="91440" marR="91440" marT="45720" marB="45720">
                    <a:solidFill>
                      <a:srgbClr val="F0F4F7"/>
                    </a:solidFill>
                  </a:tcPr>
                </a:tc>
                <a:tc>
                  <a:txBody>
                    <a:bodyPr/>
                    <a:lstStyle/>
                    <a:p>
                      <a:r>
                        <a:rPr sz="1725" b="0">
                          <a:solidFill>
                            <a:srgbClr val="24384D"/>
                          </a:solidFill>
                          <a:latin typeface="Arial"/>
                          <a:ea typeface="Arial"/>
                          <a:cs typeface="Arial"/>
                        </a:rPr>
                        <a:t>131</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0912CFB7-348F-4898-BCC6-612A9316953C}"/>
              </a:ext>
            </a:extLst>
          </p:cNvPr>
          <p:cNvSpPr>
            <a:spLocks xmlns:a="http://schemas.openxmlformats.org/drawingml/2006/main" noGrp="1"/>
          </p:cNvSpPr>
          <p:nvPr/>
        </p:nvSpPr>
        <p:spPr>
          <a:xfrm xmlns:a="http://schemas.openxmlformats.org/drawingml/2006/main">
            <a:off x="619125" y="4762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2B45"/>
                </a:solidFill>
                <a:latin typeface="Arial"/>
                <a:ea typeface="Arial"/>
                <a:cs typeface="Arial"/>
              </a:defRPr>
            </a:defPPr>
          </a:lstStyle>
          <a:p xmlns:a="http://schemas.openxmlformats.org/drawingml/2006/main">
            <a:pPr>
              <a:defRPr sz="1950" b="1">
                <a:solidFill>
                  <a:srgbClr val="152B45"/>
                </a:solidFill>
                <a:latin typeface="Arial"/>
                <a:ea typeface="Arial"/>
                <a:cs typeface="Arial"/>
              </a:defRPr>
            </a:pPr>
            <a:r>
              <a:rPr sz="1950" b="1">
                <a:solidFill>
                  <a:srgbClr val="152B45"/>
                </a:solidFill>
                <a:latin typeface="Arial"/>
                <a:ea typeface="Arial"/>
                <a:cs typeface="Arial"/>
              </a:rPr>
              <a:t>Mean test agreement after validation-based label matching</a:t>
            </a:r>
          </a:p>
        </p:txBody>
      </p:sp>
      <p:sp>
        <p:nvSpPr>
          <p:cNvPr id="7" name="">
            <a:extLst xmlns:a="http://schemas.openxmlformats.org/drawingml/2006/main">
              <a:ext uri="{FF2B5EF4-FFF2-40B4-BE49-F238E27FC236}">
                <a16:creationId xmlns:a16="http://schemas.microsoft.com/office/drawing/2014/main" id="{BA03B809-C984-4696-9666-F07BCBAEDE47}"/>
              </a:ext>
            </a:extLst>
          </p:cNvPr>
          <p:cNvSpPr>
            <a:spLocks xmlns:a="http://schemas.openxmlformats.org/drawingml/2006/main" noGrp="1"/>
          </p:cNvSpPr>
          <p:nvPr/>
        </p:nvSpPr>
        <p:spPr>
          <a:xfrm xmlns:a="http://schemas.openxmlformats.org/drawingml/2006/main">
            <a:off x="619125" y="52673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E8B"/>
                </a:solidFill>
                <a:latin typeface="Arial"/>
                <a:ea typeface="Arial"/>
                <a:cs typeface="Arial"/>
              </a:defRPr>
            </a:def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Learned router 51.4%     Random router 35.5%     Oracle 100%</a:t>
            </a:r>
          </a:p>
        </p:txBody>
      </p:sp>
    </p:spTree>
    <p:extLst>
      <p:ext uri="{BB962C8B-B14F-4D97-AF65-F5344CB8AC3E}">
        <p14:creationId xmlns:p14="http://schemas.microsoft.com/office/powerpoint/2010/main" val="105819701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59E1DC-9232-4236-8748-2DEB0704ECA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67DE4820-94B3-4BF2-994D-B18D73BDAE9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Recursive forecasts accumulate error</a:t>
            </a:r>
          </a:p>
        </p:txBody>
      </p:sp>
      <p:sp>
        <p:nvSpPr>
          <p:cNvPr id="3" name="">
            <a:extLst xmlns:a="http://schemas.openxmlformats.org/drawingml/2006/main">
              <a:ext uri="{FF2B5EF4-FFF2-40B4-BE49-F238E27FC236}">
                <a16:creationId xmlns:a16="http://schemas.microsoft.com/office/drawing/2014/main" id="{91A616B3-EDC9-4A55-980D-5DD9580FB86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BEA753F1-003C-4F5A-98CD-8C623288323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27</a:t>
            </a:r>
          </a:p>
        </p:txBody>
      </p:sp>
      <p:graphicFrame>
        <p:nvGraphicFramePr>
          <p:cNvPr id="5" name="Chart">
            <a:extLst xmlns:a="http://schemas.openxmlformats.org/drawingml/2006/main">
              <a:ext uri="{FF2B5EF4-FFF2-40B4-BE49-F238E27FC236}">
                <a16:creationId xmlns:a16="http://schemas.microsoft.com/office/drawing/2014/main" id="{4C5C0A0D-07B0-477B-83E3-3216FE4EFF51}"/>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875cc1a2625642a1"/>
          </a:graphicData>
        </a:graphic>
      </p:graphicFrame>
      <p:sp>
        <p:nvSpPr>
          <p:cNvPr id="6" name="">
            <a:extLst xmlns:a="http://schemas.openxmlformats.org/drawingml/2006/main">
              <a:ext uri="{FF2B5EF4-FFF2-40B4-BE49-F238E27FC236}">
                <a16:creationId xmlns:a16="http://schemas.microsoft.com/office/drawing/2014/main" id="{9EBF3A8B-9AA6-4190-ABB7-EF7E62FA81D3}"/>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The oracle has the lowest mean over 32 horizons, but the highest error at horizon 32.</a:t>
            </a:r>
          </a:p>
        </p:txBody>
      </p:sp>
    </p:spTree>
    <p:extLst>
      <p:ext uri="{BB962C8B-B14F-4D97-AF65-F5344CB8AC3E}">
        <p14:creationId xmlns:p14="http://schemas.microsoft.com/office/powerpoint/2010/main" val="95349746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FC67E7-9148-4E96-A31A-463559351616}"/>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E34694A3-FF02-4613-9228-160D7EACBE9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Rollout averages conceal late-horizon behavior</a:t>
            </a:r>
          </a:p>
        </p:txBody>
      </p:sp>
      <p:sp>
        <p:nvSpPr>
          <p:cNvPr id="3" name="">
            <a:extLst xmlns:a="http://schemas.openxmlformats.org/drawingml/2006/main">
              <a:ext uri="{FF2B5EF4-FFF2-40B4-BE49-F238E27FC236}">
                <a16:creationId xmlns:a16="http://schemas.microsoft.com/office/drawing/2014/main" id="{BB3A57BD-DDD9-4E60-A000-DE5D4557A4A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4949557-1582-4122-A6AA-D29E25CC8F2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28</a:t>
            </a:r>
          </a:p>
        </p:txBody>
      </p:sp>
      <p:graphicFrame>
        <p:nvGraphicFramePr>
          <p:cNvPr id="5" name="">
            <a:extLst xmlns:a="http://schemas.openxmlformats.org/drawingml/2006/main">
              <a:ext uri="{FF2B5EF4-FFF2-40B4-BE49-F238E27FC236}">
                <a16:creationId xmlns:a16="http://schemas.microsoft.com/office/drawing/2014/main" id="{A02602D7-F69F-47A0-8966-FCA05934588A}"/>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3905250"/>
                <a:gridCol w="3571875"/>
                <a:gridCol w="3571875"/>
              </a:tblGrid>
              <a:tr h="587375">
                <a:tc>
                  <a:txBody>
                    <a:bodyPr/>
                    <a:lstStyle/>
                    <a:p>
                      <a:r>
                        <a:rPr sz="1725" b="1">
                          <a:solidFill>
                            <a:srgbClr val="FFFFFF"/>
                          </a:solidFill>
                          <a:latin typeface="Arial"/>
                          <a:ea typeface="Arial"/>
                          <a:cs typeface="Arial"/>
                        </a:rPr>
                        <a:t>Family</a:t>
                      </a:r>
                    </a:p>
                  </a:txBody>
                  <a:tcPr marL="91440" marR="91440" marT="45720" marB="45720">
                    <a:solidFill>
                      <a:srgbClr val="152B45"/>
                    </a:solidFill>
                  </a:tcPr>
                </a:tc>
                <a:tc>
                  <a:txBody>
                    <a:bodyPr/>
                    <a:lstStyle/>
                    <a:p>
                      <a:r>
                        <a:rPr sz="1725" b="1">
                          <a:solidFill>
                            <a:srgbClr val="FFFFFF"/>
                          </a:solidFill>
                          <a:latin typeface="Arial"/>
                          <a:ea typeface="Arial"/>
                          <a:cs typeface="Arial"/>
                        </a:rPr>
                        <a:t>Mean of horizons 1–32</a:t>
                      </a:r>
                    </a:p>
                  </a:txBody>
                  <a:tcPr marL="91440" marR="91440" marT="45720" marB="45720">
                    <a:solidFill>
                      <a:srgbClr val="152B45"/>
                    </a:solidFill>
                  </a:tcPr>
                </a:tc>
                <a:tc>
                  <a:txBody>
                    <a:bodyPr/>
                    <a:lstStyle/>
                    <a:p>
                      <a:r>
                        <a:rPr sz="1725" b="1">
                          <a:solidFill>
                            <a:srgbClr val="FFFFFF"/>
                          </a:solidFill>
                          <a:latin typeface="Arial"/>
                          <a:ea typeface="Arial"/>
                          <a:cs typeface="Arial"/>
                        </a:rPr>
                        <a:t>Horizon 32</a:t>
                      </a:r>
                    </a:p>
                  </a:txBody>
                  <a:tcPr marL="91440" marR="91440" marT="45720" marB="45720">
                    <a:solidFill>
                      <a:srgbClr val="152B45"/>
                    </a:solidFill>
                  </a:tcPr>
                </a:tc>
              </a:tr>
              <a:tr h="587375">
                <a:tc>
                  <a:txBody>
                    <a:bodyPr/>
                    <a:lstStyle/>
                    <a:p>
                      <a:r>
                        <a:rPr sz="1725" b="0">
                          <a:solidFill>
                            <a:srgbClr val="24384D"/>
                          </a:solidFill>
                          <a:latin typeface="Arial"/>
                          <a:ea typeface="Arial"/>
                          <a:cs typeface="Arial"/>
                        </a:rPr>
                        <a:t>Dense active</a:t>
                      </a:r>
                    </a:p>
                  </a:txBody>
                  <a:tcPr marL="91440" marR="91440" marT="45720" marB="45720">
                    <a:solidFill>
                      <a:srgbClr val="F0F4F7"/>
                    </a:solidFill>
                  </a:tcPr>
                </a:tc>
                <a:tc>
                  <a:txBody>
                    <a:bodyPr/>
                    <a:lstStyle/>
                    <a:p>
                      <a:r>
                        <a:rPr sz="1725" b="0">
                          <a:solidFill>
                            <a:srgbClr val="24384D"/>
                          </a:solidFill>
                          <a:latin typeface="Arial"/>
                          <a:ea typeface="Arial"/>
                          <a:cs typeface="Arial"/>
                        </a:rPr>
                        <a:t>0.05735</a:t>
                      </a:r>
                    </a:p>
                  </a:txBody>
                  <a:tcPr marL="91440" marR="91440" marT="45720" marB="45720">
                    <a:solidFill>
                      <a:srgbClr val="F0F4F7"/>
                    </a:solidFill>
                  </a:tcPr>
                </a:tc>
                <a:tc>
                  <a:txBody>
                    <a:bodyPr/>
                    <a:lstStyle/>
                    <a:p>
                      <a:r>
                        <a:rPr sz="1725" b="0">
                          <a:solidFill>
                            <a:srgbClr val="24384D"/>
                          </a:solidFill>
                          <a:latin typeface="Arial"/>
                          <a:ea typeface="Arial"/>
                          <a:cs typeface="Arial"/>
                        </a:rPr>
                        <a:t>0.06457</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Dense total</a:t>
                      </a:r>
                    </a:p>
                  </a:txBody>
                  <a:tcPr marL="91440" marR="91440" marT="45720" marB="45720">
                    <a:solidFill>
                      <a:srgbClr val="FFFFFF"/>
                    </a:solidFill>
                  </a:tcPr>
                </a:tc>
                <a:tc>
                  <a:txBody>
                    <a:bodyPr/>
                    <a:lstStyle/>
                    <a:p>
                      <a:r>
                        <a:rPr sz="1725" b="0">
                          <a:solidFill>
                            <a:srgbClr val="24384D"/>
                          </a:solidFill>
                          <a:latin typeface="Arial"/>
                          <a:ea typeface="Arial"/>
                          <a:cs typeface="Arial"/>
                        </a:rPr>
                        <a:t>0.05711</a:t>
                      </a:r>
                    </a:p>
                  </a:txBody>
                  <a:tcPr marL="91440" marR="91440" marT="45720" marB="45720">
                    <a:solidFill>
                      <a:srgbClr val="FFFFFF"/>
                    </a:solidFill>
                  </a:tcPr>
                </a:tc>
                <a:tc>
                  <a:txBody>
                    <a:bodyPr/>
                    <a:lstStyle/>
                    <a:p>
                      <a:r>
                        <a:rPr sz="1725" b="0">
                          <a:solidFill>
                            <a:srgbClr val="24384D"/>
                          </a:solidFill>
                          <a:latin typeface="Arial"/>
                          <a:ea typeface="Arial"/>
                          <a:cs typeface="Arial"/>
                        </a:rPr>
                        <a:t>0.06463</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Learned MoE</a:t>
                      </a:r>
                    </a:p>
                  </a:txBody>
                  <a:tcPr marL="91440" marR="91440" marT="45720" marB="45720">
                    <a:solidFill>
                      <a:srgbClr val="F0F4F7"/>
                    </a:solidFill>
                  </a:tcPr>
                </a:tc>
                <a:tc>
                  <a:txBody>
                    <a:bodyPr/>
                    <a:lstStyle/>
                    <a:p>
                      <a:r>
                        <a:rPr sz="1725" b="0">
                          <a:solidFill>
                            <a:srgbClr val="24384D"/>
                          </a:solidFill>
                          <a:latin typeface="Arial"/>
                          <a:ea typeface="Arial"/>
                          <a:cs typeface="Arial"/>
                        </a:rPr>
                        <a:t>0.05757</a:t>
                      </a:r>
                    </a:p>
                  </a:txBody>
                  <a:tcPr marL="91440" marR="91440" marT="45720" marB="45720">
                    <a:solidFill>
                      <a:srgbClr val="F0F4F7"/>
                    </a:solidFill>
                  </a:tcPr>
                </a:tc>
                <a:tc>
                  <a:txBody>
                    <a:bodyPr/>
                    <a:lstStyle/>
                    <a:p>
                      <a:r>
                        <a:rPr sz="1725" b="0">
                          <a:solidFill>
                            <a:srgbClr val="24384D"/>
                          </a:solidFill>
                          <a:latin typeface="Arial"/>
                          <a:ea typeface="Arial"/>
                          <a:cs typeface="Arial"/>
                        </a:rPr>
                        <a:t>0.06408</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Random routing</a:t>
                      </a:r>
                    </a:p>
                  </a:txBody>
                  <a:tcPr marL="91440" marR="91440" marT="45720" marB="45720">
                    <a:solidFill>
                      <a:srgbClr val="FFFFFF"/>
                    </a:solidFill>
                  </a:tcPr>
                </a:tc>
                <a:tc>
                  <a:txBody>
                    <a:bodyPr/>
                    <a:lstStyle/>
                    <a:p>
                      <a:r>
                        <a:rPr sz="1725" b="0">
                          <a:solidFill>
                            <a:srgbClr val="24384D"/>
                          </a:solidFill>
                          <a:latin typeface="Arial"/>
                          <a:ea typeface="Arial"/>
                          <a:cs typeface="Arial"/>
                        </a:rPr>
                        <a:t>0.05714</a:t>
                      </a:r>
                    </a:p>
                  </a:txBody>
                  <a:tcPr marL="91440" marR="91440" marT="45720" marB="45720">
                    <a:solidFill>
                      <a:srgbClr val="FFFFFF"/>
                    </a:solidFill>
                  </a:tcPr>
                </a:tc>
                <a:tc>
                  <a:txBody>
                    <a:bodyPr/>
                    <a:lstStyle/>
                    <a:p>
                      <a:r>
                        <a:rPr sz="1725" b="0">
                          <a:solidFill>
                            <a:srgbClr val="24384D"/>
                          </a:solidFill>
                          <a:latin typeface="Arial"/>
                          <a:ea typeface="Arial"/>
                          <a:cs typeface="Arial"/>
                        </a:rPr>
                        <a:t>0.06284</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Oracle</a:t>
                      </a:r>
                    </a:p>
                  </a:txBody>
                  <a:tcPr marL="91440" marR="91440" marT="45720" marB="45720">
                    <a:solidFill>
                      <a:srgbClr val="F0F4F7"/>
                    </a:solidFill>
                  </a:tcPr>
                </a:tc>
                <a:tc>
                  <a:txBody>
                    <a:bodyPr/>
                    <a:lstStyle/>
                    <a:p>
                      <a:r>
                        <a:rPr sz="1725" b="0">
                          <a:solidFill>
                            <a:srgbClr val="24384D"/>
                          </a:solidFill>
                          <a:latin typeface="Arial"/>
                          <a:ea typeface="Arial"/>
                          <a:cs typeface="Arial"/>
                        </a:rPr>
                        <a:t>0.05405</a:t>
                      </a:r>
                    </a:p>
                  </a:txBody>
                  <a:tcPr marL="91440" marR="91440" marT="45720" marB="45720">
                    <a:solidFill>
                      <a:srgbClr val="F0F4F7"/>
                    </a:solidFill>
                  </a:tcPr>
                </a:tc>
                <a:tc>
                  <a:txBody>
                    <a:bodyPr/>
                    <a:lstStyle/>
                    <a:p>
                      <a:r>
                        <a:rPr sz="1725" b="0">
                          <a:solidFill>
                            <a:srgbClr val="24384D"/>
                          </a:solidFill>
                          <a:latin typeface="Arial"/>
                          <a:ea typeface="Arial"/>
                          <a:cs typeface="Arial"/>
                        </a:rPr>
                        <a:t>0.07765</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3E81946E-A495-4649-9FE4-A429DF2E4692}"/>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The oracle’s final-step MSE is 0.07765, despite a lower overall horizon mean of 0.05405.</a:t>
            </a:r>
          </a:p>
        </p:txBody>
      </p:sp>
    </p:spTree>
    <p:extLst>
      <p:ext uri="{BB962C8B-B14F-4D97-AF65-F5344CB8AC3E}">
        <p14:creationId xmlns:p14="http://schemas.microsoft.com/office/powerpoint/2010/main" val="6671954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E1461E-23AE-49B1-A7DC-55BAB2B60038}"/>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4A3D98A-1B0C-44AE-96CF-E72652398257}"/>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Interpretation of the current evidence</a:t>
            </a:r>
          </a:p>
        </p:txBody>
      </p:sp>
      <p:sp>
        <p:nvSpPr>
          <p:cNvPr id="3" name="">
            <a:extLst xmlns:a="http://schemas.openxmlformats.org/drawingml/2006/main">
              <a:ext uri="{FF2B5EF4-FFF2-40B4-BE49-F238E27FC236}">
                <a16:creationId xmlns:a16="http://schemas.microsoft.com/office/drawing/2014/main" id="{86FA5242-2AC5-4B14-AEFF-1F261F2301E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87333B69-8962-4F4F-AC5E-4FFF45AACF36}"/>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C9C2CD1F-656C-434F-83BB-8A9B54F73365}"/>
              </a:ext>
            </a:extLst>
          </p:cNvPr>
          <p:cNvSpPr>
            <a:spLocks xmlns:a="http://schemas.openxmlformats.org/drawingml/2006/main" noGrp="1"/>
          </p:cNvSpPr>
          <p:nvPr/>
        </p:nvSpPr>
        <p:spPr>
          <a:xfrm xmlns:a="http://schemas.openxmlformats.org/drawingml/2006/main">
            <a:off x="571500" y="1762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Supported conclusion</a:t>
            </a:r>
          </a:p>
        </p:txBody>
      </p:sp>
      <p:sp>
        <p:nvSpPr>
          <p:cNvPr id="6" name="">
            <a:extLst xmlns:a="http://schemas.openxmlformats.org/drawingml/2006/main">
              <a:ext uri="{FF2B5EF4-FFF2-40B4-BE49-F238E27FC236}">
                <a16:creationId xmlns:a16="http://schemas.microsoft.com/office/drawing/2014/main" id="{2CDF044A-DAFA-4A4A-9471-A13991263733}"/>
              </a:ext>
            </a:extLst>
          </p:cNvPr>
          <p:cNvSpPr>
            <a:spLocks xmlns:a="http://schemas.openxmlformats.org/drawingml/2006/main" noGrp="1"/>
          </p:cNvSpPr>
          <p:nvPr/>
        </p:nvSpPr>
        <p:spPr>
          <a:xfrm xmlns:a="http://schemas.openxmlformats.org/drawingml/2006/main">
            <a:off x="571500" y="2162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This configuration provides no one-step performance advantage for learned sparse MoE over either dense control.</a:t>
            </a:r>
          </a:p>
        </p:txBody>
      </p:sp>
      <p:sp>
        <p:nvSpPr>
          <p:cNvPr id="7" name="">
            <a:extLst xmlns:a="http://schemas.openxmlformats.org/drawingml/2006/main">
              <a:ext uri="{FF2B5EF4-FFF2-40B4-BE49-F238E27FC236}">
                <a16:creationId xmlns:a16="http://schemas.microsoft.com/office/drawing/2014/main" id="{FFFD43B6-A64A-45B6-BBB0-CC3E953B96CA}"/>
              </a:ext>
            </a:extLst>
          </p:cNvPr>
          <p:cNvSpPr>
            <a:spLocks xmlns:a="http://schemas.openxmlformats.org/drawingml/2006/main" noGrp="1"/>
          </p:cNvSpPr>
          <p:nvPr/>
        </p:nvSpPr>
        <p:spPr>
          <a:xfrm xmlns:a="http://schemas.openxmlformats.org/drawingml/2006/main">
            <a:off x="571500" y="3095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What the oracle shows</a:t>
            </a:r>
          </a:p>
        </p:txBody>
      </p:sp>
      <p:sp>
        <p:nvSpPr>
          <p:cNvPr id="8" name="">
            <a:extLst xmlns:a="http://schemas.openxmlformats.org/drawingml/2006/main">
              <a:ext uri="{FF2B5EF4-FFF2-40B4-BE49-F238E27FC236}">
                <a16:creationId xmlns:a16="http://schemas.microsoft.com/office/drawing/2014/main" id="{9779DD65-1453-4626-8CBA-47B85C2488DF}"/>
              </a:ext>
            </a:extLst>
          </p:cNvPr>
          <p:cNvSpPr>
            <a:spLocks xmlns:a="http://schemas.openxmlformats.org/drawingml/2006/main" noGrp="1"/>
          </p:cNvSpPr>
          <p:nvPr/>
        </p:nvSpPr>
        <p:spPr>
          <a:xfrm xmlns:a="http://schemas.openxmlformats.org/drawingml/2006/main">
            <a:off x="571500" y="3495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Knowing the regime makes one-step prediction much easier. This leaves a gap associated with hidden switching and model learning.</a:t>
            </a:r>
          </a:p>
        </p:txBody>
      </p:sp>
      <p:sp>
        <p:nvSpPr>
          <p:cNvPr id="9" name="">
            <a:extLst xmlns:a="http://schemas.openxmlformats.org/drawingml/2006/main">
              <a:ext uri="{FF2B5EF4-FFF2-40B4-BE49-F238E27FC236}">
                <a16:creationId xmlns:a16="http://schemas.microsoft.com/office/drawing/2014/main" id="{D18A3F08-0605-483D-9038-DC90D5DDABBB}"/>
              </a:ext>
            </a:extLst>
          </p:cNvPr>
          <p:cNvSpPr>
            <a:spLocks xmlns:a="http://schemas.openxmlformats.org/drawingml/2006/main" noGrp="1"/>
          </p:cNvSpPr>
          <p:nvPr/>
        </p:nvSpPr>
        <p:spPr>
          <a:xfrm xmlns:a="http://schemas.openxmlformats.org/drawingml/2006/main">
            <a:off x="571500" y="4429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What routing analysis shows</a:t>
            </a:r>
          </a:p>
        </p:txBody>
      </p:sp>
      <p:sp>
        <p:nvSpPr>
          <p:cNvPr id="10" name="">
            <a:extLst xmlns:a="http://schemas.openxmlformats.org/drawingml/2006/main">
              <a:ext uri="{FF2B5EF4-FFF2-40B4-BE49-F238E27FC236}">
                <a16:creationId xmlns:a16="http://schemas.microsoft.com/office/drawing/2014/main" id="{10151E1F-DD0D-4EBB-B149-10480D9BD334}"/>
              </a:ext>
            </a:extLst>
          </p:cNvPr>
          <p:cNvSpPr>
            <a:spLocks xmlns:a="http://schemas.openxmlformats.org/drawingml/2006/main" noGrp="1"/>
          </p:cNvSpPr>
          <p:nvPr/>
        </p:nvSpPr>
        <p:spPr>
          <a:xfrm xmlns:a="http://schemas.openxmlformats.org/drawingml/2006/main">
            <a:off x="571500" y="4829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The router learns some regime-related structure, but that association does not translate into better overall MSE.</a:t>
            </a:r>
          </a:p>
        </p:txBody>
      </p:sp>
    </p:spTree>
    <p:extLst>
      <p:ext uri="{BB962C8B-B14F-4D97-AF65-F5344CB8AC3E}">
        <p14:creationId xmlns:p14="http://schemas.microsoft.com/office/powerpoint/2010/main" val="21286135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64B2B3-AC6E-49EF-B074-EECE1AA6FE9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9270D1AE-5F20-4039-93AE-92FA1FD839AA}"/>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Limits and next experiments</a:t>
            </a:r>
          </a:p>
        </p:txBody>
      </p:sp>
      <p:sp>
        <p:nvSpPr>
          <p:cNvPr id="3" name="">
            <a:extLst xmlns:a="http://schemas.openxmlformats.org/drawingml/2006/main">
              <a:ext uri="{FF2B5EF4-FFF2-40B4-BE49-F238E27FC236}">
                <a16:creationId xmlns:a16="http://schemas.microsoft.com/office/drawing/2014/main" id="{A4E5B286-8A10-4B14-90BA-1135034DD2DB}"/>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F4A3886-25B8-48F1-8520-2BA7F755176B}"/>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30</a:t>
            </a:r>
          </a:p>
        </p:txBody>
      </p:sp>
      <p:graphicFrame>
        <p:nvGraphicFramePr>
          <p:cNvPr id="5" name="">
            <a:extLst xmlns:a="http://schemas.openxmlformats.org/drawingml/2006/main">
              <a:ext uri="{FF2B5EF4-FFF2-40B4-BE49-F238E27FC236}">
                <a16:creationId xmlns:a16="http://schemas.microsoft.com/office/drawing/2014/main" id="{2E529B47-3508-476B-99D8-674F31A534E9}"/>
              </a:ext>
            </a:extLst>
          </p:cNvPr>
          <p:cNvGraphicFramePr/>
          <p:nvPr/>
        </p:nvGraphicFramePr>
        <p:xfrm>
          <a:off xmlns:a="http://schemas.openxmlformats.org/drawingml/2006/main" x="571500" y="1714500"/>
          <a:ext xmlns:a="http://schemas.openxmlformats.org/drawingml/2006/main" cx="11049000" cy="3714750"/>
        </p:xfrm>
        <a:graphic xmlns:a="http://schemas.openxmlformats.org/drawingml/2006/main">
          <a:graphicData uri="http://schemas.openxmlformats.org/drawingml/2006/table">
            <a:tbl>
              <a:tblPr/>
              <a:tblGrid>
                <a:gridCol w="4476750"/>
                <a:gridCol w="6572250"/>
              </a:tblGrid>
              <a:tr h="619125">
                <a:tc>
                  <a:txBody>
                    <a:bodyPr/>
                    <a:lstStyle/>
                    <a:p>
                      <a:r>
                        <a:rPr sz="1725" b="1">
                          <a:solidFill>
                            <a:srgbClr val="FFFFFF"/>
                          </a:solidFill>
                          <a:latin typeface="Arial"/>
                          <a:ea typeface="Arial"/>
                          <a:cs typeface="Arial"/>
                        </a:rPr>
                        <a:t>Current limitation</a:t>
                      </a:r>
                    </a:p>
                  </a:txBody>
                  <a:tcPr marL="91440" marR="91440" marT="45720" marB="45720">
                    <a:solidFill>
                      <a:srgbClr val="152B45"/>
                    </a:solidFill>
                  </a:tcPr>
                </a:tc>
                <a:tc>
                  <a:txBody>
                    <a:bodyPr/>
                    <a:lstStyle/>
                    <a:p>
                      <a:r>
                        <a:rPr sz="1725" b="1">
                          <a:solidFill>
                            <a:srgbClr val="FFFFFF"/>
                          </a:solidFill>
                          <a:latin typeface="Arial"/>
                          <a:ea typeface="Arial"/>
                          <a:cs typeface="Arial"/>
                        </a:rPr>
                        <a:t>Useful next comparison</a:t>
                      </a:r>
                    </a:p>
                  </a:txBody>
                  <a:tcPr marL="91440" marR="91440" marT="45720" marB="45720">
                    <a:solidFill>
                      <a:srgbClr val="152B45"/>
                    </a:solidFill>
                  </a:tcPr>
                </a:tc>
              </a:tr>
              <a:tr h="619125">
                <a:tc>
                  <a:txBody>
                    <a:bodyPr/>
                    <a:lstStyle/>
                    <a:p>
                      <a:r>
                        <a:rPr sz="1725" b="0">
                          <a:solidFill>
                            <a:srgbClr val="24384D"/>
                          </a:solidFill>
                          <a:latin typeface="Arial"/>
                          <a:ea typeface="Arial"/>
                          <a:cs typeface="Arial"/>
                        </a:rPr>
                        <a:t>One generator and three seeds</a:t>
                      </a:r>
                    </a:p>
                  </a:txBody>
                  <a:tcPr marL="91440" marR="91440" marT="45720" marB="45720">
                    <a:solidFill>
                      <a:srgbClr val="F0F4F7"/>
                    </a:solidFill>
                  </a:tcPr>
                </a:tc>
                <a:tc>
                  <a:txBody>
                    <a:bodyPr/>
                    <a:lstStyle/>
                    <a:p>
                      <a:r>
                        <a:rPr sz="1725" b="0">
                          <a:solidFill>
                            <a:srgbClr val="24384D"/>
                          </a:solidFill>
                          <a:latin typeface="Arial"/>
                          <a:ea typeface="Arial"/>
                          <a:cs typeface="Arial"/>
                        </a:rPr>
                        <a:t>More seeds, switching rates and noise levels.</a:t>
                      </a:r>
                    </a:p>
                  </a:txBody>
                  <a:tcPr marL="91440" marR="91440" marT="45720" marB="45720">
                    <a:solidFill>
                      <a:srgbClr val="F0F4F7"/>
                    </a:solidFill>
                  </a:tcPr>
                </a:tc>
              </a:tr>
              <a:tr h="619125">
                <a:tc>
                  <a:txBody>
                    <a:bodyPr/>
                    <a:lstStyle/>
                    <a:p>
                      <a:r>
                        <a:rPr sz="1725" b="0">
                          <a:solidFill>
                            <a:srgbClr val="24384D"/>
                          </a:solidFill>
                          <a:latin typeface="Arial"/>
                          <a:ea typeface="Arial"/>
                          <a:cs typeface="Arial"/>
                        </a:rPr>
                        <a:t>Fixed 8-step input history</a:t>
                      </a:r>
                    </a:p>
                  </a:txBody>
                  <a:tcPr marL="91440" marR="91440" marT="45720" marB="45720">
                    <a:solidFill>
                      <a:srgbClr val="FFFFFF"/>
                    </a:solidFill>
                  </a:tcPr>
                </a:tc>
                <a:tc>
                  <a:txBody>
                    <a:bodyPr/>
                    <a:lstStyle/>
                    <a:p>
                      <a:r>
                        <a:rPr sz="1725" b="0">
                          <a:solidFill>
                            <a:srgbClr val="24384D"/>
                          </a:solidFill>
                          <a:latin typeface="Arial"/>
                          <a:ea typeface="Arial"/>
                          <a:cs typeface="Arial"/>
                        </a:rPr>
                        <a:t>Longer context and a recurrent baseline.</a:t>
                      </a:r>
                    </a:p>
                  </a:txBody>
                  <a:tcPr marL="91440" marR="91440" marT="45720" marB="45720">
                    <a:solidFill>
                      <a:srgbClr val="FFFFFF"/>
                    </a:solidFill>
                  </a:tcPr>
                </a:tc>
              </a:tr>
              <a:tr h="619125">
                <a:tc>
                  <a:txBody>
                    <a:bodyPr/>
                    <a:lstStyle/>
                    <a:p>
                      <a:r>
                        <a:rPr sz="1725" b="0">
                          <a:solidFill>
                            <a:srgbClr val="24384D"/>
                          </a:solidFill>
                          <a:latin typeface="Arial"/>
                          <a:ea typeface="Arial"/>
                          <a:cs typeface="Arial"/>
                        </a:rPr>
                        <a:t>One training budget</a:t>
                      </a:r>
                    </a:p>
                  </a:txBody>
                  <a:tcPr marL="91440" marR="91440" marT="45720" marB="45720">
                    <a:solidFill>
                      <a:srgbClr val="F0F4F7"/>
                    </a:solidFill>
                  </a:tcPr>
                </a:tc>
                <a:tc>
                  <a:txBody>
                    <a:bodyPr/>
                    <a:lstStyle/>
                    <a:p>
                      <a:r>
                        <a:rPr sz="1725" b="0">
                          <a:solidFill>
                            <a:srgbClr val="24384D"/>
                          </a:solidFill>
                          <a:latin typeface="Arial"/>
                          <a:ea typeface="Arial"/>
                          <a:cs typeface="Arial"/>
                        </a:rPr>
                        <a:t>Longer training and validation-only tuning.</a:t>
                      </a:r>
                    </a:p>
                  </a:txBody>
                  <a:tcPr marL="91440" marR="91440" marT="45720" marB="45720">
                    <a:solidFill>
                      <a:srgbClr val="F0F4F7"/>
                    </a:solidFill>
                  </a:tcPr>
                </a:tc>
              </a:tr>
              <a:tr h="619125">
                <a:tc>
                  <a:txBody>
                    <a:bodyPr/>
                    <a:lstStyle/>
                    <a:p>
                      <a:r>
                        <a:rPr sz="1725" b="0">
                          <a:solidFill>
                            <a:srgbClr val="24384D"/>
                          </a:solidFill>
                          <a:latin typeface="Arial"/>
                          <a:ea typeface="Arial"/>
                          <a:cs typeface="Arial"/>
                        </a:rPr>
                        <a:t>Parameter counts as compute proxies</a:t>
                      </a:r>
                    </a:p>
                  </a:txBody>
                  <a:tcPr marL="91440" marR="91440" marT="45720" marB="45720">
                    <a:solidFill>
                      <a:srgbClr val="FFFFFF"/>
                    </a:solidFill>
                  </a:tcPr>
                </a:tc>
                <a:tc>
                  <a:txBody>
                    <a:bodyPr/>
                    <a:lstStyle/>
                    <a:p>
                      <a:r>
                        <a:rPr sz="1725" b="0">
                          <a:solidFill>
                            <a:srgbClr val="24384D"/>
                          </a:solidFill>
                          <a:latin typeface="Arial"/>
                          <a:ea typeface="Arial"/>
                          <a:cs typeface="Arial"/>
                        </a:rPr>
                        <a:t>Measured runtime and operation counts.</a:t>
                      </a:r>
                    </a:p>
                  </a:txBody>
                  <a:tcPr marL="91440" marR="91440" marT="45720" marB="45720">
                    <a:solidFill>
                      <a:srgbClr val="FFFFFF"/>
                    </a:solidFill>
                  </a:tcPr>
                </a:tc>
              </a:tr>
              <a:tr h="619125">
                <a:tc>
                  <a:txBody>
                    <a:bodyPr/>
                    <a:lstStyle/>
                    <a:p>
                      <a:r>
                        <a:rPr sz="1725" b="0">
                          <a:solidFill>
                            <a:srgbClr val="24384D"/>
                          </a:solidFill>
                          <a:latin typeface="Arial"/>
                          <a:ea typeface="Arial"/>
                          <a:cs typeface="Arial"/>
                        </a:rPr>
                        <a:t>Route correlation only</a:t>
                      </a:r>
                    </a:p>
                  </a:txBody>
                  <a:tcPr marL="91440" marR="91440" marT="45720" marB="45720">
                    <a:solidFill>
                      <a:srgbClr val="F0F4F7"/>
                    </a:solidFill>
                  </a:tcPr>
                </a:tc>
                <a:tc>
                  <a:txBody>
                    <a:bodyPr/>
                    <a:lstStyle/>
                    <a:p>
                      <a:r>
                        <a:rPr sz="1725" b="0">
                          <a:solidFill>
                            <a:srgbClr val="24384D"/>
                          </a:solidFill>
                          <a:latin typeface="Arial"/>
                          <a:ea typeface="Arial"/>
                          <a:cs typeface="Arial"/>
                        </a:rPr>
                        <a:t>Inspect expert predictions before causal interventions.</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30B2D4C6-B129-4212-BC1A-283BE5F7D6C8}"/>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Version 1 intentionally excludes SAE and DAS. Performance and reproducibility come first.</a:t>
            </a:r>
          </a:p>
        </p:txBody>
      </p:sp>
    </p:spTree>
    <p:extLst>
      <p:ext uri="{BB962C8B-B14F-4D97-AF65-F5344CB8AC3E}">
        <p14:creationId xmlns:p14="http://schemas.microsoft.com/office/powerpoint/2010/main" val="121798429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7ACE96-8ADA-4494-BCC0-911BFB177D8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B7DC853E-187E-4359-9521-EBF4C2BC4C6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Notebook workflow</a:t>
            </a:r>
          </a:p>
        </p:txBody>
      </p:sp>
      <p:sp>
        <p:nvSpPr>
          <p:cNvPr id="3" name="">
            <a:extLst xmlns:a="http://schemas.openxmlformats.org/drawingml/2006/main">
              <a:ext uri="{FF2B5EF4-FFF2-40B4-BE49-F238E27FC236}">
                <a16:creationId xmlns:a16="http://schemas.microsoft.com/office/drawing/2014/main" id="{B97139C6-D25A-4F96-A325-581827DAB49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5CDEA59-0CBB-4893-A2AE-1A95A0412DE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31</a:t>
            </a:r>
          </a:p>
        </p:txBody>
      </p:sp>
      <p:graphicFrame>
        <p:nvGraphicFramePr>
          <p:cNvPr id="5" name="">
            <a:extLst xmlns:a="http://schemas.openxmlformats.org/drawingml/2006/main">
              <a:ext uri="{FF2B5EF4-FFF2-40B4-BE49-F238E27FC236}">
                <a16:creationId xmlns:a16="http://schemas.microsoft.com/office/drawing/2014/main" id="{1DD454E2-C919-4E7F-AF66-D8D66E9F851A}"/>
              </a:ext>
            </a:extLst>
          </p:cNvPr>
          <p:cNvGraphicFramePr/>
          <p:nvPr/>
        </p:nvGraphicFramePr>
        <p:xfrm>
          <a:off xmlns:a="http://schemas.openxmlformats.org/drawingml/2006/main" x="571500" y="1714500"/>
          <a:ext xmlns:a="http://schemas.openxmlformats.org/drawingml/2006/main" cx="11049000" cy="3905250"/>
        </p:xfrm>
        <a:graphic xmlns:a="http://schemas.openxmlformats.org/drawingml/2006/main">
          <a:graphicData uri="http://schemas.openxmlformats.org/drawingml/2006/table">
            <a:tbl>
              <a:tblPr/>
              <a:tblGrid>
                <a:gridCol w="3714750"/>
                <a:gridCol w="7334250"/>
              </a:tblGrid>
              <a:tr h="557893">
                <a:tc>
                  <a:txBody>
                    <a:bodyPr/>
                    <a:lstStyle/>
                    <a:p>
                      <a:r>
                        <a:rPr sz="1650" b="1">
                          <a:solidFill>
                            <a:srgbClr val="FFFFFF"/>
                          </a:solidFill>
                          <a:latin typeface="Arial"/>
                          <a:ea typeface="Arial"/>
                          <a:cs typeface="Arial"/>
                        </a:rPr>
                        <a:t>Notebook</a:t>
                      </a:r>
                    </a:p>
                  </a:txBody>
                  <a:tcPr marL="91440" marR="91440" marT="45720" marB="45720">
                    <a:solidFill>
                      <a:srgbClr val="152B45"/>
                    </a:solidFill>
                  </a:tcPr>
                </a:tc>
                <a:tc>
                  <a:txBody>
                    <a:bodyPr/>
                    <a:lstStyle/>
                    <a:p>
                      <a:r>
                        <a:rPr sz="1650" b="1">
                          <a:solidFill>
                            <a:srgbClr val="FFFFFF"/>
                          </a:solidFill>
                          <a:latin typeface="Arial"/>
                          <a:ea typeface="Arial"/>
                          <a:cs typeface="Arial"/>
                        </a:rPr>
                        <a:t>What the user can run and inspect</a:t>
                      </a:r>
                    </a:p>
                  </a:txBody>
                  <a:tcPr marL="91440" marR="91440" marT="45720" marB="45720">
                    <a:solidFill>
                      <a:srgbClr val="152B45"/>
                    </a:solidFill>
                  </a:tcPr>
                </a:tc>
              </a:tr>
              <a:tr h="557893">
                <a:tc>
                  <a:txBody>
                    <a:bodyPr/>
                    <a:lstStyle/>
                    <a:p>
                      <a:r>
                        <a:rPr sz="1650" b="0">
                          <a:solidFill>
                            <a:srgbClr val="24384D"/>
                          </a:solidFill>
                          <a:latin typeface="Arial"/>
                          <a:ea typeface="Arial"/>
                          <a:cs typeface="Arial"/>
                        </a:rPr>
                        <a:t>00 Environment check</a:t>
                      </a:r>
                    </a:p>
                  </a:txBody>
                  <a:tcPr marL="91440" marR="91440" marT="45720" marB="45720">
                    <a:solidFill>
                      <a:srgbClr val="F0F4F7"/>
                    </a:solidFill>
                  </a:tcPr>
                </a:tc>
                <a:tc>
                  <a:txBody>
                    <a:bodyPr/>
                    <a:lstStyle/>
                    <a:p>
                      <a:r>
                        <a:rPr sz="1650" b="0">
                          <a:solidFill>
                            <a:srgbClr val="24384D"/>
                          </a:solidFill>
                          <a:latin typeface="Arial"/>
                          <a:ea typeface="Arial"/>
                          <a:cs typeface="Arial"/>
                        </a:rPr>
                        <a:t>Paths, dependencies, configuration and runtime.</a:t>
                      </a:r>
                    </a:p>
                  </a:txBody>
                  <a:tcPr marL="91440" marR="91440" marT="45720" marB="45720">
                    <a:solidFill>
                      <a:srgbClr val="F0F4F7"/>
                    </a:solidFill>
                  </a:tcPr>
                </a:tc>
              </a:tr>
              <a:tr h="557893">
                <a:tc>
                  <a:txBody>
                    <a:bodyPr/>
                    <a:lstStyle/>
                    <a:p>
                      <a:r>
                        <a:rPr sz="1650" b="0">
                          <a:solidFill>
                            <a:srgbClr val="24384D"/>
                          </a:solidFill>
                          <a:latin typeface="Arial"/>
                          <a:ea typeface="Arial"/>
                          <a:cs typeface="Arial"/>
                        </a:rPr>
                        <a:t>01 Generate switching data</a:t>
                      </a:r>
                    </a:p>
                  </a:txBody>
                  <a:tcPr marL="91440" marR="91440" marT="45720" marB="45720">
                    <a:solidFill>
                      <a:srgbClr val="FFFFFF"/>
                    </a:solidFill>
                  </a:tcPr>
                </a:tc>
                <a:tc>
                  <a:txBody>
                    <a:bodyPr/>
                    <a:lstStyle/>
                    <a:p>
                      <a:r>
                        <a:rPr sz="1650" b="0">
                          <a:solidFill>
                            <a:srgbClr val="24384D"/>
                          </a:solidFill>
                          <a:latin typeface="Arial"/>
                          <a:ea typeface="Arial"/>
                          <a:cs typeface="Arial"/>
                        </a:rPr>
                        <a:t>Generate or validate versioned data caches.</a:t>
                      </a:r>
                    </a:p>
                  </a:txBody>
                  <a:tcPr marL="91440" marR="91440" marT="45720" marB="45720">
                    <a:solidFill>
                      <a:srgbClr val="FFFFFF"/>
                    </a:solidFill>
                  </a:tcPr>
                </a:tc>
              </a:tr>
              <a:tr h="557893">
                <a:tc>
                  <a:txBody>
                    <a:bodyPr/>
                    <a:lstStyle/>
                    <a:p>
                      <a:r>
                        <a:rPr sz="1650" b="0">
                          <a:solidFill>
                            <a:srgbClr val="24384D"/>
                          </a:solidFill>
                          <a:latin typeface="Arial"/>
                          <a:ea typeface="Arial"/>
                          <a:cs typeface="Arial"/>
                        </a:rPr>
                        <a:t>02 Inspect and visualize data</a:t>
                      </a:r>
                    </a:p>
                  </a:txBody>
                  <a:tcPr marL="91440" marR="91440" marT="45720" marB="45720">
                    <a:solidFill>
                      <a:srgbClr val="F0F4F7"/>
                    </a:solidFill>
                  </a:tcPr>
                </a:tc>
                <a:tc>
                  <a:txBody>
                    <a:bodyPr/>
                    <a:lstStyle/>
                    <a:p>
                      <a:r>
                        <a:rPr sz="1650" b="0">
                          <a:solidFill>
                            <a:srgbClr val="24384D"/>
                          </a:solidFill>
                          <a:latin typeface="Arial"/>
                          <a:ea typeface="Arial"/>
                          <a:cs typeface="Arial"/>
                        </a:rPr>
                        <a:t>State trajectories, regimes and generator properties.</a:t>
                      </a:r>
                    </a:p>
                  </a:txBody>
                  <a:tcPr marL="91440" marR="91440" marT="45720" marB="45720">
                    <a:solidFill>
                      <a:srgbClr val="F0F4F7"/>
                    </a:solidFill>
                  </a:tcPr>
                </a:tc>
              </a:tr>
              <a:tr h="557893">
                <a:tc>
                  <a:txBody>
                    <a:bodyPr/>
                    <a:lstStyle/>
                    <a:p>
                      <a:r>
                        <a:rPr sz="1650" b="0">
                          <a:solidFill>
                            <a:srgbClr val="24384D"/>
                          </a:solidFill>
                          <a:latin typeface="Arial"/>
                          <a:ea typeface="Arial"/>
                          <a:cs typeface="Arial"/>
                        </a:rPr>
                        <a:t>03 Train dense baselines</a:t>
                      </a:r>
                    </a:p>
                  </a:txBody>
                  <a:tcPr marL="91440" marR="91440" marT="45720" marB="45720">
                    <a:solidFill>
                      <a:srgbClr val="FFFFFF"/>
                    </a:solidFill>
                  </a:tcPr>
                </a:tc>
                <a:tc>
                  <a:txBody>
                    <a:bodyPr/>
                    <a:lstStyle/>
                    <a:p>
                      <a:r>
                        <a:rPr sz="1650" b="0">
                          <a:solidFill>
                            <a:srgbClr val="24384D"/>
                          </a:solidFill>
                          <a:latin typeface="Arial"/>
                          <a:ea typeface="Arial"/>
                          <a:cs typeface="Arial"/>
                        </a:rPr>
                        <a:t>Train dense active and dense total controls.</a:t>
                      </a:r>
                    </a:p>
                  </a:txBody>
                  <a:tcPr marL="91440" marR="91440" marT="45720" marB="45720">
                    <a:solidFill>
                      <a:srgbClr val="FFFFFF"/>
                    </a:solidFill>
                  </a:tcPr>
                </a:tc>
              </a:tr>
              <a:tr h="557893">
                <a:tc>
                  <a:txBody>
                    <a:bodyPr/>
                    <a:lstStyle/>
                    <a:p>
                      <a:r>
                        <a:rPr sz="1650" b="0">
                          <a:solidFill>
                            <a:srgbClr val="24384D"/>
                          </a:solidFill>
                          <a:latin typeface="Arial"/>
                          <a:ea typeface="Arial"/>
                          <a:cs typeface="Arial"/>
                        </a:rPr>
                        <a:t>04 Train small MoE</a:t>
                      </a:r>
                    </a:p>
                  </a:txBody>
                  <a:tcPr marL="91440" marR="91440" marT="45720" marB="45720">
                    <a:solidFill>
                      <a:srgbClr val="F0F4F7"/>
                    </a:solidFill>
                  </a:tcPr>
                </a:tc>
                <a:tc>
                  <a:txBody>
                    <a:bodyPr/>
                    <a:lstStyle/>
                    <a:p>
                      <a:r>
                        <a:rPr sz="1650" b="0">
                          <a:solidFill>
                            <a:srgbClr val="24384D"/>
                          </a:solidFill>
                          <a:latin typeface="Arial"/>
                          <a:ea typeface="Arial"/>
                          <a:cs typeface="Arial"/>
                        </a:rPr>
                        <a:t>Train learned, random and oracle routing families.</a:t>
                      </a:r>
                    </a:p>
                  </a:txBody>
                  <a:tcPr marL="91440" marR="91440" marT="45720" marB="45720">
                    <a:solidFill>
                      <a:srgbClr val="F0F4F7"/>
                    </a:solidFill>
                  </a:tcPr>
                </a:tc>
              </a:tr>
              <a:tr h="557893">
                <a:tc>
                  <a:txBody>
                    <a:bodyPr/>
                    <a:lstStyle/>
                    <a:p>
                      <a:r>
                        <a:rPr sz="1650" b="0">
                          <a:solidFill>
                            <a:srgbClr val="24384D"/>
                          </a:solidFill>
                          <a:latin typeface="Arial"/>
                          <a:ea typeface="Arial"/>
                          <a:cs typeface="Arial"/>
                        </a:rPr>
                        <a:t>05–07 Analysis</a:t>
                      </a:r>
                    </a:p>
                  </a:txBody>
                  <a:tcPr marL="91440" marR="91440" marT="45720" marB="45720">
                    <a:solidFill>
                      <a:srgbClr val="FFFFFF"/>
                    </a:solidFill>
                  </a:tcPr>
                </a:tc>
                <a:tc>
                  <a:txBody>
                    <a:bodyPr/>
                    <a:lstStyle/>
                    <a:p>
                      <a:r>
                        <a:rPr sz="1650" b="0">
                          <a:solidFill>
                            <a:srgbClr val="24384D"/>
                          </a:solidFill>
                          <a:latin typeface="Arial"/>
                          <a:ea typeface="Arial"/>
                          <a:cs typeface="Arial"/>
                        </a:rPr>
                        <a:t>Compare performance, inspect routing and test rollouts.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7440942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105AA9-5CAE-42F0-860C-E8A11BBC875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C27B78BA-1AD6-492E-BA06-E0DFAA83694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Configuration and data functions</a:t>
            </a:r>
          </a:p>
        </p:txBody>
      </p:sp>
      <p:sp>
        <p:nvSpPr>
          <p:cNvPr id="3" name="">
            <a:extLst xmlns:a="http://schemas.openxmlformats.org/drawingml/2006/main">
              <a:ext uri="{FF2B5EF4-FFF2-40B4-BE49-F238E27FC236}">
                <a16:creationId xmlns:a16="http://schemas.microsoft.com/office/drawing/2014/main" id="{BDB5B0E0-3700-4D97-A1C0-B68A8A5CAB4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FC38D899-2CB9-4B26-94E0-2EB2D0594F14}"/>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32</a:t>
            </a:r>
          </a:p>
        </p:txBody>
      </p:sp>
      <p:graphicFrame>
        <p:nvGraphicFramePr>
          <p:cNvPr id="5" name="">
            <a:extLst xmlns:a="http://schemas.openxmlformats.org/drawingml/2006/main">
              <a:ext uri="{FF2B5EF4-FFF2-40B4-BE49-F238E27FC236}">
                <a16:creationId xmlns:a16="http://schemas.microsoft.com/office/drawing/2014/main" id="{8D4EAEFC-2CC4-40DB-8F02-D16D13F42693}"/>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config.fingerprint</a:t>
                      </a:r>
                    </a:p>
                  </a:txBody>
                  <a:tcPr marL="91440" marR="91440" marT="45720" marB="45720">
                    <a:solidFill>
                      <a:srgbClr val="F0F4F7"/>
                    </a:solidFill>
                  </a:tcPr>
                </a:tc>
                <a:tc>
                  <a:txBody>
                    <a:bodyPr/>
                    <a:lstStyle/>
                    <a:p>
                      <a:r>
                        <a:rPr sz="1650" b="0">
                          <a:solidFill>
                            <a:srgbClr val="24384D"/>
                          </a:solidFill>
                          <a:latin typeface="Arial"/>
                          <a:ea typeface="Arial"/>
                          <a:cs typeface="Arial"/>
                        </a:rPr>
                        <a:t>Build a deterministic short hash of a configuration object.</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config.load_config</a:t>
                      </a:r>
                    </a:p>
                  </a:txBody>
                  <a:tcPr marL="91440" marR="91440" marT="45720" marB="45720">
                    <a:solidFill>
                      <a:srgbClr val="FFFFFF"/>
                    </a:solidFill>
                  </a:tcPr>
                </a:tc>
                <a:tc>
                  <a:txBody>
                    <a:bodyPr/>
                    <a:lstStyle/>
                    <a:p>
                      <a:r>
                        <a:rPr sz="1650" b="0">
                          <a:solidFill>
                            <a:srgbClr val="24384D"/>
                          </a:solidFill>
                          <a:latin typeface="Arial"/>
                          <a:ea typeface="Arial"/>
                          <a:cs typeface="Arial"/>
                        </a:rPr>
                        <a:t>Read a preset and resolve code/data locations.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config.run_dir / checkpoint_dir</a:t>
                      </a:r>
                    </a:p>
                  </a:txBody>
                  <a:tcPr marL="91440" marR="91440" marT="45720" marB="45720">
                    <a:solidFill>
                      <a:srgbClr val="F0F4F7"/>
                    </a:solidFill>
                  </a:tcPr>
                </a:tc>
                <a:tc>
                  <a:txBody>
                    <a:bodyPr/>
                    <a:lstStyle/>
                    <a:p>
                      <a:r>
                        <a:rPr sz="1650" b="0">
                          <a:solidFill>
                            <a:srgbClr val="24384D"/>
                          </a:solidFill>
                          <a:latin typeface="Arial"/>
                          <a:ea typeface="Arial"/>
                          <a:cs typeface="Arial"/>
                        </a:rPr>
                        <a:t>Resolve and create result/checkpoint directories.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dynamics.transition_matrices</a:t>
                      </a:r>
                    </a:p>
                  </a:txBody>
                  <a:tcPr marL="91440" marR="91440" marT="45720" marB="45720">
                    <a:solidFill>
                      <a:srgbClr val="FFFFFF"/>
                    </a:solidFill>
                  </a:tcPr>
                </a:tc>
                <a:tc>
                  <a:txBody>
                    <a:bodyPr/>
                    <a:lstStyle/>
                    <a:p>
                      <a:r>
                        <a:rPr sz="1650" b="0">
                          <a:solidFill>
                            <a:srgbClr val="24384D"/>
                          </a:solidFill>
                          <a:latin typeface="Arial"/>
                          <a:ea typeface="Arial"/>
                          <a:cs typeface="Arial"/>
                        </a:rPr>
                        <a:t>Construct the three stable 4 × 4 matrices.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dynamics.generate_sequences</a:t>
                      </a:r>
                    </a:p>
                  </a:txBody>
                  <a:tcPr marL="91440" marR="91440" marT="45720" marB="45720">
                    <a:solidFill>
                      <a:srgbClr val="F0F4F7"/>
                    </a:solidFill>
                  </a:tcPr>
                </a:tc>
                <a:tc>
                  <a:txBody>
                    <a:bodyPr/>
                    <a:lstStyle/>
                    <a:p>
                      <a:r>
                        <a:rPr sz="1650" b="0">
                          <a:solidFill>
                            <a:srgbClr val="24384D"/>
                          </a:solidFill>
                          <a:latin typeface="Arial"/>
                          <a:ea typeface="Arial"/>
                          <a:cs typeface="Arial"/>
                        </a:rPr>
                        <a:t>Simulate Markov regimes, noise and burn-in.</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data.dataset_path</a:t>
                      </a:r>
                    </a:p>
                  </a:txBody>
                  <a:tcPr marL="91440" marR="91440" marT="45720" marB="45720">
                    <a:solidFill>
                      <a:srgbClr val="FFFFFF"/>
                    </a:solidFill>
                  </a:tcPr>
                </a:tc>
                <a:tc>
                  <a:txBody>
                    <a:bodyPr/>
                    <a:lstStyle/>
                    <a:p>
                      <a:r>
                        <a:rPr sz="1650" b="0">
                          <a:solidFill>
                            <a:srgbClr val="24384D"/>
                          </a:solidFill>
                          <a:latin typeface="Arial"/>
                          <a:ea typeface="Arial"/>
                          <a:cs typeface="Arial"/>
                        </a:rPr>
                        <a:t>Select a cache from data version, settings and seed.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895688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DBC956-A5AF-45F6-9E47-2ECDD603B64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2755228A-07F1-4259-97AC-8F7CB2CF2E5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Data loading and window construction</a:t>
            </a:r>
          </a:p>
        </p:txBody>
      </p:sp>
      <p:sp>
        <p:nvSpPr>
          <p:cNvPr id="3" name="">
            <a:extLst xmlns:a="http://schemas.openxmlformats.org/drawingml/2006/main">
              <a:ext uri="{FF2B5EF4-FFF2-40B4-BE49-F238E27FC236}">
                <a16:creationId xmlns:a16="http://schemas.microsoft.com/office/drawing/2014/main" id="{4A025A1C-4BAD-49F9-91EE-4F94E1F1909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36DCD5F-32C8-45FE-B17A-965C6962892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33</a:t>
            </a:r>
          </a:p>
        </p:txBody>
      </p:sp>
      <p:graphicFrame>
        <p:nvGraphicFramePr>
          <p:cNvPr id="5" name="">
            <a:extLst xmlns:a="http://schemas.openxmlformats.org/drawingml/2006/main">
              <a:ext uri="{FF2B5EF4-FFF2-40B4-BE49-F238E27FC236}">
                <a16:creationId xmlns:a16="http://schemas.microsoft.com/office/drawing/2014/main" id="{26F46DB1-57DF-4953-8337-21316DBE290D}"/>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828675">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828675">
                <a:tc>
                  <a:txBody>
                    <a:bodyPr/>
                    <a:lstStyle/>
                    <a:p>
                      <a:r>
                        <a:rPr sz="1650" b="0">
                          <a:solidFill>
                            <a:srgbClr val="24384D"/>
                          </a:solidFill>
                          <a:latin typeface="Arial"/>
                          <a:ea typeface="Arial"/>
                          <a:cs typeface="Arial"/>
                        </a:rPr>
                        <a:t>data.ensure_data</a:t>
                      </a:r>
                    </a:p>
                  </a:txBody>
                  <a:tcPr marL="91440" marR="91440" marT="45720" marB="45720">
                    <a:solidFill>
                      <a:srgbClr val="F0F4F7"/>
                    </a:solidFill>
                  </a:tcPr>
                </a:tc>
                <a:tc>
                  <a:txBody>
                    <a:bodyPr/>
                    <a:lstStyle/>
                    <a:p>
                      <a:r>
                        <a:rPr sz="1650" b="0">
                          <a:solidFill>
                            <a:srgbClr val="24384D"/>
                          </a:solidFill>
                          <a:latin typeface="Arial"/>
                          <a:ea typeface="Arial"/>
                          <a:cs typeface="Arial"/>
                        </a:rPr>
                        <a:t>Generate split archives and metadata, or verify cached SHA-256 checksums.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data.load_data</a:t>
                      </a:r>
                    </a:p>
                  </a:txBody>
                  <a:tcPr marL="91440" marR="91440" marT="45720" marB="45720">
                    <a:solidFill>
                      <a:srgbClr val="FFFFFF"/>
                    </a:solidFill>
                  </a:tcPr>
                </a:tc>
                <a:tc>
                  <a:txBody>
                    <a:bodyPr/>
                    <a:lstStyle/>
                    <a:p>
                      <a:r>
                        <a:rPr sz="1650" b="0">
                          <a:solidFill>
                            <a:srgbClr val="24384D"/>
                          </a:solidFill>
                          <a:latin typeface="Arial"/>
                          <a:ea typeface="Arial"/>
                          <a:cs typeface="Arial"/>
                        </a:rPr>
                        <a:t>Load states/regimes and compute training-only normalization.</a:t>
                      </a:r>
                    </a:p>
                  </a:txBody>
                  <a:tcPr marL="91440" marR="91440" marT="45720" marB="45720">
                    <a:solidFill>
                      <a:srgbClr val="FFFFFF"/>
                    </a:solidFill>
                  </a:tcPr>
                </a:tc>
              </a:tr>
              <a:tr h="828675">
                <a:tc>
                  <a:txBody>
                    <a:bodyPr/>
                    <a:lstStyle/>
                    <a:p>
                      <a:r>
                        <a:rPr sz="1650" b="0">
                          <a:solidFill>
                            <a:srgbClr val="24384D"/>
                          </a:solidFill>
                          <a:latin typeface="Arial"/>
                          <a:ea typeface="Arial"/>
                          <a:cs typeface="Arial"/>
                        </a:rPr>
                        <a:t>data.windows</a:t>
                      </a:r>
                    </a:p>
                  </a:txBody>
                  <a:tcPr marL="91440" marR="91440" marT="45720" marB="45720">
                    <a:solidFill>
                      <a:srgbClr val="F0F4F7"/>
                    </a:solidFill>
                  </a:tcPr>
                </a:tc>
                <a:tc>
                  <a:txBody>
                    <a:bodyPr/>
                    <a:lstStyle/>
                    <a:p>
                      <a:r>
                        <a:rPr sz="1650" b="0">
                          <a:solidFill>
                            <a:srgbClr val="24384D"/>
                          </a:solidFill>
                          <a:latin typeface="Arial"/>
                          <a:ea typeface="Arial"/>
                          <a:cs typeface="Arial"/>
                        </a:rPr>
                        <a:t>Build flattened causal histories, next-state targets and regime labels.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data.regime_ages</a:t>
                      </a:r>
                    </a:p>
                  </a:txBody>
                  <a:tcPr marL="91440" marR="91440" marT="45720" marB="45720">
                    <a:solidFill>
                      <a:srgbClr val="FFFFFF"/>
                    </a:solidFill>
                  </a:tcPr>
                </a:tc>
                <a:tc>
                  <a:txBody>
                    <a:bodyPr/>
                    <a:lstStyle/>
                    <a:p>
                      <a:r>
                        <a:rPr sz="1650" b="0">
                          <a:solidFill>
                            <a:srgbClr val="24384D"/>
                          </a:solidFill>
                          <a:latin typeface="Arial"/>
                          <a:ea typeface="Arial"/>
                          <a:cs typeface="Arial"/>
                        </a:rPr>
                        <a:t>Count transitions since each sequence’s most recent regime change.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2981845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2FCA80-51F9-4057-B3AE-65D426BD9BE2}"/>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CDD3F338-42E6-4615-B4E2-135D5DE02D7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Model and router functions</a:t>
            </a:r>
          </a:p>
        </p:txBody>
      </p:sp>
      <p:sp>
        <p:nvSpPr>
          <p:cNvPr id="3" name="">
            <a:extLst xmlns:a="http://schemas.openxmlformats.org/drawingml/2006/main">
              <a:ext uri="{FF2B5EF4-FFF2-40B4-BE49-F238E27FC236}">
                <a16:creationId xmlns:a16="http://schemas.microsoft.com/office/drawing/2014/main" id="{B7F0A888-5F6F-49A9-B590-1E194163FE6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7D20CF4-1283-45EC-B73A-DE89B0D5F8E3}"/>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34</a:t>
            </a:r>
          </a:p>
        </p:txBody>
      </p:sp>
      <p:graphicFrame>
        <p:nvGraphicFramePr>
          <p:cNvPr id="5" name="">
            <a:extLst xmlns:a="http://schemas.openxmlformats.org/drawingml/2006/main">
              <a:ext uri="{FF2B5EF4-FFF2-40B4-BE49-F238E27FC236}">
                <a16:creationId xmlns:a16="http://schemas.microsoft.com/office/drawing/2014/main" id="{117F6C6E-24AE-4FF7-84EC-F0F8B3990A73}"/>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models.mlp / nparameters</a:t>
                      </a:r>
                    </a:p>
                  </a:txBody>
                  <a:tcPr marL="91440" marR="91440" marT="45720" marB="45720">
                    <a:solidFill>
                      <a:srgbClr val="F0F4F7"/>
                    </a:solidFill>
                  </a:tcPr>
                </a:tc>
                <a:tc>
                  <a:txBody>
                    <a:bodyPr/>
                    <a:lstStyle/>
                    <a:p>
                      <a:r>
                        <a:rPr sz="1650" b="0">
                          <a:solidFill>
                            <a:srgbClr val="24384D"/>
                          </a:solidFill>
                          <a:latin typeface="Arial"/>
                          <a:ea typeface="Arial"/>
                          <a:cs typeface="Arial"/>
                        </a:rPr>
                        <a:t>Build tanh MLPs and count their parameters.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Dense.__init__ / forward / capacity</a:t>
                      </a:r>
                    </a:p>
                  </a:txBody>
                  <a:tcPr marL="91440" marR="91440" marT="45720" marB="45720">
                    <a:solidFill>
                      <a:srgbClr val="FFFFFF"/>
                    </a:solidFill>
                  </a:tcPr>
                </a:tc>
                <a:tc>
                  <a:txBody>
                    <a:bodyPr/>
                    <a:lstStyle/>
                    <a:p>
                      <a:r>
                        <a:rPr sz="1650" b="0">
                          <a:solidFill>
                            <a:srgbClr val="24384D"/>
                          </a:solidFill>
                          <a:latin typeface="Arial"/>
                          <a:ea typeface="Arial"/>
                          <a:cs typeface="Arial"/>
                        </a:rPr>
                        <a:t>Construct a baseline, predict and report parameter counts.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Router.__init__ / forward</a:t>
                      </a:r>
                    </a:p>
                  </a:txBody>
                  <a:tcPr marL="91440" marR="91440" marT="45720" marB="45720">
                    <a:solidFill>
                      <a:srgbClr val="F0F4F7"/>
                    </a:solidFill>
                  </a:tcPr>
                </a:tc>
                <a:tc>
                  <a:txBody>
                    <a:bodyPr/>
                    <a:lstStyle/>
                    <a:p>
                      <a:r>
                        <a:rPr sz="1650" b="0">
                          <a:solidFill>
                            <a:srgbClr val="24384D"/>
                          </a:solidFill>
                          <a:latin typeface="Arial"/>
                          <a:ea typeface="Arial"/>
                          <a:cs typeface="Arial"/>
                        </a:rPr>
                        <a:t>Construct learned or frozen routing and produce softmax probabilities.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routers.sparse_gates</a:t>
                      </a:r>
                    </a:p>
                  </a:txBody>
                  <a:tcPr marL="91440" marR="91440" marT="45720" marB="45720">
                    <a:solidFill>
                      <a:srgbClr val="FFFFFF"/>
                    </a:solidFill>
                  </a:tcPr>
                </a:tc>
                <a:tc>
                  <a:txBody>
                    <a:bodyPr/>
                    <a:lstStyle/>
                    <a:p>
                      <a:r>
                        <a:rPr sz="1650" b="0">
                          <a:solidFill>
                            <a:srgbClr val="24384D"/>
                          </a:solidFill>
                          <a:latin typeface="Arial"/>
                          <a:ea typeface="Arial"/>
                          <a:cs typeface="Arial"/>
                        </a:rPr>
                        <a:t>Select top-k experts and normalize retained gate weights.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MoE.__init__ / forward / capacity</a:t>
                      </a:r>
                    </a:p>
                  </a:txBody>
                  <a:tcPr marL="91440" marR="91440" marT="45720" marB="45720">
                    <a:solidFill>
                      <a:srgbClr val="F0F4F7"/>
                    </a:solidFill>
                  </a:tcPr>
                </a:tc>
                <a:tc>
                  <a:txBody>
                    <a:bodyPr/>
                    <a:lstStyle/>
                    <a:p>
                      <a:r>
                        <a:rPr sz="1650" b="0">
                          <a:solidFill>
                            <a:srgbClr val="24384D"/>
                          </a:solidFill>
                          <a:latin typeface="Arial"/>
                          <a:ea typeface="Arial"/>
                          <a:cs typeface="Arial"/>
                        </a:rPr>
                        <a:t>Construct experts, dispatch selected rows and report capacity.</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models.build_model</a:t>
                      </a:r>
                    </a:p>
                  </a:txBody>
                  <a:tcPr marL="91440" marR="91440" marT="45720" marB="45720">
                    <a:solidFill>
                      <a:srgbClr val="FFFFFF"/>
                    </a:solidFill>
                  </a:tcPr>
                </a:tc>
                <a:tc>
                  <a:txBody>
                    <a:bodyPr/>
                    <a:lstStyle/>
                    <a:p>
                      <a:r>
                        <a:rPr sz="1650" b="0">
                          <a:solidFill>
                            <a:srgbClr val="24384D"/>
                          </a:solidFill>
                          <a:latin typeface="Arial"/>
                          <a:ea typeface="Arial"/>
                          <a:cs typeface="Arial"/>
                        </a:rPr>
                        <a:t>Create the requested family using the configuration.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6276510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E4DD9F-D209-4552-8BC4-C89FA5DCBBF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38B07300-2BCD-49BB-BC22-D6B5944D8325}"/>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Training and inference functions</a:t>
            </a:r>
          </a:p>
        </p:txBody>
      </p:sp>
      <p:sp>
        <p:nvSpPr>
          <p:cNvPr id="3" name="">
            <a:extLst xmlns:a="http://schemas.openxmlformats.org/drawingml/2006/main">
              <a:ext uri="{FF2B5EF4-FFF2-40B4-BE49-F238E27FC236}">
                <a16:creationId xmlns:a16="http://schemas.microsoft.com/office/drawing/2014/main" id="{433AC772-113B-45A7-B3F3-04A77C7014C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03D3B58-5568-4399-B6CE-B6F1E84D745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35</a:t>
            </a:r>
          </a:p>
        </p:txBody>
      </p:sp>
      <p:graphicFrame>
        <p:nvGraphicFramePr>
          <p:cNvPr id="5" name="">
            <a:extLst xmlns:a="http://schemas.openxmlformats.org/drawingml/2006/main">
              <a:ext uri="{FF2B5EF4-FFF2-40B4-BE49-F238E27FC236}">
                <a16:creationId xmlns:a16="http://schemas.microsoft.com/office/drawing/2014/main" id="{998949A3-E5E6-4E02-BB96-181B9F801A76}"/>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828675">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828675">
                <a:tc>
                  <a:txBody>
                    <a:bodyPr/>
                    <a:lstStyle/>
                    <a:p>
                      <a:r>
                        <a:rPr sz="1650" b="0">
                          <a:solidFill>
                            <a:srgbClr val="24384D"/>
                          </a:solidFill>
                          <a:latin typeface="Arial"/>
                          <a:ea typeface="Arial"/>
                          <a:cs typeface="Arial"/>
                        </a:rPr>
                        <a:t>training.seed_everything</a:t>
                      </a:r>
                    </a:p>
                  </a:txBody>
                  <a:tcPr marL="91440" marR="91440" marT="45720" marB="45720">
                    <a:solidFill>
                      <a:srgbClr val="F0F4F7"/>
                    </a:solidFill>
                  </a:tcPr>
                </a:tc>
                <a:tc>
                  <a:txBody>
                    <a:bodyPr/>
                    <a:lstStyle/>
                    <a:p>
                      <a:r>
                        <a:rPr sz="1650" b="0">
                          <a:solidFill>
                            <a:srgbClr val="24384D"/>
                          </a:solidFill>
                          <a:latin typeface="Arial"/>
                          <a:ea typeface="Arial"/>
                          <a:cs typeface="Arial"/>
                        </a:rPr>
                        <a:t>Set Python, NumPy and PyTorch random seeds.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training.fit</a:t>
                      </a:r>
                    </a:p>
                  </a:txBody>
                  <a:tcPr marL="91440" marR="91440" marT="45720" marB="45720">
                    <a:solidFill>
                      <a:srgbClr val="FFFFFF"/>
                    </a:solidFill>
                  </a:tcPr>
                </a:tc>
                <a:tc>
                  <a:txBody>
                    <a:bodyPr/>
                    <a:lstStyle/>
                    <a:p>
                      <a:r>
                        <a:rPr sz="1650" b="0">
                          <a:solidFill>
                            <a:srgbClr val="24384D"/>
                          </a:solidFill>
                          <a:latin typeface="Arial"/>
                          <a:ea typeface="Arial"/>
                          <a:cs typeface="Arial"/>
                        </a:rPr>
                        <a:t>Train, clip gradients, evaluate validation MSE and restore the best state.</a:t>
                      </a:r>
                    </a:p>
                  </a:txBody>
                  <a:tcPr marL="91440" marR="91440" marT="45720" marB="45720">
                    <a:solidFill>
                      <a:srgbClr val="FFFFFF"/>
                    </a:solidFill>
                  </a:tcPr>
                </a:tc>
              </a:tr>
              <a:tr h="828675">
                <a:tc>
                  <a:txBody>
                    <a:bodyPr/>
                    <a:lstStyle/>
                    <a:p>
                      <a:r>
                        <a:rPr sz="1650" b="0">
                          <a:solidFill>
                            <a:srgbClr val="24384D"/>
                          </a:solidFill>
                          <a:latin typeface="Arial"/>
                          <a:ea typeface="Arial"/>
                          <a:cs typeface="Arial"/>
                        </a:rPr>
                        <a:t>evaluation.predict</a:t>
                      </a:r>
                    </a:p>
                  </a:txBody>
                  <a:tcPr marL="91440" marR="91440" marT="45720" marB="45720">
                    <a:solidFill>
                      <a:srgbClr val="F0F4F7"/>
                    </a:solidFill>
                  </a:tcPr>
                </a:tc>
                <a:tc>
                  <a:txBody>
                    <a:bodyPr/>
                    <a:lstStyle/>
                    <a:p>
                      <a:r>
                        <a:rPr sz="1650" b="0">
                          <a:solidFill>
                            <a:srgbClr val="24384D"/>
                          </a:solidFill>
                          <a:latin typeface="Arial"/>
                          <a:ea typeface="Arial"/>
                          <a:cs typeface="Arial"/>
                        </a:rPr>
                        <a:t>Run batched inference and restore original state units.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evaluation.evaluate</a:t>
                      </a:r>
                    </a:p>
                  </a:txBody>
                  <a:tcPr marL="91440" marR="91440" marT="45720" marB="45720">
                    <a:solidFill>
                      <a:srgbClr val="FFFFFF"/>
                    </a:solidFill>
                  </a:tcPr>
                </a:tc>
                <a:tc>
                  <a:txBody>
                    <a:bodyPr/>
                    <a:lstStyle/>
                    <a:p>
                      <a:r>
                        <a:rPr sz="1650" b="0">
                          <a:solidFill>
                            <a:srgbClr val="24384D"/>
                          </a:solidFill>
                          <a:latin typeface="Arial"/>
                          <a:ea typeface="Arial"/>
                          <a:cs typeface="Arial"/>
                        </a:rPr>
                        <a:t>Collect scalar metrics and diagnostic arrays for one model.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4461228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C247A0-AC13-4F6C-8310-87402240BE25}"/>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15052898-D5C2-416A-B4EC-3C00FC92F4B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Diagnostic evaluation functions</a:t>
            </a:r>
          </a:p>
        </p:txBody>
      </p:sp>
      <p:sp>
        <p:nvSpPr>
          <p:cNvPr id="3" name="">
            <a:extLst xmlns:a="http://schemas.openxmlformats.org/drawingml/2006/main">
              <a:ext uri="{FF2B5EF4-FFF2-40B4-BE49-F238E27FC236}">
                <a16:creationId xmlns:a16="http://schemas.microsoft.com/office/drawing/2014/main" id="{AE64E51A-3B29-41C1-B5E5-6164F1AF6ACA}"/>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1AB09AF-E867-4733-BB31-58E303BED69F}"/>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36</a:t>
            </a:r>
          </a:p>
        </p:txBody>
      </p:sp>
      <p:graphicFrame>
        <p:nvGraphicFramePr>
          <p:cNvPr id="5" name="">
            <a:extLst xmlns:a="http://schemas.openxmlformats.org/drawingml/2006/main">
              <a:ext uri="{FF2B5EF4-FFF2-40B4-BE49-F238E27FC236}">
                <a16:creationId xmlns:a16="http://schemas.microsoft.com/office/drawing/2014/main" id="{1686B697-B8B6-4ACE-AF93-4FAC94AED814}"/>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828675">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828675">
                <a:tc>
                  <a:txBody>
                    <a:bodyPr/>
                    <a:lstStyle/>
                    <a:p>
                      <a:r>
                        <a:rPr sz="1650" b="0">
                          <a:solidFill>
                            <a:srgbClr val="24384D"/>
                          </a:solidFill>
                          <a:latin typeface="Arial"/>
                          <a:ea typeface="Arial"/>
                          <a:cs typeface="Arial"/>
                        </a:rPr>
                        <a:t>evaluation.switch_recovery</a:t>
                      </a:r>
                    </a:p>
                  </a:txBody>
                  <a:tcPr marL="91440" marR="91440" marT="45720" marB="45720">
                    <a:solidFill>
                      <a:srgbClr val="F0F4F7"/>
                    </a:solidFill>
                  </a:tcPr>
                </a:tc>
                <a:tc>
                  <a:txBody>
                    <a:bodyPr/>
                    <a:lstStyle/>
                    <a:p>
                      <a:r>
                        <a:rPr sz="1650" b="0">
                          <a:solidFill>
                            <a:srgbClr val="24384D"/>
                          </a:solidFill>
                          <a:latin typeface="Arial"/>
                          <a:ea typeface="Arial"/>
                          <a:cs typeface="Arial"/>
                        </a:rPr>
                        <a:t>Find qualifying low-error runs inside actual switch episodes.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evaluation.event_aligned</a:t>
                      </a:r>
                    </a:p>
                  </a:txBody>
                  <a:tcPr marL="91440" marR="91440" marT="45720" marB="45720">
                    <a:solidFill>
                      <a:srgbClr val="FFFFFF"/>
                    </a:solidFill>
                  </a:tcPr>
                </a:tc>
                <a:tc>
                  <a:txBody>
                    <a:bodyPr/>
                    <a:lstStyle/>
                    <a:p>
                      <a:r>
                        <a:rPr sz="1650" b="0">
                          <a:solidFill>
                            <a:srgbClr val="24384D"/>
                          </a:solidFill>
                          <a:latin typeface="Arial"/>
                          <a:ea typeface="Arial"/>
                          <a:cs typeface="Arial"/>
                        </a:rPr>
                        <a:t>Average error by lag after switches and retain sample counts.</a:t>
                      </a:r>
                    </a:p>
                  </a:txBody>
                  <a:tcPr marL="91440" marR="91440" marT="45720" marB="45720">
                    <a:solidFill>
                      <a:srgbClr val="FFFFFF"/>
                    </a:solidFill>
                  </a:tcPr>
                </a:tc>
              </a:tr>
              <a:tr h="828675">
                <a:tc>
                  <a:txBody>
                    <a:bodyPr/>
                    <a:lstStyle/>
                    <a:p>
                      <a:r>
                        <a:rPr sz="1650" b="0">
                          <a:solidFill>
                            <a:srgbClr val="24384D"/>
                          </a:solidFill>
                          <a:latin typeface="Arial"/>
                          <a:ea typeface="Arial"/>
                          <a:cs typeface="Arial"/>
                        </a:rPr>
                        <a:t>evaluation.routing_statistics</a:t>
                      </a:r>
                    </a:p>
                  </a:txBody>
                  <a:tcPr marL="91440" marR="91440" marT="45720" marB="45720">
                    <a:solidFill>
                      <a:srgbClr val="F0F4F7"/>
                    </a:solidFill>
                  </a:tcPr>
                </a:tc>
                <a:tc>
                  <a:txBody>
                    <a:bodyPr/>
                    <a:lstStyle/>
                    <a:p>
                      <a:r>
                        <a:rPr sz="1650" b="0">
                          <a:solidFill>
                            <a:srgbClr val="24384D"/>
                          </a:solidFill>
                          <a:latin typeface="Arial"/>
                          <a:ea typeface="Arial"/>
                          <a:cs typeface="Arial"/>
                        </a:rPr>
                        <a:t>Fit validation route labels, score test agreement, tabulate utilization.</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evaluation.rollout</a:t>
                      </a:r>
                    </a:p>
                  </a:txBody>
                  <a:tcPr marL="91440" marR="91440" marT="45720" marB="45720">
                    <a:solidFill>
                      <a:srgbClr val="FFFFFF"/>
                    </a:solidFill>
                  </a:tcPr>
                </a:tc>
                <a:tc>
                  <a:txBody>
                    <a:bodyPr/>
                    <a:lstStyle/>
                    <a:p>
                      <a:r>
                        <a:rPr sz="1650" b="0">
                          <a:solidFill>
                            <a:srgbClr val="24384D"/>
                          </a:solidFill>
                          <a:latin typeface="Arial"/>
                          <a:ea typeface="Arial"/>
                          <a:cs typeface="Arial"/>
                        </a:rPr>
                        <a:t>Feed predictions back into history for recursive forecasts.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4688832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C4BA2F-BED0-46CF-8AEF-16C3B93378B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F4CF423C-78A2-4577-B2BC-138294BC4CF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Experiment orchestration and plotting</a:t>
            </a:r>
          </a:p>
        </p:txBody>
      </p:sp>
      <p:sp>
        <p:nvSpPr>
          <p:cNvPr id="3" name="">
            <a:extLst xmlns:a="http://schemas.openxmlformats.org/drawingml/2006/main">
              <a:ext uri="{FF2B5EF4-FFF2-40B4-BE49-F238E27FC236}">
                <a16:creationId xmlns:a16="http://schemas.microsoft.com/office/drawing/2014/main" id="{126BE095-87CF-4223-9BF4-397432B771AD}"/>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41CC68A-5CC6-4451-A595-A37CD01073B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37</a:t>
            </a:r>
          </a:p>
        </p:txBody>
      </p:sp>
      <p:graphicFrame>
        <p:nvGraphicFramePr>
          <p:cNvPr id="5" name="">
            <a:extLst xmlns:a="http://schemas.openxmlformats.org/drawingml/2006/main">
              <a:ext uri="{FF2B5EF4-FFF2-40B4-BE49-F238E27FC236}">
                <a16:creationId xmlns:a16="http://schemas.microsoft.com/office/drawing/2014/main" id="{0152BAA9-DCD5-4515-90A1-32E7CF55EE35}"/>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experiment.run_models</a:t>
                      </a:r>
                    </a:p>
                  </a:txBody>
                  <a:tcPr marL="91440" marR="91440" marT="45720" marB="45720">
                    <a:solidFill>
                      <a:srgbClr val="F0F4F7"/>
                    </a:solidFill>
                  </a:tcPr>
                </a:tc>
                <a:tc>
                  <a:txBody>
                    <a:bodyPr/>
                    <a:lstStyle/>
                    <a:p>
                      <a:r>
                        <a:rPr sz="1650" b="0">
                          <a:solidFill>
                            <a:srgbClr val="24384D"/>
                          </a:solidFill>
                          <a:latin typeface="Arial"/>
                          <a:ea typeface="Arial"/>
                          <a:cs typeface="Arial"/>
                        </a:rPr>
                        <a:t>Run each family/seed and save configuration, manifest and outputs.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experiment.source_hashes</a:t>
                      </a:r>
                    </a:p>
                  </a:txBody>
                  <a:tcPr marL="91440" marR="91440" marT="45720" marB="45720">
                    <a:solidFill>
                      <a:srgbClr val="FFFFFF"/>
                    </a:solidFill>
                  </a:tcPr>
                </a:tc>
                <a:tc>
                  <a:txBody>
                    <a:bodyPr/>
                    <a:lstStyle/>
                    <a:p>
                      <a:r>
                        <a:rPr sz="1650" b="0">
                          <a:solidFill>
                            <a:srgbClr val="24384D"/>
                          </a:solidFill>
                          <a:latin typeface="Arial"/>
                          <a:ea typeface="Arial"/>
                          <a:cs typeface="Arial"/>
                        </a:rPr>
                        <a:t>Compute SHA-256 for package source files.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experiment.load_metrics</a:t>
                      </a:r>
                    </a:p>
                  </a:txBody>
                  <a:tcPr marL="91440" marR="91440" marT="45720" marB="45720">
                    <a:solidFill>
                      <a:srgbClr val="F0F4F7"/>
                    </a:solidFill>
                  </a:tcPr>
                </a:tc>
                <a:tc>
                  <a:txBody>
                    <a:bodyPr/>
                    <a:lstStyle/>
                    <a:p>
                      <a:r>
                        <a:rPr sz="1650" b="0">
                          <a:solidFill>
                            <a:srgbClr val="24384D"/>
                          </a:solidFill>
                          <a:latin typeface="Arial"/>
                          <a:ea typeface="Arial"/>
                          <a:cs typeface="Arial"/>
                        </a:rPr>
                        <a:t>Collect available per-model JSON records.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experiment.load_diagnostics</a:t>
                      </a:r>
                    </a:p>
                  </a:txBody>
                  <a:tcPr marL="91440" marR="91440" marT="45720" marB="45720">
                    <a:solidFill>
                      <a:srgbClr val="FFFFFF"/>
                    </a:solidFill>
                  </a:tcPr>
                </a:tc>
                <a:tc>
                  <a:txBody>
                    <a:bodyPr/>
                    <a:lstStyle/>
                    <a:p>
                      <a:r>
                        <a:rPr sz="1650" b="0">
                          <a:solidFill>
                            <a:srgbClr val="24384D"/>
                          </a:solidFill>
                          <a:latin typeface="Arial"/>
                          <a:ea typeface="Arial"/>
                          <a:cs typeface="Arial"/>
                        </a:rPr>
                        <a:t>Load NPZ diagnostic arrays.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experiment.load_checkpoint</a:t>
                      </a:r>
                    </a:p>
                  </a:txBody>
                  <a:tcPr marL="91440" marR="91440" marT="45720" marB="45720">
                    <a:solidFill>
                      <a:srgbClr val="F0F4F7"/>
                    </a:solidFill>
                  </a:tcPr>
                </a:tc>
                <a:tc>
                  <a:txBody>
                    <a:bodyPr/>
                    <a:lstStyle/>
                    <a:p>
                      <a:r>
                        <a:rPr sz="1650" b="0">
                          <a:solidFill>
                            <a:srgbClr val="24384D"/>
                          </a:solidFill>
                          <a:latin typeface="Arial"/>
                          <a:ea typeface="Arial"/>
                          <a:cs typeface="Arial"/>
                        </a:rPr>
                        <a:t>Reconstruct a model and its stored normalization.</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plotting.style / save_figure</a:t>
                      </a:r>
                    </a:p>
                  </a:txBody>
                  <a:tcPr marL="91440" marR="91440" marT="45720" marB="45720">
                    <a:solidFill>
                      <a:srgbClr val="FFFFFF"/>
                    </a:solidFill>
                  </a:tcPr>
                </a:tc>
                <a:tc>
                  <a:txBody>
                    <a:bodyPr/>
                    <a:lstStyle/>
                    <a:p>
                      <a:r>
                        <a:rPr sz="1650" b="0">
                          <a:solidFill>
                            <a:srgbClr val="24384D"/>
                          </a:solidFill>
                          <a:latin typeface="Arial"/>
                          <a:ea typeface="Arial"/>
                          <a:cs typeface="Arial"/>
                        </a:rPr>
                        <a:t>Apply plot styling and write figures to the run directory.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806307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21721E-7BE6-4DF7-8790-167D6B2199F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03FE60CF-C92D-4A22-A45A-CCFFEFBCF50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Scripts, tests and reproducibility</a:t>
            </a:r>
          </a:p>
        </p:txBody>
      </p:sp>
      <p:sp>
        <p:nvSpPr>
          <p:cNvPr id="3" name="">
            <a:extLst xmlns:a="http://schemas.openxmlformats.org/drawingml/2006/main">
              <a:ext uri="{FF2B5EF4-FFF2-40B4-BE49-F238E27FC236}">
                <a16:creationId xmlns:a16="http://schemas.microsoft.com/office/drawing/2014/main" id="{1638592C-68C2-47CB-AA01-711542975E6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703C8D3-013F-4B7A-B087-622667F67422}"/>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38</a:t>
            </a:r>
          </a:p>
        </p:txBody>
      </p:sp>
      <p:graphicFrame>
        <p:nvGraphicFramePr>
          <p:cNvPr id="5" name="">
            <a:extLst xmlns:a="http://schemas.openxmlformats.org/drawingml/2006/main">
              <a:ext uri="{FF2B5EF4-FFF2-40B4-BE49-F238E27FC236}">
                <a16:creationId xmlns:a16="http://schemas.microsoft.com/office/drawing/2014/main" id="{02AADCB8-17E6-44F6-BA0F-8620F8402551}"/>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scripts/build_notebooks.py</a:t>
                      </a:r>
                    </a:p>
                  </a:txBody>
                  <a:tcPr marL="91440" marR="91440" marT="45720" marB="45720">
                    <a:solidFill>
                      <a:srgbClr val="F0F4F7"/>
                    </a:solidFill>
                  </a:tcPr>
                </a:tc>
                <a:tc>
                  <a:txBody>
                    <a:bodyPr/>
                    <a:lstStyle/>
                    <a:p>
                      <a:r>
                        <a:rPr sz="1650" b="0">
                          <a:solidFill>
                            <a:srgbClr val="24384D"/>
                          </a:solidFill>
                          <a:latin typeface="Arial"/>
                          <a:ea typeface="Arial"/>
                          <a:cs typeface="Arial"/>
                        </a:rPr>
                        <a:t>Generate the eight numbered notebook documents.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scripts/execute_notebooks.py</a:t>
                      </a:r>
                    </a:p>
                  </a:txBody>
                  <a:tcPr marL="91440" marR="91440" marT="45720" marB="45720">
                    <a:solidFill>
                      <a:srgbClr val="FFFFFF"/>
                    </a:solidFill>
                  </a:tcPr>
                </a:tc>
                <a:tc>
                  <a:txBody>
                    <a:bodyPr/>
                    <a:lstStyle/>
                    <a:p>
                      <a:r>
                        <a:rPr sz="1650" b="0">
                          <a:solidFill>
                            <a:srgbClr val="24384D"/>
                          </a:solidFill>
                          <a:latin typeface="Arial"/>
                          <a:ea typeface="Arial"/>
                          <a:cs typeface="Arial"/>
                        </a:rPr>
                        <a:t>Execute the notebook workflow for a chosen preset.</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scripts/run_experiment.py</a:t>
                      </a:r>
                    </a:p>
                  </a:txBody>
                  <a:tcPr marL="91440" marR="91440" marT="45720" marB="45720">
                    <a:solidFill>
                      <a:srgbClr val="F0F4F7"/>
                    </a:solidFill>
                  </a:tcPr>
                </a:tc>
                <a:tc>
                  <a:txBody>
                    <a:bodyPr/>
                    <a:lstStyle/>
                    <a:p>
                      <a:r>
                        <a:rPr sz="1650" b="0">
                          <a:solidFill>
                            <a:srgbClr val="24384D"/>
                          </a:solidFill>
                          <a:latin typeface="Arial"/>
                          <a:ea typeface="Arial"/>
                          <a:cs typeface="Arial"/>
                        </a:rPr>
                        <a:t>Run model training from the command line.</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scripts/summarize_results.py</a:t>
                      </a:r>
                    </a:p>
                  </a:txBody>
                  <a:tcPr marL="91440" marR="91440" marT="45720" marB="45720">
                    <a:solidFill>
                      <a:srgbClr val="FFFFFF"/>
                    </a:solidFill>
                  </a:tcPr>
                </a:tc>
                <a:tc>
                  <a:txBody>
                    <a:bodyPr/>
                    <a:lstStyle/>
                    <a:p>
                      <a:r>
                        <a:rPr sz="1650" b="0">
                          <a:solidFill>
                            <a:srgbClr val="24384D"/>
                          </a:solidFill>
                          <a:latin typeface="Arial"/>
                          <a:ea typeface="Arial"/>
                          <a:cs typeface="Arial"/>
                        </a:rPr>
                        <a:t>Recompute and write the experiment summary log.</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scripts/start_jupyter.ps1</a:t>
                      </a:r>
                    </a:p>
                  </a:txBody>
                  <a:tcPr marL="91440" marR="91440" marT="45720" marB="45720">
                    <a:solidFill>
                      <a:srgbClr val="F0F4F7"/>
                    </a:solidFill>
                  </a:tcPr>
                </a:tc>
                <a:tc>
                  <a:txBody>
                    <a:bodyPr/>
                    <a:lstStyle/>
                    <a:p>
                      <a:r>
                        <a:rPr sz="1650" b="0">
                          <a:solidFill>
                            <a:srgbClr val="24384D"/>
                          </a:solidFill>
                          <a:latin typeface="Arial"/>
                          <a:ea typeface="Arial"/>
                          <a:cs typeface="Arial"/>
                        </a:rPr>
                        <a:t>Start a project-local Jupyter session.</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tests</a:t>
                      </a:r>
                    </a:p>
                  </a:txBody>
                  <a:tcPr marL="91440" marR="91440" marT="45720" marB="45720">
                    <a:solidFill>
                      <a:srgbClr val="FFFFFF"/>
                    </a:solidFill>
                  </a:tcPr>
                </a:tc>
                <a:tc>
                  <a:txBody>
                    <a:bodyPr/>
                    <a:lstStyle/>
                    <a:p>
                      <a:r>
                        <a:rPr sz="1650" b="0">
                          <a:solidFill>
                            <a:srgbClr val="24384D"/>
                          </a:solidFill>
                          <a:latin typeface="Arial"/>
                          <a:ea typeface="Arial"/>
                          <a:cs typeface="Arial"/>
                        </a:rPr>
                        <a:t>Check dynamics, leakage boundaries, routing and evaluation behavior.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5289806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B929B3-6BB8-40FC-88E6-30BDE0B0F2D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83514CAC-A523-4E7B-BEA2-BA76F03A7AEB}"/>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Files and evidence trail</a:t>
            </a:r>
          </a:p>
        </p:txBody>
      </p:sp>
      <p:sp>
        <p:nvSpPr>
          <p:cNvPr id="3" name="">
            <a:extLst xmlns:a="http://schemas.openxmlformats.org/drawingml/2006/main">
              <a:ext uri="{FF2B5EF4-FFF2-40B4-BE49-F238E27FC236}">
                <a16:creationId xmlns:a16="http://schemas.microsoft.com/office/drawing/2014/main" id="{A51BF8A1-DD34-4BA5-9BC6-A51220CA082E}"/>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FA7806A-97CD-4047-86F1-80141640220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5B4692FD-C245-43F7-87F3-4020F79A69B2}"/>
              </a:ext>
            </a:extLst>
          </p:cNvPr>
          <p:cNvSpPr>
            <a:spLocks xmlns:a="http://schemas.openxmlformats.org/drawingml/2006/main" noGrp="1"/>
          </p:cNvSpPr>
          <p:nvPr/>
        </p:nvSpPr>
        <p:spPr>
          <a:xfrm xmlns:a="http://schemas.openxmlformats.org/drawingml/2006/main">
            <a:off x="571500" y="1809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Code, notebooks and results</a:t>
            </a:r>
          </a:p>
        </p:txBody>
      </p:sp>
      <p:sp>
        <p:nvSpPr>
          <p:cNvPr id="6" name="">
            <a:extLst xmlns:a="http://schemas.openxmlformats.org/drawingml/2006/main">
              <a:ext uri="{FF2B5EF4-FFF2-40B4-BE49-F238E27FC236}">
                <a16:creationId xmlns:a16="http://schemas.microsoft.com/office/drawing/2014/main" id="{1253B82C-7608-45FA-876C-EBCA715F01A2}"/>
              </a:ext>
            </a:extLst>
          </p:cNvPr>
          <p:cNvSpPr>
            <a:spLocks xmlns:a="http://schemas.openxmlformats.org/drawingml/2006/main" noGrp="1"/>
          </p:cNvSpPr>
          <p:nvPr/>
        </p:nvSpPr>
        <p:spPr>
          <a:xfrm xmlns:a="http://schemas.openxmlformats.org/drawingml/2006/main">
            <a:off x="571500" y="2209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D:/HarunoKen/Twilight_MoE_Dynamics</a:t>
            </a:r>
          </a:p>
        </p:txBody>
      </p:sp>
      <p:sp>
        <p:nvSpPr>
          <p:cNvPr id="7" name="">
            <a:extLst xmlns:a="http://schemas.openxmlformats.org/drawingml/2006/main">
              <a:ext uri="{FF2B5EF4-FFF2-40B4-BE49-F238E27FC236}">
                <a16:creationId xmlns:a16="http://schemas.microsoft.com/office/drawing/2014/main" id="{9BB46CDD-676D-4808-A693-7774D9D02528}"/>
              </a:ext>
            </a:extLst>
          </p:cNvPr>
          <p:cNvSpPr>
            <a:spLocks xmlns:a="http://schemas.openxmlformats.org/drawingml/2006/main" noGrp="1"/>
          </p:cNvSpPr>
          <p:nvPr/>
        </p:nvSpPr>
        <p:spPr>
          <a:xfrm xmlns:a="http://schemas.openxmlformats.org/drawingml/2006/main">
            <a:off x="571500" y="3095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Generated datasets</a:t>
            </a:r>
          </a:p>
        </p:txBody>
      </p:sp>
      <p:sp>
        <p:nvSpPr>
          <p:cNvPr id="8" name="">
            <a:extLst xmlns:a="http://schemas.openxmlformats.org/drawingml/2006/main">
              <a:ext uri="{FF2B5EF4-FFF2-40B4-BE49-F238E27FC236}">
                <a16:creationId xmlns:a16="http://schemas.microsoft.com/office/drawing/2014/main" id="{6D4A0F58-876F-4E74-8C67-7DCD7D39BBEB}"/>
              </a:ext>
            </a:extLst>
          </p:cNvPr>
          <p:cNvSpPr>
            <a:spLocks xmlns:a="http://schemas.openxmlformats.org/drawingml/2006/main" noGrp="1"/>
          </p:cNvSpPr>
          <p:nvPr/>
        </p:nvSpPr>
        <p:spPr>
          <a:xfrm xmlns:a="http://schemas.openxmlformats.org/drawingml/2006/main">
            <a:off x="571500" y="3495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E:/HarunoKen/Twilight_MoE_Dynamics</a:t>
            </a:r>
          </a:p>
        </p:txBody>
      </p:sp>
      <p:sp>
        <p:nvSpPr>
          <p:cNvPr id="9" name="">
            <a:extLst xmlns:a="http://schemas.openxmlformats.org/drawingml/2006/main">
              <a:ext uri="{FF2B5EF4-FFF2-40B4-BE49-F238E27FC236}">
                <a16:creationId xmlns:a16="http://schemas.microsoft.com/office/drawing/2014/main" id="{CB31CE72-8994-4E9B-B806-B32B56D44382}"/>
              </a:ext>
            </a:extLst>
          </p:cNvPr>
          <p:cNvSpPr>
            <a:spLocks xmlns:a="http://schemas.openxmlformats.org/drawingml/2006/main" noGrp="1"/>
          </p:cNvSpPr>
          <p:nvPr/>
        </p:nvSpPr>
        <p:spPr>
          <a:xfrm xmlns:a="http://schemas.openxmlformats.org/drawingml/2006/main">
            <a:off x="571500" y="43815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Full result set</a:t>
            </a:r>
          </a:p>
        </p:txBody>
      </p:sp>
      <p:sp>
        <p:nvSpPr>
          <p:cNvPr id="10" name="">
            <a:extLst xmlns:a="http://schemas.openxmlformats.org/drawingml/2006/main">
              <a:ext uri="{FF2B5EF4-FFF2-40B4-BE49-F238E27FC236}">
                <a16:creationId xmlns:a16="http://schemas.microsoft.com/office/drawing/2014/main" id="{B0C67B6C-10AF-4A26-A5C5-8F8FE06C9506}"/>
              </a:ext>
            </a:extLst>
          </p:cNvPr>
          <p:cNvSpPr>
            <a:spLocks xmlns:a="http://schemas.openxmlformats.org/drawingml/2006/main" noGrp="1"/>
          </p:cNvSpPr>
          <p:nvPr/>
        </p:nvSpPr>
        <p:spPr>
          <a:xfrm xmlns:a="http://schemas.openxmlformats.org/drawingml/2006/main">
            <a:off x="571500" y="4781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results/metrics/experiment_57adae732ea0</a:t>
            </a:r>
          </a:p>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Matching figures and checkpoints use the same experiment ID.</a:t>
            </a:r>
          </a:p>
        </p:txBody>
      </p:sp>
    </p:spTree>
    <p:extLst>
      <p:ext uri="{BB962C8B-B14F-4D97-AF65-F5344CB8AC3E}">
        <p14:creationId xmlns:p14="http://schemas.microsoft.com/office/powerpoint/2010/main" val="39039477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78AA0E-A2AC-4130-97F0-E785CA113497}"/>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7CE2EA67-67B6-4F62-A9B2-2682DB7D3EA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References 1–3</a:t>
            </a:r>
          </a:p>
        </p:txBody>
      </p:sp>
      <p:sp>
        <p:nvSpPr>
          <p:cNvPr id="3" name="">
            <a:extLst xmlns:a="http://schemas.openxmlformats.org/drawingml/2006/main">
              <a:ext uri="{FF2B5EF4-FFF2-40B4-BE49-F238E27FC236}">
                <a16:creationId xmlns:a16="http://schemas.microsoft.com/office/drawing/2014/main" id="{3F3DF36B-46C4-413F-B746-A3306A5D697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FEB44A1-963F-4930-9A0B-89341E893711}"/>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201A624D-12EA-4F08-A176-7445EA6836E1}"/>
              </a:ext>
            </a:extLst>
          </p:cNvPr>
          <p:cNvSpPr>
            <a:spLocks xmlns:a="http://schemas.openxmlformats.org/drawingml/2006/main" noGrp="1"/>
          </p:cNvSpPr>
          <p:nvPr/>
        </p:nvSpPr>
        <p:spPr>
          <a:xfrm xmlns:a="http://schemas.openxmlformats.org/drawingml/2006/main">
            <a:off x="571500" y="17335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defRPr sz="1800" b="1">
                <a:solidFill>
                  <a:srgbClr val="B67818"/>
                </a:solidFill>
                <a:latin typeface="Arial"/>
                <a:ea typeface="Arial"/>
                <a:cs typeface="Arial"/>
              </a:defRPr>
            </a:pPr>
            <a:r>
              <a:rPr sz="1800" b="1">
                <a:solidFill>
                  <a:srgbClr val="B67818"/>
                </a:solidFill>
                <a:latin typeface="Arial"/>
                <a:ea typeface="Arial"/>
                <a:cs typeface="Arial"/>
              </a:rPr>
              <a:t>Jacobs et al. (1991)</a:t>
            </a:r>
          </a:p>
        </p:txBody>
      </p:sp>
      <p:sp>
        <p:nvSpPr>
          <p:cNvPr id="6" name="">
            <a:extLst xmlns:a="http://schemas.openxmlformats.org/drawingml/2006/main">
              <a:ext uri="{FF2B5EF4-FFF2-40B4-BE49-F238E27FC236}">
                <a16:creationId xmlns:a16="http://schemas.microsoft.com/office/drawing/2014/main" id="{499C72DB-E66E-496D-844B-FED81CE795E5}"/>
              </a:ext>
            </a:extLst>
          </p:cNvPr>
          <p:cNvSpPr>
            <a:spLocks xmlns:a="http://schemas.openxmlformats.org/drawingml/2006/main" noGrp="1"/>
          </p:cNvSpPr>
          <p:nvPr/>
        </p:nvSpPr>
        <p:spPr>
          <a:xfrm xmlns:a="http://schemas.openxmlformats.org/drawingml/2006/main">
            <a:off x="9715500" y="17335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defRPr sz="1575" b="0">
                <a:solidFill>
                  <a:srgbClr val="087E8B"/>
                </a:solidFill>
                <a:latin typeface="Arial"/>
                <a:ea typeface="Arial"/>
                <a:cs typeface="Arial"/>
              </a:defRPr>
            </a:pPr>
            <a:r>
              <a:rPr>
                <a:hlinkClick xmlns:r="http://schemas.openxmlformats.org/officeDocument/2006/relationships" r:id="R4366c9c963fa4fb8"/>
              </a:rPr>
              <a:t>Read paper</a:t>
            </a:r>
          </a:p>
        </p:txBody>
      </p:sp>
      <p:sp>
        <p:nvSpPr>
          <p:cNvPr id="7" name="">
            <a:extLst xmlns:a="http://schemas.openxmlformats.org/drawingml/2006/main">
              <a:ext uri="{FF2B5EF4-FFF2-40B4-BE49-F238E27FC236}">
                <a16:creationId xmlns:a16="http://schemas.microsoft.com/office/drawing/2014/main" id="{99AF87FA-C23D-4547-B29B-CE87DDF8B302}"/>
              </a:ext>
            </a:extLst>
          </p:cNvPr>
          <p:cNvSpPr>
            <a:spLocks xmlns:a="http://schemas.openxmlformats.org/drawingml/2006/main" noGrp="1"/>
          </p:cNvSpPr>
          <p:nvPr/>
        </p:nvSpPr>
        <p:spPr>
          <a:xfrm xmlns:a="http://schemas.openxmlformats.org/drawingml/2006/main">
            <a:off x="571500" y="212407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Adaptive Mixtures of Local Experts</a:t>
            </a:r>
          </a:p>
        </p:txBody>
      </p:sp>
      <p:sp>
        <p:nvSpPr>
          <p:cNvPr id="8" name="">
            <a:extLst xmlns:a="http://schemas.openxmlformats.org/drawingml/2006/main">
              <a:ext uri="{FF2B5EF4-FFF2-40B4-BE49-F238E27FC236}">
                <a16:creationId xmlns:a16="http://schemas.microsoft.com/office/drawing/2014/main" id="{A5248141-AE72-4032-9314-1F2446613F4A}"/>
              </a:ext>
            </a:extLst>
          </p:cNvPr>
          <p:cNvSpPr>
            <a:spLocks xmlns:a="http://schemas.openxmlformats.org/drawingml/2006/main" noGrp="1"/>
          </p:cNvSpPr>
          <p:nvPr/>
        </p:nvSpPr>
        <p:spPr>
          <a:xfrm xmlns:a="http://schemas.openxmlformats.org/drawingml/2006/main">
            <a:off x="571500" y="31146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defRPr sz="1800" b="1">
                <a:solidFill>
                  <a:srgbClr val="B67818"/>
                </a:solidFill>
                <a:latin typeface="Arial"/>
                <a:ea typeface="Arial"/>
                <a:cs typeface="Arial"/>
              </a:defRPr>
            </a:pPr>
            <a:r>
              <a:rPr sz="1800" b="1">
                <a:solidFill>
                  <a:srgbClr val="B67818"/>
                </a:solidFill>
                <a:latin typeface="Arial"/>
                <a:ea typeface="Arial"/>
                <a:cs typeface="Arial"/>
              </a:rPr>
              <a:t>Ghahramani &amp; Hinton (2000)</a:t>
            </a:r>
          </a:p>
        </p:txBody>
      </p:sp>
      <p:sp>
        <p:nvSpPr>
          <p:cNvPr id="9" name="">
            <a:extLst xmlns:a="http://schemas.openxmlformats.org/drawingml/2006/main">
              <a:ext uri="{FF2B5EF4-FFF2-40B4-BE49-F238E27FC236}">
                <a16:creationId xmlns:a16="http://schemas.microsoft.com/office/drawing/2014/main" id="{2EE29BC7-E2E3-4556-8F78-99D61DBBE5CE}"/>
              </a:ext>
            </a:extLst>
          </p:cNvPr>
          <p:cNvSpPr>
            <a:spLocks xmlns:a="http://schemas.openxmlformats.org/drawingml/2006/main" noGrp="1"/>
          </p:cNvSpPr>
          <p:nvPr/>
        </p:nvSpPr>
        <p:spPr>
          <a:xfrm xmlns:a="http://schemas.openxmlformats.org/drawingml/2006/main">
            <a:off x="9715500" y="31146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defRPr sz="1575" b="0">
                <a:solidFill>
                  <a:srgbClr val="087E8B"/>
                </a:solidFill>
                <a:latin typeface="Arial"/>
                <a:ea typeface="Arial"/>
                <a:cs typeface="Arial"/>
              </a:defRPr>
            </a:pPr>
            <a:r>
              <a:rPr>
                <a:hlinkClick xmlns:r="http://schemas.openxmlformats.org/officeDocument/2006/relationships" r:id="R41922b0e5d364866"/>
              </a:rPr>
              <a:t>Read paper</a:t>
            </a:r>
          </a:p>
        </p:txBody>
      </p:sp>
      <p:sp>
        <p:nvSpPr>
          <p:cNvPr id="10" name="">
            <a:extLst xmlns:a="http://schemas.openxmlformats.org/drawingml/2006/main">
              <a:ext uri="{FF2B5EF4-FFF2-40B4-BE49-F238E27FC236}">
                <a16:creationId xmlns:a16="http://schemas.microsoft.com/office/drawing/2014/main" id="{0F4382A5-73CE-4D60-A0A2-FD304950E66F}"/>
              </a:ext>
            </a:extLst>
          </p:cNvPr>
          <p:cNvSpPr>
            <a:spLocks xmlns:a="http://schemas.openxmlformats.org/drawingml/2006/main" noGrp="1"/>
          </p:cNvSpPr>
          <p:nvPr/>
        </p:nvSpPr>
        <p:spPr>
          <a:xfrm xmlns:a="http://schemas.openxmlformats.org/drawingml/2006/main">
            <a:off x="571500" y="3505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Variational Learning for Switching State-Space Models</a:t>
            </a:r>
          </a:p>
        </p:txBody>
      </p:sp>
      <p:sp>
        <p:nvSpPr>
          <p:cNvPr id="11" name="">
            <a:extLst xmlns:a="http://schemas.openxmlformats.org/drawingml/2006/main">
              <a:ext uri="{FF2B5EF4-FFF2-40B4-BE49-F238E27FC236}">
                <a16:creationId xmlns:a16="http://schemas.microsoft.com/office/drawing/2014/main" id="{191DD3E2-C31D-42C3-AFF9-20C3DA82D073}"/>
              </a:ext>
            </a:extLst>
          </p:cNvPr>
          <p:cNvSpPr>
            <a:spLocks xmlns:a="http://schemas.openxmlformats.org/drawingml/2006/main" noGrp="1"/>
          </p:cNvSpPr>
          <p:nvPr/>
        </p:nvSpPr>
        <p:spPr>
          <a:xfrm xmlns:a="http://schemas.openxmlformats.org/drawingml/2006/main">
            <a:off x="571500" y="44958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defRPr sz="1800" b="1">
                <a:solidFill>
                  <a:srgbClr val="B67818"/>
                </a:solidFill>
                <a:latin typeface="Arial"/>
                <a:ea typeface="Arial"/>
                <a:cs typeface="Arial"/>
              </a:defRPr>
            </a:pPr>
            <a:r>
              <a:rPr sz="1800" b="1">
                <a:solidFill>
                  <a:srgbClr val="B67818"/>
                </a:solidFill>
                <a:latin typeface="Arial"/>
                <a:ea typeface="Arial"/>
                <a:cs typeface="Arial"/>
              </a:rPr>
              <a:t>Namikawa &amp; Tani (2008)</a:t>
            </a:r>
          </a:p>
        </p:txBody>
      </p:sp>
      <p:sp>
        <p:nvSpPr>
          <p:cNvPr id="12" name="">
            <a:extLst xmlns:a="http://schemas.openxmlformats.org/drawingml/2006/main">
              <a:ext uri="{FF2B5EF4-FFF2-40B4-BE49-F238E27FC236}">
                <a16:creationId xmlns:a16="http://schemas.microsoft.com/office/drawing/2014/main" id="{6214FC78-7741-4C75-8486-5DC9C141B16B}"/>
              </a:ext>
            </a:extLst>
          </p:cNvPr>
          <p:cNvSpPr>
            <a:spLocks xmlns:a="http://schemas.openxmlformats.org/drawingml/2006/main" noGrp="1"/>
          </p:cNvSpPr>
          <p:nvPr/>
        </p:nvSpPr>
        <p:spPr>
          <a:xfrm xmlns:a="http://schemas.openxmlformats.org/drawingml/2006/main">
            <a:off x="9715500" y="44958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defRPr sz="1575" b="0">
                <a:solidFill>
                  <a:srgbClr val="087E8B"/>
                </a:solidFill>
                <a:latin typeface="Arial"/>
                <a:ea typeface="Arial"/>
                <a:cs typeface="Arial"/>
              </a:defRPr>
            </a:pPr>
            <a:r>
              <a:rPr>
                <a:hlinkClick xmlns:r="http://schemas.openxmlformats.org/officeDocument/2006/relationships" r:id="Rd3c3ded890cb4fff"/>
              </a:rPr>
              <a:t>Read paper</a:t>
            </a:r>
          </a:p>
        </p:txBody>
      </p:sp>
      <p:sp>
        <p:nvSpPr>
          <p:cNvPr id="13" name="">
            <a:extLst xmlns:a="http://schemas.openxmlformats.org/drawingml/2006/main">
              <a:ext uri="{FF2B5EF4-FFF2-40B4-BE49-F238E27FC236}">
                <a16:creationId xmlns:a16="http://schemas.microsoft.com/office/drawing/2014/main" id="{EBE1D393-18DE-4B90-8402-EEADF6E0D4D0}"/>
              </a:ext>
            </a:extLst>
          </p:cNvPr>
          <p:cNvSpPr>
            <a:spLocks xmlns:a="http://schemas.openxmlformats.org/drawingml/2006/main" noGrp="1"/>
          </p:cNvSpPr>
          <p:nvPr/>
        </p:nvSpPr>
        <p:spPr>
          <a:xfrm xmlns:a="http://schemas.openxmlformats.org/drawingml/2006/main">
            <a:off x="571500" y="48863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A model for learning to segment temporal sequences, utilizing a mixture of RNN experts together with adaptive variance</a:t>
            </a:r>
          </a:p>
        </p:txBody>
      </p:sp>
    </p:spTree>
    <p:extLst>
      <p:ext uri="{BB962C8B-B14F-4D97-AF65-F5344CB8AC3E}">
        <p14:creationId xmlns:p14="http://schemas.microsoft.com/office/powerpoint/2010/main" val="153881426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20355F-F59E-4A7A-8922-57289D9DA15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09F1F21B-5665-493D-A226-27476306D882}"/>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References 4–6</a:t>
            </a:r>
          </a:p>
        </p:txBody>
      </p:sp>
      <p:sp>
        <p:nvSpPr>
          <p:cNvPr id="3" name="">
            <a:extLst xmlns:a="http://schemas.openxmlformats.org/drawingml/2006/main">
              <a:ext uri="{FF2B5EF4-FFF2-40B4-BE49-F238E27FC236}">
                <a16:creationId xmlns:a16="http://schemas.microsoft.com/office/drawing/2014/main" id="{0338288B-C430-4713-B6DC-5A20A9377C8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D484B9F2-FE51-4A54-8B7C-A7C0AFB520C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5290A65F-91CA-4051-9D71-3997DF15B4E5}"/>
              </a:ext>
            </a:extLst>
          </p:cNvPr>
          <p:cNvSpPr>
            <a:spLocks xmlns:a="http://schemas.openxmlformats.org/drawingml/2006/main" noGrp="1"/>
          </p:cNvSpPr>
          <p:nvPr/>
        </p:nvSpPr>
        <p:spPr>
          <a:xfrm xmlns:a="http://schemas.openxmlformats.org/drawingml/2006/main">
            <a:off x="571500" y="17335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defRPr sz="1800" b="1">
                <a:solidFill>
                  <a:srgbClr val="B67818"/>
                </a:solidFill>
                <a:latin typeface="Arial"/>
                <a:ea typeface="Arial"/>
                <a:cs typeface="Arial"/>
              </a:defRPr>
            </a:pPr>
            <a:r>
              <a:rPr sz="1800" b="1">
                <a:solidFill>
                  <a:srgbClr val="B67818"/>
                </a:solidFill>
                <a:latin typeface="Arial"/>
                <a:ea typeface="Arial"/>
                <a:cs typeface="Arial"/>
              </a:rPr>
              <a:t>Shazeer et al. (2017)</a:t>
            </a:r>
          </a:p>
        </p:txBody>
      </p:sp>
      <p:sp>
        <p:nvSpPr>
          <p:cNvPr id="6" name="">
            <a:extLst xmlns:a="http://schemas.openxmlformats.org/drawingml/2006/main">
              <a:ext uri="{FF2B5EF4-FFF2-40B4-BE49-F238E27FC236}">
                <a16:creationId xmlns:a16="http://schemas.microsoft.com/office/drawing/2014/main" id="{0157D708-AEC3-43D1-A022-0CB6C7FDBB9A}"/>
              </a:ext>
            </a:extLst>
          </p:cNvPr>
          <p:cNvSpPr>
            <a:spLocks xmlns:a="http://schemas.openxmlformats.org/drawingml/2006/main" noGrp="1"/>
          </p:cNvSpPr>
          <p:nvPr/>
        </p:nvSpPr>
        <p:spPr>
          <a:xfrm xmlns:a="http://schemas.openxmlformats.org/drawingml/2006/main">
            <a:off x="9715500" y="17335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defRPr sz="1575" b="0">
                <a:solidFill>
                  <a:srgbClr val="087E8B"/>
                </a:solidFill>
                <a:latin typeface="Arial"/>
                <a:ea typeface="Arial"/>
                <a:cs typeface="Arial"/>
              </a:defRPr>
            </a:pPr>
            <a:r>
              <a:rPr>
                <a:hlinkClick xmlns:r="http://schemas.openxmlformats.org/officeDocument/2006/relationships" r:id="R28ceccb881fc4b0e"/>
              </a:rPr>
              <a:t>Read paper</a:t>
            </a:r>
          </a:p>
        </p:txBody>
      </p:sp>
      <p:sp>
        <p:nvSpPr>
          <p:cNvPr id="7" name="">
            <a:extLst xmlns:a="http://schemas.openxmlformats.org/drawingml/2006/main">
              <a:ext uri="{FF2B5EF4-FFF2-40B4-BE49-F238E27FC236}">
                <a16:creationId xmlns:a16="http://schemas.microsoft.com/office/drawing/2014/main" id="{EAD28732-FA3C-4AD6-B237-29C346C7E706}"/>
              </a:ext>
            </a:extLst>
          </p:cNvPr>
          <p:cNvSpPr>
            <a:spLocks xmlns:a="http://schemas.openxmlformats.org/drawingml/2006/main" noGrp="1"/>
          </p:cNvSpPr>
          <p:nvPr/>
        </p:nvSpPr>
        <p:spPr>
          <a:xfrm xmlns:a="http://schemas.openxmlformats.org/drawingml/2006/main">
            <a:off x="571500" y="212407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Outrageously Large Neural Networks: The Sparsely-Gated Mixture-of-Experts Layer</a:t>
            </a:r>
          </a:p>
        </p:txBody>
      </p:sp>
      <p:sp>
        <p:nvSpPr>
          <p:cNvPr id="8" name="">
            <a:extLst xmlns:a="http://schemas.openxmlformats.org/drawingml/2006/main">
              <a:ext uri="{FF2B5EF4-FFF2-40B4-BE49-F238E27FC236}">
                <a16:creationId xmlns:a16="http://schemas.microsoft.com/office/drawing/2014/main" id="{9B979A76-32A7-4551-99DF-42778DB66A55}"/>
              </a:ext>
            </a:extLst>
          </p:cNvPr>
          <p:cNvSpPr>
            <a:spLocks xmlns:a="http://schemas.openxmlformats.org/drawingml/2006/main" noGrp="1"/>
          </p:cNvSpPr>
          <p:nvPr/>
        </p:nvSpPr>
        <p:spPr>
          <a:xfrm xmlns:a="http://schemas.openxmlformats.org/drawingml/2006/main">
            <a:off x="571500" y="31146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defRPr sz="1800" b="1">
                <a:solidFill>
                  <a:srgbClr val="B67818"/>
                </a:solidFill>
                <a:latin typeface="Arial"/>
                <a:ea typeface="Arial"/>
                <a:cs typeface="Arial"/>
              </a:defRPr>
            </a:pPr>
            <a:r>
              <a:rPr sz="1800" b="1">
                <a:solidFill>
                  <a:srgbClr val="B67818"/>
                </a:solidFill>
                <a:latin typeface="Arial"/>
                <a:ea typeface="Arial"/>
                <a:cs typeface="Arial"/>
              </a:rPr>
              <a:t>Ni et al. (2024)</a:t>
            </a:r>
          </a:p>
        </p:txBody>
      </p:sp>
      <p:sp>
        <p:nvSpPr>
          <p:cNvPr id="9" name="">
            <a:extLst xmlns:a="http://schemas.openxmlformats.org/drawingml/2006/main">
              <a:ext uri="{FF2B5EF4-FFF2-40B4-BE49-F238E27FC236}">
                <a16:creationId xmlns:a16="http://schemas.microsoft.com/office/drawing/2014/main" id="{56063841-E3DB-41DE-A5BF-8E261E816BB5}"/>
              </a:ext>
            </a:extLst>
          </p:cNvPr>
          <p:cNvSpPr>
            <a:spLocks xmlns:a="http://schemas.openxmlformats.org/drawingml/2006/main" noGrp="1"/>
          </p:cNvSpPr>
          <p:nvPr/>
        </p:nvSpPr>
        <p:spPr>
          <a:xfrm xmlns:a="http://schemas.openxmlformats.org/drawingml/2006/main">
            <a:off x="9715500" y="31146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defRPr sz="1575" b="0">
                <a:solidFill>
                  <a:srgbClr val="087E8B"/>
                </a:solidFill>
                <a:latin typeface="Arial"/>
                <a:ea typeface="Arial"/>
                <a:cs typeface="Arial"/>
              </a:defRPr>
            </a:pPr>
            <a:r>
              <a:rPr>
                <a:hlinkClick xmlns:r="http://schemas.openxmlformats.org/officeDocument/2006/relationships" r:id="Rb4a092b88a0a44e3"/>
              </a:rPr>
              <a:t>Read paper</a:t>
            </a:r>
          </a:p>
        </p:txBody>
      </p:sp>
      <p:sp>
        <p:nvSpPr>
          <p:cNvPr id="10" name="">
            <a:extLst xmlns:a="http://schemas.openxmlformats.org/drawingml/2006/main">
              <a:ext uri="{FF2B5EF4-FFF2-40B4-BE49-F238E27FC236}">
                <a16:creationId xmlns:a16="http://schemas.microsoft.com/office/drawing/2014/main" id="{6DA6E3F7-C12F-4741-94E9-774A8E1CBAEB}"/>
              </a:ext>
            </a:extLst>
          </p:cNvPr>
          <p:cNvSpPr>
            <a:spLocks xmlns:a="http://schemas.openxmlformats.org/drawingml/2006/main" noGrp="1"/>
          </p:cNvSpPr>
          <p:nvPr/>
        </p:nvSpPr>
        <p:spPr>
          <a:xfrm xmlns:a="http://schemas.openxmlformats.org/drawingml/2006/main">
            <a:off x="571500" y="3505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Mixture-of-Linear-Experts for Long-term Time Series Forecasting</a:t>
            </a:r>
          </a:p>
        </p:txBody>
      </p:sp>
      <p:sp>
        <p:nvSpPr>
          <p:cNvPr id="11" name="">
            <a:extLst xmlns:a="http://schemas.openxmlformats.org/drawingml/2006/main">
              <a:ext uri="{FF2B5EF4-FFF2-40B4-BE49-F238E27FC236}">
                <a16:creationId xmlns:a16="http://schemas.microsoft.com/office/drawing/2014/main" id="{5EF3E82B-1048-43CB-9A45-40EBE7DE51ED}"/>
              </a:ext>
            </a:extLst>
          </p:cNvPr>
          <p:cNvSpPr>
            <a:spLocks xmlns:a="http://schemas.openxmlformats.org/drawingml/2006/main" noGrp="1"/>
          </p:cNvSpPr>
          <p:nvPr/>
        </p:nvSpPr>
        <p:spPr>
          <a:xfrm xmlns:a="http://schemas.openxmlformats.org/drawingml/2006/main">
            <a:off x="571500" y="44958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defRPr sz="1800" b="1">
                <a:solidFill>
                  <a:srgbClr val="B67818"/>
                </a:solidFill>
                <a:latin typeface="Arial"/>
                <a:ea typeface="Arial"/>
                <a:cs typeface="Arial"/>
              </a:defRPr>
            </a:pPr>
            <a:r>
              <a:rPr sz="1800" b="1">
                <a:solidFill>
                  <a:srgbClr val="B67818"/>
                </a:solidFill>
                <a:latin typeface="Arial"/>
                <a:ea typeface="Arial"/>
                <a:cs typeface="Arial"/>
              </a:rPr>
              <a:t>Shi et al. (2025)</a:t>
            </a:r>
          </a:p>
        </p:txBody>
      </p:sp>
      <p:sp>
        <p:nvSpPr>
          <p:cNvPr id="12" name="">
            <a:extLst xmlns:a="http://schemas.openxmlformats.org/drawingml/2006/main">
              <a:ext uri="{FF2B5EF4-FFF2-40B4-BE49-F238E27FC236}">
                <a16:creationId xmlns:a16="http://schemas.microsoft.com/office/drawing/2014/main" id="{DCF1DC3B-8B26-4838-A99E-C447A7859218}"/>
              </a:ext>
            </a:extLst>
          </p:cNvPr>
          <p:cNvSpPr>
            <a:spLocks xmlns:a="http://schemas.openxmlformats.org/drawingml/2006/main" noGrp="1"/>
          </p:cNvSpPr>
          <p:nvPr/>
        </p:nvSpPr>
        <p:spPr>
          <a:xfrm xmlns:a="http://schemas.openxmlformats.org/drawingml/2006/main">
            <a:off x="9715500" y="44958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defRPr sz="1575" b="0">
                <a:solidFill>
                  <a:srgbClr val="087E8B"/>
                </a:solidFill>
                <a:latin typeface="Arial"/>
                <a:ea typeface="Arial"/>
                <a:cs typeface="Arial"/>
              </a:defRPr>
            </a:pPr>
            <a:r>
              <a:rPr>
                <a:hlinkClick xmlns:r="http://schemas.openxmlformats.org/officeDocument/2006/relationships" r:id="R63bd615d94414cf1"/>
              </a:rPr>
              <a:t>Read paper</a:t>
            </a:r>
          </a:p>
        </p:txBody>
      </p:sp>
      <p:sp>
        <p:nvSpPr>
          <p:cNvPr id="13" name="">
            <a:extLst xmlns:a="http://schemas.openxmlformats.org/drawingml/2006/main">
              <a:ext uri="{FF2B5EF4-FFF2-40B4-BE49-F238E27FC236}">
                <a16:creationId xmlns:a16="http://schemas.microsoft.com/office/drawing/2014/main" id="{EA6D61A4-4DE4-46E8-914F-75AD9B29F4A2}"/>
              </a:ext>
            </a:extLst>
          </p:cNvPr>
          <p:cNvSpPr>
            <a:spLocks xmlns:a="http://schemas.openxmlformats.org/drawingml/2006/main" noGrp="1"/>
          </p:cNvSpPr>
          <p:nvPr/>
        </p:nvSpPr>
        <p:spPr>
          <a:xfrm xmlns:a="http://schemas.openxmlformats.org/drawingml/2006/main">
            <a:off x="571500" y="48863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Time-MoE: Billion-Scale Time Series Foundation Models with Mixture of Experts</a:t>
            </a:r>
          </a:p>
        </p:txBody>
      </p:sp>
    </p:spTree>
    <p:extLst>
      <p:ext uri="{BB962C8B-B14F-4D97-AF65-F5344CB8AC3E}">
        <p14:creationId xmlns:p14="http://schemas.microsoft.com/office/powerpoint/2010/main" val="688451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2026-10-09T09:24:30.5610000Z</dcterms:created>
  <dcterms:modified xsi:type="dcterms:W3CDTF">2026-10-09T09:24:30.5610000Z</dcterms:modified>
</coreProperties>
</file>