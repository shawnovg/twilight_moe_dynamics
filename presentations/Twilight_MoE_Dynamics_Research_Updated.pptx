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3.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4.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5.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6.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7.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8.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9.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slides/charts/chart10.xml" ContentType="application/vnd.openxmlformats-officedocument.drawingml.chart+xml"/>
  <Override PartName="/ppt/notesSlides/notesSlide38.xml" ContentType="application/vnd.openxmlformats-officedocument.presentationml.notesSlide+xml"/>
  <Override PartName="/ppt/slides/slide39.xml" ContentType="application/vnd.openxmlformats-officedocument.presentationml.slide+xml"/>
  <Override PartName="/ppt/slides/charts/chart11.xml" ContentType="application/vnd.openxmlformats-officedocument.drawingml.chart+xml"/>
  <Override PartName="/ppt/notesSlides/notesSlide39.xml" ContentType="application/vnd.openxmlformats-officedocument.presentationml.notesSlide+xml"/>
  <Override PartName="/ppt/slides/slide40.xml" ContentType="application/vnd.openxmlformats-officedocument.presentationml.slide+xml"/>
  <Override PartName="/ppt/slides/charts/chart12.xml" ContentType="application/vnd.openxmlformats-officedocument.drawingml.chart+xml"/>
  <Override PartName="/ppt/notesSlides/notesSlide40.xml" ContentType="application/vnd.openxmlformats-officedocument.presentationml.notesSlide+xml"/>
  <Override PartName="/ppt/slides/slide41.xml" ContentType="application/vnd.openxmlformats-officedocument.presentationml.slide+xml"/>
  <Override PartName="/ppt/slides/charts/chart13.xml" ContentType="application/vnd.openxmlformats-officedocument.drawingml.chart+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8a61fb03e6d4734" /><Relationship Type="http://schemas.openxmlformats.org/officeDocument/2006/relationships/extended-properties" Target="/docProps/app.xml" Id="Rada958d14bb54dca" /><Relationship Type="http://schemas.openxmlformats.org/officeDocument/2006/relationships/officeDocument" Target="/ppt/presentation.xml" Id="R34d62ae3e69d48c7" /></Relationships>
</file>

<file path=ppt/presentation.xml><?xml version="1.0" encoding="utf-8"?>
<p:presentation xmlns:p="http://schemas.openxmlformats.org/presentationml/2006/main">
  <p:sldMasterIdLst>
    <p:sldMasterId xmlns:r="http://schemas.openxmlformats.org/officeDocument/2006/relationships" id="2147483648" r:id="Rb5f195724adb4902"/>
  </p:sldMasterIdLst>
  <p:notesMasterIdLst>
    <p:notesMasterId xmlns:r="http://schemas.openxmlformats.org/officeDocument/2006/relationships" r:id="Rb831dc5c1b014621"/>
  </p:notesMasterIdLst>
  <p:sldIdLst>
    <p:sldId xmlns:r="http://schemas.openxmlformats.org/officeDocument/2006/relationships" id="256" r:id="R85211ab1c429438d"/>
    <p:sldId xmlns:r="http://schemas.openxmlformats.org/officeDocument/2006/relationships" id="257" r:id="R860c5fa32a064273"/>
    <p:sldId xmlns:r="http://schemas.openxmlformats.org/officeDocument/2006/relationships" id="258" r:id="R9fd80e6edb0246c5"/>
    <p:sldId xmlns:r="http://schemas.openxmlformats.org/officeDocument/2006/relationships" id="259" r:id="Rbe046ec64cd4410f"/>
    <p:sldId xmlns:r="http://schemas.openxmlformats.org/officeDocument/2006/relationships" id="260" r:id="R1d3d86d452e4419a"/>
    <p:sldId xmlns:r="http://schemas.openxmlformats.org/officeDocument/2006/relationships" id="261" r:id="Ra4c001225f784e76"/>
    <p:sldId xmlns:r="http://schemas.openxmlformats.org/officeDocument/2006/relationships" id="262" r:id="R2d13efdd91cd4ea1"/>
    <p:sldId xmlns:r="http://schemas.openxmlformats.org/officeDocument/2006/relationships" id="263" r:id="Rc4e6f27b1abc4ca4"/>
    <p:sldId xmlns:r="http://schemas.openxmlformats.org/officeDocument/2006/relationships" id="264" r:id="Raeebb1fbc4594435"/>
    <p:sldId xmlns:r="http://schemas.openxmlformats.org/officeDocument/2006/relationships" id="265" r:id="R18d6648dbb9645e1"/>
    <p:sldId xmlns:r="http://schemas.openxmlformats.org/officeDocument/2006/relationships" id="266" r:id="Rd95a57298ab744c8"/>
    <p:sldId xmlns:r="http://schemas.openxmlformats.org/officeDocument/2006/relationships" id="267" r:id="Rbf90d761b6b54cbd"/>
    <p:sldId xmlns:r="http://schemas.openxmlformats.org/officeDocument/2006/relationships" id="268" r:id="R20f3fd6732734e5c"/>
    <p:sldId xmlns:r="http://schemas.openxmlformats.org/officeDocument/2006/relationships" id="269" r:id="R24407d6c8d0c48c6"/>
    <p:sldId xmlns:r="http://schemas.openxmlformats.org/officeDocument/2006/relationships" id="270" r:id="R0e10f7b5536e427e"/>
    <p:sldId xmlns:r="http://schemas.openxmlformats.org/officeDocument/2006/relationships" id="271" r:id="Rd919a9e2922f47ce"/>
    <p:sldId xmlns:r="http://schemas.openxmlformats.org/officeDocument/2006/relationships" id="272" r:id="R116a7bd4ef3945fa"/>
    <p:sldId xmlns:r="http://schemas.openxmlformats.org/officeDocument/2006/relationships" id="273" r:id="R25c356b68bbc4318"/>
    <p:sldId xmlns:r="http://schemas.openxmlformats.org/officeDocument/2006/relationships" id="274" r:id="Ra5e2b5ac6f784a66"/>
    <p:sldId xmlns:r="http://schemas.openxmlformats.org/officeDocument/2006/relationships" id="275" r:id="R730bdddc6ca74ce7"/>
    <p:sldId xmlns:r="http://schemas.openxmlformats.org/officeDocument/2006/relationships" id="276" r:id="R67e2c8d921d74875"/>
    <p:sldId xmlns:r="http://schemas.openxmlformats.org/officeDocument/2006/relationships" id="277" r:id="Rc019b080c0b64c76"/>
    <p:sldId xmlns:r="http://schemas.openxmlformats.org/officeDocument/2006/relationships" id="278" r:id="R5fac4bc7dd994f4b"/>
    <p:sldId xmlns:r="http://schemas.openxmlformats.org/officeDocument/2006/relationships" id="279" r:id="R55cd7d56fa2248ee"/>
    <p:sldId xmlns:r="http://schemas.openxmlformats.org/officeDocument/2006/relationships" id="280" r:id="R7827785bd4904a21"/>
    <p:sldId xmlns:r="http://schemas.openxmlformats.org/officeDocument/2006/relationships" id="281" r:id="R2cb8660f334042a6"/>
    <p:sldId xmlns:r="http://schemas.openxmlformats.org/officeDocument/2006/relationships" id="282" r:id="Re4564a2f2a524b1f"/>
    <p:sldId xmlns:r="http://schemas.openxmlformats.org/officeDocument/2006/relationships" id="283" r:id="R730ce6b4fa2645c8"/>
    <p:sldId xmlns:r="http://schemas.openxmlformats.org/officeDocument/2006/relationships" id="284" r:id="R17706f914d364ef0"/>
    <p:sldId xmlns:r="http://schemas.openxmlformats.org/officeDocument/2006/relationships" id="285" r:id="Rcbcf8396c3b74b50"/>
    <p:sldId xmlns:r="http://schemas.openxmlformats.org/officeDocument/2006/relationships" id="286" r:id="Rb43e0cf399b8478b"/>
    <p:sldId xmlns:r="http://schemas.openxmlformats.org/officeDocument/2006/relationships" id="287" r:id="Rc4bd54eac3ad48cf"/>
    <p:sldId xmlns:r="http://schemas.openxmlformats.org/officeDocument/2006/relationships" id="288" r:id="R5c28d7ba0fcb4e5d"/>
    <p:sldId xmlns:r="http://schemas.openxmlformats.org/officeDocument/2006/relationships" id="289" r:id="R379750d5a8a24184"/>
    <p:sldId xmlns:r="http://schemas.openxmlformats.org/officeDocument/2006/relationships" id="290" r:id="R67802b1473684d25"/>
    <p:sldId xmlns:r="http://schemas.openxmlformats.org/officeDocument/2006/relationships" id="291" r:id="Re73e82a3107247de"/>
    <p:sldId xmlns:r="http://schemas.openxmlformats.org/officeDocument/2006/relationships" id="292" r:id="R31ca71a4c5c34a5a"/>
    <p:sldId xmlns:r="http://schemas.openxmlformats.org/officeDocument/2006/relationships" id="293" r:id="R47840a127bee4321"/>
    <p:sldId xmlns:r="http://schemas.openxmlformats.org/officeDocument/2006/relationships" id="294" r:id="Rd85650071d7b436e"/>
    <p:sldId xmlns:r="http://schemas.openxmlformats.org/officeDocument/2006/relationships" id="295" r:id="Rac191bdb688f4b1f"/>
    <p:sldId xmlns:r="http://schemas.openxmlformats.org/officeDocument/2006/relationships" id="296" r:id="R8d9e8f6cb8ce44a3"/>
    <p:sldId xmlns:r="http://schemas.openxmlformats.org/officeDocument/2006/relationships" id="297" r:id="Rcb02a479b70b47f4"/>
    <p:sldId xmlns:r="http://schemas.openxmlformats.org/officeDocument/2006/relationships" id="298" r:id="R52f2dfed1782487f"/>
    <p:sldId xmlns:r="http://schemas.openxmlformats.org/officeDocument/2006/relationships" id="299" r:id="R78abd6e49f354901"/>
    <p:sldId xmlns:r="http://schemas.openxmlformats.org/officeDocument/2006/relationships" id="300" r:id="R08d15c1b53be4b6e"/>
    <p:sldId xmlns:r="http://schemas.openxmlformats.org/officeDocument/2006/relationships" id="301" r:id="R682f498da37546df"/>
    <p:sldId xmlns:r="http://schemas.openxmlformats.org/officeDocument/2006/relationships" id="302" r:id="R3df788aef18e4db7"/>
    <p:sldId xmlns:r="http://schemas.openxmlformats.org/officeDocument/2006/relationships" id="303" r:id="R7218c814088d456f"/>
    <p:sldId xmlns:r="http://schemas.openxmlformats.org/officeDocument/2006/relationships" id="304" r:id="Rc8cf8108f35740c7"/>
    <p:sldId xmlns:r="http://schemas.openxmlformats.org/officeDocument/2006/relationships" id="305" r:id="R4c85b4de25974d1e"/>
    <p:sldId xmlns:r="http://schemas.openxmlformats.org/officeDocument/2006/relationships" id="306" r:id="R1c391e35fa024386"/>
    <p:sldId xmlns:r="http://schemas.openxmlformats.org/officeDocument/2006/relationships" id="307" r:id="R023f09e6f1ea4e26"/>
    <p:sldId xmlns:r="http://schemas.openxmlformats.org/officeDocument/2006/relationships" id="308" r:id="Rb182ad4276a74cba"/>
    <p:sldId xmlns:r="http://schemas.openxmlformats.org/officeDocument/2006/relationships" id="309" r:id="R52a2dbf5126d450e"/>
    <p:sldId xmlns:r="http://schemas.openxmlformats.org/officeDocument/2006/relationships" id="310" r:id="Red2f17fee45e4b08"/>
    <p:sldId xmlns:r="http://schemas.openxmlformats.org/officeDocument/2006/relationships" id="311" r:id="R9c5f35cd1e444248"/>
    <p:sldId xmlns:r="http://schemas.openxmlformats.org/officeDocument/2006/relationships" id="312" r:id="R789e5bcc611344c8"/>
    <p:sldId xmlns:r="http://schemas.openxmlformats.org/officeDocument/2006/relationships" id="313" r:id="R5aeb7c0949e54f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04a4397043401f" /><Relationship Type="http://schemas.openxmlformats.org/officeDocument/2006/relationships/slideMaster" Target="/ppt/slideMasters/slideMaster1.xml" Id="Rb5f195724adb4902" /><Relationship Type="http://schemas.openxmlformats.org/officeDocument/2006/relationships/notesMaster" Target="/ppt/notesMasters/notesMaster1.xml" Id="Rb831dc5c1b014621" /><Relationship Type="http://schemas.openxmlformats.org/officeDocument/2006/relationships/presProps" Target="/ppt/presProps.xml" Id="R4e2c0e4b360c406a" /><Relationship Type="http://schemas.openxmlformats.org/officeDocument/2006/relationships/tableStyles" Target="/ppt/tableStyles.xml" Id="Refe690d96126492a" /><Relationship Type="http://schemas.openxmlformats.org/officeDocument/2006/relationships/slide" Target="/ppt/slides/slide1.xml" Id="R85211ab1c429438d" /><Relationship Type="http://schemas.openxmlformats.org/officeDocument/2006/relationships/slide" Target="/ppt/slides/slide2.xml" Id="R860c5fa32a064273" /><Relationship Type="http://schemas.openxmlformats.org/officeDocument/2006/relationships/slide" Target="/ppt/slides/slide3.xml" Id="R9fd80e6edb0246c5" /><Relationship Type="http://schemas.openxmlformats.org/officeDocument/2006/relationships/slide" Target="/ppt/slides/slide4.xml" Id="Rbe046ec64cd4410f" /><Relationship Type="http://schemas.openxmlformats.org/officeDocument/2006/relationships/slide" Target="/ppt/slides/slide5.xml" Id="R1d3d86d452e4419a" /><Relationship Type="http://schemas.openxmlformats.org/officeDocument/2006/relationships/slide" Target="/ppt/slides/slide6.xml" Id="Ra4c001225f784e76" /><Relationship Type="http://schemas.openxmlformats.org/officeDocument/2006/relationships/slide" Target="/ppt/slides/slide7.xml" Id="R2d13efdd91cd4ea1" /><Relationship Type="http://schemas.openxmlformats.org/officeDocument/2006/relationships/slide" Target="/ppt/slides/slide8.xml" Id="Rc4e6f27b1abc4ca4" /><Relationship Type="http://schemas.openxmlformats.org/officeDocument/2006/relationships/slide" Target="/ppt/slides/slide9.xml" Id="Raeebb1fbc4594435" /><Relationship Type="http://schemas.openxmlformats.org/officeDocument/2006/relationships/slide" Target="/ppt/slides/slide10.xml" Id="R18d6648dbb9645e1" /><Relationship Type="http://schemas.openxmlformats.org/officeDocument/2006/relationships/slide" Target="/ppt/slides/slide11.xml" Id="Rd95a57298ab744c8" /><Relationship Type="http://schemas.openxmlformats.org/officeDocument/2006/relationships/slide" Target="/ppt/slides/slide12.xml" Id="Rbf90d761b6b54cbd" /><Relationship Type="http://schemas.openxmlformats.org/officeDocument/2006/relationships/slide" Target="/ppt/slides/slide13.xml" Id="R20f3fd6732734e5c" /><Relationship Type="http://schemas.openxmlformats.org/officeDocument/2006/relationships/slide" Target="/ppt/slides/slide14.xml" Id="R24407d6c8d0c48c6" /><Relationship Type="http://schemas.openxmlformats.org/officeDocument/2006/relationships/slide" Target="/ppt/slides/slide15.xml" Id="R0e10f7b5536e427e" /><Relationship Type="http://schemas.openxmlformats.org/officeDocument/2006/relationships/slide" Target="/ppt/slides/slide16.xml" Id="Rd919a9e2922f47ce" /><Relationship Type="http://schemas.openxmlformats.org/officeDocument/2006/relationships/slide" Target="/ppt/slides/slide17.xml" Id="R116a7bd4ef3945fa" /><Relationship Type="http://schemas.openxmlformats.org/officeDocument/2006/relationships/slide" Target="/ppt/slides/slide18.xml" Id="R25c356b68bbc4318" /><Relationship Type="http://schemas.openxmlformats.org/officeDocument/2006/relationships/slide" Target="/ppt/slides/slide19.xml" Id="Ra5e2b5ac6f784a66" /><Relationship Type="http://schemas.openxmlformats.org/officeDocument/2006/relationships/slide" Target="/ppt/slides/slide20.xml" Id="R730bdddc6ca74ce7" /><Relationship Type="http://schemas.openxmlformats.org/officeDocument/2006/relationships/slide" Target="/ppt/slides/slide21.xml" Id="R67e2c8d921d74875" /><Relationship Type="http://schemas.openxmlformats.org/officeDocument/2006/relationships/slide" Target="/ppt/slides/slide22.xml" Id="Rc019b080c0b64c76" /><Relationship Type="http://schemas.openxmlformats.org/officeDocument/2006/relationships/slide" Target="/ppt/slides/slide23.xml" Id="R5fac4bc7dd994f4b" /><Relationship Type="http://schemas.openxmlformats.org/officeDocument/2006/relationships/slide" Target="/ppt/slides/slide24.xml" Id="R55cd7d56fa2248ee" /><Relationship Type="http://schemas.openxmlformats.org/officeDocument/2006/relationships/slide" Target="/ppt/slides/slide25.xml" Id="R7827785bd4904a21" /><Relationship Type="http://schemas.openxmlformats.org/officeDocument/2006/relationships/slide" Target="/ppt/slides/slide26.xml" Id="R2cb8660f334042a6" /><Relationship Type="http://schemas.openxmlformats.org/officeDocument/2006/relationships/slide" Target="/ppt/slides/slide27.xml" Id="Re4564a2f2a524b1f" /><Relationship Type="http://schemas.openxmlformats.org/officeDocument/2006/relationships/slide" Target="/ppt/slides/slide28.xml" Id="R730ce6b4fa2645c8" /><Relationship Type="http://schemas.openxmlformats.org/officeDocument/2006/relationships/slide" Target="/ppt/slides/slide29.xml" Id="R17706f914d364ef0" /><Relationship Type="http://schemas.openxmlformats.org/officeDocument/2006/relationships/slide" Target="/ppt/slides/slide30.xml" Id="Rcbcf8396c3b74b50" /><Relationship Type="http://schemas.openxmlformats.org/officeDocument/2006/relationships/slide" Target="/ppt/slides/slide31.xml" Id="Rb43e0cf399b8478b" /><Relationship Type="http://schemas.openxmlformats.org/officeDocument/2006/relationships/slide" Target="/ppt/slides/slide32.xml" Id="Rc4bd54eac3ad48cf" /><Relationship Type="http://schemas.openxmlformats.org/officeDocument/2006/relationships/slide" Target="/ppt/slides/slide33.xml" Id="R5c28d7ba0fcb4e5d" /><Relationship Type="http://schemas.openxmlformats.org/officeDocument/2006/relationships/slide" Target="/ppt/slides/slide34.xml" Id="R379750d5a8a24184" /><Relationship Type="http://schemas.openxmlformats.org/officeDocument/2006/relationships/slide" Target="/ppt/slides/slide35.xml" Id="R67802b1473684d25" /><Relationship Type="http://schemas.openxmlformats.org/officeDocument/2006/relationships/slide" Target="/ppt/slides/slide36.xml" Id="Re73e82a3107247de" /><Relationship Type="http://schemas.openxmlformats.org/officeDocument/2006/relationships/slide" Target="/ppt/slides/slide37.xml" Id="R31ca71a4c5c34a5a" /><Relationship Type="http://schemas.openxmlformats.org/officeDocument/2006/relationships/slide" Target="/ppt/slides/slide38.xml" Id="R47840a127bee4321" /><Relationship Type="http://schemas.openxmlformats.org/officeDocument/2006/relationships/slide" Target="/ppt/slides/slide39.xml" Id="Rd85650071d7b436e" /><Relationship Type="http://schemas.openxmlformats.org/officeDocument/2006/relationships/slide" Target="/ppt/slides/slide40.xml" Id="Rac191bdb688f4b1f" /><Relationship Type="http://schemas.openxmlformats.org/officeDocument/2006/relationships/slide" Target="/ppt/slides/slide41.xml" Id="R8d9e8f6cb8ce44a3" /><Relationship Type="http://schemas.openxmlformats.org/officeDocument/2006/relationships/slide" Target="/ppt/slides/slide42.xml" Id="Rcb02a479b70b47f4" /><Relationship Type="http://schemas.openxmlformats.org/officeDocument/2006/relationships/slide" Target="/ppt/slides/slide43.xml" Id="R52f2dfed1782487f" /><Relationship Type="http://schemas.openxmlformats.org/officeDocument/2006/relationships/slide" Target="/ppt/slides/slide44.xml" Id="R78abd6e49f354901" /><Relationship Type="http://schemas.openxmlformats.org/officeDocument/2006/relationships/slide" Target="/ppt/slides/slide45.xml" Id="R08d15c1b53be4b6e" /><Relationship Type="http://schemas.openxmlformats.org/officeDocument/2006/relationships/slide" Target="/ppt/slides/slide46.xml" Id="R682f498da37546df" /><Relationship Type="http://schemas.openxmlformats.org/officeDocument/2006/relationships/slide" Target="/ppt/slides/slide47.xml" Id="R3df788aef18e4db7" /><Relationship Type="http://schemas.openxmlformats.org/officeDocument/2006/relationships/slide" Target="/ppt/slides/slide48.xml" Id="R7218c814088d456f" /><Relationship Type="http://schemas.openxmlformats.org/officeDocument/2006/relationships/slide" Target="/ppt/slides/slide49.xml" Id="Rc8cf8108f35740c7" /><Relationship Type="http://schemas.openxmlformats.org/officeDocument/2006/relationships/slide" Target="/ppt/slides/slide50.xml" Id="R4c85b4de25974d1e" /><Relationship Type="http://schemas.openxmlformats.org/officeDocument/2006/relationships/slide" Target="/ppt/slides/slide51.xml" Id="R1c391e35fa024386" /><Relationship Type="http://schemas.openxmlformats.org/officeDocument/2006/relationships/slide" Target="/ppt/slides/slide52.xml" Id="R023f09e6f1ea4e26" /><Relationship Type="http://schemas.openxmlformats.org/officeDocument/2006/relationships/slide" Target="/ppt/slides/slide53.xml" Id="Rb182ad4276a74cba" /><Relationship Type="http://schemas.openxmlformats.org/officeDocument/2006/relationships/slide" Target="/ppt/slides/slide54.xml" Id="R52a2dbf5126d450e" /><Relationship Type="http://schemas.openxmlformats.org/officeDocument/2006/relationships/slide" Target="/ppt/slides/slide55.xml" Id="Red2f17fee45e4b08" /><Relationship Type="http://schemas.openxmlformats.org/officeDocument/2006/relationships/slide" Target="/ppt/slides/slide56.xml" Id="R9c5f35cd1e444248" /><Relationship Type="http://schemas.openxmlformats.org/officeDocument/2006/relationships/slide" Target="/ppt/slides/slide57.xml" Id="R789e5bcc611344c8" /><Relationship Type="http://schemas.openxmlformats.org/officeDocument/2006/relationships/slide" Target="/ppt/slides/slide58.xml" Id="R5aeb7c0949e54f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c63a3891584b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c2bebbb74c40ac" /><Relationship Type="http://schemas.openxmlformats.org/officeDocument/2006/relationships/notesMaster" Target="/ppt/notesMasters/notesMaster1.xml" Id="R6765239c3ab349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6fcd0b37434040" /><Relationship Type="http://schemas.openxmlformats.org/officeDocument/2006/relationships/notesMaster" Target="/ppt/notesMasters/notesMaster1.xml" Id="Rabaf58b8c9e64f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a8aa6c5f56456f" /><Relationship Type="http://schemas.openxmlformats.org/officeDocument/2006/relationships/notesMaster" Target="/ppt/notesMasters/notesMaster1.xml" Id="R0bd94ab91d1847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eda529f8fd46ef" /><Relationship Type="http://schemas.openxmlformats.org/officeDocument/2006/relationships/notesMaster" Target="/ppt/notesMasters/notesMaster1.xml" Id="R3ab4ebda50554d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bad39817104c1e" /><Relationship Type="http://schemas.openxmlformats.org/officeDocument/2006/relationships/notesMaster" Target="/ppt/notesMasters/notesMaster1.xml" Id="R4a77259d588c42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95770c3666470b" /><Relationship Type="http://schemas.openxmlformats.org/officeDocument/2006/relationships/notesMaster" Target="/ppt/notesMasters/notesMaster1.xml" Id="Rcd99878f752f4e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bd87a2303f45e9" /><Relationship Type="http://schemas.openxmlformats.org/officeDocument/2006/relationships/notesMaster" Target="/ppt/notesMasters/notesMaster1.xml" Id="R57818c2f3d1241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402fb95e7541a9" /><Relationship Type="http://schemas.openxmlformats.org/officeDocument/2006/relationships/notesMaster" Target="/ppt/notesMasters/notesMaster1.xml" Id="R026beecf1c764b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51760396cf43b3" /><Relationship Type="http://schemas.openxmlformats.org/officeDocument/2006/relationships/notesMaster" Target="/ppt/notesMasters/notesMaster1.xml" Id="R28df4bfd479643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e9ac882e9f46e3" /><Relationship Type="http://schemas.openxmlformats.org/officeDocument/2006/relationships/notesMaster" Target="/ppt/notesMasters/notesMaster1.xml" Id="Rdab2e9122ceb4f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d003eb889d430e" /><Relationship Type="http://schemas.openxmlformats.org/officeDocument/2006/relationships/notesMaster" Target="/ppt/notesMasters/notesMaster1.xml" Id="R810e98dc24d04d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00262108da42da" /><Relationship Type="http://schemas.openxmlformats.org/officeDocument/2006/relationships/notesMaster" Target="/ppt/notesMasters/notesMaster1.xml" Id="Rdec47569075942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9d88a1ebb1f4a50" /><Relationship Type="http://schemas.openxmlformats.org/officeDocument/2006/relationships/notesMaster" Target="/ppt/notesMasters/notesMaster1.xml" Id="R17d8bd09652e47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6aca0dac1a4be4" /><Relationship Type="http://schemas.openxmlformats.org/officeDocument/2006/relationships/notesMaster" Target="/ppt/notesMasters/notesMaster1.xml" Id="Re3f5b31a784f4d2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9e08fcfe9d74c53" /><Relationship Type="http://schemas.openxmlformats.org/officeDocument/2006/relationships/notesMaster" Target="/ppt/notesMasters/notesMaster1.xml" Id="R2de36067d400408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e37c42e952a48ee" /><Relationship Type="http://schemas.openxmlformats.org/officeDocument/2006/relationships/notesMaster" Target="/ppt/notesMasters/notesMaster1.xml" Id="R9a6106f690ee410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9a932e18c12411f" /><Relationship Type="http://schemas.openxmlformats.org/officeDocument/2006/relationships/notesMaster" Target="/ppt/notesMasters/notesMaster1.xml" Id="R86b011c11db24bf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8cd0732d2114aff" /><Relationship Type="http://schemas.openxmlformats.org/officeDocument/2006/relationships/notesMaster" Target="/ppt/notesMasters/notesMaster1.xml" Id="R3cb10face54b4d2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6356476ab64da9" /><Relationship Type="http://schemas.openxmlformats.org/officeDocument/2006/relationships/notesMaster" Target="/ppt/notesMasters/notesMaster1.xml" Id="R27037816a8e1468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b55489f48954c57" /><Relationship Type="http://schemas.openxmlformats.org/officeDocument/2006/relationships/notesMaster" Target="/ppt/notesMasters/notesMaster1.xml" Id="R29ec0ac5d6ac456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a63c8256ba94125" /><Relationship Type="http://schemas.openxmlformats.org/officeDocument/2006/relationships/notesMaster" Target="/ppt/notesMasters/notesMaster1.xml" Id="R062e948d458d484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e94a846582943d3" /><Relationship Type="http://schemas.openxmlformats.org/officeDocument/2006/relationships/notesMaster" Target="/ppt/notesMasters/notesMaster1.xml" Id="R7cadeb953c0a480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01aec93121c44ba" /><Relationship Type="http://schemas.openxmlformats.org/officeDocument/2006/relationships/notesMaster" Target="/ppt/notesMasters/notesMaster1.xml" Id="Rb4ca1d9f8fa84e8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cb11485f45d40b4" /><Relationship Type="http://schemas.openxmlformats.org/officeDocument/2006/relationships/notesMaster" Target="/ppt/notesMasters/notesMaster1.xml" Id="R2830d7236cf4428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1e997d0c5774ae9" /><Relationship Type="http://schemas.openxmlformats.org/officeDocument/2006/relationships/notesMaster" Target="/ppt/notesMasters/notesMaster1.xml" Id="R39e5353e2f3d4fb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9d42f8cf7824f7d" /><Relationship Type="http://schemas.openxmlformats.org/officeDocument/2006/relationships/notesMaster" Target="/ppt/notesMasters/notesMaster1.xml" Id="Rb8d030642de6457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60bf538b2294f26" /><Relationship Type="http://schemas.openxmlformats.org/officeDocument/2006/relationships/notesMaster" Target="/ppt/notesMasters/notesMaster1.xml" Id="R159e011a4a64451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c9052aaf6d44220" /><Relationship Type="http://schemas.openxmlformats.org/officeDocument/2006/relationships/notesMaster" Target="/ppt/notesMasters/notesMaster1.xml" Id="Rfb35f27935ef40e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500a30c34244d9e" /><Relationship Type="http://schemas.openxmlformats.org/officeDocument/2006/relationships/notesMaster" Target="/ppt/notesMasters/notesMaster1.xml" Id="R3fc403fa39214cf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3e88b24796d4894" /><Relationship Type="http://schemas.openxmlformats.org/officeDocument/2006/relationships/notesMaster" Target="/ppt/notesMasters/notesMaster1.xml" Id="Rbe5435aaf0e942e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a7007bcad8c4f97" /><Relationship Type="http://schemas.openxmlformats.org/officeDocument/2006/relationships/notesMaster" Target="/ppt/notesMasters/notesMaster1.xml" Id="Ra4b280d247194d1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10c21c8030d46de" /><Relationship Type="http://schemas.openxmlformats.org/officeDocument/2006/relationships/notesMaster" Target="/ppt/notesMasters/notesMaster1.xml" Id="Rb8230f5b401643e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1633b25ad0c4eb0" /><Relationship Type="http://schemas.openxmlformats.org/officeDocument/2006/relationships/notesMaster" Target="/ppt/notesMasters/notesMaster1.xml" Id="R265f590e32f6450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970ec0852ee4339" /><Relationship Type="http://schemas.openxmlformats.org/officeDocument/2006/relationships/notesMaster" Target="/ppt/notesMasters/notesMaster1.xml" Id="Rcb806f0b407643b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3fece4ca1344f7e" /><Relationship Type="http://schemas.openxmlformats.org/officeDocument/2006/relationships/notesMaster" Target="/ppt/notesMasters/notesMaster1.xml" Id="R421bccaf1dde417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9fcae005c87443c" /><Relationship Type="http://schemas.openxmlformats.org/officeDocument/2006/relationships/notesMaster" Target="/ppt/notesMasters/notesMaster1.xml" Id="Rbf5d9878b1a5435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fbd0058c7d64c49" /><Relationship Type="http://schemas.openxmlformats.org/officeDocument/2006/relationships/notesMaster" Target="/ppt/notesMasters/notesMaster1.xml" Id="R610b666b00a1442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372822a0a6647e1" /><Relationship Type="http://schemas.openxmlformats.org/officeDocument/2006/relationships/notesMaster" Target="/ppt/notesMasters/notesMaster1.xml" Id="R1543d80cb58a4ce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b54074d09664008" /><Relationship Type="http://schemas.openxmlformats.org/officeDocument/2006/relationships/notesMaster" Target="/ppt/notesMasters/notesMaster1.xml" Id="R4f60e36fbf22482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0d0c1045d484ff8" /><Relationship Type="http://schemas.openxmlformats.org/officeDocument/2006/relationships/notesMaster" Target="/ppt/notesMasters/notesMaster1.xml" Id="R76c03f7c3454435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edeed089b3b45cc" /><Relationship Type="http://schemas.openxmlformats.org/officeDocument/2006/relationships/notesMaster" Target="/ppt/notesMasters/notesMaster1.xml" Id="Ra9a652077680468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50c55b4061248ce" /><Relationship Type="http://schemas.openxmlformats.org/officeDocument/2006/relationships/notesMaster" Target="/ppt/notesMasters/notesMaster1.xml" Id="R6dcf70023f1e4cb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0a3407a7854499a" /><Relationship Type="http://schemas.openxmlformats.org/officeDocument/2006/relationships/notesMaster" Target="/ppt/notesMasters/notesMaster1.xml" Id="R945cd5828dd9492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9fb28456ad04759" /><Relationship Type="http://schemas.openxmlformats.org/officeDocument/2006/relationships/notesMaster" Target="/ppt/notesMasters/notesMaster1.xml" Id="R8aea590ff7224ec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b183e36671e4d05" /><Relationship Type="http://schemas.openxmlformats.org/officeDocument/2006/relationships/notesMaster" Target="/ppt/notesMasters/notesMaster1.xml" Id="R9bb51f52020d414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46ec435125c413b" /><Relationship Type="http://schemas.openxmlformats.org/officeDocument/2006/relationships/notesMaster" Target="/ppt/notesMasters/notesMaster1.xml" Id="R6bf9e98ed4224fb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3d786beceac433c" /><Relationship Type="http://schemas.openxmlformats.org/officeDocument/2006/relationships/notesMaster" Target="/ppt/notesMasters/notesMaster1.xml" Id="Rb170f7c4ff3b4a2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9c9afd7095943e4" /><Relationship Type="http://schemas.openxmlformats.org/officeDocument/2006/relationships/notesMaster" Target="/ppt/notesMasters/notesMaster1.xml" Id="R03d15fa18e214ba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21b6a9703a64a44" /><Relationship Type="http://schemas.openxmlformats.org/officeDocument/2006/relationships/notesMaster" Target="/ppt/notesMasters/notesMaster1.xml" Id="Re854fc3a19e74dc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ef5c19d7de24bd8" /><Relationship Type="http://schemas.openxmlformats.org/officeDocument/2006/relationships/notesMaster" Target="/ppt/notesMasters/notesMaster1.xml" Id="Rd9e3f79cd3eb446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bac735ac89b489e" /><Relationship Type="http://schemas.openxmlformats.org/officeDocument/2006/relationships/notesMaster" Target="/ppt/notesMasters/notesMaster1.xml" Id="R3f1fc9d78826403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9fe9e6711594cb6" /><Relationship Type="http://schemas.openxmlformats.org/officeDocument/2006/relationships/notesMaster" Target="/ppt/notesMasters/notesMaster1.xml" Id="Rd15dc80112fa49a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50a93eec7bc419d" /><Relationship Type="http://schemas.openxmlformats.org/officeDocument/2006/relationships/notesMaster" Target="/ppt/notesMasters/notesMaster1.xml" Id="Raee97ffccf5e406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d96b49e05efa4217" /><Relationship Type="http://schemas.openxmlformats.org/officeDocument/2006/relationships/notesMaster" Target="/ppt/notesMasters/notesMaster1.xml" Id="Rda77db93f8394e0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41b21c6982b4324" /><Relationship Type="http://schemas.openxmlformats.org/officeDocument/2006/relationships/notesMaster" Target="/ppt/notesMasters/notesMaster1.xml" Id="Re457dcee1cd340b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ab019497fcf4604" /><Relationship Type="http://schemas.openxmlformats.org/officeDocument/2006/relationships/notesMaster" Target="/ppt/notesMasters/notesMaster1.xml" Id="Re2ca2a2fdf4b462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a100127729942b2" /><Relationship Type="http://schemas.openxmlformats.org/officeDocument/2006/relationships/notesMaster" Target="/ppt/notesMasters/notesMaster1.xml" Id="R1f79a2620ee6471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ac79e8362c146aa" /><Relationship Type="http://schemas.openxmlformats.org/officeDocument/2006/relationships/notesMaster" Target="/ppt/notesMasters/notesMaster1.xml" Id="R436a2cca5cb447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Updated 9 October 2026. Current evidence: attention_comparison_v1_9e64af3e67c9, 13 model families, seeds 7/17/27, 40 epochs. All original model families rerun with current source hashes and reproduce their earlier results. Attention and FFN ablations share a two-block causal backbone. No SAE/DAS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The motivation follows adaptive expert allocation (Jacobs et al., 1991) and switching dynamical models (Ghahramani &amp; Hinton, 2000). https://www.cs.toronto.edu/~fritz/absps/jjnh91.pdf https://www.cs.toronto.edu/~hinton/absps/switch.pdf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Conceptual sources: Jacobs et al. (1991) — Adaptive Mixtures of Local Experts — https://www.cs.toronto.edu/~fritz/absps/jjnh91.pdf</a:t>
            </a:r>
          </a:p>
          <a:p xmlns:a="http://schemas.openxmlformats.org/drawingml/2006/main">
            <a:r>
              <a:t>Ghahramani &amp; Hinton (2000) — Variational Learning for Switching State-Space Models — https://www.cs.toronto.edu/~hinton/absps/switch.pdf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Jacobs et al. (1991)</a:t>
            </a:r>
          </a:p>
          <a:p xmlns:a="http://schemas.openxmlformats.org/drawingml/2006/main">
            <a:r>
              <a:t>Adaptive Mixtures of Local Experts</a:t>
            </a:r>
          </a:p>
          <a:p xmlns:a="http://schemas.openxmlformats.org/drawingml/2006/main">
            <a:r>
              <a:t>https://www.cs.toronto.edu/~fritz/absps/jjnh91.pdf</a:t>
            </a:r>
          </a:p>
          <a:p xmlns:a="http://schemas.openxmlformats.org/drawingml/2006/main">
            <a:r>
              <a:t/>
            </a:r>
          </a:p>
          <a:p xmlns:a="http://schemas.openxmlformats.org/drawingml/2006/main">
            <a:r>
              <a:t>The current project uses deterministic top-2 sparse routing rather than reproducing the original learning formulation.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Ghahramani &amp; Hinton (2000)</a:t>
            </a:r>
          </a:p>
          <a:p xmlns:a="http://schemas.openxmlformats.org/drawingml/2006/main">
            <a:r>
              <a:t>Variational Learning for Switching State-Space Models</a:t>
            </a:r>
          </a:p>
          <a:p xmlns:a="http://schemas.openxmlformats.org/drawingml/2006/main">
            <a:r>
              <a:t>https://www.cs.toronto.edu/~hinton/absps/switch.pdf</a:t>
            </a:r>
          </a:p>
          <a:p xmlns:a="http://schemas.openxmlformats.org/drawingml/2006/main">
            <a:r>
              <a:t/>
            </a:r>
          </a:p>
          <a:p xmlns:a="http://schemas.openxmlformats.org/drawingml/2006/main">
            <a:r>
              <a:t>The toy exposes the continuous state and trains direct predictors. It does not implement Kalman filtering, latent-state inference or variational 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Namikawa &amp; Tani (2008)</a:t>
            </a:r>
          </a:p>
          <a:p xmlns:a="http://schemas.openxmlformats.org/drawingml/2006/main">
            <a:r>
              <a:t>A model for learning to segment temporal sequences, utilizing a mixture of RNN experts together with adaptive variance</a:t>
            </a:r>
          </a:p>
          <a:p xmlns:a="http://schemas.openxmlformats.org/drawingml/2006/main">
            <a:r>
              <a:t>https://www.oist.jp/sites/default/files/2024-03/cnru_nn08.pdf</a:t>
            </a:r>
          </a:p>
          <a:p xmlns:a="http://schemas.openxmlformats.org/drawingml/2006/main">
            <a:r>
              <a:t/>
            </a:r>
          </a:p>
          <a:p xmlns:a="http://schemas.openxmlformats.org/drawingml/2006/main">
            <a:r>
              <a:t>This is a close temporal-mixture precedent. Our experts are feedforward networks with a fixed history window and no adaptive output variance.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Shazeer et al. (2017)</a:t>
            </a:r>
          </a:p>
          <a:p xmlns:a="http://schemas.openxmlformats.org/drawingml/2006/main">
            <a:r>
              <a:t>Outrageously Large Neural Networks: The Sparsely-Gated Mixture-of-Experts Layer</a:t>
            </a:r>
          </a:p>
          <a:p xmlns:a="http://schemas.openxmlformats.org/drawingml/2006/main">
            <a:r>
              <a:t>https://arxiv.org/abs/1701.06538</a:t>
            </a:r>
          </a:p>
          <a:p xmlns:a="http://schemas.openxmlformats.org/drawingml/2006/main">
            <a:r>
              <a:t/>
            </a:r>
          </a:p>
          <a:p xmlns:a="http://schemas.openxmlformats.org/drawingml/2006/main">
            <a:r>
              <a:t>The project uses only three experts. Active parameter counts are proxies, not FLOPs or measured speedups. Original sparse-MoE details are not claimed to be replicated.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 et al. (2024)</a:t>
            </a:r>
          </a:p>
          <a:p xmlns:a="http://schemas.openxmlformats.org/drawingml/2006/main">
            <a:r>
              <a:t>Mixture-of-Linear-Experts for Long-term Time Series Forecasting</a:t>
            </a:r>
          </a:p>
          <a:p xmlns:a="http://schemas.openxmlformats.org/drawingml/2006/main">
            <a:r>
              <a:t>https://proceedings.mlr.press/v238/ni24a.html</a:t>
            </a:r>
          </a:p>
          <a:p xmlns:a="http://schemas.openxmlformats.org/drawingml/2006/main">
            <a:r>
              <a:t/>
            </a:r>
          </a:p>
          <a:p xmlns:a="http://schemas.openxmlformats.org/drawingml/2006/main">
            <a:r>
              <a:t>The toy router instead reads the recent state history. Its experts are nonlinear MLPs, and its target is one future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Shi et al. (2025)</a:t>
            </a:r>
          </a:p>
          <a:p xmlns:a="http://schemas.openxmlformats.org/drawingml/2006/main">
            <a:r>
              <a:t>Time-MoE: Billion-Scale Time Series Foundation Models with Mixture of Experts</a:t>
            </a:r>
          </a:p>
          <a:p xmlns:a="http://schemas.openxmlformats.org/drawingml/2006/main">
            <a:r>
              <a:t>https://proceedings.iclr.cc/paper_files/paper/2025/hash/558d48c1f08675daa636e09bfe94a89e-Abstract-Conference.html</a:t>
            </a:r>
          </a:p>
          <a:p xmlns:a="http://schemas.openxmlformats.org/drawingml/2006/main">
            <a:r>
              <a:t/>
            </a:r>
          </a:p>
          <a:p xmlns:a="http://schemas.openxmlformats.org/drawingml/2006/main">
            <a:r>
              <a:t>Time-MoE establishes a large-scale forecasting context. Our experiment is a small controlled study, not a replication or comparison of model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Xiaofeng Zhang et al. Mixture of Attention Heads: Selecting Attention Heads Per Token. EMNLP 2022. https://aclanthology.org/2022.emnlp-main.278/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Peng Jin, Bo Zhu, Li Yuan and Shuicheng Yan. MoH: Multi-Head Attention as Mixture-of-Head Attention. ICML 2025. https://proceedings.mlr.press/v267/jin25l.html Method: https://arxiv.org/html/2410.11842v3 equations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src/twilight_moe/dynamics.py. Angles in radians are (0.20,0.45), (1.10,-0.65), (-0.80,1.35). Each matrix has spectral radius 0.94 and operator norm 0.94, ensuring common contraction even when switching. The regime r[t] produces x[t+1] from 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Data: train.npz in generated/f9cdcf050ad3 on E:. Sequence 0 after the 128-step burn-in. Four original-unit state coordinates.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Each sequence has 192 transitions and 193 states after burn-in. Windows run from t=7 through t=191, yielding 185 windows per sequence. Splits use independent SeedSequence children before overlapping windows are formed. Seeds 7,17,27 each generate a new dataset. All data reside under E:/HarunoKen/Twilight_MoE_Dynamics. No external dataset is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data.windows, training.fit, evaluation.predict and evaluation.rollout. Standard deviations are clipped below at 1e-6. States become float32 tensors and regimes are integer tensors. Label presence in the dataset is not label access by ordinary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Each expert has two tanh hidden layers and a linear output. Router uses one tanh hidden layer and softmax probabilities. The diagram shows the routing/aggregation relationship. Expert inputs are the original 32-dimensional history, not the router hidden representation. Source: models.py and routers.py.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routers.sparse_gates and models.MoE.forward. Top-k index selection is discrete. Gradients pass through selected normalized probabilities and the balancing term. f is normalized by batch size times k. The auxiliary term encourages usage balance but does not impose regime semantics. The optional top-1 mode uses a straight-through selected gate, w=1+p-stopgrad(p), but full results use k=2.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All experts have 2,244 parameters. Learned router has 867. Random router is a frozen 32×3 linear map with no bias (96 parameters), leaving 6,732 trainable expert parameters. Oracle uses the regime label but still learns its predictors. It does not receive transition matrices.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attention.py AttentionPredictor and TransformerBlock. Pre-norm residuals, GELU FFNs, no dropout. Common named components initialize identically for each seed. Causal mask prevents access to later input positions.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attention.py HeadAttention.gates/forward. Paper-inspired equations 4–8, https://arxiv.org/html/2410.11842v3. Full routed softmax probabilities remain after top-k masking, with no selected-head renormalization. Shared softmax with one head is identically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two-block backbone, embedding width16, FFN hidden width32. FFN-MoE uses 3 experts of 16–32–16, selecting2 per token. Sparse expert-row dispatch; selected FFN weights renormalize. Balance is3 times dot(mean router probabilities, selected-slot fractions), unlike the attention penalty convention.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results/metrics/attention_comparison_v1_9e64af3e67c9. Three seeds 7,17,27, equal seed weighting. Original-unit MSE. No statistical significance claim. Total parameter counts include frozen gates. Head-count control retains width16 but has internal attention width12. Total controls adjust FFN hidden width. Frozen gates remain input-dependent because their learned input representations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configs/experiment.yaml and training.fit. Adam uses its library defaults for remaining parameters. Training records pure prediction MSE, excluding the auxiliary routing penalty. Validation selects strict improvements and deep-copies the model state. The normalized criterion weights state dimensions according to training variance. No test results influence checkpoint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The recovery threshold is model-specific: 1.5 times validation MSE on regime ages ≥ context length (8). Delay records the first index of a qualifying run retrospectively. Episodes without recovery remain unrecovered and are excluded from conditional mean delay. Routing permutation searches all six assignments using validation labels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Mean of three full-preset runs. Sample SD: dense active 0.000212, dense total 0.000165, MoE 0.000132, random 0.000192, oracle 0.000045. Oracle has privileged regime information. Known-dynamics reference averages 0.006396 and noise variance is 0.0064. Persistence averages 0.039325.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Paired differences use the same seed and dataset. Three seeds are insufficient for strong inferential claims. The small absolute error differences nevertheless have a consistent sign in this preset.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Curves use saved per-epoch histories. Best epochs by seeds7/17/27: dense active39/38/39, dense total37/38/38, MoE37/40/39, random40/40/40, oracle39/33/35. Late best epochs suggest that longer training is a reasonable future sensitivity check. This does not establish that longer training would reverse the ranking.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Each seed curve averages eligible episodes at each lag, stopping at the next regime change. The plotted curve is an equal mean across seeds. Later lags have fewer surviving episodes and a different population. This graph describes event-aligned error, not a causal intervention or per-sequence change-point detector.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Values average three seed-level estimates. Each seed has578,556,580 eligible switch episodes. Different models use different validation-derived thresholds, so direct delay comparisons require care. A low conditional delay can hide a low recovery fraction. Delay is retrospective run start, not the time an online detector confirms three successes.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Each top-2 prediction contributes two route slots. Utilization is not a probability of being the highest-weight expert, and balanced utilization alone does not establish specialization.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Confusion counts show raw expert IDs for seed7, with rows=true regime and columns=highest-weight expert. The permutation is fit only on validation data, then held fixed on test. Learned agreements by seed:45.8%,60.1%,48.3%. Association between route and regime does not prove that experts implement the true transition matrices.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There are320 rollout origins per seed: five starts per64 test sequences. Origins are7,39,71,103,135, with32 target steps per origin. Ordinary models see only generated predictions after the origin. Oracle receives future true regime IDs, so it has privileged information throughout. Its one-step quality does not guarantee stable recursive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All entries average across three seeds. The experiment reports both the full curves and the horizon mean to avoid hiding instability or changing rankings. Do not treat the learned oracle as a universal lower bound on rollout 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results/metrics/attention_comparison_v1_9e64af3e67c9. Three seeds 7,17,27, equal seed weighting. Original-unit MSE. No statistical significance claim. MSE sample SDs: standard0.000083, MoH0.000181, FFN-MoE0.000195, both0.000077. Both beats FFN-MoE in only1/3 seeds. FFN-MoE has more parameters than MoH.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results/metrics/attention_comparison_v1_9e64af3e67c9. Three seeds 7,17,27, equal seed weighting. Original-unit MSE. No statistical significance claim. Relative changes average within-seed ratios, not a ratio of aggregate means. Negative favors the first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results/metrics/attention_comparison_v1_9e64af3e67c9. Three seeds 7,17,27, equal seed weighting. Original-unit MSE. No statistical significance claim. Each bar is test MSE(first)-test MSE(comparator) for the same dataset and seed. Capacity-matched signs vary.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results/metrics/attention_comparison_v1_9e64af3e67c9. Three seeds 7,17,27, equal seed weighting. Original-unit MSE. No statistical significance claim. Seed7 validation curves. 35/39 selected epochs fall in38–40. This fixed-budget comparison does not establish optimal performance after convergence.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results/metrics/attention_comparison_v1_9e64af3e67c9. Three seeds 7,17,27, equal seed weighting. Original-unit MSE. No statistical significance claim. Event-aligned error means stop at next switch. Support drops across lags. Recovery thresholds are model-specific and validation-derived.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results/metrics/attention_comparison_v1_9e64af3e67c9. Three seeds 7,17,27, equal seed weighting. Original-unit MSE. No statistical significance claim. Mean32-horizon errors: dense0.052693, MoH0.050773, FFN-MoE0.051638, both0.050514. Model forecasts supply subsequent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results/metrics/attention_comparison_v1_9e64af3e67c9. Three seeds 7,17,27, equal seed weighting. Original-unit MSE. No statistical significance claim. Seed7, block2, final query. Fraction of selected routed slots, excluding shared head. This is descriptive utilization, not regime identification or causal importance.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results/metrics/attention_comparison_v1_9e64af3e67c9. Three seeds 7,17,27, equal seed weighting. Original-unit MSE. No statistical significance claim. MoH seed7 block2 mean final-query attention. These averages include heads gated off on some tokens. Position7 is most recent state. Block1 gate sees only the token and position; block2 gate sees context from block1.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results/metrics/attention_comparison_v1_9e64af3e67c9. Three seeds 7,17,27, equal seed weighting. Original-unit MSE. No statistical significance claim. Raw counts, MoH seed7 block2. Rows:true regime. Columns:top routed head. Validation selects a permutation for agreement scores, never for model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These are observations from one generator, three seeds and one primary hyperparameter preset. The oracle gap combines differences in available information, gating and optimization. The measurements do not isolate a causal decomposition of 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All eight notebooks contain short executable cells. Plotting code stays visible in notebooks, while shared algorithms reside in src/twilight_moe. 05_compare_performance,06_analyze_routing,07_multi_step_rollout consume saved metrics and checkpoints. Run in numeric order. Full and smoke presets are distinct evidence levels.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src/twilight_moe/config.py,dynamics.py,data.py. The environment variable TWILIGHT_DATA_DIR overrides the default E: dataset root. Fingerprints identify configurations, not source revisions. Source hashes therefore provide a separate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DATA_VERSION=1. Generator changes require a version increment. Cache metadata includes matrices, split hashes, seed, data settings and regime alignment. The returned TensorDataset contains regime labels, but only oracle call sites pass them into the model. Windows overlap within partitions, never across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models.py and routers.py. MoE.forward returns prediction, auxiliary penalty and selected expert indices. Dense.forward follows the same return convention with zero penalty and no routes. Oracle directly selects the expert from the regime. Random routing freezes its weights. Dense active and total widths search for the nearest parameter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uses shuffled minibatches. Non-oracle models receive no labels. Validation excludes the auxiliary penalty. predict uses no gradients and returns per-window coordinate-mean squared errors and routes. evaluate computes references, recovery, event curves, routing and rollouts on the stored splits.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Recovered delay is conditional on success. Event-aligned episodes end at the next switch, so counts shrink with lag. Routing labels are exchangeable and need a validation-only permutation. Rollout persistence repeats the last observed state at the origin. Oracle rollout uses true future regime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Artifacts include metrics JSON, per-epoch CSV, NPZ diagnostics, PyTorch checkpoints and a source/environment manifest. Source files must match before comparing cached results. Re-run all families after algorithm changes, then regenerate the experiment log. plot COLORS is a shared constant rather than a function.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review recorded12 passing tests and executed all8 notebooks for smoke and full workflows. All15 full checkpoints reproduced their saved one-step MSE. These checks support reproducibility, not statistical generalization. Required after algorithm changes: python -m pytest and the notebook smoke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src/twilight_moe/attention.py and attention_diagnostics.py. Detailed equations and shapes in docs/TECHNICAL_REPORT.md Section23.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results/metrics/attention_comparison_v1_9e64af3e67c9. Three seeds 7,17,27, equal seed weighting. Original-unit MSE. No statistical significance claim. Notebook defaults use attention_smoke.yaml. Set TWILIGHT_CONFIG=configs/attention_experiment.yaml for substantive reruns. All datasets remain on E:. Each result JSON and checkpoint includes source hashes.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and data paths are unchanged. Current full configuration: configs/attention_experiment.yaml. Detailed report: docs/TECHNICAL_REPORT.md. Current results: results/attention_comparison_log.md. Every result and checkpoint carries source hashes checked against the current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Jacobs et al. (1991)</a:t>
            </a:r>
          </a:p>
          <a:p xmlns:a="http://schemas.openxmlformats.org/drawingml/2006/main">
            <a:r>
              <a:t>Adaptive Mixtures of Local Experts</a:t>
            </a:r>
          </a:p>
          <a:p xmlns:a="http://schemas.openxmlformats.org/drawingml/2006/main">
            <a:r>
              <a:t>https://www.cs.toronto.edu/~fritz/absps/jjnh91.pdf</a:t>
            </a:r>
          </a:p>
          <a:p xmlns:a="http://schemas.openxmlformats.org/drawingml/2006/main">
            <a:r>
              <a:t/>
            </a:r>
          </a:p>
          <a:p xmlns:a="http://schemas.openxmlformats.org/drawingml/2006/main">
            <a:r>
              <a:t>Ghahramani &amp; Hinton (2000)</a:t>
            </a:r>
          </a:p>
          <a:p xmlns:a="http://schemas.openxmlformats.org/drawingml/2006/main">
            <a:r>
              <a:t>Variational Learning for Switching State-Space Models</a:t>
            </a:r>
          </a:p>
          <a:p xmlns:a="http://schemas.openxmlformats.org/drawingml/2006/main">
            <a:r>
              <a:t>https://www.cs.toronto.edu/~hinton/absps/switch.pdf</a:t>
            </a:r>
          </a:p>
          <a:p xmlns:a="http://schemas.openxmlformats.org/drawingml/2006/main">
            <a:r>
              <a:t/>
            </a:r>
          </a:p>
          <a:p xmlns:a="http://schemas.openxmlformats.org/drawingml/2006/main">
            <a:r>
              <a:t>Namikawa &amp; Tani (2008)</a:t>
            </a:r>
          </a:p>
          <a:p xmlns:a="http://schemas.openxmlformats.org/drawingml/2006/main">
            <a:r>
              <a:t>A model for learning to segment temporal sequences, utilizing a mixture of RNN experts together with adaptive variance</a:t>
            </a:r>
          </a:p>
          <a:p xmlns:a="http://schemas.openxmlformats.org/drawingml/2006/main">
            <a:r>
              <a:t>https://www.oist.jp/sites/default/files/2024-03/cnru_nn08.pdf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Shazeer et al. (2017)</a:t>
            </a:r>
          </a:p>
          <a:p xmlns:a="http://schemas.openxmlformats.org/drawingml/2006/main">
            <a:r>
              <a:t>Outrageously Large Neural Networks: The Sparsely-Gated Mixture-of-Experts Layer</a:t>
            </a:r>
          </a:p>
          <a:p xmlns:a="http://schemas.openxmlformats.org/drawingml/2006/main">
            <a:r>
              <a:t>https://arxiv.org/abs/1701.06538</a:t>
            </a:r>
          </a:p>
          <a:p xmlns:a="http://schemas.openxmlformats.org/drawingml/2006/main">
            <a:r>
              <a:t/>
            </a:r>
          </a:p>
          <a:p xmlns:a="http://schemas.openxmlformats.org/drawingml/2006/main">
            <a:r>
              <a:t>Ni et al. (2024)</a:t>
            </a:r>
          </a:p>
          <a:p xmlns:a="http://schemas.openxmlformats.org/drawingml/2006/main">
            <a:r>
              <a:t>Mixture-of-Linear-Experts for Long-term Time Series Forecasting</a:t>
            </a:r>
          </a:p>
          <a:p xmlns:a="http://schemas.openxmlformats.org/drawingml/2006/main">
            <a:r>
              <a:t>https://proceedings.mlr.press/v238/ni24a.html</a:t>
            </a:r>
          </a:p>
          <a:p xmlns:a="http://schemas.openxmlformats.org/drawingml/2006/main">
            <a:r>
              <a:t/>
            </a:r>
          </a:p>
          <a:p xmlns:a="http://schemas.openxmlformats.org/drawingml/2006/main">
            <a:r>
              <a:t>Shi et al. (2025)</a:t>
            </a:r>
          </a:p>
          <a:p xmlns:a="http://schemas.openxmlformats.org/drawingml/2006/main">
            <a:r>
              <a:t>Time-MoE: Billion-Scale Time Series Foundation Models with Mixture of Experts</a:t>
            </a:r>
          </a:p>
          <a:p xmlns:a="http://schemas.openxmlformats.org/drawingml/2006/main">
            <a:r>
              <a:t>https://proceedings.iclr.cc/paper_files/paper/2025/hash/558d48c1f08675daa636e09bfe94a89e-Abstract-Conference.html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3158a8781448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9523dd168e49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1c38932ed3841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2e5a8efbdce4ad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9a1420a584449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1ec1a66ecf042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AC3863-51BB-42A5-ADFC-B364B3EE985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A4B54A2-F42E-48C7-8786-3B5BAE7E5D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B81F691-0216-4DE7-AB37-379F381F58D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20A0BE-EAF9-46E9-AFDF-E9697E128C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D8F3614-FC97-4EE8-AE73-C6754BC70D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942980-7ED0-4DF7-8EBA-7EDF99A6FB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6AC69B-CA63-4123-B84A-E398D348DD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D7BF09-5D91-47D2-A5ED-80785F97B40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D31C00-B057-49A2-854D-EBA35DF9CD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17B850-4233-4A81-8B20-A670E1D3B4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b052f9430849d6" /><Relationship Type="http://schemas.openxmlformats.org/officeDocument/2006/relationships/slideLayout" Target="/ppt/slideLayouts/slideLayout1.xml" Id="R67e6f794dc574ac0" /><Relationship Type="http://schemas.openxmlformats.org/officeDocument/2006/relationships/slideLayout" Target="/ppt/slideLayouts/slideLayout2.xml" Id="Rcfa8941da0074310" /><Relationship Type="http://schemas.openxmlformats.org/officeDocument/2006/relationships/slideLayout" Target="/ppt/slideLayouts/slideLayout3.xml" Id="Rbeaf924334454ac8" /><Relationship Type="http://schemas.openxmlformats.org/officeDocument/2006/relationships/slideLayout" Target="/ppt/slideLayouts/slideLayout4.xml" Id="Rf0f8534fd9104c05" /><Relationship Type="http://schemas.openxmlformats.org/officeDocument/2006/relationships/slideLayout" Target="/ppt/slideLayouts/slideLayout5.xml" Id="Rfe79906cb70c4c36" /><Relationship Type="http://schemas.openxmlformats.org/officeDocument/2006/relationships/slideLayout" Target="/ppt/slideLayouts/slideLayout6.xml" Id="R870326d9d25447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e6f794dc574ac0"/>
    <p:sldLayoutId xmlns:r="http://schemas.openxmlformats.org/officeDocument/2006/relationships" id="2147483650" r:id="Rcfa8941da0074310"/>
    <p:sldLayoutId xmlns:r="http://schemas.openxmlformats.org/officeDocument/2006/relationships" id="2147483651" r:id="Rbeaf924334454ac8"/>
    <p:sldLayoutId xmlns:r="http://schemas.openxmlformats.org/officeDocument/2006/relationships" id="2147483652" r:id="Rf0f8534fd9104c05"/>
    <p:sldLayoutId xmlns:r="http://schemas.openxmlformats.org/officeDocument/2006/relationships" id="2147483653" r:id="Rfe79906cb70c4c36"/>
    <p:sldLayoutId xmlns:r="http://schemas.openxmlformats.org/officeDocument/2006/relationships" id="2147483654" r:id="R870326d9d25447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f58a90df4042d2" /><Relationship Type="http://schemas.openxmlformats.org/officeDocument/2006/relationships/notesSlide" Target="/ppt/notesSlides/notesSlide1.xml" Id="R571872d2f97749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f03ccd0c674ec1" /><Relationship Type="http://schemas.openxmlformats.org/officeDocument/2006/relationships/notesSlide" Target="/ppt/notesSlides/notesSlide2.xml" Id="R8ca2876a7dd64d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7f85cb71184435b" /><Relationship Type="http://schemas.openxmlformats.org/officeDocument/2006/relationships/notesSlide" Target="/ppt/notesSlides/notesSlide3.xml" Id="R32ff2778f69146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775c2866cfe43e9" /><Relationship Type="http://schemas.openxmlformats.org/officeDocument/2006/relationships/notesSlide" Target="/ppt/notesSlides/notesSlide4.xml" Id="R6fe6d2d16d4a41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616b7afd8774097" /><Relationship Type="http://schemas.openxmlformats.org/officeDocument/2006/relationships/notesSlide" Target="/ppt/notesSlides/notesSlide5.xml" Id="R4fb451597e0047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847a579464e4803" /><Relationship Type="http://schemas.openxmlformats.org/officeDocument/2006/relationships/notesSlide" Target="/ppt/notesSlides/notesSlide6.xml" Id="R81b73cece08646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5c5f8597c4d46ab" /><Relationship Type="http://schemas.openxmlformats.org/officeDocument/2006/relationships/notesSlide" Target="/ppt/notesSlides/notesSlide7.xml" Id="Rec86b4abd52741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10b8aec28b2428d" /><Relationship Type="http://schemas.openxmlformats.org/officeDocument/2006/relationships/notesSlide" Target="/ppt/notesSlides/notesSlide8.xml" Id="Rc438c8949d0b4c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900cec41dec4e95" /><Relationship Type="http://schemas.openxmlformats.org/officeDocument/2006/relationships/notesSlide" Target="/ppt/notesSlides/notesSlide9.xml" Id="R9064335b893d4f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be4a14ed2e04926" /><Relationship Type="http://schemas.openxmlformats.org/officeDocument/2006/relationships/notesSlide" Target="/ppt/notesSlides/notesSlide10.xml" Id="R82d55c07306747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cb728002948488c" /><Relationship Type="http://schemas.openxmlformats.org/officeDocument/2006/relationships/notesSlide" Target="/ppt/notesSlides/notesSlide11.xml" Id="R0bd8d5906b9a4d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c670f42478b4af1" /><Relationship Type="http://schemas.openxmlformats.org/officeDocument/2006/relationships/notesSlide" Target="/ppt/notesSlides/notesSlide12.xml" Id="R20af0d28042f43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e849cf5f0d34e3d" /><Relationship Type="http://schemas.openxmlformats.org/officeDocument/2006/relationships/notesSlide" Target="/ppt/notesSlides/notesSlide13.xml" Id="R2056aeeb5e5247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4e6c4bfcc654cf4" /><Relationship Type="http://schemas.openxmlformats.org/officeDocument/2006/relationships/chart" Target="/ppt/slides/charts/chart1.xml" Id="Rf47a3db7a7c0439a" /><Relationship Type="http://schemas.openxmlformats.org/officeDocument/2006/relationships/notesSlide" Target="/ppt/notesSlides/notesSlide14.xml" Id="Rc30ce9696f1341b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79cc401a4ca4b56" /><Relationship Type="http://schemas.openxmlformats.org/officeDocument/2006/relationships/notesSlide" Target="/ppt/notesSlides/notesSlide15.xml" Id="R4923605ff9b640f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0f252734e4d4337" /><Relationship Type="http://schemas.openxmlformats.org/officeDocument/2006/relationships/notesSlide" Target="/ppt/notesSlides/notesSlide16.xml" Id="R2d9fea928368469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4bc29363b924dc4" /><Relationship Type="http://schemas.openxmlformats.org/officeDocument/2006/relationships/notesSlide" Target="/ppt/notesSlides/notesSlide17.xml" Id="Rce53222db9104c7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75da0ad59114806" /><Relationship Type="http://schemas.openxmlformats.org/officeDocument/2006/relationships/notesSlide" Target="/ppt/notesSlides/notesSlide18.xml" Id="R6acf83bbe8bc454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79f88f760d9428d" /><Relationship Type="http://schemas.openxmlformats.org/officeDocument/2006/relationships/notesSlide" Target="/ppt/notesSlides/notesSlide19.xml" Id="Rd285f30b46064d8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c7d33a0dc074a4b" /><Relationship Type="http://schemas.openxmlformats.org/officeDocument/2006/relationships/notesSlide" Target="/ppt/notesSlides/notesSlide20.xml" Id="Rf033b7eb61e1404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25fec5191d6482c" /><Relationship Type="http://schemas.openxmlformats.org/officeDocument/2006/relationships/notesSlide" Target="/ppt/notesSlides/notesSlide21.xml" Id="R6fce47c8f709497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ac7f484b34f4c74" /><Relationship Type="http://schemas.openxmlformats.org/officeDocument/2006/relationships/notesSlide" Target="/ppt/notesSlides/notesSlide22.xml" Id="R9643ad880d2148f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0db7cf40df842be" /><Relationship Type="http://schemas.openxmlformats.org/officeDocument/2006/relationships/notesSlide" Target="/ppt/notesSlides/notesSlide23.xml" Id="Rdb824b42ce1343e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8aedae0ff5e4fd4" /><Relationship Type="http://schemas.openxmlformats.org/officeDocument/2006/relationships/notesSlide" Target="/ppt/notesSlides/notesSlide24.xml" Id="R552c0c1ad2d54df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22eeb8bf485404c" /><Relationship Type="http://schemas.openxmlformats.org/officeDocument/2006/relationships/notesSlide" Target="/ppt/notesSlides/notesSlide25.xml" Id="Re318d2ba9c744c8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568d0d65bdb4c02" /><Relationship Type="http://schemas.openxmlformats.org/officeDocument/2006/relationships/chart" Target="/ppt/slides/charts/chart2.xml" Id="Rbffb2462a87f4d90" /><Relationship Type="http://schemas.openxmlformats.org/officeDocument/2006/relationships/notesSlide" Target="/ppt/notesSlides/notesSlide26.xml" Id="R964d529b95d04c3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875cda23fd24f5b" /><Relationship Type="http://schemas.openxmlformats.org/officeDocument/2006/relationships/chart" Target="/ppt/slides/charts/chart3.xml" Id="Rb1ee5226fc494b07" /><Relationship Type="http://schemas.openxmlformats.org/officeDocument/2006/relationships/notesSlide" Target="/ppt/notesSlides/notesSlide27.xml" Id="R1d4fd196faff4f5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cbb587944784c25" /><Relationship Type="http://schemas.openxmlformats.org/officeDocument/2006/relationships/chart" Target="/ppt/slides/charts/chart4.xml" Id="R9baeed32d6694a72" /><Relationship Type="http://schemas.openxmlformats.org/officeDocument/2006/relationships/notesSlide" Target="/ppt/notesSlides/notesSlide28.xml" Id="Rd419570c0f7d478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c3e4c2b6be24ced" /><Relationship Type="http://schemas.openxmlformats.org/officeDocument/2006/relationships/chart" Target="/ppt/slides/charts/chart5.xml" Id="Rbdaee13f258e40be" /><Relationship Type="http://schemas.openxmlformats.org/officeDocument/2006/relationships/notesSlide" Target="/ppt/notesSlides/notesSlide29.xml" Id="Rd60ba35ad8d44a1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7779d0bf7424106" /><Relationship Type="http://schemas.openxmlformats.org/officeDocument/2006/relationships/notesSlide" Target="/ppt/notesSlides/notesSlide30.xml" Id="Rf5d97c72f0434e5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c384334f73d48d9" /><Relationship Type="http://schemas.openxmlformats.org/officeDocument/2006/relationships/chart" Target="/ppt/slides/charts/chart6.xml" Id="Re55614be32e14b17" /><Relationship Type="http://schemas.openxmlformats.org/officeDocument/2006/relationships/notesSlide" Target="/ppt/notesSlides/notesSlide31.xml" Id="Rf5c8723422a4446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551397a9f5d4a75" /><Relationship Type="http://schemas.openxmlformats.org/officeDocument/2006/relationships/notesSlide" Target="/ppt/notesSlides/notesSlide32.xml" Id="R37d8ab128fe9425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259f5fa59c94694" /><Relationship Type="http://schemas.openxmlformats.org/officeDocument/2006/relationships/chart" Target="/ppt/slides/charts/chart7.xml" Id="R91961564eba94dfa" /><Relationship Type="http://schemas.openxmlformats.org/officeDocument/2006/relationships/notesSlide" Target="/ppt/notesSlides/notesSlide33.xml" Id="Rfb05b44a452d41b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34c3060cf78462b" /><Relationship Type="http://schemas.openxmlformats.org/officeDocument/2006/relationships/notesSlide" Target="/ppt/notesSlides/notesSlide34.xml" Id="R667401a677a345d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52ae602ed7a4122" /><Relationship Type="http://schemas.openxmlformats.org/officeDocument/2006/relationships/chart" Target="/ppt/slides/charts/chart8.xml" Id="Rb1651d668e19448a" /><Relationship Type="http://schemas.openxmlformats.org/officeDocument/2006/relationships/notesSlide" Target="/ppt/notesSlides/notesSlide35.xml" Id="R5829bb15ae72423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e9ffdb936ca4f2a" /><Relationship Type="http://schemas.openxmlformats.org/officeDocument/2006/relationships/notesSlide" Target="/ppt/notesSlides/notesSlide36.xml" Id="R7d1099bc0a3f404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eb729bd3fbb4e9a" /><Relationship Type="http://schemas.openxmlformats.org/officeDocument/2006/relationships/chart" Target="/ppt/slides/charts/chart9.xml" Id="Ra33b431d424b4c11" /><Relationship Type="http://schemas.openxmlformats.org/officeDocument/2006/relationships/notesSlide" Target="/ppt/notesSlides/notesSlide37.xml" Id="R55c40bba08cb4e5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49b2311e3333405e" /><Relationship Type="http://schemas.openxmlformats.org/officeDocument/2006/relationships/chart" Target="/ppt/slides/charts/chart10.xml" Id="R7db47fedc5644d6d" /><Relationship Type="http://schemas.openxmlformats.org/officeDocument/2006/relationships/notesSlide" Target="/ppt/notesSlides/notesSlide38.xml" Id="Rf14d7192273b4d3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3bc654f4a007481c" /><Relationship Type="http://schemas.openxmlformats.org/officeDocument/2006/relationships/chart" Target="/ppt/slides/charts/chart11.xml" Id="Rae0927ba53834bcb" /><Relationship Type="http://schemas.openxmlformats.org/officeDocument/2006/relationships/notesSlide" Target="/ppt/notesSlides/notesSlide39.xml" Id="Ra9a80c5127f8429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f2593dba6ee4acd" /><Relationship Type="http://schemas.openxmlformats.org/officeDocument/2006/relationships/chart" Target="/ppt/slides/charts/chart12.xml" Id="R3554c845266a4e91" /><Relationship Type="http://schemas.openxmlformats.org/officeDocument/2006/relationships/notesSlide" Target="/ppt/notesSlides/notesSlide40.xml" Id="R1a511d140d894b5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8d8aa764eb1469a" /><Relationship Type="http://schemas.openxmlformats.org/officeDocument/2006/relationships/chart" Target="/ppt/slides/charts/chart13.xml" Id="R2a696be11d504cb3" /><Relationship Type="http://schemas.openxmlformats.org/officeDocument/2006/relationships/notesSlide" Target="/ppt/notesSlides/notesSlide41.xml" Id="R361bfe151de749a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a5ac1d1555d4128" /><Relationship Type="http://schemas.openxmlformats.org/officeDocument/2006/relationships/notesSlide" Target="/ppt/notesSlides/notesSlide42.xml" Id="R6466be2ab6b2482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b7e0827345f346e3" /><Relationship Type="http://schemas.openxmlformats.org/officeDocument/2006/relationships/notesSlide" Target="/ppt/notesSlides/notesSlide43.xml" Id="Rcbf0d410bf8c452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40ebb1cbf1b74349" /><Relationship Type="http://schemas.openxmlformats.org/officeDocument/2006/relationships/notesSlide" Target="/ppt/notesSlides/notesSlide44.xml" Id="Rb39d8f56b4994ed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8eeca0fb384d486a" /><Relationship Type="http://schemas.openxmlformats.org/officeDocument/2006/relationships/notesSlide" Target="/ppt/notesSlides/notesSlide45.xml" Id="R93a27ed971dd455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5e9629c15dab4ad4" /><Relationship Type="http://schemas.openxmlformats.org/officeDocument/2006/relationships/notesSlide" Target="/ppt/notesSlides/notesSlide46.xml" Id="Rae21c90a1318461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37e0bcc523db44a5" /><Relationship Type="http://schemas.openxmlformats.org/officeDocument/2006/relationships/notesSlide" Target="/ppt/notesSlides/notesSlide47.xml" Id="R6a9be385d5e4427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2a902de79547441d" /><Relationship Type="http://schemas.openxmlformats.org/officeDocument/2006/relationships/notesSlide" Target="/ppt/notesSlides/notesSlide48.xml" Id="R481c3e27744745e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136a09e740e3467e" /><Relationship Type="http://schemas.openxmlformats.org/officeDocument/2006/relationships/notesSlide" Target="/ppt/notesSlides/notesSlide49.xml" Id="R6d29ec84395b4d9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306550260a9c4eb0" /><Relationship Type="http://schemas.openxmlformats.org/officeDocument/2006/relationships/notesSlide" Target="/ppt/notesSlides/notesSlide50.xml" Id="R410fb9fc377b4ea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8bad6c3d34fc4ea5" /><Relationship Type="http://schemas.openxmlformats.org/officeDocument/2006/relationships/notesSlide" Target="/ppt/notesSlides/notesSlide51.xml" Id="Rfc10a00a6be144e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eeb34d65e82e4343" /><Relationship Type="http://schemas.openxmlformats.org/officeDocument/2006/relationships/notesSlide" Target="/ppt/notesSlides/notesSlide52.xml" Id="R13ff3ca209574aa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08994986792c4d99" /><Relationship Type="http://schemas.openxmlformats.org/officeDocument/2006/relationships/notesSlide" Target="/ppt/notesSlides/notesSlide53.xml" Id="Rd0c7e156ff61403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9df8e25ea0f447ef" /><Relationship Type="http://schemas.openxmlformats.org/officeDocument/2006/relationships/notesSlide" Target="/ppt/notesSlides/notesSlide54.xml" Id="Rfc9fd246e0bf476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508f30163c27419f" /><Relationship Type="http://schemas.openxmlformats.org/officeDocument/2006/relationships/notesSlide" Target="/ppt/notesSlides/notesSlide55.xml" Id="R6ee24ab769994a0b"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bce8405b064a4cdb" /><Relationship Type="http://schemas.openxmlformats.org/officeDocument/2006/relationships/notesSlide" Target="/ppt/notesSlides/notesSlide56.xml" Id="R52d35f329bf54385"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0eb1b413c4cb40dc" /><Relationship Type="http://schemas.openxmlformats.org/officeDocument/2006/relationships/hyperlink" Target="https://www.cs.toronto.edu/~fritz/absps/jjnh91.pdf" TargetMode="External" Id="Rafdfaa92fb434d2a" /><Relationship Type="http://schemas.openxmlformats.org/officeDocument/2006/relationships/hyperlink" Target="https://www.cs.toronto.edu/~hinton/absps/switch.pdf" TargetMode="External" Id="Re38718920ba84821" /><Relationship Type="http://schemas.openxmlformats.org/officeDocument/2006/relationships/hyperlink" Target="https://www.oist.jp/sites/default/files/2024-03/cnru_nn08.pdf" TargetMode="External" Id="R992d5303d0594451" /><Relationship Type="http://schemas.openxmlformats.org/officeDocument/2006/relationships/notesSlide" Target="/ppt/notesSlides/notesSlide57.xml" Id="R29c6d51129b747e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781b8f44eb7c41f8" /><Relationship Type="http://schemas.openxmlformats.org/officeDocument/2006/relationships/hyperlink" Target="https://arxiv.org/abs/1701.06538" TargetMode="External" Id="Rac9c44d8be964676" /><Relationship Type="http://schemas.openxmlformats.org/officeDocument/2006/relationships/hyperlink" Target="https://proceedings.mlr.press/v238/ni24a.html" TargetMode="External" Id="R42d0766ccb4d4c14" /><Relationship Type="http://schemas.openxmlformats.org/officeDocument/2006/relationships/hyperlink" Target="https://proceedings.iclr.cc/paper_files/paper/2025/hash/558d48c1f08675daa636e09bfe94a89e-Abstract-Conference.html" TargetMode="External" Id="R338189f5efbb404f" /><Relationship Type="http://schemas.openxmlformats.org/officeDocument/2006/relationships/notesSlide" Target="/ppt/notesSlides/notesSlide58.xml" Id="R674e6d5a4bd14c3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chart1.xml><?xml version="1.0" encoding="utf-8"?>
<ns0:chartSpace xmlns:ns0="http://schemas.openxmlformats.org/drawingml/2006/chart" xmlns:ns1="http://schemas.openxmlformats.org/drawingml/2006/main" xmlns:ns2="http://schemas.openxmlformats.org/officeDocument/2006/relationships">
  <ns0:lang val="en-US"/>
  <ns0:chart>
    <ns0:plotArea>
      <ns0:scatterChart>
        <ns0:scatterStyle val="line"/>
        <ns0:varyColors val="0"/>
        <ns0:ser>
          <ns0:idx val="0"/>
          <ns0:order val="0"/>
          <ns0:tx>
            <ns0:v>State 1</ns0:v>
          </ns0:tx>
          <ns0:spPr>
            <ns1:ln w="19050">
              <ns1:solidFill>
                <ns1:srgbClr val="5276A4"/>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Data'!$A$2:$A$194</ns0:f>
              <ns0:numCache>
                <ns0:formatCode>General</ns0:formatCode>
                <ns0:ptCount val="193"/>
                <ns0:pt idx="0">
                  <ns0:v>0</ns0:v>
                </ns0:pt>
                <ns0:pt idx="1">
                  <ns0:v>1</ns0:v>
                </ns0:pt>
                <ns0:pt idx="2">
                  <ns0:v>2</ns0:v>
                </ns0:pt>
                <ns0:pt idx="3">
                  <ns0:v>3</ns0:v>
                </ns0:pt>
                <ns0:pt idx="4">
                  <ns0:v>4</ns0:v>
                </ns0:pt>
                <ns0:pt idx="5">
                  <ns0:v>5</ns0:v>
                </ns0:pt>
                <ns0:pt idx="6">
                  <ns0:v>6</ns0:v>
                </ns0:pt>
                <ns0:pt idx="7">
                  <ns0:v>7</ns0:v>
                </ns0:pt>
                <ns0:pt idx="8">
                  <ns0:v>8</ns0:v>
                </ns0:pt>
                <ns0:pt idx="9">
                  <ns0:v>9</ns0:v>
                </ns0:pt>
                <ns0:pt idx="10">
                  <ns0:v>10</ns0:v>
                </ns0:pt>
                <ns0:pt idx="11">
                  <ns0:v>11</ns0:v>
                </ns0:pt>
                <ns0:pt idx="12">
                  <ns0:v>12</ns0:v>
                </ns0:pt>
                <ns0:pt idx="13">
                  <ns0:v>13</ns0:v>
                </ns0:pt>
                <ns0:pt idx="14">
                  <ns0:v>14</ns0:v>
                </ns0:pt>
                <ns0:pt idx="15">
                  <ns0:v>15</ns0:v>
                </ns0:pt>
                <ns0:pt idx="16">
                  <ns0:v>16</ns0:v>
                </ns0:pt>
                <ns0:pt idx="17">
                  <ns0:v>17</ns0:v>
                </ns0:pt>
                <ns0:pt idx="18">
                  <ns0:v>18</ns0:v>
                </ns0:pt>
                <ns0:pt idx="19">
                  <ns0:v>19</ns0:v>
                </ns0:pt>
                <ns0:pt idx="20">
                  <ns0:v>20</ns0:v>
                </ns0:pt>
                <ns0:pt idx="21">
                  <ns0:v>21</ns0:v>
                </ns0:pt>
                <ns0:pt idx="22">
                  <ns0:v>22</ns0:v>
                </ns0:pt>
                <ns0:pt idx="23">
                  <ns0:v>23</ns0:v>
                </ns0:pt>
                <ns0:pt idx="24">
                  <ns0:v>24</ns0:v>
                </ns0:pt>
                <ns0:pt idx="25">
                  <ns0:v>25</ns0:v>
                </ns0:pt>
                <ns0:pt idx="26">
                  <ns0:v>26</ns0:v>
                </ns0:pt>
                <ns0:pt idx="27">
                  <ns0:v>27</ns0:v>
                </ns0:pt>
                <ns0:pt idx="28">
                  <ns0:v>28</ns0:v>
                </ns0:pt>
                <ns0:pt idx="29">
                  <ns0:v>29</ns0:v>
                </ns0:pt>
                <ns0:pt idx="30">
                  <ns0:v>30</ns0:v>
                </ns0:pt>
                <ns0:pt idx="31">
                  <ns0:v>31</ns0:v>
                </ns0:pt>
                <ns0:pt idx="32">
                  <ns0:v>32</ns0:v>
                </ns0:pt>
                <ns0:pt idx="33">
                  <ns0:v>33</ns0:v>
                </ns0:pt>
                <ns0:pt idx="34">
                  <ns0:v>34</ns0:v>
                </ns0:pt>
                <ns0:pt idx="35">
                  <ns0:v>35</ns0:v>
                </ns0:pt>
                <ns0:pt idx="36">
                  <ns0:v>36</ns0:v>
                </ns0:pt>
                <ns0:pt idx="37">
                  <ns0:v>37</ns0:v>
                </ns0:pt>
                <ns0:pt idx="38">
                  <ns0:v>38</ns0:v>
                </ns0:pt>
                <ns0:pt idx="39">
                  <ns0:v>39</ns0:v>
                </ns0:pt>
                <ns0:pt idx="40">
                  <ns0:v>40</ns0:v>
                </ns0:pt>
                <ns0:pt idx="41">
                  <ns0:v>41</ns0:v>
                </ns0:pt>
                <ns0:pt idx="42">
                  <ns0:v>42</ns0:v>
                </ns0:pt>
                <ns0:pt idx="43">
                  <ns0:v>43</ns0:v>
                </ns0:pt>
                <ns0:pt idx="44">
                  <ns0:v>44</ns0:v>
                </ns0:pt>
                <ns0:pt idx="45">
                  <ns0:v>45</ns0:v>
                </ns0:pt>
                <ns0:pt idx="46">
                  <ns0:v>46</ns0:v>
                </ns0:pt>
                <ns0:pt idx="47">
                  <ns0:v>47</ns0:v>
                </ns0:pt>
                <ns0:pt idx="48">
                  <ns0:v>48</ns0:v>
                </ns0:pt>
                <ns0:pt idx="49">
                  <ns0:v>49</ns0:v>
                </ns0:pt>
                <ns0:pt idx="50">
                  <ns0:v>50</ns0:v>
                </ns0:pt>
                <ns0:pt idx="51">
                  <ns0:v>51</ns0:v>
                </ns0:pt>
                <ns0:pt idx="52">
                  <ns0:v>52</ns0:v>
                </ns0:pt>
                <ns0:pt idx="53">
                  <ns0:v>53</ns0:v>
                </ns0:pt>
                <ns0:pt idx="54">
                  <ns0:v>54</ns0:v>
                </ns0:pt>
                <ns0:pt idx="55">
                  <ns0:v>55</ns0:v>
                </ns0:pt>
                <ns0:pt idx="56">
                  <ns0:v>56</ns0:v>
                </ns0:pt>
                <ns0:pt idx="57">
                  <ns0:v>57</ns0:v>
                </ns0:pt>
                <ns0:pt idx="58">
                  <ns0:v>58</ns0:v>
                </ns0:pt>
                <ns0:pt idx="59">
                  <ns0:v>59</ns0:v>
                </ns0:pt>
                <ns0:pt idx="60">
                  <ns0:v>60</ns0:v>
                </ns0:pt>
                <ns0:pt idx="61">
                  <ns0:v>61</ns0:v>
                </ns0:pt>
                <ns0:pt idx="62">
                  <ns0:v>62</ns0:v>
                </ns0:pt>
                <ns0:pt idx="63">
                  <ns0:v>63</ns0:v>
                </ns0:pt>
                <ns0:pt idx="64">
                  <ns0:v>64</ns0:v>
                </ns0:pt>
                <ns0:pt idx="65">
                  <ns0:v>65</ns0:v>
                </ns0:pt>
                <ns0:pt idx="66">
                  <ns0:v>66</ns0:v>
                </ns0:pt>
                <ns0:pt idx="67">
                  <ns0:v>67</ns0:v>
                </ns0:pt>
                <ns0:pt idx="68">
                  <ns0:v>68</ns0:v>
                </ns0:pt>
                <ns0:pt idx="69">
                  <ns0:v>69</ns0:v>
                </ns0:pt>
                <ns0:pt idx="70">
                  <ns0:v>70</ns0:v>
                </ns0:pt>
                <ns0:pt idx="71">
                  <ns0:v>71</ns0:v>
                </ns0:pt>
                <ns0:pt idx="72">
                  <ns0:v>72</ns0:v>
                </ns0:pt>
                <ns0:pt idx="73">
                  <ns0:v>73</ns0:v>
                </ns0:pt>
                <ns0:pt idx="74">
                  <ns0:v>74</ns0:v>
                </ns0:pt>
                <ns0:pt idx="75">
                  <ns0:v>75</ns0:v>
                </ns0:pt>
                <ns0:pt idx="76">
                  <ns0:v>76</ns0:v>
                </ns0:pt>
                <ns0:pt idx="77">
                  <ns0:v>77</ns0:v>
                </ns0:pt>
                <ns0:pt idx="78">
                  <ns0:v>78</ns0:v>
                </ns0:pt>
                <ns0:pt idx="79">
                  <ns0:v>79</ns0:v>
                </ns0:pt>
                <ns0:pt idx="80">
                  <ns0:v>80</ns0:v>
                </ns0:pt>
                <ns0:pt idx="81">
                  <ns0:v>81</ns0:v>
                </ns0:pt>
                <ns0:pt idx="82">
                  <ns0:v>82</ns0:v>
                </ns0:pt>
                <ns0:pt idx="83">
                  <ns0:v>83</ns0:v>
                </ns0:pt>
                <ns0:pt idx="84">
                  <ns0:v>84</ns0:v>
                </ns0:pt>
                <ns0:pt idx="85">
                  <ns0:v>85</ns0:v>
                </ns0:pt>
                <ns0:pt idx="86">
                  <ns0:v>86</ns0:v>
                </ns0:pt>
                <ns0:pt idx="87">
                  <ns0:v>87</ns0:v>
                </ns0:pt>
                <ns0:pt idx="88">
                  <ns0:v>88</ns0:v>
                </ns0:pt>
                <ns0:pt idx="89">
                  <ns0:v>89</ns0:v>
                </ns0:pt>
                <ns0:pt idx="90">
                  <ns0:v>90</ns0:v>
                </ns0:pt>
                <ns0:pt idx="91">
                  <ns0:v>91</ns0:v>
                </ns0:pt>
                <ns0:pt idx="92">
                  <ns0:v>92</ns0:v>
                </ns0:pt>
                <ns0:pt idx="93">
                  <ns0:v>93</ns0:v>
                </ns0:pt>
                <ns0:pt idx="94">
                  <ns0:v>94</ns0:v>
                </ns0:pt>
                <ns0:pt idx="95">
                  <ns0:v>95</ns0:v>
                </ns0:pt>
                <ns0:pt idx="96">
                  <ns0:v>96</ns0:v>
                </ns0:pt>
                <ns0:pt idx="97">
                  <ns0:v>97</ns0:v>
                </ns0:pt>
                <ns0:pt idx="98">
                  <ns0:v>98</ns0:v>
                </ns0:pt>
                <ns0:pt idx="99">
                  <ns0:v>99</ns0:v>
                </ns0:pt>
                <ns0:pt idx="100">
                  <ns0:v>100</ns0:v>
                </ns0:pt>
                <ns0:pt idx="101">
                  <ns0:v>101</ns0:v>
                </ns0:pt>
                <ns0:pt idx="102">
                  <ns0:v>102</ns0:v>
                </ns0:pt>
                <ns0:pt idx="103">
                  <ns0:v>103</ns0:v>
                </ns0:pt>
                <ns0:pt idx="104">
                  <ns0:v>104</ns0:v>
                </ns0:pt>
                <ns0:pt idx="105">
                  <ns0:v>105</ns0:v>
                </ns0:pt>
                <ns0:pt idx="106">
                  <ns0:v>106</ns0:v>
                </ns0:pt>
                <ns0:pt idx="107">
                  <ns0:v>107</ns0:v>
                </ns0:pt>
                <ns0:pt idx="108">
                  <ns0:v>108</ns0:v>
                </ns0:pt>
                <ns0:pt idx="109">
                  <ns0:v>109</ns0:v>
                </ns0:pt>
                <ns0:pt idx="110">
                  <ns0:v>110</ns0:v>
                </ns0:pt>
                <ns0:pt idx="111">
                  <ns0:v>111</ns0:v>
                </ns0:pt>
                <ns0:pt idx="112">
                  <ns0:v>112</ns0:v>
                </ns0:pt>
                <ns0:pt idx="113">
                  <ns0:v>113</ns0:v>
                </ns0:pt>
                <ns0:pt idx="114">
                  <ns0:v>114</ns0:v>
                </ns0:pt>
                <ns0:pt idx="115">
                  <ns0:v>115</ns0:v>
                </ns0:pt>
                <ns0:pt idx="116">
                  <ns0:v>116</ns0:v>
                </ns0:pt>
                <ns0:pt idx="117">
                  <ns0:v>117</ns0:v>
                </ns0:pt>
                <ns0:pt idx="118">
                  <ns0:v>118</ns0:v>
                </ns0:pt>
                <ns0:pt idx="119">
                  <ns0:v>119</ns0:v>
                </ns0:pt>
                <ns0:pt idx="120">
                  <ns0:v>120</ns0:v>
                </ns0:pt>
                <ns0:pt idx="121">
                  <ns0:v>121</ns0:v>
                </ns0:pt>
                <ns0:pt idx="122">
                  <ns0:v>122</ns0:v>
                </ns0:pt>
                <ns0:pt idx="123">
                  <ns0:v>123</ns0:v>
                </ns0:pt>
                <ns0:pt idx="124">
                  <ns0:v>124</ns0:v>
                </ns0:pt>
                <ns0:pt idx="125">
                  <ns0:v>125</ns0:v>
                </ns0:pt>
                <ns0:pt idx="126">
                  <ns0:v>126</ns0:v>
                </ns0:pt>
                <ns0:pt idx="127">
                  <ns0:v>127</ns0:v>
                </ns0:pt>
                <ns0:pt idx="128">
                  <ns0:v>128</ns0:v>
                </ns0:pt>
                <ns0:pt idx="129">
                  <ns0:v>129</ns0:v>
                </ns0:pt>
                <ns0:pt idx="130">
                  <ns0:v>130</ns0:v>
                </ns0:pt>
                <ns0:pt idx="131">
                  <ns0:v>131</ns0:v>
                </ns0:pt>
                <ns0:pt idx="132">
                  <ns0:v>132</ns0:v>
                </ns0:pt>
                <ns0:pt idx="133">
                  <ns0:v>133</ns0:v>
                </ns0:pt>
                <ns0:pt idx="134">
                  <ns0:v>134</ns0:v>
                </ns0:pt>
                <ns0:pt idx="135">
                  <ns0:v>135</ns0:v>
                </ns0:pt>
                <ns0:pt idx="136">
                  <ns0:v>136</ns0:v>
                </ns0:pt>
                <ns0:pt idx="137">
                  <ns0:v>137</ns0:v>
                </ns0:pt>
                <ns0:pt idx="138">
                  <ns0:v>138</ns0:v>
                </ns0:pt>
                <ns0:pt idx="139">
                  <ns0:v>139</ns0:v>
                </ns0:pt>
                <ns0:pt idx="140">
                  <ns0:v>140</ns0:v>
                </ns0:pt>
                <ns0:pt idx="141">
                  <ns0:v>141</ns0:v>
                </ns0:pt>
                <ns0:pt idx="142">
                  <ns0:v>142</ns0:v>
                </ns0:pt>
                <ns0:pt idx="143">
                  <ns0:v>143</ns0:v>
                </ns0:pt>
                <ns0:pt idx="144">
                  <ns0:v>144</ns0:v>
                </ns0:pt>
                <ns0:pt idx="145">
                  <ns0:v>145</ns0:v>
                </ns0:pt>
                <ns0:pt idx="146">
                  <ns0:v>146</ns0:v>
                </ns0:pt>
                <ns0:pt idx="147">
                  <ns0:v>147</ns0:v>
                </ns0:pt>
                <ns0:pt idx="148">
                  <ns0:v>148</ns0:v>
                </ns0:pt>
                <ns0:pt idx="149">
                  <ns0:v>149</ns0:v>
                </ns0:pt>
                <ns0:pt idx="150">
                  <ns0:v>150</ns0:v>
                </ns0:pt>
                <ns0:pt idx="151">
                  <ns0:v>151</ns0:v>
                </ns0:pt>
                <ns0:pt idx="152">
                  <ns0:v>152</ns0:v>
                </ns0:pt>
                <ns0:pt idx="153">
                  <ns0:v>153</ns0:v>
                </ns0:pt>
                <ns0:pt idx="154">
                  <ns0:v>154</ns0:v>
                </ns0:pt>
                <ns0:pt idx="155">
                  <ns0:v>155</ns0:v>
                </ns0:pt>
                <ns0:pt idx="156">
                  <ns0:v>156</ns0:v>
                </ns0:pt>
                <ns0:pt idx="157">
                  <ns0:v>157</ns0:v>
                </ns0:pt>
                <ns0:pt idx="158">
                  <ns0:v>158</ns0:v>
                </ns0:pt>
                <ns0:pt idx="159">
                  <ns0:v>159</ns0:v>
                </ns0:pt>
                <ns0:pt idx="160">
                  <ns0:v>160</ns0:v>
                </ns0:pt>
                <ns0:pt idx="161">
                  <ns0:v>161</ns0:v>
                </ns0:pt>
                <ns0:pt idx="162">
                  <ns0:v>162</ns0:v>
                </ns0:pt>
                <ns0:pt idx="163">
                  <ns0:v>163</ns0:v>
                </ns0:pt>
                <ns0:pt idx="164">
                  <ns0:v>164</ns0:v>
                </ns0:pt>
                <ns0:pt idx="165">
                  <ns0:v>165</ns0:v>
                </ns0:pt>
                <ns0:pt idx="166">
                  <ns0:v>166</ns0:v>
                </ns0:pt>
                <ns0:pt idx="167">
                  <ns0:v>167</ns0:v>
                </ns0:pt>
                <ns0:pt idx="168">
                  <ns0:v>168</ns0:v>
                </ns0:pt>
                <ns0:pt idx="169">
                  <ns0:v>169</ns0:v>
                </ns0:pt>
                <ns0:pt idx="170">
                  <ns0:v>170</ns0:v>
                </ns0:pt>
                <ns0:pt idx="171">
                  <ns0:v>171</ns0:v>
                </ns0:pt>
                <ns0:pt idx="172">
                  <ns0:v>172</ns0:v>
                </ns0:pt>
                <ns0:pt idx="173">
                  <ns0:v>173</ns0:v>
                </ns0:pt>
                <ns0:pt idx="174">
                  <ns0:v>174</ns0:v>
                </ns0:pt>
                <ns0:pt idx="175">
                  <ns0:v>175</ns0:v>
                </ns0:pt>
                <ns0:pt idx="176">
                  <ns0:v>176</ns0:v>
                </ns0:pt>
                <ns0:pt idx="177">
                  <ns0:v>177</ns0:v>
                </ns0:pt>
                <ns0:pt idx="178">
                  <ns0:v>178</ns0:v>
                </ns0:pt>
                <ns0:pt idx="179">
                  <ns0:v>179</ns0:v>
                </ns0:pt>
                <ns0:pt idx="180">
                  <ns0:v>180</ns0:v>
                </ns0:pt>
                <ns0:pt idx="181">
                  <ns0:v>181</ns0:v>
                </ns0:pt>
                <ns0:pt idx="182">
                  <ns0:v>182</ns0:v>
                </ns0:pt>
                <ns0:pt idx="183">
                  <ns0:v>183</ns0:v>
                </ns0:pt>
                <ns0:pt idx="184">
                  <ns0:v>184</ns0:v>
                </ns0:pt>
                <ns0:pt idx="185">
                  <ns0:v>185</ns0:v>
                </ns0:pt>
                <ns0:pt idx="186">
                  <ns0:v>186</ns0:v>
                </ns0:pt>
                <ns0:pt idx="187">
                  <ns0:v>187</ns0:v>
                </ns0:pt>
                <ns0:pt idx="188">
                  <ns0:v>188</ns0:v>
                </ns0:pt>
                <ns0:pt idx="189">
                  <ns0:v>189</ns0:v>
                </ns0:pt>
                <ns0:pt idx="190">
                  <ns0:v>190</ns0:v>
                </ns0:pt>
                <ns0:pt idx="191">
                  <ns0:v>191</ns0:v>
                </ns0:pt>
                <ns0:pt idx="192">
                  <ns0:v>192</ns0:v>
                </ns0:pt>
              </ns0:numCache>
            </ns0:numRef>
          </ns0:xVal>
          <ns0:yVal>
            <ns0:numRef>
              <ns0:f>'Chart Data'!$B$2:$B$194</ns0:f>
              <ns0:numCache>
                <ns0:formatCode>0.0</ns0:formatCode>
                <ns0:ptCount val="193"/>
                <ns0:pt idx="0">
                  <ns0:v>-0.01483086124</ns0:v>
                </ns0:pt>
                <ns0:pt idx="1">
                  <ns0:v>0.1200831085</ns0:v>
                </ns0:pt>
                <ns0:pt idx="2">
                  <ns0:v>0.01142073702</ns0:v>
                </ns0:pt>
                <ns0:pt idx="3">
                  <ns0:v>0.04721549153</ns0:v>
                </ns0:pt>
                <ns0:pt idx="4">
                  <ns0:v>-0.02490178123</ns0:v>
                </ns0:pt>
                <ns0:pt idx="5">
                  <ns0:v>-0.1421231925</ns0:v>
                </ns0:pt>
                <ns0:pt idx="6">
                  <ns0:v>-0.1868191659</ns0:v>
                </ns0:pt>
                <ns0:pt idx="7">
                  <ns0:v>-0.1758159697</ns0:v>
                </ns0:pt>
                <ns0:pt idx="8">
                  <ns0:v>-0.2013069391</ns0:v>
                </ns0:pt>
                <ns0:pt idx="9">
                  <ns0:v>-0.1134437919</ns0:v>
                </ns0:pt>
                <ns0:pt idx="10">
                  <ns0:v>-0.07072215527</ns0:v>
                </ns0:pt>
                <ns0:pt idx="11">
                  <ns0:v>0.04707796499</ns0:v>
                </ns0:pt>
                <ns0:pt idx="12">
                  <ns0:v>0.01498089358</ns0:v>
                </ns0:pt>
                <ns0:pt idx="13">
                  <ns0:v>0.04646254331</ns0:v>
                </ns0:pt>
                <ns0:pt idx="14">
                  <ns0:v>0.0325210467</ns0:v>
                </ns0:pt>
                <ns0:pt idx="15">
                  <ns0:v>0.1121784151</ns0:v>
                </ns0:pt>
                <ns0:pt idx="16">
                  <ns0:v>0.1295654178</ns0:v>
                </ns0:pt>
                <ns0:pt idx="17">
                  <ns0:v>0.1690445095</ns0:v>
                </ns0:pt>
                <ns0:pt idx="18">
                  <ns0:v>0.1606391519</ns0:v>
                </ns0:pt>
                <ns0:pt idx="19">
                  <ns0:v>0.1421568394</ns0:v>
                </ns0:pt>
                <ns0:pt idx="20">
                  <ns0:v>0.1545180231</ns0:v>
                </ns0:pt>
                <ns0:pt idx="21">
                  <ns0:v>0.07943435758</ns0:v>
                </ns0:pt>
                <ns0:pt idx="22">
                  <ns0:v>0.1114998981</ns0:v>
                </ns0:pt>
                <ns0:pt idx="23">
                  <ns0:v>0.06154401973</ns0:v>
                </ns0:pt>
                <ns0:pt idx="24">
                  <ns0:v>-0.01037391555</ns0:v>
                </ns0:pt>
                <ns0:pt idx="25">
                  <ns0:v>0.03938811645</ns0:v>
                </ns0:pt>
                <ns0:pt idx="26">
                  <ns0:v>0.05182630941</ns0:v>
                </ns0:pt>
                <ns0:pt idx="27">
                  <ns0:v>0.02251363359</ns0:v>
                </ns0:pt>
                <ns0:pt idx="28">
                  <ns0:v>-0.1719609648</ns0:v>
                </ns0:pt>
                <ns0:pt idx="29">
                  <ns0:v>-0.1729530841</ns0:v>
                </ns0:pt>
                <ns0:pt idx="30">
                  <ns0:v>-0.1463062912</ns0:v>
                </ns0:pt>
                <ns0:pt idx="31">
                  <ns0:v>-0.01443459094</ns0:v>
                </ns0:pt>
                <ns0:pt idx="32">
                  <ns0:v>-0.0008442215039</ns0:v>
                </ns0:pt>
                <ns0:pt idx="33">
                  <ns0:v>-0.002451435197</ns0:v>
                </ns0:pt>
                <ns0:pt idx="34">
                  <ns0:v>-0.01404245757</ns0:v>
                </ns0:pt>
                <ns0:pt idx="35">
                  <ns0:v>0.1200985014</ns0:v>
                </ns0:pt>
                <ns0:pt idx="36">
                  <ns0:v>0.2120011151</ns0:v>
                </ns0:pt>
                <ns0:pt idx="37">
                  <ns0:v>0.2764996886</ns0:v>
                </ns0:pt>
                <ns0:pt idx="38">
                  <ns0:v>0.2375591844</ns0:v>
                </ns0:pt>
                <ns0:pt idx="39">
                  <ns0:v>-0.118977949</ns0:v>
                </ns0:pt>
                <ns0:pt idx="40">
                  <ns0:v>-0.1918899715</ns0:v>
                </ns0:pt>
                <ns0:pt idx="41">
                  <ns0:v>0.1802348644</ns0:v>
                </ns0:pt>
                <ns0:pt idx="42">
                  <ns0:v>0.2433789521</ns0:v>
                </ns0:pt>
                <ns0:pt idx="43">
                  <ns0:v>0.03728735074</ns0:v>
                </ns0:pt>
                <ns0:pt idx="44">
                  <ns0:v>-0.1645295769</ns0:v>
                </ns0:pt>
                <ns0:pt idx="45">
                  <ns0:v>-0.445478797</ns0:v>
                </ns0:pt>
                <ns0:pt idx="46">
                  <ns0:v>-0.05217457563</ns0:v>
                </ns0:pt>
                <ns0:pt idx="47">
                  <ns0:v>0.2562832534</ns0:v>
                </ns0:pt>
                <ns0:pt idx="48">
                  <ns0:v>0.20006001</ns0:v>
                </ns0:pt>
                <ns0:pt idx="49">
                  <ns0:v>-0.1312381625</ns0:v>
                </ns0:pt>
                <ns0:pt idx="50">
                  <ns0:v>-0.3120526969</ns0:v>
                </ns0:pt>
                <ns0:pt idx="51">
                  <ns0:v>-0.1246188506</ns0:v>
                </ns0:pt>
                <ns0:pt idx="52">
                  <ns0:v>0.1292745024</ns0:v>
                </ns0:pt>
                <ns0:pt idx="53">
                  <ns0:v>0.200031206</ns0:v>
                </ns0:pt>
                <ns0:pt idx="54">
                  <ns0:v>0.07053347677</ns0:v>
                </ns0:pt>
                <ns0:pt idx="55">
                  <ns0:v>0.1060106307</ns0:v>
                </ns0:pt>
                <ns0:pt idx="56">
                  <ns0:v>-0.03404783085</ns0:v>
                </ns0:pt>
                <ns0:pt idx="57">
                  <ns0:v>0.08306431025</ns0:v>
                </ns0:pt>
                <ns0:pt idx="58">
                  <ns0:v>0.07491272688</ns0:v>
                </ns0:pt>
                <ns0:pt idx="59">
                  <ns0:v>-0.06765909493</ns0:v>
                </ns0:pt>
                <ns0:pt idx="60">
                  <ns0:v>-0.265606761</ns0:v>
                </ns0:pt>
                <ns0:pt idx="61">
                  <ns0:v>-0.07256715</ns0:v>
                </ns0:pt>
                <ns0:pt idx="62">
                  <ns0:v>0.2495702356</ns0:v>
                </ns0:pt>
                <ns0:pt idx="63">
                  <ns0:v>0.2859352231</ns0:v>
                </ns0:pt>
                <ns0:pt idx="64">
                  <ns0:v>0.02483521029</ns0:v>
                </ns0:pt>
                <ns0:pt idx="65">
                  <ns0:v>-0.3207392395</ns0:v>
                </ns0:pt>
                <ns0:pt idx="66">
                  <ns0:v>-0.4033862054</ns0:v>
                </ns0:pt>
                <ns0:pt idx="67">
                  <ns0:v>0.1956609488</ns0:v>
                </ns0:pt>
                <ns0:pt idx="68">
                  <ns0:v>0.2271836698</ns0:v>
                </ns0:pt>
                <ns0:pt idx="69">
                  <ns0:v>0.1318581402</ns0:v>
                </ns0:pt>
                <ns0:pt idx="70">
                  <ns0:v>0.02237144858</ns0:v>
                </ns0:pt>
                <ns0:pt idx="71">
                  <ns0:v>-0.3740308583</ns0:v>
                </ns0:pt>
                <ns0:pt idx="72">
                  <ns0:v>-0.4073550105</ns0:v>
                </ns0:pt>
                <ns0:pt idx="73">
                  <ns0:v>0.1281184852</ns0:v>
                </ns0:pt>
                <ns0:pt idx="74">
                  <ns0:v>0.4956569076</ns0:v>
                </ns0:pt>
                <ns0:pt idx="75">
                  <ns0:v>0.4004558921</ns0:v>
                </ns0:pt>
                <ns0:pt idx="76">
                  <ns0:v>-0.1366093904</ns0:v>
                </ns0:pt>
                <ns0:pt idx="77">
                  <ns0:v>-0.5584712625</ns0:v>
                </ns0:pt>
                <ns0:pt idx="78">
                  <ns0:v>-0.2058276832</ns0:v>
                </ns0:pt>
                <ns0:pt idx="79">
                  <ns0:v>0.3232653737</ns0:v>
                </ns0:pt>
                <ns0:pt idx="80">
                  <ns0:v>0.5104128122</ns0:v>
                </ns0:pt>
                <ns0:pt idx="81">
                  <ns0:v>0.4046438932</ns0:v>
                </ns0:pt>
                <ns0:pt idx="82">
                  <ns0:v>-0.3712956607</ns0:v>
                </ns0:pt>
                <ns0:pt idx="83">
                  <ns0:v>-0.5166146159</ns0:v>
                </ns0:pt>
                <ns0:pt idx="84">
                  <ns0:v>-0.1508302987</ns0:v>
                </ns0:pt>
                <ns0:pt idx="85">
                  <ns0:v>0.3355662227</ns0:v>
                </ns0:pt>
                <ns0:pt idx="86">
                  <ns0:v>0.6027072072</ns0:v>
                </ns0:pt>
                <ns0:pt idx="87">
                  <ns0:v>0.1135981381</ns0:v>
                </ns0:pt>
                <ns0:pt idx="88">
                  <ns0:v>-0.4252082109</ns0:v>
                </ns0:pt>
                <ns0:pt idx="89">
                  <ns0:v>-0.4159323275</ns0:v>
                </ns0:pt>
                <ns0:pt idx="90">
                  <ns0:v>0.1327196062</ns0:v>
                </ns0:pt>
                <ns0:pt idx="91">
                  <ns0:v>0.5079956055</ns0:v>
                </ns0:pt>
                <ns0:pt idx="92">
                  <ns0:v>0.1915690452</ns0:v>
                </ns0:pt>
                <ns0:pt idx="93">
                  <ns0:v>-0.2998404205</ns0:v>
                </ns0:pt>
                <ns0:pt idx="94">
                  <ns0:v>-0.33013919</ns0:v>
                </ns0:pt>
                <ns0:pt idx="95">
                  <ns0:v>-0.1244358048</ns0:v>
                </ns0:pt>
                <ns0:pt idx="96">
                  <ns0:v>-0.1534953266</ns0:v>
                </ns0:pt>
                <ns0:pt idx="97">
                  <ns0:v>-0.1691107601</ns0:v>
                </ns0:pt>
                <ns0:pt idx="98">
                  <ns0:v>-0.2050396055</ns0:v>
                </ns0:pt>
                <ns0:pt idx="99">
                  <ns0:v>-0.2814581096</ns0:v>
                </ns0:pt>
                <ns0:pt idx="100">
                  <ns0:v>-0.2724003196</ns0:v>
                </ns0:pt>
                <ns0:pt idx="101">
                  <ns0:v>-0.2365769595</ns0:v>
                </ns0:pt>
                <ns0:pt idx="102">
                  <ns0:v>-0.1083861515</ns0:v>
                </ns0:pt>
                <ns0:pt idx="103">
                  <ns0:v>-0.03554059193</ns0:v>
                </ns0:pt>
                <ns0:pt idx="104">
                  <ns0:v>0.0675875172</ns0:v>
                </ns0:pt>
                <ns0:pt idx="105">
                  <ns0:v>0.166714564</ns0:v>
                </ns0:pt>
                <ns0:pt idx="106">
                  <ns0:v>0.1996007413</ns0:v>
                </ns0:pt>
                <ns0:pt idx="107">
                  <ns0:v>0.1850467324</ns0:v>
                </ns0:pt>
                <ns0:pt idx="108">
                  <ns0:v>0.288990587</ns0:v>
                </ns0:pt>
                <ns0:pt idx="109">
                  <ns0:v>0.3766520023</ns0:v>
                </ns0:pt>
                <ns0:pt idx="110">
                  <ns0:v>0.3877097368</ns0:v>
                </ns0:pt>
                <ns0:pt idx="111">
                  <ns0:v>0.2997059524</ns0:v>
                </ns0:pt>
                <ns0:pt idx="112">
                  <ns0:v>0.1470602602</ns0:v>
                </ns0:pt>
                <ns0:pt idx="113">
                  <ns0:v>0.01418082137</ns0:v>
                </ns0:pt>
                <ns0:pt idx="114">
                  <ns0:v>-0.03599979728</ns0:v>
                </ns0:pt>
                <ns0:pt idx="115">
                  <ns0:v>-0.04875215143</ns0:v>
                </ns0:pt>
                <ns0:pt idx="116">
                  <ns0:v>0.03507105261</ns0:v>
                </ns0:pt>
                <ns0:pt idx="117">
                  <ns0:v>-0.0024805055</ns0:v>
                </ns0:pt>
                <ns0:pt idx="118">
                  <ns0:v>0.02123767696</ns0:v>
                </ns0:pt>
                <ns0:pt idx="119">
                  <ns0:v>-0.1441289485</ns0:v>
                </ns0:pt>
                <ns0:pt idx="120">
                  <ns0:v>-0.1567739695</ns0:v>
                </ns0:pt>
                <ns0:pt idx="121">
                  <ns0:v>-0.01823220961</ns0:v>
                </ns0:pt>
                <ns0:pt idx="122">
                  <ns0:v>-0.1049513295</ns0:v>
                </ns0:pt>
                <ns0:pt idx="123">
                  <ns0:v>-0.2342514396</ns0:v>
                </ns0:pt>
                <ns0:pt idx="124">
                  <ns0:v>-0.1761419624</ns0:v>
                </ns0:pt>
                <ns0:pt idx="125">
                  <ns0:v>-0.1947571784</ns0:v>
                </ns0:pt>
                <ns0:pt idx="126">
                  <ns0:v>-0.2330381572</ns0:v>
                </ns0:pt>
                <ns0:pt idx="127">
                  <ns0:v>-0.146954298</ns0:v>
                </ns0:pt>
                <ns0:pt idx="128">
                  <ns0:v>-0.2408789247</ns0:v>
                </ns0:pt>
                <ns0:pt idx="129">
                  <ns0:v>-0.390153259</ns0:v>
                </ns0:pt>
                <ns0:pt idx="130">
                  <ns0:v>-0.315505296</ns0:v>
                </ns0:pt>
                <ns0:pt idx="131">
                  <ns0:v>-0.3287073672</ns0:v>
                </ns0:pt>
                <ns0:pt idx="132">
                  <ns0:v>-0.1776361465</ns0:v>
                </ns0:pt>
                <ns0:pt idx="133">
                  <ns0:v>-0.04371162504</ns0:v>
                </ns0:pt>
                <ns0:pt idx="134">
                  <ns0:v>-0.1644280702</ns0:v>
                </ns0:pt>
                <ns0:pt idx="135">
                  <ns0:v>-0.1269806623</ns0:v>
                </ns0:pt>
                <ns0:pt idx="136">
                  <ns0:v>-0.04135438055</ns0:v>
                </ns0:pt>
                <ns0:pt idx="137">
                  <ns0:v>-0.09490329027</ns0:v>
                </ns0:pt>
                <ns0:pt idx="138">
                  <ns0:v>0.009859691374</ns0:v>
                </ns0:pt>
                <ns0:pt idx="139">
                  <ns0:v>0.3199412227</ns0:v>
                </ns0:pt>
                <ns0:pt idx="140">
                  <ns0:v>0.347630769</ns0:v>
                </ns0:pt>
                <ns0:pt idx="141">
                  <ns0:v>0.3964498341</ns0:v>
                </ns0:pt>
                <ns0:pt idx="142">
                  <ns0:v>0.359423995</ns0:v>
                </ns0:pt>
                <ns0:pt idx="143">
                  <ns0:v>0.5095056891</ns0:v>
                </ns0:pt>
                <ns0:pt idx="144">
                  <ns0:v>0.5802710652</ns0:v>
                </ns0:pt>
                <ns0:pt idx="145">
                  <ns0:v>0.5729739666</ns0:v>
                </ns0:pt>
                <ns0:pt idx="146">
                  <ns0:v>0.4527240694</ns0:v>
                </ns0:pt>
                <ns0:pt idx="147">
                  <ns0:v>0.3886657059</ns0:v>
                </ns0:pt>
                <ns0:pt idx="148">
                  <ns0:v>0.2115253955</ns0:v>
                </ns0:pt>
                <ns0:pt idx="149">
                  <ns0:v>0.173708573</ns0:v>
                </ns0:pt>
                <ns0:pt idx="150">
                  <ns0:v>0.03349466249</ns0:v>
                </ns0:pt>
                <ns0:pt idx="151">
                  <ns0:v>-0.07449999452</ns0:v>
                </ns0:pt>
                <ns0:pt idx="152">
                  <ns0:v>-0.1517803073</ns0:v>
                </ns0:pt>
                <ns0:pt idx="153">
                  <ns0:v>-0.01127990801</ns0:v>
                </ns0:pt>
                <ns0:pt idx="154">
                  <ns0:v>0.02070296928</ns0:v>
                </ns0:pt>
                <ns0:pt idx="155">
                  <ns0:v>-0.07486100495</ns0:v>
                </ns0:pt>
                <ns0:pt idx="156">
                  <ns0:v>-0.01494373661</ns0:v>
                </ns0:pt>
                <ns0:pt idx="157">
                  <ns0:v>0.08989113569</ns0:v>
                </ns0:pt>
                <ns0:pt idx="158">
                  <ns0:v>0.1177595556</ns0:v>
                </ns0:pt>
                <ns0:pt idx="159">
                  <ns0:v>-0.003114966676</ns0:v>
                </ns0:pt>
                <ns0:pt idx="160">
                  <ns0:v>-0.05810140073</ns0:v>
                </ns0:pt>
                <ns0:pt idx="161">
                  <ns0:v>-0.01293040626</ns0:v>
                </ns0:pt>
                <ns0:pt idx="162">
                  <ns0:v>0.06332433224</ns0:v>
                </ns0:pt>
                <ns0:pt idx="163">
                  <ns0:v>0.1582960933</ns0:v>
                </ns0:pt>
                <ns0:pt idx="164">
                  <ns0:v>0.1798894554</ns0:v>
                </ns0:pt>
                <ns0:pt idx="165">
                  <ns0:v>-0.01790490746</ns0:v>
                </ns0:pt>
                <ns0:pt idx="166">
                  <ns0:v>-0.2489909828</ns0:v>
                </ns0:pt>
                <ns0:pt idx="167">
                  <ns0:v>-0.2990129292</ns0:v>
                </ns0:pt>
                <ns0:pt idx="168">
                  <ns0:v>-0.311294347</ns0:v>
                </ns0:pt>
                <ns0:pt idx="169">
                  <ns0:v>-0.4028148055</ns0:v>
                </ns0:pt>
                <ns0:pt idx="170">
                  <ns0:v>-0.2707492411</ns0:v>
                </ns0:pt>
                <ns0:pt idx="171">
                  <ns0:v>-0.1799462736</ns0:v>
                </ns0:pt>
                <ns0:pt idx="172">
                  <ns0:v>-0.05530454591</ns0:v>
                </ns0:pt>
                <ns0:pt idx="173">
                  <ns0:v>0.09020808339</ns0:v>
                </ns0:pt>
                <ns0:pt idx="174">
                  <ns0:v>0.1918880194</ns0:v>
                </ns0:pt>
                <ns0:pt idx="175">
                  <ns0:v>0.2221027166</ns0:v>
                </ns0:pt>
                <ns0:pt idx="176">
                  <ns0:v>0.2678047717</ns0:v>
                </ns0:pt>
                <ns0:pt idx="177">
                  <ns0:v>0.410115242</ns0:v>
                </ns0:pt>
                <ns0:pt idx="178">
                  <ns0:v>0.5103591681</ns0:v>
                </ns0:pt>
                <ns0:pt idx="179">
                  <ns0:v>0.3363264799</ns0:v>
                </ns0:pt>
                <ns0:pt idx="180">
                  <ns0:v>0.1683175117</ns0:v>
                </ns0:pt>
                <ns0:pt idx="181">
                  <ns0:v>0.1801984757</ns0:v>
                </ns0:pt>
                <ns0:pt idx="182">
                  <ns0:v>0.005358595401</ns0:v>
                </ns0:pt>
                <ns0:pt idx="183">
                  <ns0:v>0.07207471132</ns0:v>
                </ns0:pt>
                <ns0:pt idx="184">
                  <ns0:v>0.01679236069</ns0:v>
                </ns0:pt>
                <ns0:pt idx="185">
                  <ns0:v>0.03377294913</ns0:v>
                </ns0:pt>
                <ns0:pt idx="186">
                  <ns0:v>0.2256176621</ns0:v>
                </ns0:pt>
                <ns0:pt idx="187">
                  <ns0:v>0.2303289622</ns0:v>
                </ns0:pt>
                <ns0:pt idx="188">
                  <ns0:v>0.1101908684</ns0:v>
                </ns0:pt>
                <ns0:pt idx="189">
                  <ns0:v>0.05962052569</ns0:v>
                </ns0:pt>
                <ns0:pt idx="190">
                  <ns0:v>-0.1003823131</ns0:v>
                </ns0:pt>
                <ns0:pt idx="191">
                  <ns0:v>-0.1111255214</ns0:v>
                </ns0:pt>
                <ns0:pt idx="192">
                  <ns0:v>-0.1511766165</ns0:v>
                </ns0:pt>
              </ns0:numCache>
            </ns0:numRef>
          </ns0:yVal>
        </ns0:ser>
        <ns0:ser>
          <ns0:idx val="1"/>
          <ns0:order val="1"/>
          <ns0:tx>
            <ns0:v>State 2</ns0:v>
          </ns0:tx>
          <ns0:spPr>
            <ns1:ln w="19050">
              <ns1:solidFill>
                <ns1:srgbClr val="152B45"/>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Data'!$C$2:$C$194</ns0:f>
              <ns0:numCache>
                <ns0:formatCode>General</ns0:formatCode>
                <ns0:ptCount val="193"/>
                <ns0:pt idx="0">
                  <ns0:v>0</ns0:v>
                </ns0:pt>
                <ns0:pt idx="1">
                  <ns0:v>1</ns0:v>
                </ns0:pt>
                <ns0:pt idx="2">
                  <ns0:v>2</ns0:v>
                </ns0:pt>
                <ns0:pt idx="3">
                  <ns0:v>3</ns0:v>
                </ns0:pt>
                <ns0:pt idx="4">
                  <ns0:v>4</ns0:v>
                </ns0:pt>
                <ns0:pt idx="5">
                  <ns0:v>5</ns0:v>
                </ns0:pt>
                <ns0:pt idx="6">
                  <ns0:v>6</ns0:v>
                </ns0:pt>
                <ns0:pt idx="7">
                  <ns0:v>7</ns0:v>
                </ns0:pt>
                <ns0:pt idx="8">
                  <ns0:v>8</ns0:v>
                </ns0:pt>
                <ns0:pt idx="9">
                  <ns0:v>9</ns0:v>
                </ns0:pt>
                <ns0:pt idx="10">
                  <ns0:v>10</ns0:v>
                </ns0:pt>
                <ns0:pt idx="11">
                  <ns0:v>11</ns0:v>
                </ns0:pt>
                <ns0:pt idx="12">
                  <ns0:v>12</ns0:v>
                </ns0:pt>
                <ns0:pt idx="13">
                  <ns0:v>13</ns0:v>
                </ns0:pt>
                <ns0:pt idx="14">
                  <ns0:v>14</ns0:v>
                </ns0:pt>
                <ns0:pt idx="15">
                  <ns0:v>15</ns0:v>
                </ns0:pt>
                <ns0:pt idx="16">
                  <ns0:v>16</ns0:v>
                </ns0:pt>
                <ns0:pt idx="17">
                  <ns0:v>17</ns0:v>
                </ns0:pt>
                <ns0:pt idx="18">
                  <ns0:v>18</ns0:v>
                </ns0:pt>
                <ns0:pt idx="19">
                  <ns0:v>19</ns0:v>
                </ns0:pt>
                <ns0:pt idx="20">
                  <ns0:v>20</ns0:v>
                </ns0:pt>
                <ns0:pt idx="21">
                  <ns0:v>21</ns0:v>
                </ns0:pt>
                <ns0:pt idx="22">
                  <ns0:v>22</ns0:v>
                </ns0:pt>
                <ns0:pt idx="23">
                  <ns0:v>23</ns0:v>
                </ns0:pt>
                <ns0:pt idx="24">
                  <ns0:v>24</ns0:v>
                </ns0:pt>
                <ns0:pt idx="25">
                  <ns0:v>25</ns0:v>
                </ns0:pt>
                <ns0:pt idx="26">
                  <ns0:v>26</ns0:v>
                </ns0:pt>
                <ns0:pt idx="27">
                  <ns0:v>27</ns0:v>
                </ns0:pt>
                <ns0:pt idx="28">
                  <ns0:v>28</ns0:v>
                </ns0:pt>
                <ns0:pt idx="29">
                  <ns0:v>29</ns0:v>
                </ns0:pt>
                <ns0:pt idx="30">
                  <ns0:v>30</ns0:v>
                </ns0:pt>
                <ns0:pt idx="31">
                  <ns0:v>31</ns0:v>
                </ns0:pt>
                <ns0:pt idx="32">
                  <ns0:v>32</ns0:v>
                </ns0:pt>
                <ns0:pt idx="33">
                  <ns0:v>33</ns0:v>
                </ns0:pt>
                <ns0:pt idx="34">
                  <ns0:v>34</ns0:v>
                </ns0:pt>
                <ns0:pt idx="35">
                  <ns0:v>35</ns0:v>
                </ns0:pt>
                <ns0:pt idx="36">
                  <ns0:v>36</ns0:v>
                </ns0:pt>
                <ns0:pt idx="37">
                  <ns0:v>37</ns0:v>
                </ns0:pt>
                <ns0:pt idx="38">
                  <ns0:v>38</ns0:v>
                </ns0:pt>
                <ns0:pt idx="39">
                  <ns0:v>39</ns0:v>
                </ns0:pt>
                <ns0:pt idx="40">
                  <ns0:v>40</ns0:v>
                </ns0:pt>
                <ns0:pt idx="41">
                  <ns0:v>41</ns0:v>
                </ns0:pt>
                <ns0:pt idx="42">
                  <ns0:v>42</ns0:v>
                </ns0:pt>
                <ns0:pt idx="43">
                  <ns0:v>43</ns0:v>
                </ns0:pt>
                <ns0:pt idx="44">
                  <ns0:v>44</ns0:v>
                </ns0:pt>
                <ns0:pt idx="45">
                  <ns0:v>45</ns0:v>
                </ns0:pt>
                <ns0:pt idx="46">
                  <ns0:v>46</ns0:v>
                </ns0:pt>
                <ns0:pt idx="47">
                  <ns0:v>47</ns0:v>
                </ns0:pt>
                <ns0:pt idx="48">
                  <ns0:v>48</ns0:v>
                </ns0:pt>
                <ns0:pt idx="49">
                  <ns0:v>49</ns0:v>
                </ns0:pt>
                <ns0:pt idx="50">
                  <ns0:v>50</ns0:v>
                </ns0:pt>
                <ns0:pt idx="51">
                  <ns0:v>51</ns0:v>
                </ns0:pt>
                <ns0:pt idx="52">
                  <ns0:v>52</ns0:v>
                </ns0:pt>
                <ns0:pt idx="53">
                  <ns0:v>53</ns0:v>
                </ns0:pt>
                <ns0:pt idx="54">
                  <ns0:v>54</ns0:v>
                </ns0:pt>
                <ns0:pt idx="55">
                  <ns0:v>55</ns0:v>
                </ns0:pt>
                <ns0:pt idx="56">
                  <ns0:v>56</ns0:v>
                </ns0:pt>
                <ns0:pt idx="57">
                  <ns0:v>57</ns0:v>
                </ns0:pt>
                <ns0:pt idx="58">
                  <ns0:v>58</ns0:v>
                </ns0:pt>
                <ns0:pt idx="59">
                  <ns0:v>59</ns0:v>
                </ns0:pt>
                <ns0:pt idx="60">
                  <ns0:v>60</ns0:v>
                </ns0:pt>
                <ns0:pt idx="61">
                  <ns0:v>61</ns0:v>
                </ns0:pt>
                <ns0:pt idx="62">
                  <ns0:v>62</ns0:v>
                </ns0:pt>
                <ns0:pt idx="63">
                  <ns0:v>63</ns0:v>
                </ns0:pt>
                <ns0:pt idx="64">
                  <ns0:v>64</ns0:v>
                </ns0:pt>
                <ns0:pt idx="65">
                  <ns0:v>65</ns0:v>
                </ns0:pt>
                <ns0:pt idx="66">
                  <ns0:v>66</ns0:v>
                </ns0:pt>
                <ns0:pt idx="67">
                  <ns0:v>67</ns0:v>
                </ns0:pt>
                <ns0:pt idx="68">
                  <ns0:v>68</ns0:v>
                </ns0:pt>
                <ns0:pt idx="69">
                  <ns0:v>69</ns0:v>
                </ns0:pt>
                <ns0:pt idx="70">
                  <ns0:v>70</ns0:v>
                </ns0:pt>
                <ns0:pt idx="71">
                  <ns0:v>71</ns0:v>
                </ns0:pt>
                <ns0:pt idx="72">
                  <ns0:v>72</ns0:v>
                </ns0:pt>
                <ns0:pt idx="73">
                  <ns0:v>73</ns0:v>
                </ns0:pt>
                <ns0:pt idx="74">
                  <ns0:v>74</ns0:v>
                </ns0:pt>
                <ns0:pt idx="75">
                  <ns0:v>75</ns0:v>
                </ns0:pt>
                <ns0:pt idx="76">
                  <ns0:v>76</ns0:v>
                </ns0:pt>
                <ns0:pt idx="77">
                  <ns0:v>77</ns0:v>
                </ns0:pt>
                <ns0:pt idx="78">
                  <ns0:v>78</ns0:v>
                </ns0:pt>
                <ns0:pt idx="79">
                  <ns0:v>79</ns0:v>
                </ns0:pt>
                <ns0:pt idx="80">
                  <ns0:v>80</ns0:v>
                </ns0:pt>
                <ns0:pt idx="81">
                  <ns0:v>81</ns0:v>
                </ns0:pt>
                <ns0:pt idx="82">
                  <ns0:v>82</ns0:v>
                </ns0:pt>
                <ns0:pt idx="83">
                  <ns0:v>83</ns0:v>
                </ns0:pt>
                <ns0:pt idx="84">
                  <ns0:v>84</ns0:v>
                </ns0:pt>
                <ns0:pt idx="85">
                  <ns0:v>85</ns0:v>
                </ns0:pt>
                <ns0:pt idx="86">
                  <ns0:v>86</ns0:v>
                </ns0:pt>
                <ns0:pt idx="87">
                  <ns0:v>87</ns0:v>
                </ns0:pt>
                <ns0:pt idx="88">
                  <ns0:v>88</ns0:v>
                </ns0:pt>
                <ns0:pt idx="89">
                  <ns0:v>89</ns0:v>
                </ns0:pt>
                <ns0:pt idx="90">
                  <ns0:v>90</ns0:v>
                </ns0:pt>
                <ns0:pt idx="91">
                  <ns0:v>91</ns0:v>
                </ns0:pt>
                <ns0:pt idx="92">
                  <ns0:v>92</ns0:v>
                </ns0:pt>
                <ns0:pt idx="93">
                  <ns0:v>93</ns0:v>
                </ns0:pt>
                <ns0:pt idx="94">
                  <ns0:v>94</ns0:v>
                </ns0:pt>
                <ns0:pt idx="95">
                  <ns0:v>95</ns0:v>
                </ns0:pt>
                <ns0:pt idx="96">
                  <ns0:v>96</ns0:v>
                </ns0:pt>
                <ns0:pt idx="97">
                  <ns0:v>97</ns0:v>
                </ns0:pt>
                <ns0:pt idx="98">
                  <ns0:v>98</ns0:v>
                </ns0:pt>
                <ns0:pt idx="99">
                  <ns0:v>99</ns0:v>
                </ns0:pt>
                <ns0:pt idx="100">
                  <ns0:v>100</ns0:v>
                </ns0:pt>
                <ns0:pt idx="101">
                  <ns0:v>101</ns0:v>
                </ns0:pt>
                <ns0:pt idx="102">
                  <ns0:v>102</ns0:v>
                </ns0:pt>
                <ns0:pt idx="103">
                  <ns0:v>103</ns0:v>
                </ns0:pt>
                <ns0:pt idx="104">
                  <ns0:v>104</ns0:v>
                </ns0:pt>
                <ns0:pt idx="105">
                  <ns0:v>105</ns0:v>
                </ns0:pt>
                <ns0:pt idx="106">
                  <ns0:v>106</ns0:v>
                </ns0:pt>
                <ns0:pt idx="107">
                  <ns0:v>107</ns0:v>
                </ns0:pt>
                <ns0:pt idx="108">
                  <ns0:v>108</ns0:v>
                </ns0:pt>
                <ns0:pt idx="109">
                  <ns0:v>109</ns0:v>
                </ns0:pt>
                <ns0:pt idx="110">
                  <ns0:v>110</ns0:v>
                </ns0:pt>
                <ns0:pt idx="111">
                  <ns0:v>111</ns0:v>
                </ns0:pt>
                <ns0:pt idx="112">
                  <ns0:v>112</ns0:v>
                </ns0:pt>
                <ns0:pt idx="113">
                  <ns0:v>113</ns0:v>
                </ns0:pt>
                <ns0:pt idx="114">
                  <ns0:v>114</ns0:v>
                </ns0:pt>
                <ns0:pt idx="115">
                  <ns0:v>115</ns0:v>
                </ns0:pt>
                <ns0:pt idx="116">
                  <ns0:v>116</ns0:v>
                </ns0:pt>
                <ns0:pt idx="117">
                  <ns0:v>117</ns0:v>
                </ns0:pt>
                <ns0:pt idx="118">
                  <ns0:v>118</ns0:v>
                </ns0:pt>
                <ns0:pt idx="119">
                  <ns0:v>119</ns0:v>
                </ns0:pt>
                <ns0:pt idx="120">
                  <ns0:v>120</ns0:v>
                </ns0:pt>
                <ns0:pt idx="121">
                  <ns0:v>121</ns0:v>
                </ns0:pt>
                <ns0:pt idx="122">
                  <ns0:v>122</ns0:v>
                </ns0:pt>
                <ns0:pt idx="123">
                  <ns0:v>123</ns0:v>
                </ns0:pt>
                <ns0:pt idx="124">
                  <ns0:v>124</ns0:v>
                </ns0:pt>
                <ns0:pt idx="125">
                  <ns0:v>125</ns0:v>
                </ns0:pt>
                <ns0:pt idx="126">
                  <ns0:v>126</ns0:v>
                </ns0:pt>
                <ns0:pt idx="127">
                  <ns0:v>127</ns0:v>
                </ns0:pt>
                <ns0:pt idx="128">
                  <ns0:v>128</ns0:v>
                </ns0:pt>
                <ns0:pt idx="129">
                  <ns0:v>129</ns0:v>
                </ns0:pt>
                <ns0:pt idx="130">
                  <ns0:v>130</ns0:v>
                </ns0:pt>
                <ns0:pt idx="131">
                  <ns0:v>131</ns0:v>
                </ns0:pt>
                <ns0:pt idx="132">
                  <ns0:v>132</ns0:v>
                </ns0:pt>
                <ns0:pt idx="133">
                  <ns0:v>133</ns0:v>
                </ns0:pt>
                <ns0:pt idx="134">
                  <ns0:v>134</ns0:v>
                </ns0:pt>
                <ns0:pt idx="135">
                  <ns0:v>135</ns0:v>
                </ns0:pt>
                <ns0:pt idx="136">
                  <ns0:v>136</ns0:v>
                </ns0:pt>
                <ns0:pt idx="137">
                  <ns0:v>137</ns0:v>
                </ns0:pt>
                <ns0:pt idx="138">
                  <ns0:v>138</ns0:v>
                </ns0:pt>
                <ns0:pt idx="139">
                  <ns0:v>139</ns0:v>
                </ns0:pt>
                <ns0:pt idx="140">
                  <ns0:v>140</ns0:v>
                </ns0:pt>
                <ns0:pt idx="141">
                  <ns0:v>141</ns0:v>
                </ns0:pt>
                <ns0:pt idx="142">
                  <ns0:v>142</ns0:v>
                </ns0:pt>
                <ns0:pt idx="143">
                  <ns0:v>143</ns0:v>
                </ns0:pt>
                <ns0:pt idx="144">
                  <ns0:v>144</ns0:v>
                </ns0:pt>
                <ns0:pt idx="145">
                  <ns0:v>145</ns0:v>
                </ns0:pt>
                <ns0:pt idx="146">
                  <ns0:v>146</ns0:v>
                </ns0:pt>
                <ns0:pt idx="147">
                  <ns0:v>147</ns0:v>
                </ns0:pt>
                <ns0:pt idx="148">
                  <ns0:v>148</ns0:v>
                </ns0:pt>
                <ns0:pt idx="149">
                  <ns0:v>149</ns0:v>
                </ns0:pt>
                <ns0:pt idx="150">
                  <ns0:v>150</ns0:v>
                </ns0:pt>
                <ns0:pt idx="151">
                  <ns0:v>151</ns0:v>
                </ns0:pt>
                <ns0:pt idx="152">
                  <ns0:v>152</ns0:v>
                </ns0:pt>
                <ns0:pt idx="153">
                  <ns0:v>153</ns0:v>
                </ns0:pt>
                <ns0:pt idx="154">
                  <ns0:v>154</ns0:v>
                </ns0:pt>
                <ns0:pt idx="155">
                  <ns0:v>155</ns0:v>
                </ns0:pt>
                <ns0:pt idx="156">
                  <ns0:v>156</ns0:v>
                </ns0:pt>
                <ns0:pt idx="157">
                  <ns0:v>157</ns0:v>
                </ns0:pt>
                <ns0:pt idx="158">
                  <ns0:v>158</ns0:v>
                </ns0:pt>
                <ns0:pt idx="159">
                  <ns0:v>159</ns0:v>
                </ns0:pt>
                <ns0:pt idx="160">
                  <ns0:v>160</ns0:v>
                </ns0:pt>
                <ns0:pt idx="161">
                  <ns0:v>161</ns0:v>
                </ns0:pt>
                <ns0:pt idx="162">
                  <ns0:v>162</ns0:v>
                </ns0:pt>
                <ns0:pt idx="163">
                  <ns0:v>163</ns0:v>
                </ns0:pt>
                <ns0:pt idx="164">
                  <ns0:v>164</ns0:v>
                </ns0:pt>
                <ns0:pt idx="165">
                  <ns0:v>165</ns0:v>
                </ns0:pt>
                <ns0:pt idx="166">
                  <ns0:v>166</ns0:v>
                </ns0:pt>
                <ns0:pt idx="167">
                  <ns0:v>167</ns0:v>
                </ns0:pt>
                <ns0:pt idx="168">
                  <ns0:v>168</ns0:v>
                </ns0:pt>
                <ns0:pt idx="169">
                  <ns0:v>169</ns0:v>
                </ns0:pt>
                <ns0:pt idx="170">
                  <ns0:v>170</ns0:v>
                </ns0:pt>
                <ns0:pt idx="171">
                  <ns0:v>171</ns0:v>
                </ns0:pt>
                <ns0:pt idx="172">
                  <ns0:v>172</ns0:v>
                </ns0:pt>
                <ns0:pt idx="173">
                  <ns0:v>173</ns0:v>
                </ns0:pt>
                <ns0:pt idx="174">
                  <ns0:v>174</ns0:v>
                </ns0:pt>
                <ns0:pt idx="175">
                  <ns0:v>175</ns0:v>
                </ns0:pt>
                <ns0:pt idx="176">
                  <ns0:v>176</ns0:v>
                </ns0:pt>
                <ns0:pt idx="177">
                  <ns0:v>177</ns0:v>
                </ns0:pt>
                <ns0:pt idx="178">
                  <ns0:v>178</ns0:v>
                </ns0:pt>
                <ns0:pt idx="179">
                  <ns0:v>179</ns0:v>
                </ns0:pt>
                <ns0:pt idx="180">
                  <ns0:v>180</ns0:v>
                </ns0:pt>
                <ns0:pt idx="181">
                  <ns0:v>181</ns0:v>
                </ns0:pt>
                <ns0:pt idx="182">
                  <ns0:v>182</ns0:v>
                </ns0:pt>
                <ns0:pt idx="183">
                  <ns0:v>183</ns0:v>
                </ns0:pt>
                <ns0:pt idx="184">
                  <ns0:v>184</ns0:v>
                </ns0:pt>
                <ns0:pt idx="185">
                  <ns0:v>185</ns0:v>
                </ns0:pt>
                <ns0:pt idx="186">
                  <ns0:v>186</ns0:v>
                </ns0:pt>
                <ns0:pt idx="187">
                  <ns0:v>187</ns0:v>
                </ns0:pt>
                <ns0:pt idx="188">
                  <ns0:v>188</ns0:v>
                </ns0:pt>
                <ns0:pt idx="189">
                  <ns0:v>189</ns0:v>
                </ns0:pt>
                <ns0:pt idx="190">
                  <ns0:v>190</ns0:v>
                </ns0:pt>
                <ns0:pt idx="191">
                  <ns0:v>191</ns0:v>
                </ns0:pt>
                <ns0:pt idx="192">
                  <ns0:v>192</ns0:v>
                </ns0:pt>
              </ns0:numCache>
            </ns0:numRef>
          </ns0:xVal>
          <ns0:yVal>
            <ns0:numRef>
              <ns0:f>'Chart Data'!$D$2:$D$194</ns0:f>
              <ns0:numCache>
                <ns0:formatCode>0.0</ns0:formatCode>
                <ns0:ptCount val="193"/>
                <ns0:pt idx="0">
                  <ns0:v>-0.08520137519</ns0:v>
                </ns0:pt>
                <ns0:pt idx="1">
                  <ns0:v>-0.1247077435</ns0:v>
                </ns0:pt>
                <ns0:pt idx="2">
                  <ns0:v>-0.0222999081</ns0:v>
                </ns0:pt>
                <ns0:pt idx="3">
                  <ns0:v>-0.07276368886</ns0:v>
                </ns0:pt>
                <ns0:pt idx="4">
                  <ns0:v>-0.04434437305</ns0:v>
                </ns0:pt>
                <ns0:pt idx="5">
                  <ns0:v>0.09952555597</ns0:v>
                </ns0:pt>
                <ns0:pt idx="6">
                  <ns0:v>0.03582985327</ns0:v>
                </ns0:pt>
                <ns0:pt idx="7">
                  <ns0:v>-0.09711904079</ns0:v>
                </ns0:pt>
                <ns0:pt idx="8">
                  <ns0:v>-0.02556152642</ns0:v>
                </ns0:pt>
                <ns0:pt idx="9">
                  <ns0:v>0.002303993097</ns0:v>
                </ns0:pt>
                <ns0:pt idx="10">
                  <ns0:v>-0.09446562827</ns0:v>
                </ns0:pt>
                <ns0:pt idx="11">
                  <ns0:v>-0.1341625899</ns0:v>
                </ns0:pt>
                <ns0:pt idx="12">
                  <ns0:v>-0.201646328</ns0:v>
                </ns0:pt>
                <ns0:pt idx="13">
                  <ns0:v>-0.2053120434</ns0:v>
                </ns0:pt>
                <ns0:pt idx="14">
                  <ns0:v>-0.1043497771</ns0:v>
                </ns0:pt>
                <ns0:pt idx="15">
                  <ns0:v>0.03125919029</ns0:v>
                </ns0:pt>
                <ns0:pt idx="16">
                  <ns0:v>0.1679803729</ns0:v>
                </ns0:pt>
                <ns0:pt idx="17">
                  <ns0:v>0.06910465658</ns0:v>
                </ns0:pt>
                <ns0:pt idx="18">
                  <ns0:v>0.02957542613</ns0:v>
                </ns0:pt>
                <ns0:pt idx="19">
                  <ns0:v>-0.03366601467</ns0:v>
                </ns0:pt>
                <ns0:pt idx="20">
                  <ns0:v>0.01305370033</ns0:v>
                </ns0:pt>
                <ns0:pt idx="21">
                  <ns0:v>0.01745847426</ns0:v>
                </ns0:pt>
                <ns0:pt idx="22">
                  <ns0:v>0.0854812935</ns0:v>
                </ns0:pt>
                <ns0:pt idx="23">
                  <ns0:v>0.03673909232</ns0:v>
                </ns0:pt>
                <ns0:pt idx="24">
                  <ns0:v>0.1151971966</ns0:v>
                </ns0:pt>
                <ns0:pt idx="25">
                  <ns0:v>0.1354150474</ns0:v>
                </ns0:pt>
                <ns0:pt idx="26">
                  <ns0:v>0.04360698164</ns0:v>
                </ns0:pt>
                <ns0:pt idx="27">
                  <ns0:v>0.01454997808</ns0:v>
                </ns0:pt>
                <ns0:pt idx="28">
                  <ns0:v>0.1120830476</ns0:v>
                </ns0:pt>
                <ns0:pt idx="29">
                  <ns0:v>0.07438304275</ns0:v>
                </ns0:pt>
                <ns0:pt idx="30">
                  <ns0:v>-0.04485046118</ns0:v>
                </ns0:pt>
                <ns0:pt idx="31">
                  <ns0:v>-0.03530360386</ns0:v>
                </ns0:pt>
                <ns0:pt idx="32">
                  <ns0:v>-0.01018532086</ns0:v>
                </ns0:pt>
                <ns0:pt idx="33">
                  <ns0:v>-0.07570812106</ns0:v>
                </ns0:pt>
                <ns0:pt idx="34">
                  <ns0:v>-0.02959955111</ns0:v>
                </ns0:pt>
                <ns0:pt idx="35">
                  <ns0:v>-0.1249338165</ns0:v>
                </ns0:pt>
                <ns0:pt idx="36">
                  <ns0:v>0.02183467709</ns0:v>
                </ns0:pt>
                <ns0:pt idx="37">
                  <ns0:v>0.05963172391</ns0:v>
                </ns0:pt>
                <ns0:pt idx="38">
                  <ns0:v>0.0573091507</ns0:v>
                </ns0:pt>
                <ns0:pt idx="39">
                  <ns0:v>0.1414283663</ns0:v>
                </ns0:pt>
                <ns0:pt idx="40">
                  <ns0:v>-0.1557977647</ns0:v>
                </ns0:pt>
                <ns0:pt idx="41">
                  <ns0:v>-0.2816652656</ns0:v>
                </ns0:pt>
                <ns0:pt idx="42">
                  <ns0:v>0.1796480715</ns0:v>
                </ns0:pt>
                <ns0:pt idx="43">
                  <ns0:v>0.2881880403</ns0:v>
                </ns0:pt>
                <ns0:pt idx="44">
                  <ns0:v>0.2848783135</ns0:v>
                </ns0:pt>
                <ns0:pt idx="45">
                  <ns0:v>-0.09356392175</ns0:v>
                </ns0:pt>
                <ns0:pt idx="46">
                  <ns0:v>-0.3721131682</ns0:v>
                </ns0:pt>
                <ns0:pt idx="47">
                  <ns0:v>-0.1554213762</ns0:v>
                </ns0:pt>
                <ns0:pt idx="48">
                  <ns0:v>0.2307502925</ns0:v>
                </ns0:pt>
                <ns0:pt idx="49">
                  <ns0:v>0.2635680437</ns0:v>
                </ns0:pt>
                <ns0:pt idx="50">
                  <ns0:v>0.04393130541</ns0:v>
                </ns0:pt>
                <ns0:pt idx="51">
                  <ns0:v>-0.2026503235</ns0:v>
                </ns0:pt>
                <ns0:pt idx="52">
                  <ns0:v>-0.1288636029</ns0:v>
                </ns0:pt>
                <ns0:pt idx="53">
                  <ns0:v>0.0630877912</ns0:v>
                </ns0:pt>
                <ns0:pt idx="54">
                  <ns0:v>0.03253692761</ns0:v>
                </ns0:pt>
                <ns0:pt idx="55">
                  <ns0:v>-0.05822746828</ns0:v>
                </ns0:pt>
                <ns0:pt idx="56">
                  <ns0:v>0.002442373428</ns0:v>
                </ns0:pt>
                <ns0:pt idx="57">
                  <ns0:v>0.02103841491</ns0:v>
                </ns0:pt>
                <ns0:pt idx="58">
                  <ns0:v>0.1359705329</ns0:v>
                </ns0:pt>
                <ns0:pt idx="59">
                  <ns0:v>0.1467228532</ns0:v>
                </ns0:pt>
                <ns0:pt idx="60">
                  <ns0:v>-0.03649518639</ns0:v>
                </ns0:pt>
                <ns0:pt idx="61">
                  <ns0:v>-0.3467179537</ns0:v>
                </ns0:pt>
                <ns0:pt idx="62">
                  <ns0:v>-0.1736539751</ns0:v>
                </ns0:pt>
                <ns0:pt idx="63">
                  <ns0:v>0.1571960002</ns0:v>
                </ns0:pt>
                <ns0:pt idx="64">
                  <ns0:v>0.3236611784</ns0:v>
                </ns0:pt>
                <ns0:pt idx="65">
                  <ns0:v>0.2483572513</ns0:v>
                </ns0:pt>
                <ns0:pt idx="66">
                  <ns0:v>-0.2055008858</ns0:v>
                </ns0:pt>
                <ns0:pt idx="67">
                  <ns0:v>-0.3361862898</ns0:v>
                </ns0:pt>
                <ns0:pt idx="68">
                  <ns0:v>-0.06877731532</ns0:v>
                </ns0:pt>
                <ns0:pt idx="69">
                  <ns0:v>0.1452819407</ns0:v>
                </ns0:pt>
                <ns0:pt idx="70">
                  <ns0:v>0.2434362024</ns0:v>
                </ns0:pt>
                <ns0:pt idx="71">
                  <ns0:v>0.2534628212</ns0:v>
                </ns0:pt>
                <ns0:pt idx="72">
                  <ns0:v>-0.1754854321</ns0:v>
                </ns0:pt>
                <ns0:pt idx="73">
                  <ns0:v>-0.5251999497</ns0:v>
                </ns0:pt>
                <ns0:pt idx="74">
                  <ns0:v>-0.1260257512</ns0:v>
                </ns0:pt>
                <ns0:pt idx="75">
                  <ns0:v>0.3851723969</ns0:v>
                </ns0:pt>
                <ns0:pt idx="76">
                  <ns0:v>0.4713695943</ns0:v>
                </ns0:pt>
                <ns0:pt idx="77">
                  <ns0:v>0.01183895208</ns0:v>
                </ns0:pt>
                <ns0:pt idx="78">
                  <ns0:v>-0.4786282182</ns0:v>
                </ns0:pt>
                <ns0:pt idx="79">
                  <ns0:v>-0.3696920276</ns0:v>
                </ns0:pt>
                <ns0:pt idx="80">
                  <ns0:v>-0.001518162549</ns0:v>
                </ns0:pt>
                <ns0:pt idx="81">
                  <ns0:v>0.5657739639</ns0:v>
                </ns0:pt>
                <ns0:pt idx="82">
                  <ns0:v>0.536967814</ns0:v>
                </ns0:pt>
                <ns0:pt idx="83">
                  <ns0:v>-0.09315604717</ns0:v>
                </ns0:pt>
                <ns0:pt idx="84">
                  <ns0:v>-0.4017276764</ns0:v>
                </ns0:pt>
                <ns0:pt idx="85">
                  <ns0:v>-0.3952878416</ns0:v>
                </ns0:pt>
                <ns0:pt idx="86">
                  <ns0:v>0.08390650898</ns0:v>
                </ns0:pt>
                <ns0:pt idx="87">
                  <ns0:v>0.5002328157</ns0:v>
                </ns0:pt>
                <ns0:pt idx="88">
                  <ns0:v>0.3394204378</ns0:v>
                </ns0:pt>
                <ns0:pt idx="89">
                  <ns0:v>-0.388863802</ns0:v>
                </ns0:pt>
                <ns0:pt idx="90">
                  <ns0:v>-0.457107842</ns0:v>
                </ns0:pt>
                <ns0:pt idx="91">
                  <ns0:v>-0.1760834157</ns0:v>
                </ns0:pt>
                <ns0:pt idx="92">
                  <ns0:v>0.3634581268</ns0:v>
                </ns0:pt>
                <ns0:pt idx="93">
                  <ns0:v>0.2945752442</ns0:v>
                </ns0:pt>
                <ns0:pt idx="94">
                  <ns0:v>-0.1327254772</ns0:v>
                </ns0:pt>
                <ns0:pt idx="95">
                  <ns0:v>-0.2878245115</ns0:v>
                </ns0:pt>
                <ns0:pt idx="96">
                  <ns0:v>-0.2775559127</ns0:v>
                </ns0:pt>
                <ns0:pt idx="97">
                  <ns0:v>-0.264390111</ns0:v>
                </ns0:pt>
                <ns0:pt idx="98">
                  <ns0:v>-0.226132974</ns0:v>
                </ns0:pt>
                <ns0:pt idx="99">
                  <ns0:v>-0.3778031766</ns0:v>
                </ns0:pt>
                <ns0:pt idx="100">
                  <ns0:v>-0.4587866664</ns0:v>
                </ns0:pt>
                <ns0:pt idx="101">
                  <ns0:v>-0.4464635253</ns0:v>
                </ns0:pt>
                <ns0:pt idx="102">
                  <ns0:v>-0.4794004858</ns0:v>
                </ns0:pt>
                <ns0:pt idx="103">
                  <ns0:v>-0.4744809866</ns0:v>
                </ns0:pt>
                <ns0:pt idx="104">
                  <ns0:v>-0.4419904649</ns0:v>
                </ns0:pt>
                <ns0:pt idx="105">
                  <ns0:v>-0.4741669893</ns0:v>
                </ns0:pt>
                <ns0:pt idx="106">
                  <ns0:v>-0.3170160949</ns0:v>
                </ns0:pt>
                <ns0:pt idx="107">
                  <ns0:v>-0.3100129664</ns0:v>
                </ns0:pt>
                <ns0:pt idx="108">
                  <ns0:v>-0.2019661367</ns0:v>
                </ns0:pt>
                <ns0:pt idx="109">
                  <ns0:v>-0.04700862244</ns0:v>
                </ns0:pt>
                <ns0:pt idx="110">
                  <ns0:v>0.07691977173</ns0:v>
                </ns0:pt>
                <ns0:pt idx="111">
                  <ns0:v>0.08467077464</ns0:v>
                </ns0:pt>
                <ns0:pt idx="112">
                  <ns0:v>0.2428469509</ns0:v>
                </ns0:pt>
                <ns0:pt idx="113">
                  <ns0:v>0.2200579792</ns0:v>
                </ns0:pt>
                <ns0:pt idx="114">
                  <ns0:v>0.1951851249</ns0:v>
                </ns0:pt>
                <ns0:pt idx="115">
                  <ns0:v>0.2370182276</ns0:v>
                </ns0:pt>
                <ns0:pt idx="116">
                  <ns0:v>0.1501113772</ns0:v>
                </ns0:pt>
                <ns0:pt idx="117">
                  <ns0:v>0.1198987812</ns0:v>
                </ns0:pt>
                <ns0:pt idx="118">
                  <ns0:v>0.06939012557</ns0:v>
                </ns0:pt>
                <ns0:pt idx="119">
                  <ns0:v>-0.03647130355</ns0:v>
                </ns0:pt>
                <ns0:pt idx="120">
                  <ns0:v>-0.05119524151</ns0:v>
                </ns0:pt>
                <ns0:pt idx="121">
                  <ns0:v>0.2502057552</ns0:v>
                </ns0:pt>
                <ns0:pt idx="122">
                  <ns0:v>0.2087738365</ns0:v>
                </ns0:pt>
                <ns0:pt idx="123">
                  <ns0:v>0.2208508253</ns0:v>
                </ns0:pt>
                <ns0:pt idx="124">
                  <ns0:v>0.1325901151</ns0:v>
                </ns0:pt>
                <ns0:pt idx="125">
                  <ns0:v>0.094852373</ns0:v>
                </ns0:pt>
                <ns0:pt idx="126">
                  <ns0:v>-0.02173575386</ns0:v>
                </ns0:pt>
                <ns0:pt idx="127">
                  <ns0:v>-0.1012277231</ns0:v>
                </ns0:pt>
                <ns0:pt idx="128">
                  <ns0:v>-0.06173502654</ns0:v>
                </ns0:pt>
                <ns0:pt idx="129">
                  <ns0:v>-0.08297950029</ns0:v>
                </ns0:pt>
                <ns0:pt idx="130">
                  <ns0:v>-0.2603130937</ns0:v>
                </ns0:pt>
                <ns0:pt idx="131">
                  <ns0:v>-0.3395726383</ns0:v>
                </ns0:pt>
                <ns0:pt idx="132">
                  <ns0:v>-0.4188570082</ns0:v>
                </ns0:pt>
                <ns0:pt idx="133">
                  <ns0:v>-0.5477339625</ns0:v>
                </ns0:pt>
                <ns0:pt idx="134">
                  <ns0:v>-0.5677071214</ns0:v>
                </ns0:pt>
                <ns0:pt idx="135">
                  <ns0:v>-0.6129928827</ns0:v>
                </ns0:pt>
                <ns0:pt idx="136">
                  <ns0:v>-0.7206472158</ns0:v>
                </ns0:pt>
                <ns0:pt idx="137">
                  <ns0:v>-0.6286261678</ns0:v>
                </ns0:pt>
                <ns0:pt idx="138">
                  <ns0:v>-0.6329413056</ns0:v>
                </ns0:pt>
                <ns0:pt idx="139">
                  <ns0:v>-0.406657517</ns0:v>
                </ns0:pt>
                <ns0:pt idx="140">
                  <ns0:v>-0.3548855186</ns0:v>
                </ns0:pt>
                <ns0:pt idx="141">
                  <ns0:v>-0.3288748264</ns0:v>
                </ns0:pt>
                <ns0:pt idx="142">
                  <ns0:v>-0.1582467556</ns0:v>
                </ns0:pt>
                <ns0:pt idx="143">
                  <ns0:v>0.06929805875</ns0:v>
                </ns0:pt>
                <ns0:pt idx="144">
                  <ns0:v>0.1639123559</ns0:v>
                </ns0:pt>
                <ns0:pt idx="145">
                  <ns0:v>0.1744304895</ns0:v>
                </ns0:pt>
                <ns0:pt idx="146">
                  <ns0:v>0.2093793899</ns0:v>
                </ns0:pt>
                <ns0:pt idx="147">
                  <ns0:v>0.2538315654</ns0:v>
                </ns0:pt>
                <ns0:pt idx="148">
                  <ns0:v>0.1349053681</ns0:v>
                </ns0:pt>
                <ns0:pt idx="149">
                  <ns0:v>0.1499887407</ns0:v>
                </ns0:pt>
                <ns0:pt idx="150">
                  <ns0:v>0.2877759635</ns0:v>
                </ns0:pt>
                <ns0:pt idx="151">
                  <ns0:v>0.2129578441</ns0:v>
                </ns0:pt>
                <ns0:pt idx="152">
                  <ns0:v>0.03796477988</ns0:v>
                </ns0:pt>
                <ns0:pt idx="153">
                  <ns0:v>0.03825611994</ns0:v>
                </ns0:pt>
                <ns0:pt idx="154">
                  <ns0:v>0.07073123753</ns0:v>
                </ns0:pt>
                <ns0:pt idx="155">
                  <ns0:v>0.08905627578</ns0:v>
                </ns0:pt>
                <ns0:pt idx="156">
                  <ns0:v>0.1525648981</ns0:v>
                </ns0:pt>
                <ns0:pt idx="157">
                  <ns0:v>0.08179707825</ns0:v>
                </ns0:pt>
                <ns0:pt idx="158">
                  <ns0:v>-0.003898836439</ns0:v>
                </ns0:pt>
                <ns0:pt idx="159">
                  <ns0:v>-0.1021388471</ns0:v>
                </ns0:pt>
                <ns0:pt idx="160">
                  <ns0:v>-0.001804649364</ns0:v>
                </ns0:pt>
                <ns0:pt idx="161">
                  <ns0:v>0.08432649821</ns0:v>
                </ns0:pt>
                <ns0:pt idx="162">
                  <ns0:v>0.01656892896</ns0:v>
                </ns0:pt>
                <ns0:pt idx="163">
                  <ns0:v>0.09812441468</ns0:v>
                </ns0:pt>
                <ns0:pt idx="164">
                  <ns0:v>-0.08672842383</ns0:v>
                </ns0:pt>
                <ns0:pt idx="165">
                  <ns0:v>-0.2455898374</ns0:v>
                </ns0:pt>
                <ns0:pt idx="166">
                  <ns0:v>-0.2023797035</ns0:v>
                </ns0:pt>
                <ns0:pt idx="167">
                  <ns0:v>0.0551555194</ns0:v>
                </ns0:pt>
                <ns0:pt idx="168">
                  <ns0:v>-0.06503837556</ns0:v>
                </ns0:pt>
                <ns0:pt idx="169">
                  <ns0:v>-0.008309248835</ns0:v>
                </ns0:pt>
                <ns0:pt idx="170">
                  <ns0:v>-0.09318899363</ns0:v>
                </ns0:pt>
                <ns0:pt idx="171">
                  <ns0:v>-0.1723838001</ns0:v>
                </ns0:pt>
                <ns0:pt idx="172">
                  <ns0:v>-0.2963702679</ns0:v>
                </ns0:pt>
                <ns0:pt idx="173">
                  <ns0:v>-0.3119825721</ns0:v>
                </ns0:pt>
                <ns0:pt idx="174">
                  <ns0:v>-0.2740239799</ns0:v>
                </ns0:pt>
                <ns0:pt idx="175">
                  <ns0:v>-0.2880313098</ns0:v>
                </ns0:pt>
                <ns0:pt idx="176">
                  <ns0:v>-0.3258508742</ns0:v>
                </ns0:pt>
                <ns0:pt idx="177">
                  <ns0:v>-0.2350776345</ns0:v>
                </ns0:pt>
                <ns0:pt idx="178">
                  <ns0:v>0.1491124779</ns0:v>
                </ns0:pt>
                <ns0:pt idx="179">
                  <ns0:v>0.09802209586</ns0:v>
                </ns0:pt>
                <ns0:pt idx="180">
                  <ns0:v>0.1256845593</ns0:v>
                </ns0:pt>
                <ns0:pt idx="181">
                  <ns0:v>0.1593318135</ns0:v>
                </ns0:pt>
                <ns0:pt idx="182">
                  <ns0:v>0.1415642202</ns0:v>
                </ns0:pt>
                <ns0:pt idx="183">
                  <ns0:v>0.2131879628</ns0:v>
                </ns0:pt>
                <ns0:pt idx="184">
                  <ns0:v>0.2106514126</ns0:v>
                </ns0:pt>
                <ns0:pt idx="185">
                  <ns0:v>0.214116171</ns0:v>
                </ns0:pt>
                <ns0:pt idx="186">
                  <ns0:v>0.05484288186</ns0:v>
                </ns0:pt>
                <ns0:pt idx="187">
                  <ns0:v>0.08761488646</ns0:v>
                </ns0:pt>
                <ns0:pt idx="188">
                  <ns0:v>0.08216306567</ns0:v>
                </ns0:pt>
                <ns0:pt idx="189">
                  <ns0:v>0.05930934846</ns0:v>
                </ns0:pt>
                <ns0:pt idx="190">
                  <ns0:v>0.0255322326</ns0:v>
                </ns0:pt>
                <ns0:pt idx="191">
                  <ns0:v>-0.192196086</ns0:v>
                </ns0:pt>
                <ns0:pt idx="192">
                  <ns0:v>-0.107951656</ns0:v>
                </ns0:pt>
              </ns0:numCache>
            </ns0:numRef>
          </ns0:yVal>
        </ns0:ser>
        <ns0:ser>
          <ns0:idx val="2"/>
          <ns0:order val="2"/>
          <ns0:tx>
            <ns0:v>State 3</ns0:v>
          </ns0:tx>
          <ns0:spPr>
            <ns1:ln w="19050">
              <ns1:solidFill>
                <ns1:srgbClr val="B67818"/>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Data'!$E$2:$E$194</ns0:f>
              <ns0:numCache>
                <ns0:formatCode>General</ns0:formatCode>
                <ns0:ptCount val="193"/>
                <ns0:pt idx="0">
                  <ns0:v>0</ns0:v>
                </ns0:pt>
                <ns0:pt idx="1">
                  <ns0:v>1</ns0:v>
                </ns0:pt>
                <ns0:pt idx="2">
                  <ns0:v>2</ns0:v>
                </ns0:pt>
                <ns0:pt idx="3">
                  <ns0:v>3</ns0:v>
                </ns0:pt>
                <ns0:pt idx="4">
                  <ns0:v>4</ns0:v>
                </ns0:pt>
                <ns0:pt idx="5">
                  <ns0:v>5</ns0:v>
                </ns0:pt>
                <ns0:pt idx="6">
                  <ns0:v>6</ns0:v>
                </ns0:pt>
                <ns0:pt idx="7">
                  <ns0:v>7</ns0:v>
                </ns0:pt>
                <ns0:pt idx="8">
                  <ns0:v>8</ns0:v>
                </ns0:pt>
                <ns0:pt idx="9">
                  <ns0:v>9</ns0:v>
                </ns0:pt>
                <ns0:pt idx="10">
                  <ns0:v>10</ns0:v>
                </ns0:pt>
                <ns0:pt idx="11">
                  <ns0:v>11</ns0:v>
                </ns0:pt>
                <ns0:pt idx="12">
                  <ns0:v>12</ns0:v>
                </ns0:pt>
                <ns0:pt idx="13">
                  <ns0:v>13</ns0:v>
                </ns0:pt>
                <ns0:pt idx="14">
                  <ns0:v>14</ns0:v>
                </ns0:pt>
                <ns0:pt idx="15">
                  <ns0:v>15</ns0:v>
                </ns0:pt>
                <ns0:pt idx="16">
                  <ns0:v>16</ns0:v>
                </ns0:pt>
                <ns0:pt idx="17">
                  <ns0:v>17</ns0:v>
                </ns0:pt>
                <ns0:pt idx="18">
                  <ns0:v>18</ns0:v>
                </ns0:pt>
                <ns0:pt idx="19">
                  <ns0:v>19</ns0:v>
                </ns0:pt>
                <ns0:pt idx="20">
                  <ns0:v>20</ns0:v>
                </ns0:pt>
                <ns0:pt idx="21">
                  <ns0:v>21</ns0:v>
                </ns0:pt>
                <ns0:pt idx="22">
                  <ns0:v>22</ns0:v>
                </ns0:pt>
                <ns0:pt idx="23">
                  <ns0:v>23</ns0:v>
                </ns0:pt>
                <ns0:pt idx="24">
                  <ns0:v>24</ns0:v>
                </ns0:pt>
                <ns0:pt idx="25">
                  <ns0:v>25</ns0:v>
                </ns0:pt>
                <ns0:pt idx="26">
                  <ns0:v>26</ns0:v>
                </ns0:pt>
                <ns0:pt idx="27">
                  <ns0:v>27</ns0:v>
                </ns0:pt>
                <ns0:pt idx="28">
                  <ns0:v>28</ns0:v>
                </ns0:pt>
                <ns0:pt idx="29">
                  <ns0:v>29</ns0:v>
                </ns0:pt>
                <ns0:pt idx="30">
                  <ns0:v>30</ns0:v>
                </ns0:pt>
                <ns0:pt idx="31">
                  <ns0:v>31</ns0:v>
                </ns0:pt>
                <ns0:pt idx="32">
                  <ns0:v>32</ns0:v>
                </ns0:pt>
                <ns0:pt idx="33">
                  <ns0:v>33</ns0:v>
                </ns0:pt>
                <ns0:pt idx="34">
                  <ns0:v>34</ns0:v>
                </ns0:pt>
                <ns0:pt idx="35">
                  <ns0:v>35</ns0:v>
                </ns0:pt>
                <ns0:pt idx="36">
                  <ns0:v>36</ns0:v>
                </ns0:pt>
                <ns0:pt idx="37">
                  <ns0:v>37</ns0:v>
                </ns0:pt>
                <ns0:pt idx="38">
                  <ns0:v>38</ns0:v>
                </ns0:pt>
                <ns0:pt idx="39">
                  <ns0:v>39</ns0:v>
                </ns0:pt>
                <ns0:pt idx="40">
                  <ns0:v>40</ns0:v>
                </ns0:pt>
                <ns0:pt idx="41">
                  <ns0:v>41</ns0:v>
                </ns0:pt>
                <ns0:pt idx="42">
                  <ns0:v>42</ns0:v>
                </ns0:pt>
                <ns0:pt idx="43">
                  <ns0:v>43</ns0:v>
                </ns0:pt>
                <ns0:pt idx="44">
                  <ns0:v>44</ns0:v>
                </ns0:pt>
                <ns0:pt idx="45">
                  <ns0:v>45</ns0:v>
                </ns0:pt>
                <ns0:pt idx="46">
                  <ns0:v>46</ns0:v>
                </ns0:pt>
                <ns0:pt idx="47">
                  <ns0:v>47</ns0:v>
                </ns0:pt>
                <ns0:pt idx="48">
                  <ns0:v>48</ns0:v>
                </ns0:pt>
                <ns0:pt idx="49">
                  <ns0:v>49</ns0:v>
                </ns0:pt>
                <ns0:pt idx="50">
                  <ns0:v>50</ns0:v>
                </ns0:pt>
                <ns0:pt idx="51">
                  <ns0:v>51</ns0:v>
                </ns0:pt>
                <ns0:pt idx="52">
                  <ns0:v>52</ns0:v>
                </ns0:pt>
                <ns0:pt idx="53">
                  <ns0:v>53</ns0:v>
                </ns0:pt>
                <ns0:pt idx="54">
                  <ns0:v>54</ns0:v>
                </ns0:pt>
                <ns0:pt idx="55">
                  <ns0:v>55</ns0:v>
                </ns0:pt>
                <ns0:pt idx="56">
                  <ns0:v>56</ns0:v>
                </ns0:pt>
                <ns0:pt idx="57">
                  <ns0:v>57</ns0:v>
                </ns0:pt>
                <ns0:pt idx="58">
                  <ns0:v>58</ns0:v>
                </ns0:pt>
                <ns0:pt idx="59">
                  <ns0:v>59</ns0:v>
                </ns0:pt>
                <ns0:pt idx="60">
                  <ns0:v>60</ns0:v>
                </ns0:pt>
                <ns0:pt idx="61">
                  <ns0:v>61</ns0:v>
                </ns0:pt>
                <ns0:pt idx="62">
                  <ns0:v>62</ns0:v>
                </ns0:pt>
                <ns0:pt idx="63">
                  <ns0:v>63</ns0:v>
                </ns0:pt>
                <ns0:pt idx="64">
                  <ns0:v>64</ns0:v>
                </ns0:pt>
                <ns0:pt idx="65">
                  <ns0:v>65</ns0:v>
                </ns0:pt>
                <ns0:pt idx="66">
                  <ns0:v>66</ns0:v>
                </ns0:pt>
                <ns0:pt idx="67">
                  <ns0:v>67</ns0:v>
                </ns0:pt>
                <ns0:pt idx="68">
                  <ns0:v>68</ns0:v>
                </ns0:pt>
                <ns0:pt idx="69">
                  <ns0:v>69</ns0:v>
                </ns0:pt>
                <ns0:pt idx="70">
                  <ns0:v>70</ns0:v>
                </ns0:pt>
                <ns0:pt idx="71">
                  <ns0:v>71</ns0:v>
                </ns0:pt>
                <ns0:pt idx="72">
                  <ns0:v>72</ns0:v>
                </ns0:pt>
                <ns0:pt idx="73">
                  <ns0:v>73</ns0:v>
                </ns0:pt>
                <ns0:pt idx="74">
                  <ns0:v>74</ns0:v>
                </ns0:pt>
                <ns0:pt idx="75">
                  <ns0:v>75</ns0:v>
                </ns0:pt>
                <ns0:pt idx="76">
                  <ns0:v>76</ns0:v>
                </ns0:pt>
                <ns0:pt idx="77">
                  <ns0:v>77</ns0:v>
                </ns0:pt>
                <ns0:pt idx="78">
                  <ns0:v>78</ns0:v>
                </ns0:pt>
                <ns0:pt idx="79">
                  <ns0:v>79</ns0:v>
                </ns0:pt>
                <ns0:pt idx="80">
                  <ns0:v>80</ns0:v>
                </ns0:pt>
                <ns0:pt idx="81">
                  <ns0:v>81</ns0:v>
                </ns0:pt>
                <ns0:pt idx="82">
                  <ns0:v>82</ns0:v>
                </ns0:pt>
                <ns0:pt idx="83">
                  <ns0:v>83</ns0:v>
                </ns0:pt>
                <ns0:pt idx="84">
                  <ns0:v>84</ns0:v>
                </ns0:pt>
                <ns0:pt idx="85">
                  <ns0:v>85</ns0:v>
                </ns0:pt>
                <ns0:pt idx="86">
                  <ns0:v>86</ns0:v>
                </ns0:pt>
                <ns0:pt idx="87">
                  <ns0:v>87</ns0:v>
                </ns0:pt>
                <ns0:pt idx="88">
                  <ns0:v>88</ns0:v>
                </ns0:pt>
                <ns0:pt idx="89">
                  <ns0:v>89</ns0:v>
                </ns0:pt>
                <ns0:pt idx="90">
                  <ns0:v>90</ns0:v>
                </ns0:pt>
                <ns0:pt idx="91">
                  <ns0:v>91</ns0:v>
                </ns0:pt>
                <ns0:pt idx="92">
                  <ns0:v>92</ns0:v>
                </ns0:pt>
                <ns0:pt idx="93">
                  <ns0:v>93</ns0:v>
                </ns0:pt>
                <ns0:pt idx="94">
                  <ns0:v>94</ns0:v>
                </ns0:pt>
                <ns0:pt idx="95">
                  <ns0:v>95</ns0:v>
                </ns0:pt>
                <ns0:pt idx="96">
                  <ns0:v>96</ns0:v>
                </ns0:pt>
                <ns0:pt idx="97">
                  <ns0:v>97</ns0:v>
                </ns0:pt>
                <ns0:pt idx="98">
                  <ns0:v>98</ns0:v>
                </ns0:pt>
                <ns0:pt idx="99">
                  <ns0:v>99</ns0:v>
                </ns0:pt>
                <ns0:pt idx="100">
                  <ns0:v>100</ns0:v>
                </ns0:pt>
                <ns0:pt idx="101">
                  <ns0:v>101</ns0:v>
                </ns0:pt>
                <ns0:pt idx="102">
                  <ns0:v>102</ns0:v>
                </ns0:pt>
                <ns0:pt idx="103">
                  <ns0:v>103</ns0:v>
                </ns0:pt>
                <ns0:pt idx="104">
                  <ns0:v>104</ns0:v>
                </ns0:pt>
                <ns0:pt idx="105">
                  <ns0:v>105</ns0:v>
                </ns0:pt>
                <ns0:pt idx="106">
                  <ns0:v>106</ns0:v>
                </ns0:pt>
                <ns0:pt idx="107">
                  <ns0:v>107</ns0:v>
                </ns0:pt>
                <ns0:pt idx="108">
                  <ns0:v>108</ns0:v>
                </ns0:pt>
                <ns0:pt idx="109">
                  <ns0:v>109</ns0:v>
                </ns0:pt>
                <ns0:pt idx="110">
                  <ns0:v>110</ns0:v>
                </ns0:pt>
                <ns0:pt idx="111">
                  <ns0:v>111</ns0:v>
                </ns0:pt>
                <ns0:pt idx="112">
                  <ns0:v>112</ns0:v>
                </ns0:pt>
                <ns0:pt idx="113">
                  <ns0:v>113</ns0:v>
                </ns0:pt>
                <ns0:pt idx="114">
                  <ns0:v>114</ns0:v>
                </ns0:pt>
                <ns0:pt idx="115">
                  <ns0:v>115</ns0:v>
                </ns0:pt>
                <ns0:pt idx="116">
                  <ns0:v>116</ns0:v>
                </ns0:pt>
                <ns0:pt idx="117">
                  <ns0:v>117</ns0:v>
                </ns0:pt>
                <ns0:pt idx="118">
                  <ns0:v>118</ns0:v>
                </ns0:pt>
                <ns0:pt idx="119">
                  <ns0:v>119</ns0:v>
                </ns0:pt>
                <ns0:pt idx="120">
                  <ns0:v>120</ns0:v>
                </ns0:pt>
                <ns0:pt idx="121">
                  <ns0:v>121</ns0:v>
                </ns0:pt>
                <ns0:pt idx="122">
                  <ns0:v>122</ns0:v>
                </ns0:pt>
                <ns0:pt idx="123">
                  <ns0:v>123</ns0:v>
                </ns0:pt>
                <ns0:pt idx="124">
                  <ns0:v>124</ns0:v>
                </ns0:pt>
                <ns0:pt idx="125">
                  <ns0:v>125</ns0:v>
                </ns0:pt>
                <ns0:pt idx="126">
                  <ns0:v>126</ns0:v>
                </ns0:pt>
                <ns0:pt idx="127">
                  <ns0:v>127</ns0:v>
                </ns0:pt>
                <ns0:pt idx="128">
                  <ns0:v>128</ns0:v>
                </ns0:pt>
                <ns0:pt idx="129">
                  <ns0:v>129</ns0:v>
                </ns0:pt>
                <ns0:pt idx="130">
                  <ns0:v>130</ns0:v>
                </ns0:pt>
                <ns0:pt idx="131">
                  <ns0:v>131</ns0:v>
                </ns0:pt>
                <ns0:pt idx="132">
                  <ns0:v>132</ns0:v>
                </ns0:pt>
                <ns0:pt idx="133">
                  <ns0:v>133</ns0:v>
                </ns0:pt>
                <ns0:pt idx="134">
                  <ns0:v>134</ns0:v>
                </ns0:pt>
                <ns0:pt idx="135">
                  <ns0:v>135</ns0:v>
                </ns0:pt>
                <ns0:pt idx="136">
                  <ns0:v>136</ns0:v>
                </ns0:pt>
                <ns0:pt idx="137">
                  <ns0:v>137</ns0:v>
                </ns0:pt>
                <ns0:pt idx="138">
                  <ns0:v>138</ns0:v>
                </ns0:pt>
                <ns0:pt idx="139">
                  <ns0:v>139</ns0:v>
                </ns0:pt>
                <ns0:pt idx="140">
                  <ns0:v>140</ns0:v>
                </ns0:pt>
                <ns0:pt idx="141">
                  <ns0:v>141</ns0:v>
                </ns0:pt>
                <ns0:pt idx="142">
                  <ns0:v>142</ns0:v>
                </ns0:pt>
                <ns0:pt idx="143">
                  <ns0:v>143</ns0:v>
                </ns0:pt>
                <ns0:pt idx="144">
                  <ns0:v>144</ns0:v>
                </ns0:pt>
                <ns0:pt idx="145">
                  <ns0:v>145</ns0:v>
                </ns0:pt>
                <ns0:pt idx="146">
                  <ns0:v>146</ns0:v>
                </ns0:pt>
                <ns0:pt idx="147">
                  <ns0:v>147</ns0:v>
                </ns0:pt>
                <ns0:pt idx="148">
                  <ns0:v>148</ns0:v>
                </ns0:pt>
                <ns0:pt idx="149">
                  <ns0:v>149</ns0:v>
                </ns0:pt>
                <ns0:pt idx="150">
                  <ns0:v>150</ns0:v>
                </ns0:pt>
                <ns0:pt idx="151">
                  <ns0:v>151</ns0:v>
                </ns0:pt>
                <ns0:pt idx="152">
                  <ns0:v>152</ns0:v>
                </ns0:pt>
                <ns0:pt idx="153">
                  <ns0:v>153</ns0:v>
                </ns0:pt>
                <ns0:pt idx="154">
                  <ns0:v>154</ns0:v>
                </ns0:pt>
                <ns0:pt idx="155">
                  <ns0:v>155</ns0:v>
                </ns0:pt>
                <ns0:pt idx="156">
                  <ns0:v>156</ns0:v>
                </ns0:pt>
                <ns0:pt idx="157">
                  <ns0:v>157</ns0:v>
                </ns0:pt>
                <ns0:pt idx="158">
                  <ns0:v>158</ns0:v>
                </ns0:pt>
                <ns0:pt idx="159">
                  <ns0:v>159</ns0:v>
                </ns0:pt>
                <ns0:pt idx="160">
                  <ns0:v>160</ns0:v>
                </ns0:pt>
                <ns0:pt idx="161">
                  <ns0:v>161</ns0:v>
                </ns0:pt>
                <ns0:pt idx="162">
                  <ns0:v>162</ns0:v>
                </ns0:pt>
                <ns0:pt idx="163">
                  <ns0:v>163</ns0:v>
                </ns0:pt>
                <ns0:pt idx="164">
                  <ns0:v>164</ns0:v>
                </ns0:pt>
                <ns0:pt idx="165">
                  <ns0:v>165</ns0:v>
                </ns0:pt>
                <ns0:pt idx="166">
                  <ns0:v>166</ns0:v>
                </ns0:pt>
                <ns0:pt idx="167">
                  <ns0:v>167</ns0:v>
                </ns0:pt>
                <ns0:pt idx="168">
                  <ns0:v>168</ns0:v>
                </ns0:pt>
                <ns0:pt idx="169">
                  <ns0:v>169</ns0:v>
                </ns0:pt>
                <ns0:pt idx="170">
                  <ns0:v>170</ns0:v>
                </ns0:pt>
                <ns0:pt idx="171">
                  <ns0:v>171</ns0:v>
                </ns0:pt>
                <ns0:pt idx="172">
                  <ns0:v>172</ns0:v>
                </ns0:pt>
                <ns0:pt idx="173">
                  <ns0:v>173</ns0:v>
                </ns0:pt>
                <ns0:pt idx="174">
                  <ns0:v>174</ns0:v>
                </ns0:pt>
                <ns0:pt idx="175">
                  <ns0:v>175</ns0:v>
                </ns0:pt>
                <ns0:pt idx="176">
                  <ns0:v>176</ns0:v>
                </ns0:pt>
                <ns0:pt idx="177">
                  <ns0:v>177</ns0:v>
                </ns0:pt>
                <ns0:pt idx="178">
                  <ns0:v>178</ns0:v>
                </ns0:pt>
                <ns0:pt idx="179">
                  <ns0:v>179</ns0:v>
                </ns0:pt>
                <ns0:pt idx="180">
                  <ns0:v>180</ns0:v>
                </ns0:pt>
                <ns0:pt idx="181">
                  <ns0:v>181</ns0:v>
                </ns0:pt>
                <ns0:pt idx="182">
                  <ns0:v>182</ns0:v>
                </ns0:pt>
                <ns0:pt idx="183">
                  <ns0:v>183</ns0:v>
                </ns0:pt>
                <ns0:pt idx="184">
                  <ns0:v>184</ns0:v>
                </ns0:pt>
                <ns0:pt idx="185">
                  <ns0:v>185</ns0:v>
                </ns0:pt>
                <ns0:pt idx="186">
                  <ns0:v>186</ns0:v>
                </ns0:pt>
                <ns0:pt idx="187">
                  <ns0:v>187</ns0:v>
                </ns0:pt>
                <ns0:pt idx="188">
                  <ns0:v>188</ns0:v>
                </ns0:pt>
                <ns0:pt idx="189">
                  <ns0:v>189</ns0:v>
                </ns0:pt>
                <ns0:pt idx="190">
                  <ns0:v>190</ns0:v>
                </ns0:pt>
                <ns0:pt idx="191">
                  <ns0:v>191</ns0:v>
                </ns0:pt>
                <ns0:pt idx="192">
                  <ns0:v>192</ns0:v>
                </ns0:pt>
              </ns0:numCache>
            </ns0:numRef>
          </ns0:xVal>
          <ns0:yVal>
            <ns0:numRef>
              <ns0:f>'Chart Data'!$F$2:$F$194</ns0:f>
              <ns0:numCache>
                <ns0:formatCode>0.0</ns0:formatCode>
                <ns0:ptCount val="193"/>
                <ns0:pt idx="0">
                  <ns0:v>-0.3591634035</ns0:v>
                </ns0:pt>
                <ns0:pt idx="1">
                  <ns0:v>-0.3095937669</ns0:v>
                </ns0:pt>
                <ns0:pt idx="2">
                  <ns0:v>-0.1505372524</ns0:v>
                </ns0:pt>
                <ns0:pt idx="3">
                  <ns0:v>-0.07167021185</ns0:v>
                </ns0:pt>
                <ns0:pt idx="4">
                  <ns0:v>-0.007331279572</ns0:v>
                </ns0:pt>
                <ns0:pt idx="5">
                  <ns0:v>0.09065941721</ns0:v>
                </ns0:pt>
                <ns0:pt idx="6">
                  <ns0:v>0.01848022267</ns0:v>
                </ns0:pt>
                <ns0:pt idx="7">
                  <ns0:v>0.0359618552</ns0:v>
                </ns0:pt>
                <ns0:pt idx="8">
                  <ns0:v>0.07407787442</ns0:v>
                </ns0:pt>
                <ns0:pt idx="9">
                  <ns0:v>0.1507982314</ns0:v>
                </ns0:pt>
                <ns0:pt idx="10">
                  <ns0:v>0.00933771953</ns0:v>
                </ns0:pt>
                <ns0:pt idx="11">
                  <ns0:v>-0.0848454535</ns0:v>
                </ns0:pt>
                <ns0:pt idx="12">
                  <ns0:v>-0.1685260385</ns0:v>
                </ns0:pt>
                <ns0:pt idx="13">
                  <ns0:v>-0.2320931256</ns0:v>
                </ns0:pt>
                <ns0:pt idx="14">
                  <ns0:v>-0.1684595942</ns0:v>
                </ns0:pt>
                <ns0:pt idx="15">
                  <ns0:v>-0.1200628653</ns0:v>
                </ns0:pt>
                <ns0:pt idx="16">
                  <ns0:v>-0.1969195604</ns0:v>
                </ns0:pt>
                <ns0:pt idx="17">
                  <ns0:v>-0.1083661839</ns0:v>
                </ns0:pt>
                <ns0:pt idx="18">
                  <ns0:v>0.03425155208</ns0:v>
                </ns0:pt>
                <ns0:pt idx="19">
                  <ns0:v>0.1223720387</ns0:v>
                </ns0:pt>
                <ns0:pt idx="20">
                  <ns0:v>0.0869744122</ns0:v>
                </ns0:pt>
                <ns0:pt idx="21">
                  <ns0:v>0.1105220392</ns0:v>
                </ns0:pt>
                <ns0:pt idx="22">
                  <ns0:v>0.04050036892</ns0:v>
                </ns0:pt>
                <ns0:pt idx="23">
                  <ns0:v>-0.07450252771</ns0:v>
                </ns0:pt>
                <ns0:pt idx="24">
                  <ns0:v>-0.1820754707</ns0:v>
                </ns0:pt>
                <ns0:pt idx="25">
                  <ns0:v>-0.1474383473</ns0:v>
                </ns0:pt>
                <ns0:pt idx="26">
                  <ns0:v>-0.1279766411</ns0:v>
                </ns0:pt>
                <ns0:pt idx="27">
                  <ns0:v>-0.009926587343</ns0:v>
                </ns0:pt>
                <ns0:pt idx="28">
                  <ns0:v>-0.006245333236</ns0:v>
                </ns0:pt>
                <ns0:pt idx="29">
                  <ns0:v>0.01837412454</ns0:v>
                </ns0:pt>
                <ns0:pt idx="30">
                  <ns0:v>0.07065096498</ns0:v>
                </ns0:pt>
                <ns0:pt idx="31">
                  <ns0:v>0.09603907168</ns0:v>
                </ns0:pt>
                <ns0:pt idx="32">
                  <ns0:v>0.1120486408</ns0:v>
                </ns0:pt>
                <ns0:pt idx="33">
                  <ns0:v>0.03413921967</ns0:v>
                </ns0:pt>
                <ns0:pt idx="34">
                  <ns0:v>-0.1129432619</ns0:v>
                </ns0:pt>
                <ns0:pt idx="35">
                  <ns0:v>-0.2122170627</ns0:v>
                </ns0:pt>
                <ns0:pt idx="36">
                  <ns0:v>-0.1291425675</ns0:v>
                </ns0:pt>
                <ns0:pt idx="37">
                  <ns0:v>0.02904850058</ns0:v>
                </ns0:pt>
                <ns0:pt idx="38">
                  <ns0:v>-0.003404536517</ns0:v>
                </ns0:pt>
                <ns0:pt idx="39">
                  <ns0:v>0.0571635589</ns0:v>
                </ns0:pt>
                <ns0:pt idx="40">
                  <ns0:v>0.09330593795</ns0:v>
                </ns0:pt>
                <ns0:pt idx="41">
                  <ns0:v>-0.01185661741</ns0:v>
                </ns0:pt>
                <ns0:pt idx="42">
                  <ns0:v>-0.2008275539</ns0:v>
                </ns0:pt>
                <ns0:pt idx="43">
                  <ns0:v>-0.171691224</ns0:v>
                </ns0:pt>
                <ns0:pt idx="44">
                  <ns0:v>0.03262432665</ns0:v>
                </ns0:pt>
                <ns0:pt idx="45">
                  <ns0:v>0.1952722073</ns0:v>
                </ns0:pt>
                <ns0:pt idx="46">
                  <ns0:v>0.2197281122</ns0:v>
                </ns0:pt>
                <ns0:pt idx="47">
                  <ns0:v>0.2267286479</ns0:v>
                </ns0:pt>
                <ns0:pt idx="48">
                  <ns0:v>0.03440530598</ns0:v>
                </ns0:pt>
                <ns0:pt idx="49">
                  <ns0:v>0.08380141109</ns0:v>
                </ns0:pt>
                <ns0:pt idx="50">
                  <ns0:v>0.08695240319</ns0:v>
                </ns0:pt>
                <ns0:pt idx="51">
                  <ns0:v>0.05160570145</ns0:v>
                </ns0:pt>
                <ns0:pt idx="52">
                  <ns0:v>0.04250758141</ns0:v>
                </ns0:pt>
                <ns0:pt idx="53">
                  <ns0:v>0.06384751201</ns0:v>
                </ns0:pt>
                <ns0:pt idx="54">
                  <ns0:v>0.05795161054</ns0:v>
                </ns0:pt>
                <ns0:pt idx="55">
                  <ns0:v>-0.1527162194</ns0:v>
                </ns0:pt>
                <ns0:pt idx="56">
                  <ns0:v>-0.1345964819</ns0:v>
                </ns0:pt>
                <ns0:pt idx="57">
                  <ns0:v>-0.1365184933</ns0:v>
                </ns0:pt>
                <ns0:pt idx="58">
                  <ns0:v>-0.07973042876</ns0:v>
                </ns0:pt>
                <ns0:pt idx="59">
                  <ns0:v>-0.07023303211</ns0:v>
                </ns0:pt>
                <ns0:pt idx="60">
                  <ns0:v>0.1972734034</ns0:v>
                </ns0:pt>
                <ns0:pt idx="61">
                  <ns0:v>0.3507334292</ns0:v>
                </ns0:pt>
                <ns0:pt idx="62">
                  <ns0:v>0.1910689026</ns0:v>
                </ns0:pt>
                <ns0:pt idx="63">
                  <ns0:v>-0.03530979156</ns0:v>
                </ns0:pt>
                <ns0:pt idx="64">
                  <ns0:v>-0.4690307677</ns0:v>
                </ns0:pt>
                <ns0:pt idx="65">
                  <ns0:v>-0.5375337601</ns0:v>
                </ns0:pt>
                <ns0:pt idx="66">
                  <ns0:v>-0.5608668923</ns0:v>
                </ns0:pt>
                <ns0:pt idx="67">
                  <ns0:v>-0.2703705728</ns0:v>
                </ns0:pt>
                <ns0:pt idx="68">
                  <ns0:v>-0.09913509339</ns0:v>
                </ns0:pt>
                <ns0:pt idx="69">
                  <ns0:v>0.09166838229</ns0:v>
                </ns0:pt>
                <ns0:pt idx="70">
                  <ns0:v>0.1788930744</ns0:v>
                </ns0:pt>
                <ns0:pt idx="71">
                  <ns0:v>0.311296165</ns0:v>
                </ns0:pt>
                <ns0:pt idx="72">
                  <ns0:v>0.2070203573</ns0:v>
                </ns0:pt>
                <ns0:pt idx="73">
                  <ns0:v>0.08686130494</ns0:v>
                </ns0:pt>
                <ns0:pt idx="74">
                  <ns0:v>0.02763396315</ns0:v>
                </ns0:pt>
                <ns0:pt idx="75">
                  <ns0:v>-0.07147986442</ns0:v>
                </ns0:pt>
                <ns0:pt idx="76">
                  <ns0:v>-0.2139176577</ns0:v>
                </ns0:pt>
                <ns0:pt idx="77">
                  <ns0:v>-0.206086576</ns0:v>
                </ns0:pt>
                <ns0:pt idx="78">
                  <ns0:v>0.08717988431</ns0:v>
                </ns0:pt>
                <ns0:pt idx="79">
                  <ns0:v>0.2719816864</ns0:v>
                </ns0:pt>
                <ns0:pt idx="80">
                  <ns0:v>0.1099196374</ns0:v>
                </ns0:pt>
                <ns0:pt idx="81">
                  <ns0:v>0.1360508204</ns0:v>
                </ns0:pt>
                <ns0:pt idx="82">
                  <ns0:v>0.2268867493</ns0:v>
                </ns0:pt>
                <ns0:pt idx="83">
                  <ns0:v>0.04574161023</ns0:v>
                </ns0:pt>
                <ns0:pt idx="84">
                  <ns0:v>0.002650755225</ns0:v>
                </ns0:pt>
                <ns0:pt idx="85">
                  <ns0:v>0.07953874022</ns0:v>
                </ns0:pt>
                <ns0:pt idx="86">
                  <ns0:v>-0.09409205616</ns0:v>
                </ns0:pt>
                <ns0:pt idx="87">
                  <ns0:v>-0.2071547806</ns0:v>
                </ns0:pt>
                <ns0:pt idx="88">
                  <ns0:v>-0.1186190993</ns0:v>
                </ns0:pt>
                <ns0:pt idx="89">
                  <ns0:v>-0.297693789</ns0:v>
                </ns0:pt>
                <ns0:pt idx="90">
                  <ns0:v>-0.1539343446</ns0:v>
                </ns0:pt>
                <ns0:pt idx="91">
                  <ns0:v>-0.02623219416</ns0:v>
                </ns0:pt>
                <ns0:pt idx="92">
                  <ns0:v>0.1659273654</ns0:v>
                </ns0:pt>
                <ns0:pt idx="93">
                  <ns0:v>0.1413844824</ns0:v>
                </ns0:pt>
                <ns0:pt idx="94">
                  <ns0:v>0.2218430042</ns0:v>
                </ns0:pt>
                <ns0:pt idx="95">
                  <ns0:v>-0.02807528712</ns0:v>
                </ns0:pt>
                <ns0:pt idx="96">
                  <ns0:v>0.02489946038</ns0:v>
                </ns0:pt>
                <ns0:pt idx="97">
                  <ns0:v>0.1384628415</ns0:v>
                </ns0:pt>
                <ns0:pt idx="98">
                  <ns0:v>0.09906832874</ns0:v>
                </ns0:pt>
                <ns0:pt idx="99">
                  <ns0:v>0.1095639393</ns0:v>
                </ns0:pt>
                <ns0:pt idx="100">
                  <ns0:v>-0.03907501698</ns0:v>
                </ns0:pt>
                <ns0:pt idx="101">
                  <ns0:v>-0.1765267551</ns0:v>
                </ns0:pt>
                <ns0:pt idx="102">
                  <ns0:v>-0.3030624986</ns0:v>
                </ns0:pt>
                <ns0:pt idx="103">
                  <ns0:v>-0.2571685016</ns0:v>
                </ns0:pt>
                <ns0:pt idx="104">
                  <ns0:v>-0.2271113843</ns0:v>
                </ns0:pt>
                <ns0:pt idx="105">
                  <ns0:v>0.07779802382</ns0:v>
                </ns0:pt>
                <ns0:pt idx="106">
                  <ns0:v>0.1469213367</ns0:v>
                </ns0:pt>
                <ns0:pt idx="107">
                  <ns0:v>0.2087862194</ns0:v>
                </ns0:pt>
                <ns0:pt idx="108">
                  <ns0:v>0.2999456823</ns0:v>
                </ns0:pt>
                <ns0:pt idx="109">
                  <ns0:v>0.4621183276</ns0:v>
                </ns0:pt>
                <ns0:pt idx="110">
                  <ns0:v>0.3682094216</ns0:v>
                </ns0:pt>
                <ns0:pt idx="111">
                  <ns0:v>0.2184854746</ns0:v>
                </ns0:pt>
                <ns0:pt idx="112">
                  <ns0:v>0.08075109124</ns0:v>
                </ns0:pt>
                <ns0:pt idx="113">
                  <ns0:v>-0.1207340881</ns0:v>
                </ns0:pt>
                <ns0:pt idx="114">
                  <ns0:v>-0.4004140496</ns0:v>
                </ns0:pt>
                <ns0:pt idx="115">
                  <ns0:v>-0.4942501187</ns0:v>
                </ns0:pt>
                <ns0:pt idx="116">
                  <ns0:v>-0.6127533317</ns0:v>
                </ns0:pt>
                <ns0:pt idx="117">
                  <ns0:v>-0.3471195102</ns0:v>
                </ns0:pt>
                <ns0:pt idx="118">
                  <ns0:v>-0.008712345734</ns0:v>
                </ns0:pt>
                <ns0:pt idx="119">
                  <ns0:v>0.1871676296</ns0:v>
                </ns0:pt>
                <ns0:pt idx="120">
                  <ns0:v>0.4477204382</ns0:v>
                </ns0:pt>
                <ns0:pt idx="121">
                  <ns0:v>0.4950561225</ns0:v>
                </ns0:pt>
                <ns0:pt idx="122">
                  <ns0:v>0.3976502717</ns0:v>
                </ns0:pt>
                <ns0:pt idx="123">
                  <ns0:v>0.2959527373</ns0:v>
                </ns0:pt>
                <ns0:pt idx="124">
                  <ns0:v>0.1749271452</ns0:v>
                </ns0:pt>
                <ns0:pt idx="125">
                  <ns0:v>0.01895551011</ns0:v>
                </ns0:pt>
                <ns0:pt idx="126">
                  <ns0:v>-0.02208833769</ns0:v>
                </ns0:pt>
                <ns0:pt idx="127">
                  <ns0:v>0.02733696997</ns0:v>
                </ns0:pt>
                <ns0:pt idx="128">
                  <ns0:v>-0.04239469022</ns0:v>
                </ns0:pt>
                <ns0:pt idx="129">
                  <ns0:v>-0.1497033536</ns0:v>
                </ns0:pt>
                <ns0:pt idx="130">
                  <ns0:v>-0.1850529909</ns0:v>
                </ns0:pt>
                <ns0:pt idx="131">
                  <ns0:v>-0.156302616</ns0:v>
                </ns0:pt>
                <ns0:pt idx="132">
                  <ns0:v>-0.1565012783</ns0:v>
                </ns0:pt>
                <ns0:pt idx="133">
                  <ns0:v>-0.313680321</ns0:v>
                </ns0:pt>
                <ns0:pt idx="134">
                  <ns0:v>-0.3205101788</ns0:v>
                </ns0:pt>
                <ns0:pt idx="135">
                  <ns0:v>-0.3047282696</ns0:v>
                </ns0:pt>
                <ns0:pt idx="136">
                  <ns0:v>-0.2531966567</ns0:v>
                </ns0:pt>
                <ns0:pt idx="137">
                  <ns0:v>-0.05239924416</ns0:v>
                </ns0:pt>
                <ns0:pt idx="138">
                  <ns0:v>0.1461174488</ns0:v>
                </ns0:pt>
                <ns0:pt idx="139">
                  <ns0:v>0.2374288142</ns0:v>
                </ns0:pt>
                <ns0:pt idx="140">
                  <ns0:v>0.2874506712</ns0:v>
                </ns0:pt>
                <ns0:pt idx="141">
                  <ns0:v>0.2725810111</ns0:v>
                </ns0:pt>
                <ns0:pt idx="142">
                  <ns0:v>0.1529881805</ns0:v>
                </ns0:pt>
                <ns0:pt idx="143">
                  <ns0:v>0.1034220532</ns0:v>
                </ns0:pt>
                <ns0:pt idx="144">
                  <ns0:v>0.04529922456</ns0:v>
                </ns0:pt>
                <ns0:pt idx="145">
                  <ns0:v>0.02573985048</ns0:v>
                </ns0:pt>
                <ns0:pt idx="146">
                  <ns0:v>0.05465207994</ns0:v>
                </ns0:pt>
                <ns0:pt idx="147">
                  <ns0:v>0.1799291521</ns0:v>
                </ns0:pt>
                <ns0:pt idx="148">
                  <ns0:v>0.3410882056</ns0:v>
                </ns0:pt>
                <ns0:pt idx="149">
                  <ns0:v>0.3904893696</ns0:v>
                </ns0:pt>
                <ns0:pt idx="150">
                  <ns0:v>0.2251915336</ns0:v>
                </ns0:pt>
                <ns0:pt idx="151">
                  <ns0:v>0.0717042014</ns0:v>
                </ns0:pt>
                <ns0:pt idx="152">
                  <ns0:v>0.01391104423</ns0:v>
                </ns0:pt>
                <ns0:pt idx="153">
                  <ns0:v>0.01681291685</ns0:v>
                </ns0:pt>
                <ns0:pt idx="154">
                  <ns0:v>-0.03575538844</ns0:v>
                </ns0:pt>
                <ns0:pt idx="155">
                  <ns0:v>-0.1538629681</ns0:v>
                </ns0:pt>
                <ns0:pt idx="156">
                  <ns0:v>-0.2971728146</ns0:v>
                </ns0:pt>
                <ns0:pt idx="157">
                  <ns0:v>0.04525399953</ns0:v>
                </ns0:pt>
                <ns0:pt idx="158">
                  <ns0:v>0.1986332685</ns0:v>
                </ns0:pt>
                <ns0:pt idx="159">
                  <ns0:v>0.07247957587</ns0:v>
                </ns0:pt>
                <ns0:pt idx="160">
                  <ns0:v>-0.06342469156</ns0:v>
                </ns0:pt>
                <ns0:pt idx="161">
                  <ns0:v>-0.02463013493</ns0:v>
                </ns0:pt>
                <ns0:pt idx="162">
                  <ns0:v>0.263100028</ns0:v>
                </ns0:pt>
                <ns0:pt idx="163">
                  <ns0:v>0.1322866976</ns0:v>
                </ns0:pt>
                <ns0:pt idx="164">
                  <ns0:v>-0.2061063051</ns0:v>
                </ns0:pt>
                <ns0:pt idx="165">
                  <ns0:v>-0.05302478746</ns0:v>
                </ns0:pt>
                <ns0:pt idx="166">
                  <ns0:v>0.2761446238</ns0:v>
                </ns0:pt>
                <ns0:pt idx="167">
                  <ns0:v>-0.01292803884</ns0:v>
                </ns0:pt>
                <ns0:pt idx="168">
                  <ns0:v>-0.1456812918</ns0:v>
                </ns0:pt>
                <ns0:pt idx="169">
                  <ns0:v>-0.4646625817</ns0:v>
                </ns0:pt>
                <ns0:pt idx="170">
                  <ns0:v>-0.3891298771</ns0:v>
                </ns0:pt>
                <ns0:pt idx="171">
                  <ns0:v>-0.3171149492</ns0:v>
                </ns0:pt>
                <ns0:pt idx="172">
                  <ns0:v>-0.1833425164</ns0:v>
                </ns0:pt>
                <ns0:pt idx="173">
                  <ns0:v>-0.1193578616</ns0:v>
                </ns0:pt>
                <ns0:pt idx="174">
                  <ns0:v>0.04696812108</ns0:v>
                </ns0:pt>
                <ns0:pt idx="175">
                  <ns0:v>0.02851702273</ns0:v>
                </ns0:pt>
                <ns0:pt idx="176">
                  <ns0:v>0.1178498939</ns0:v>
                </ns0:pt>
                <ns0:pt idx="177">
                  <ns0:v>0.264082551</ns0:v>
                </ns0:pt>
                <ns0:pt idx="178">
                  <ns0:v>0.2581467628</ns0:v>
                </ns0:pt>
                <ns0:pt idx="179">
                  <ns0:v>0.2850647569</ns0:v>
                </ns0:pt>
                <ns0:pt idx="180">
                  <ns0:v>0.06338012218</ns0:v>
                </ns0:pt>
                <ns0:pt idx="181">
                  <ns0:v>-0.06094231084</ns0:v>
                </ns0:pt>
                <ns0:pt idx="182">
                  <ns0:v>-0.05969243124</ns0:v>
                </ns0:pt>
                <ns0:pt idx="183">
                  <ns0:v>-0.176082164</ns0:v>
                </ns0:pt>
                <ns0:pt idx="184">
                  <ns0:v>-0.3206680119</ns0:v>
                </ns0:pt>
                <ns0:pt idx="185">
                  <ns0:v>-0.4341658652</ns0:v>
                </ns0:pt>
                <ns0:pt idx="186">
                  <ns0:v>-0.560406208</ns0:v>
                </ns0:pt>
                <ns0:pt idx="187">
                  <ns0:v>-0.4886068404</ns0:v>
                </ns0:pt>
                <ns0:pt idx="188">
                  <ns0:v>-0.465228796</ns0:v>
                </ns0:pt>
                <ns0:pt idx="189">
                  <ns0:v>-0.1254413426</ns0:v>
                </ns0:pt>
                <ns0:pt idx="190">
                  <ns0:v>-0.3838907778</ns0:v>
                </ns0:pt>
                <ns0:pt idx="191">
                  <ns0:v>-0.5704653263</ns0:v>
                </ns0:pt>
                <ns0:pt idx="192">
                  <ns0:v>0.0905129537</ns0:v>
                </ns0:pt>
              </ns0:numCache>
            </ns0:numRef>
          </ns0:yVal>
        </ns0:ser>
        <ns0:ser>
          <ns0:idx val="3"/>
          <ns0:order val="3"/>
          <ns0:tx>
            <ns0:v>State 4</ns0:v>
          </ns0:tx>
          <ns0:spPr>
            <ns1:ln w="19050">
              <ns1:solidFill>
                <ns1:srgbClr val="8B7AA8"/>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Data'!$G$2:$G$194</ns0:f>
              <ns0:numCache>
                <ns0:formatCode>General</ns0:formatCode>
                <ns0:ptCount val="193"/>
                <ns0:pt idx="0">
                  <ns0:v>0</ns0:v>
                </ns0:pt>
                <ns0:pt idx="1">
                  <ns0:v>1</ns0:v>
                </ns0:pt>
                <ns0:pt idx="2">
                  <ns0:v>2</ns0:v>
                </ns0:pt>
                <ns0:pt idx="3">
                  <ns0:v>3</ns0:v>
                </ns0:pt>
                <ns0:pt idx="4">
                  <ns0:v>4</ns0:v>
                </ns0:pt>
                <ns0:pt idx="5">
                  <ns0:v>5</ns0:v>
                </ns0:pt>
                <ns0:pt idx="6">
                  <ns0:v>6</ns0:v>
                </ns0:pt>
                <ns0:pt idx="7">
                  <ns0:v>7</ns0:v>
                </ns0:pt>
                <ns0:pt idx="8">
                  <ns0:v>8</ns0:v>
                </ns0:pt>
                <ns0:pt idx="9">
                  <ns0:v>9</ns0:v>
                </ns0:pt>
                <ns0:pt idx="10">
                  <ns0:v>10</ns0:v>
                </ns0:pt>
                <ns0:pt idx="11">
                  <ns0:v>11</ns0:v>
                </ns0:pt>
                <ns0:pt idx="12">
                  <ns0:v>12</ns0:v>
                </ns0:pt>
                <ns0:pt idx="13">
                  <ns0:v>13</ns0:v>
                </ns0:pt>
                <ns0:pt idx="14">
                  <ns0:v>14</ns0:v>
                </ns0:pt>
                <ns0:pt idx="15">
                  <ns0:v>15</ns0:v>
                </ns0:pt>
                <ns0:pt idx="16">
                  <ns0:v>16</ns0:v>
                </ns0:pt>
                <ns0:pt idx="17">
                  <ns0:v>17</ns0:v>
                </ns0:pt>
                <ns0:pt idx="18">
                  <ns0:v>18</ns0:v>
                </ns0:pt>
                <ns0:pt idx="19">
                  <ns0:v>19</ns0:v>
                </ns0:pt>
                <ns0:pt idx="20">
                  <ns0:v>20</ns0:v>
                </ns0:pt>
                <ns0:pt idx="21">
                  <ns0:v>21</ns0:v>
                </ns0:pt>
                <ns0:pt idx="22">
                  <ns0:v>22</ns0:v>
                </ns0:pt>
                <ns0:pt idx="23">
                  <ns0:v>23</ns0:v>
                </ns0:pt>
                <ns0:pt idx="24">
                  <ns0:v>24</ns0:v>
                </ns0:pt>
                <ns0:pt idx="25">
                  <ns0:v>25</ns0:v>
                </ns0:pt>
                <ns0:pt idx="26">
                  <ns0:v>26</ns0:v>
                </ns0:pt>
                <ns0:pt idx="27">
                  <ns0:v>27</ns0:v>
                </ns0:pt>
                <ns0:pt idx="28">
                  <ns0:v>28</ns0:v>
                </ns0:pt>
                <ns0:pt idx="29">
                  <ns0:v>29</ns0:v>
                </ns0:pt>
                <ns0:pt idx="30">
                  <ns0:v>30</ns0:v>
                </ns0:pt>
                <ns0:pt idx="31">
                  <ns0:v>31</ns0:v>
                </ns0:pt>
                <ns0:pt idx="32">
                  <ns0:v>32</ns0:v>
                </ns0:pt>
                <ns0:pt idx="33">
                  <ns0:v>33</ns0:v>
                </ns0:pt>
                <ns0:pt idx="34">
                  <ns0:v>34</ns0:v>
                </ns0:pt>
                <ns0:pt idx="35">
                  <ns0:v>35</ns0:v>
                </ns0:pt>
                <ns0:pt idx="36">
                  <ns0:v>36</ns0:v>
                </ns0:pt>
                <ns0:pt idx="37">
                  <ns0:v>37</ns0:v>
                </ns0:pt>
                <ns0:pt idx="38">
                  <ns0:v>38</ns0:v>
                </ns0:pt>
                <ns0:pt idx="39">
                  <ns0:v>39</ns0:v>
                </ns0:pt>
                <ns0:pt idx="40">
                  <ns0:v>40</ns0:v>
                </ns0:pt>
                <ns0:pt idx="41">
                  <ns0:v>41</ns0:v>
                </ns0:pt>
                <ns0:pt idx="42">
                  <ns0:v>42</ns0:v>
                </ns0:pt>
                <ns0:pt idx="43">
                  <ns0:v>43</ns0:v>
                </ns0:pt>
                <ns0:pt idx="44">
                  <ns0:v>44</ns0:v>
                </ns0:pt>
                <ns0:pt idx="45">
                  <ns0:v>45</ns0:v>
                </ns0:pt>
                <ns0:pt idx="46">
                  <ns0:v>46</ns0:v>
                </ns0:pt>
                <ns0:pt idx="47">
                  <ns0:v>47</ns0:v>
                </ns0:pt>
                <ns0:pt idx="48">
                  <ns0:v>48</ns0:v>
                </ns0:pt>
                <ns0:pt idx="49">
                  <ns0:v>49</ns0:v>
                </ns0:pt>
                <ns0:pt idx="50">
                  <ns0:v>50</ns0:v>
                </ns0:pt>
                <ns0:pt idx="51">
                  <ns0:v>51</ns0:v>
                </ns0:pt>
                <ns0:pt idx="52">
                  <ns0:v>52</ns0:v>
                </ns0:pt>
                <ns0:pt idx="53">
                  <ns0:v>53</ns0:v>
                </ns0:pt>
                <ns0:pt idx="54">
                  <ns0:v>54</ns0:v>
                </ns0:pt>
                <ns0:pt idx="55">
                  <ns0:v>55</ns0:v>
                </ns0:pt>
                <ns0:pt idx="56">
                  <ns0:v>56</ns0:v>
                </ns0:pt>
                <ns0:pt idx="57">
                  <ns0:v>57</ns0:v>
                </ns0:pt>
                <ns0:pt idx="58">
                  <ns0:v>58</ns0:v>
                </ns0:pt>
                <ns0:pt idx="59">
                  <ns0:v>59</ns0:v>
                </ns0:pt>
                <ns0:pt idx="60">
                  <ns0:v>60</ns0:v>
                </ns0:pt>
                <ns0:pt idx="61">
                  <ns0:v>61</ns0:v>
                </ns0:pt>
                <ns0:pt idx="62">
                  <ns0:v>62</ns0:v>
                </ns0:pt>
                <ns0:pt idx="63">
                  <ns0:v>63</ns0:v>
                </ns0:pt>
                <ns0:pt idx="64">
                  <ns0:v>64</ns0:v>
                </ns0:pt>
                <ns0:pt idx="65">
                  <ns0:v>65</ns0:v>
                </ns0:pt>
                <ns0:pt idx="66">
                  <ns0:v>66</ns0:v>
                </ns0:pt>
                <ns0:pt idx="67">
                  <ns0:v>67</ns0:v>
                </ns0:pt>
                <ns0:pt idx="68">
                  <ns0:v>68</ns0:v>
                </ns0:pt>
                <ns0:pt idx="69">
                  <ns0:v>69</ns0:v>
                </ns0:pt>
                <ns0:pt idx="70">
                  <ns0:v>70</ns0:v>
                </ns0:pt>
                <ns0:pt idx="71">
                  <ns0:v>71</ns0:v>
                </ns0:pt>
                <ns0:pt idx="72">
                  <ns0:v>72</ns0:v>
                </ns0:pt>
                <ns0:pt idx="73">
                  <ns0:v>73</ns0:v>
                </ns0:pt>
                <ns0:pt idx="74">
                  <ns0:v>74</ns0:v>
                </ns0:pt>
                <ns0:pt idx="75">
                  <ns0:v>75</ns0:v>
                </ns0:pt>
                <ns0:pt idx="76">
                  <ns0:v>76</ns0:v>
                </ns0:pt>
                <ns0:pt idx="77">
                  <ns0:v>77</ns0:v>
                </ns0:pt>
                <ns0:pt idx="78">
                  <ns0:v>78</ns0:v>
                </ns0:pt>
                <ns0:pt idx="79">
                  <ns0:v>79</ns0:v>
                </ns0:pt>
                <ns0:pt idx="80">
                  <ns0:v>80</ns0:v>
                </ns0:pt>
                <ns0:pt idx="81">
                  <ns0:v>81</ns0:v>
                </ns0:pt>
                <ns0:pt idx="82">
                  <ns0:v>82</ns0:v>
                </ns0:pt>
                <ns0:pt idx="83">
                  <ns0:v>83</ns0:v>
                </ns0:pt>
                <ns0:pt idx="84">
                  <ns0:v>84</ns0:v>
                </ns0:pt>
                <ns0:pt idx="85">
                  <ns0:v>85</ns0:v>
                </ns0:pt>
                <ns0:pt idx="86">
                  <ns0:v>86</ns0:v>
                </ns0:pt>
                <ns0:pt idx="87">
                  <ns0:v>87</ns0:v>
                </ns0:pt>
                <ns0:pt idx="88">
                  <ns0:v>88</ns0:v>
                </ns0:pt>
                <ns0:pt idx="89">
                  <ns0:v>89</ns0:v>
                </ns0:pt>
                <ns0:pt idx="90">
                  <ns0:v>90</ns0:v>
                </ns0:pt>
                <ns0:pt idx="91">
                  <ns0:v>91</ns0:v>
                </ns0:pt>
                <ns0:pt idx="92">
                  <ns0:v>92</ns0:v>
                </ns0:pt>
                <ns0:pt idx="93">
                  <ns0:v>93</ns0:v>
                </ns0:pt>
                <ns0:pt idx="94">
                  <ns0:v>94</ns0:v>
                </ns0:pt>
                <ns0:pt idx="95">
                  <ns0:v>95</ns0:v>
                </ns0:pt>
                <ns0:pt idx="96">
                  <ns0:v>96</ns0:v>
                </ns0:pt>
                <ns0:pt idx="97">
                  <ns0:v>97</ns0:v>
                </ns0:pt>
                <ns0:pt idx="98">
                  <ns0:v>98</ns0:v>
                </ns0:pt>
                <ns0:pt idx="99">
                  <ns0:v>99</ns0:v>
                </ns0:pt>
                <ns0:pt idx="100">
                  <ns0:v>100</ns0:v>
                </ns0:pt>
                <ns0:pt idx="101">
                  <ns0:v>101</ns0:v>
                </ns0:pt>
                <ns0:pt idx="102">
                  <ns0:v>102</ns0:v>
                </ns0:pt>
                <ns0:pt idx="103">
                  <ns0:v>103</ns0:v>
                </ns0:pt>
                <ns0:pt idx="104">
                  <ns0:v>104</ns0:v>
                </ns0:pt>
                <ns0:pt idx="105">
                  <ns0:v>105</ns0:v>
                </ns0:pt>
                <ns0:pt idx="106">
                  <ns0:v>106</ns0:v>
                </ns0:pt>
                <ns0:pt idx="107">
                  <ns0:v>107</ns0:v>
                </ns0:pt>
                <ns0:pt idx="108">
                  <ns0:v>108</ns0:v>
                </ns0:pt>
                <ns0:pt idx="109">
                  <ns0:v>109</ns0:v>
                </ns0:pt>
                <ns0:pt idx="110">
                  <ns0:v>110</ns0:v>
                </ns0:pt>
                <ns0:pt idx="111">
                  <ns0:v>111</ns0:v>
                </ns0:pt>
                <ns0:pt idx="112">
                  <ns0:v>112</ns0:v>
                </ns0:pt>
                <ns0:pt idx="113">
                  <ns0:v>113</ns0:v>
                </ns0:pt>
                <ns0:pt idx="114">
                  <ns0:v>114</ns0:v>
                </ns0:pt>
                <ns0:pt idx="115">
                  <ns0:v>115</ns0:v>
                </ns0:pt>
                <ns0:pt idx="116">
                  <ns0:v>116</ns0:v>
                </ns0:pt>
                <ns0:pt idx="117">
                  <ns0:v>117</ns0:v>
                </ns0:pt>
                <ns0:pt idx="118">
                  <ns0:v>118</ns0:v>
                </ns0:pt>
                <ns0:pt idx="119">
                  <ns0:v>119</ns0:v>
                </ns0:pt>
                <ns0:pt idx="120">
                  <ns0:v>120</ns0:v>
                </ns0:pt>
                <ns0:pt idx="121">
                  <ns0:v>121</ns0:v>
                </ns0:pt>
                <ns0:pt idx="122">
                  <ns0:v>122</ns0:v>
                </ns0:pt>
                <ns0:pt idx="123">
                  <ns0:v>123</ns0:v>
                </ns0:pt>
                <ns0:pt idx="124">
                  <ns0:v>124</ns0:v>
                </ns0:pt>
                <ns0:pt idx="125">
                  <ns0:v>125</ns0:v>
                </ns0:pt>
                <ns0:pt idx="126">
                  <ns0:v>126</ns0:v>
                </ns0:pt>
                <ns0:pt idx="127">
                  <ns0:v>127</ns0:v>
                </ns0:pt>
                <ns0:pt idx="128">
                  <ns0:v>128</ns0:v>
                </ns0:pt>
                <ns0:pt idx="129">
                  <ns0:v>129</ns0:v>
                </ns0:pt>
                <ns0:pt idx="130">
                  <ns0:v>130</ns0:v>
                </ns0:pt>
                <ns0:pt idx="131">
                  <ns0:v>131</ns0:v>
                </ns0:pt>
                <ns0:pt idx="132">
                  <ns0:v>132</ns0:v>
                </ns0:pt>
                <ns0:pt idx="133">
                  <ns0:v>133</ns0:v>
                </ns0:pt>
                <ns0:pt idx="134">
                  <ns0:v>134</ns0:v>
                </ns0:pt>
                <ns0:pt idx="135">
                  <ns0:v>135</ns0:v>
                </ns0:pt>
                <ns0:pt idx="136">
                  <ns0:v>136</ns0:v>
                </ns0:pt>
                <ns0:pt idx="137">
                  <ns0:v>137</ns0:v>
                </ns0:pt>
                <ns0:pt idx="138">
                  <ns0:v>138</ns0:v>
                </ns0:pt>
                <ns0:pt idx="139">
                  <ns0:v>139</ns0:v>
                </ns0:pt>
                <ns0:pt idx="140">
                  <ns0:v>140</ns0:v>
                </ns0:pt>
                <ns0:pt idx="141">
                  <ns0:v>141</ns0:v>
                </ns0:pt>
                <ns0:pt idx="142">
                  <ns0:v>142</ns0:v>
                </ns0:pt>
                <ns0:pt idx="143">
                  <ns0:v>143</ns0:v>
                </ns0:pt>
                <ns0:pt idx="144">
                  <ns0:v>144</ns0:v>
                </ns0:pt>
                <ns0:pt idx="145">
                  <ns0:v>145</ns0:v>
                </ns0:pt>
                <ns0:pt idx="146">
                  <ns0:v>146</ns0:v>
                </ns0:pt>
                <ns0:pt idx="147">
                  <ns0:v>147</ns0:v>
                </ns0:pt>
                <ns0:pt idx="148">
                  <ns0:v>148</ns0:v>
                </ns0:pt>
                <ns0:pt idx="149">
                  <ns0:v>149</ns0:v>
                </ns0:pt>
                <ns0:pt idx="150">
                  <ns0:v>150</ns0:v>
                </ns0:pt>
                <ns0:pt idx="151">
                  <ns0:v>151</ns0:v>
                </ns0:pt>
                <ns0:pt idx="152">
                  <ns0:v>152</ns0:v>
                </ns0:pt>
                <ns0:pt idx="153">
                  <ns0:v>153</ns0:v>
                </ns0:pt>
                <ns0:pt idx="154">
                  <ns0:v>154</ns0:v>
                </ns0:pt>
                <ns0:pt idx="155">
                  <ns0:v>155</ns0:v>
                </ns0:pt>
                <ns0:pt idx="156">
                  <ns0:v>156</ns0:v>
                </ns0:pt>
                <ns0:pt idx="157">
                  <ns0:v>157</ns0:v>
                </ns0:pt>
                <ns0:pt idx="158">
                  <ns0:v>158</ns0:v>
                </ns0:pt>
                <ns0:pt idx="159">
                  <ns0:v>159</ns0:v>
                </ns0:pt>
                <ns0:pt idx="160">
                  <ns0:v>160</ns0:v>
                </ns0:pt>
                <ns0:pt idx="161">
                  <ns0:v>161</ns0:v>
                </ns0:pt>
                <ns0:pt idx="162">
                  <ns0:v>162</ns0:v>
                </ns0:pt>
                <ns0:pt idx="163">
                  <ns0:v>163</ns0:v>
                </ns0:pt>
                <ns0:pt idx="164">
                  <ns0:v>164</ns0:v>
                </ns0:pt>
                <ns0:pt idx="165">
                  <ns0:v>165</ns0:v>
                </ns0:pt>
                <ns0:pt idx="166">
                  <ns0:v>166</ns0:v>
                </ns0:pt>
                <ns0:pt idx="167">
                  <ns0:v>167</ns0:v>
                </ns0:pt>
                <ns0:pt idx="168">
                  <ns0:v>168</ns0:v>
                </ns0:pt>
                <ns0:pt idx="169">
                  <ns0:v>169</ns0:v>
                </ns0:pt>
                <ns0:pt idx="170">
                  <ns0:v>170</ns0:v>
                </ns0:pt>
                <ns0:pt idx="171">
                  <ns0:v>171</ns0:v>
                </ns0:pt>
                <ns0:pt idx="172">
                  <ns0:v>172</ns0:v>
                </ns0:pt>
                <ns0:pt idx="173">
                  <ns0:v>173</ns0:v>
                </ns0:pt>
                <ns0:pt idx="174">
                  <ns0:v>174</ns0:v>
                </ns0:pt>
                <ns0:pt idx="175">
                  <ns0:v>175</ns0:v>
                </ns0:pt>
                <ns0:pt idx="176">
                  <ns0:v>176</ns0:v>
                </ns0:pt>
                <ns0:pt idx="177">
                  <ns0:v>177</ns0:v>
                </ns0:pt>
                <ns0:pt idx="178">
                  <ns0:v>178</ns0:v>
                </ns0:pt>
                <ns0:pt idx="179">
                  <ns0:v>179</ns0:v>
                </ns0:pt>
                <ns0:pt idx="180">
                  <ns0:v>180</ns0:v>
                </ns0:pt>
                <ns0:pt idx="181">
                  <ns0:v>181</ns0:v>
                </ns0:pt>
                <ns0:pt idx="182">
                  <ns0:v>182</ns0:v>
                </ns0:pt>
                <ns0:pt idx="183">
                  <ns0:v>183</ns0:v>
                </ns0:pt>
                <ns0:pt idx="184">
                  <ns0:v>184</ns0:v>
                </ns0:pt>
                <ns0:pt idx="185">
                  <ns0:v>185</ns0:v>
                </ns0:pt>
                <ns0:pt idx="186">
                  <ns0:v>186</ns0:v>
                </ns0:pt>
                <ns0:pt idx="187">
                  <ns0:v>187</ns0:v>
                </ns0:pt>
                <ns0:pt idx="188">
                  <ns0:v>188</ns0:v>
                </ns0:pt>
                <ns0:pt idx="189">
                  <ns0:v>189</ns0:v>
                </ns0:pt>
                <ns0:pt idx="190">
                  <ns0:v>190</ns0:v>
                </ns0:pt>
                <ns0:pt idx="191">
                  <ns0:v>191</ns0:v>
                </ns0:pt>
                <ns0:pt idx="192">
                  <ns0:v>192</ns0:v>
                </ns0:pt>
              </ns0:numCache>
            </ns0:numRef>
          </ns0:xVal>
          <ns0:yVal>
            <ns0:numRef>
              <ns0:f>'Chart Data'!$H$2:$H$194</ns0:f>
              <ns0:numCache>
                <ns0:formatCode>0.0</ns0:formatCode>
                <ns0:ptCount val="193"/>
                <ns0:pt idx="0">
                  <ns0:v>-0.1756363809</ns0:v>
                </ns0:pt>
                <ns0:pt idx="1">
                  <ns0:v>-0.2372270972</ns0:v>
                </ns0:pt>
                <ns0:pt idx="2">
                  <ns0:v>-0.308247596</ns0:v>
                </ns0:pt>
                <ns0:pt idx="3">
                  <ns0:v>-0.325722456</ns0:v>
                </ns0:pt>
                <ns0:pt idx="4">
                  <ns0:v>-0.2799805701</ns0:v>
                </ns0:pt>
                <ns0:pt idx="5">
                  <ns0:v>-0.1796495467</ns0:v>
                </ns0:pt>
                <ns0:pt idx="6">
                  <ns0:v>-0.1592119783</ns0:v>
                </ns0:pt>
                <ns0:pt idx="7">
                  <ns0:v>0.001291884342</ns0:v>
                </ns0:pt>
                <ns0:pt idx="8">
                  <ns0:v>-0.03476862237</ns0:v>
                </ns0:pt>
                <ns0:pt idx="9">
                  <ns0:v>0.0632583648</ns0:v>
                </ns0:pt>
                <ns0:pt idx="10">
                  <ns0:v>0.08512433618</ns0:v>
                </ns0:pt>
                <ns0:pt idx="11">
                  <ns0:v>0.06042928994</ns0:v>
                </ns0:pt>
                <ns0:pt idx="12">
                  <ns0:v>0.00351391267</ns0:v>
                </ns0:pt>
                <ns0:pt idx="13">
                  <ns0:v>-0.07835018635</ns0:v>
                </ns0:pt>
                <ns0:pt idx="14">
                  <ns0:v>-0.0857084021</ns0:v>
                </ns0:pt>
                <ns0:pt idx="15">
                  <ns0:v>-0.1252202392</ns0:v>
                </ns0:pt>
                <ns0:pt idx="16">
                  <ns0:v>-0.1649267524</ns0:v>
                </ns0:pt>
                <ns0:pt idx="17">
                  <ns0:v>-0.2658747137</ns0:v>
                </ns0:pt>
                <ns0:pt idx="18">
                  <ns0:v>-0.2385682911</ns0:v>
                </ns0:pt>
                <ns0:pt idx="19">
                  <ns0:v>-0.1685290635</ns0:v>
                </ns0:pt>
                <ns0:pt idx="20">
                  <ns0:v>-0.04044500366</ns0:v>
                </ns0:pt>
                <ns0:pt idx="21">
                  <ns0:v>0.1129251793</ns0:v>
                </ns0:pt>
                <ns0:pt idx="22">
                  <ns0:v>0.1249164715</ns0:v>
                </ns0:pt>
                <ns0:pt idx="23">
                  <ns0:v>0.1700941622</ns0:v>
                </ns0:pt>
                <ns0:pt idx="24">
                  <ns0:v>0.2824502587</ns0:v>
                </ns0:pt>
                <ns0:pt idx="25">
                  <ns0:v>0.1025900766</ns0:v>
                </ns0:pt>
                <ns0:pt idx="26">
                  <ns0:v>-0.04857575148</ns0:v>
                </ns0:pt>
                <ns0:pt idx="27">
                  <ns0:v>0.002744466299</ns0:v>
                </ns0:pt>
                <ns0:pt idx="28">
                  <ns0:v>-0.07497939467</ns0:v>
                </ns0:pt>
                <ns0:pt idx="29">
                  <ns0:v>-0.09950688481</ns0:v>
                </ns0:pt>
                <ns0:pt idx="30">
                  <ns0:v>-0.01653413661</ns0:v>
                </ns0:pt>
                <ns0:pt idx="31">
                  <ns0:v>0.03342628852</ns0:v>
                </ns0:pt>
                <ns0:pt idx="32">
                  <ns0:v>0.1892933249</ns0:v>
                </ns0:pt>
                <ns0:pt idx="33">
                  <ns0:v>0.2300905436</ns0:v>
                </ns0:pt>
                <ns0:pt idx="34">
                  <ns0:v>0.1845556647</ns0:v>
                </ns0:pt>
                <ns0:pt idx="35">
                  <ns0:v>0.09500621259</ns0:v>
                </ns0:pt>
                <ns0:pt idx="36">
                  <ns0:v>-0.07549091429</ns0:v>
                </ns0:pt>
                <ns0:pt idx="37">
                  <ns0:v>-0.09347132593</ns0:v>
                </ns0:pt>
                <ns0:pt idx="38">
                  <ns0:v>-0.06158731878</ns0:v>
                </ns0:pt>
                <ns0:pt idx="39">
                  <ns0:v>-0.1222561523</ns0:v>
                </ns0:pt>
                <ns0:pt idx="40">
                  <ns0:v>-0.05595196784</ns0:v>
                </ns0:pt>
                <ns0:pt idx="41">
                  <ns0:v>-0.1254413575</ns0:v>
                </ns0:pt>
                <ns0:pt idx="42">
                  <ns0:v>-0.05014234036</ns0:v>
                </ns0:pt>
                <ns0:pt idx="43">
                  <ns0:v>0.1466834694</ns0:v>
                </ns0:pt>
                <ns0:pt idx="44">
                  <ns0:v>0.1815084219</ns0:v>
                </ns0:pt>
                <ns0:pt idx="45">
                  <ns0:v>0.09332472086</ns0:v>
                </ns0:pt>
                <ns0:pt idx="46">
                  <ns0:v>0.02577953599</ns0:v>
                </ns0:pt>
                <ns0:pt idx="47">
                  <ns0:v>-0.1164821908</ns0:v>
                </ns0:pt>
                <ns0:pt idx="48">
                  <ns0:v>-0.1274120808</ns0:v>
                </ns0:pt>
                <ns0:pt idx="49">
                  <ns0:v>0.02027759142</ns0:v>
                </ns0:pt>
                <ns0:pt idx="50">
                  <ns0:v>-0.09619447589</ns0:v>
                </ns0:pt>
                <ns0:pt idx="51">
                  <ns0:v>-0.06813474</ns0:v>
                </ns0:pt>
                <ns0:pt idx="52">
                  <ns0:v>-0.05994371697</ns0:v>
                </ns0:pt>
                <ns0:pt idx="53">
                  <ns0:v>-0.1040211841</ns0:v>
                </ns0:pt>
                <ns0:pt idx="54">
                  <ns0:v>-0.2272797078</ns0:v>
                </ns0:pt>
                <ns0:pt idx="55">
                  <ns0:v>-0.1741682887</ns0:v>
                </ns0:pt>
                <ns0:pt idx="56">
                  <ns0:v>-0.0298915673</ns0:v>
                </ns0:pt>
                <ns0:pt idx="57">
                  <ns0:v>0.07980585098</ns0:v>
                </ns0:pt>
                <ns0:pt idx="58">
                  <ns0:v>0.06134951487</ns0:v>
                </ns0:pt>
                <ns0:pt idx="59">
                  <ns0:v>0.1093685851</ns0:v>
                </ns0:pt>
                <ns0:pt idx="60">
                  <ns0:v>0.1072480381</ns0:v>
                </ns0:pt>
                <ns0:pt idx="61">
                  <ns0:v>-0.1403704286</ns0:v>
                </ns0:pt>
                <ns0:pt idx="62">
                  <ns0:v>-0.3204514384</ns0:v>
                </ns0:pt>
                <ns0:pt idx="63">
                  <ns0:v>-0.526001215</ns0:v>
                </ns0:pt>
                <ns0:pt idx="64">
                  <ns0:v>-0.3263300359</ns0:v>
                </ns0:pt>
                <ns0:pt idx="65">
                  <ns0:v>-0.02398863994</ns0:v>
                </ns0:pt>
                <ns0:pt idx="66">
                  <ns0:v>0.1897838861</ns0:v>
                </ns0:pt>
                <ns0:pt idx="67">
                  <ns0:v>0.4427118897</ns0:v>
                </ns0:pt>
                <ns0:pt idx="68">
                  <ns0:v>0.3832730651</ns0:v>
                </ns0:pt>
                <ns0:pt idx="69">
                  <ns0:v>0.3246897161</ns0:v>
                </ns0:pt>
                <ns0:pt idx="70">
                  <ns0:v>0.2788538337</ns0:v>
                </ns0:pt>
                <ns0:pt idx="71">
                  <ns0:v>0.1200130433</ns0:v>
                </ns0:pt>
                <ns0:pt idx="72">
                  <ns0:v>-0.04997155815</ns0:v>
                </ns0:pt>
                <ns0:pt idx="73">
                  <ns0:v>-0.1958211809</ns0:v>
                </ns0:pt>
                <ns0:pt idx="74">
                  <ns0:v>-0.1554926038</ns0:v>
                </ns0:pt>
                <ns0:pt idx="75">
                  <ns0:v>-0.1178043857</ns0:v>
                </ns0:pt>
                <ns0:pt idx="76">
                  <ns0:v>-0.05116019025</ns0:v>
                </ns0:pt>
                <ns0:pt idx="77">
                  <ns0:v>0.1623256803</ns0:v>
                </ns0:pt>
                <ns0:pt idx="78">
                  <ns0:v>0.1928417981</ns0:v>
                </ns0:pt>
                <ns0:pt idx="79">
                  <ns0:v>0.06783463806</ns0:v>
                </ns0:pt>
                <ns0:pt idx="80">
                  <ns0:v>0.008995610289</ns0:v>
                </ns0:pt>
                <ns0:pt idx="81">
                  <ns0:v>0.107166931</ns0:v>
                </ns0:pt>
                <ns0:pt idx="82">
                  <ns0:v>-0.07705724239</ns0:v>
                </ns0:pt>
                <ns0:pt idx="83">
                  <ns0:v>-0.08133452386</ns0:v>
                </ns0:pt>
                <ns0:pt idx="84">
                  <ns0:v>-0.04076654091</ns0:v>
                </ns0:pt>
                <ns0:pt idx="85">
                  <ns0:v>-0.2076922357</ns0:v>
                </ns0:pt>
                <ns0:pt idx="86">
                  <ns0:v>-0.2402692884</ns0:v>
                </ns0:pt>
                <ns0:pt idx="87">
                  <ns0:v>-0.0589125976</ns0:v>
                </ns0:pt>
                <ns0:pt idx="88">
                  <ns0:v>-0.0953361392</ns0:v>
                </ns0:pt>
                <ns0:pt idx="89">
                  <ns0:v>0.00398932863</ns0:v>
                </ns0:pt>
                <ns0:pt idx="90">
                  <ns0:v>0.1759936213</ns0:v>
                </ns0:pt>
                <ns0:pt idx="91">
                  <ns0:v>0.103226997</ns0:v>
                </ns0:pt>
                <ns0:pt idx="92">
                  <ns0:v>0.1087967381</ns0:v>
                </ns0:pt>
                <ns0:pt idx="93">
                  <ns0:v>0.1361970007</ns0:v>
                </ns0:pt>
                <ns0:pt idx="94">
                  <ns0:v>0.001975505613</ns0:v>
                </ns0:pt>
                <ns0:pt idx="95">
                  <ns0:v>-0.08326241374</ns0:v>
                </ns0:pt>
                <ns0:pt idx="96">
                  <ns0:v>-0.02435494959</ns0:v>
                </ns0:pt>
                <ns0:pt idx="97">
                  <ns0:v>-0.01504024118</ns0:v>
                </ns0:pt>
                <ns0:pt idx="98">
                  <ns0:v>0.05163558945</ns0:v>
                </ns0:pt>
                <ns0:pt idx="99">
                  <ns0:v>0.1030492634</ns0:v>
                </ns0:pt>
                <ns0:pt idx="100">
                  <ns0:v>0.2355345488</ns0:v>
                </ns0:pt>
                <ns0:pt idx="101">
                  <ns0:v>0.1816117615</ns0:v>
                </ns0:pt>
                <ns0:pt idx="102">
                  <ns0:v>0.07130794972</ns0:v>
                </ns0:pt>
                <ns0:pt idx="103">
                  <ns0:v>-0.1957304925</ns0:v>
                </ns0:pt>
                <ns0:pt idx="104">
                  <ns0:v>-0.2991569042</ns0:v>
                </ns0:pt>
                <ns0:pt idx="105">
                  <ns0:v>-0.4407323599</ns0:v>
                </ns0:pt>
                <ns0:pt idx="106">
                  <ns0:v>-0.3597138822</ns0:v>
                </ns0:pt>
                <ns0:pt idx="107">
                  <ns0:v>-0.2714547217</ns0:v>
                </ns0:pt>
                <ns0:pt idx="108">
                  <ns0:v>-0.205748722</ns0:v>
                </ns0:pt>
                <ns0:pt idx="109">
                  <ns0:v>-0.1966038942</ns0:v>
                </ns0:pt>
                <ns0:pt idx="110">
                  <ns0:v>0.1048122346</ns0:v>
                </ns0:pt>
                <ns0:pt idx="111">
                  <ns0:v>0.3530865312</ns0:v>
                </ns0:pt>
                <ns0:pt idx="112">
                  <ns0:v>0.4737593234</ns0:v>
                </ns0:pt>
                <ns0:pt idx="113">
                  <ns0:v>0.4578146338</ns0:v>
                </ns0:pt>
                <ns0:pt idx="114">
                  <ns0:v>0.275390476</ns0:v>
                </ns0:pt>
                <ns0:pt idx="115">
                  <ns0:v>-0.03364009038</ns0:v>
                </ns0:pt>
                <ns0:pt idx="116">
                  <ns0:v>-0.3351922929</ns0:v>
                </ns0:pt>
                <ns0:pt idx="117">
                  <ns0:v>-0.4612815678</ns0:v>
                </ns0:pt>
                <ns0:pt idx="118">
                  <ns0:v>-0.5349333882</ns0:v>
                </ns0:pt>
                <ns0:pt idx="119">
                  <ns0:v>-0.5048159361</ns0:v>
                </ns0:pt>
                <ns0:pt idx="120">
                  <ns0:v>-0.3905264735</ns0:v>
                </ns0:pt>
                <ns0:pt idx="121">
                  <ns0:v>-0.1282898933</ns0:v>
                </ns0:pt>
                <ns0:pt idx="122">
                  <ns0:v>-0.04704486579</ns0:v>
                </ns0:pt>
                <ns0:pt idx="123">
                  <ns0:v>0.10425964</ns0:v>
                </ns0:pt>
                <ns0:pt idx="124">
                  <ns0:v>0.1992921382</ns0:v>
                </ns0:pt>
                <ns0:pt idx="125">
                  <ns0:v>0.2400876284</ns0:v>
                </ns0:pt>
                <ns0:pt idx="126">
                  <ns0:v>0.2154921591</ns0:v>
                </ns0:pt>
                <ns0:pt idx="127">
                  <ns0:v>0.1650613248</ns0:v>
                </ns0:pt>
                <ns0:pt idx="128">
                  <ns0:v>0.2242585421</ns0:v>
                </ns0:pt>
                <ns0:pt idx="129">
                  <ns0:v>0.1528497487</ns0:v>
                </ns0:pt>
                <ns0:pt idx="130">
                  <ns0:v>0.05855767801</ns0:v>
                </ns0:pt>
                <ns0:pt idx="131">
                  <ns0:v>0.1099636331</ns0:v>
                </ns0:pt>
                <ns0:pt idx="132">
                  <ns0:v>0.1105262339</ns0:v>
                </ns0:pt>
                <ns0:pt idx="133">
                  <ns0:v>0.06243151054</ns0:v>
                </ns0:pt>
                <ns0:pt idx="134">
                  <ns0:v>0.02531114221</ns0:v>
                </ns0:pt>
                <ns0:pt idx="135">
                  <ns0:v>-0.1470971704</ns0:v>
                </ns0:pt>
                <ns0:pt idx="136">
                  <ns0:v>-0.3680377901</ns0:v>
                </ns0:pt>
                <ns0:pt idx="137">
                  <ns0:v>-0.4108746052</ns0:v>
                </ns0:pt>
                <ns0:pt idx="138">
                  <ns0:v>-0.4202474058</ns0:v>
                </ns0:pt>
                <ns0:pt idx="139">
                  <ns0:v>-0.3203870356</ns0:v>
                </ns0:pt>
                <ns0:pt idx="140">
                  <ns0:v>-0.1193187833</ns0:v>
                </ns0:pt>
                <ns0:pt idx="141">
                  <ns0:v>-0.02478080802</ns0:v>
                </ns0:pt>
                <ns0:pt idx="142">
                  <ns0:v>-0.03919444606</ns0:v>
                </ns0:pt>
                <ns0:pt idx="143">
                  <ns0:v>0.04074673355</ns0:v>
                </ns0:pt>
                <ns0:pt idx="144">
                  <ns0:v>0.007794662844</ns0:v>
                </ns0:pt>
                <ns0:pt idx="145">
                  <ns0:v>-0.03847320378</ns0:v>
                </ns0:pt>
                <ns0:pt idx="146">
                  <ns0:v>-0.197427243</ns0:v>
                </ns0:pt>
                <ns0:pt idx="147">
                  <ns0:v>-0.1848290712</ns0:v>
                </ns0:pt>
                <ns0:pt idx="148">
                  <ns0:v>-0.1237639189</ns0:v>
                </ns0:pt>
                <ns0:pt idx="149">
                  <ns0:v>0.162465632</ns0:v>
                </ns0:pt>
                <ns0:pt idx="150">
                  <ns0:v>0.1595117599</ns0:v>
                </ns0:pt>
                <ns0:pt idx="151">
                  <ns0:v>0.03773475066</ns0:v>
                </ns0:pt>
                <ns0:pt idx="152">
                  <ns0:v>0.070949696</ns0:v>
                </ns0:pt>
                <ns0:pt idx="153">
                  <ns0:v>0.1124987602</ns0:v>
                </ns0:pt>
                <ns0:pt idx="154">
                  <ns0:v>0.187400654</ns0:v>
                </ns0:pt>
                <ns0:pt idx="155">
                  <ns0:v>0.2499486357</ns0:v>
                </ns0:pt>
                <ns0:pt idx="156">
                  <ns0:v>-0.04295937717</ns0:v>
                </ns0:pt>
                <ns0:pt idx="157">
                  <ns0:v>-0.2460066676</ns0:v>
                </ns0:pt>
                <ns0:pt idx="158">
                  <ns0:v>-0.04154007509</ns0:v>
                </ns0:pt>
                <ns0:pt idx="159">
                  <ns0:v>0.09819173068</ns0:v>
                </ns0:pt>
                <ns0:pt idx="160">
                  <ns0:v>0.1285238862</ns0:v>
                </ns0:pt>
                <ns0:pt idx="161">
                  <ns0:v>-0.1119415238</ns0:v>
                </ns0:pt>
                <ns0:pt idx="162">
                  <ns0:v>-0.02286622114</ns0:v>
                </ns0:pt>
                <ns0:pt idx="163">
                  <ns0:v>0.2185493857</ns0:v>
                </ns0:pt>
                <ns0:pt idx="164">
                  <ns0:v>0.1569556147</ns0:v>
                </ns0:pt>
                <ns0:pt idx="165">
                  <ns0:v>-0.1272694319</ns0:v>
                </ns0:pt>
                <ns0:pt idx="166">
                  <ns0:v>0.01747953892</ns0:v>
                </ns0:pt>
                <ns0:pt idx="167">
                  <ns0:v>0.3728615642</ns0:v>
                </ns0:pt>
                <ns0:pt idx="168">
                  <ns0:v>0.2708908319</ns0:v>
                </ns0:pt>
                <ns0:pt idx="169">
                  <ns0:v>0.2315247953</ns0:v>
                </ns0:pt>
                <ns0:pt idx="170">
                  <ns0:v>0.07104267925</ns0:v>
                </ns0:pt>
                <ns0:pt idx="171">
                  <ns0:v>-0.01575020328</ns0:v>
                </ns0:pt>
                <ns0:pt idx="172">
                  <ns0:v>-0.1153170317</ns0:v>
                </ns0:pt>
                <ns0:pt idx="173">
                  <ns0:v>-0.1940657198</ns0:v>
                </ns0:pt>
                <ns0:pt idx="174">
                  <ns0:v>-0.2112548053</ns0:v>
                </ns0:pt>
                <ns0:pt idx="175">
                  <ns0:v>-0.1968040913</ns0:v>
                </ns0:pt>
                <ns0:pt idx="176">
                  <ns0:v>-0.1755866259</ns0:v>
                </ns0:pt>
                <ns0:pt idx="177">
                  <ns0:v>-0.04602459073</ns0:v>
                </ns0:pt>
                <ns0:pt idx="178">
                  <ns0:v>0.07203241438</ns0:v>
                </ns0:pt>
                <ns0:pt idx="179">
                  <ns0:v>0.2323141992</ns0:v>
                </ns0:pt>
                <ns0:pt idx="180">
                  <ns0:v>0.3982498944</ns0:v>
                </ns0:pt>
                <ns0:pt idx="181">
                  <ns0:v>0.3420746624</ns0:v>
                </ns0:pt>
                <ns0:pt idx="182">
                  <ns0:v>0.1915397793</ns0:v>
                </ns0:pt>
                <ns0:pt idx="183">
                  <ns0:v>0.2986586094</ns0:v>
                </ns0:pt>
                <ns0:pt idx="184">
                  <ns0:v>0.3451872468</ns0:v>
                </ns0:pt>
                <ns0:pt idx="185">
                  <ns0:v>0.2304425389</ns0:v>
                </ns0:pt>
                <ns0:pt idx="186">
                  <ns0:v>0.04841839895</ns0:v>
                </ns0:pt>
                <ns0:pt idx="187">
                  <ns0:v>-0.2090899348</ns0:v>
                </ns0:pt>
                <ns0:pt idx="188">
                  <ns0:v>-0.4842720032</ns0:v>
                </ns0:pt>
                <ns0:pt idx="189">
                  <ns0:v>-0.5785962343</ns0:v>
                </ns0:pt>
                <ns0:pt idx="190">
                  <ns0:v>-0.444396019</ns0:v>
                </ns0:pt>
                <ns0:pt idx="191">
                  <ns0:v>-0.06031043828</ns0:v>
                </ns0:pt>
                <ns0:pt idx="192">
                  <ns0:v>-0.5610570908</ns0:v>
                </ns0:pt>
              </ns0:numCache>
            </ns0:numRef>
          </ns0:yVal>
        </ns0:ser>
        <ns0:dLbls>
          <ns0:txPr>
            <ns1:bodyPr anchorCtr="1"/>
            <ns1:lstStyle/>
            <ns1:p>
              <ns1:pPr>
                <ns1:defRPr>
                  <ns1:latin typeface="Arial"/>
                  <ns1:ea typeface="Arial"/>
                  <ns1:cs typeface="Arial"/>
                </ns1:defRPr>
              </ns1:pPr>
            </ns1:p>
          </ns0:txPr>
          <ns0:showLegendKey val="0"/>
          <ns0:showVal val="0"/>
          <ns0:showCatName val="0"/>
          <ns0:showSerName val="0"/>
          <ns0:showPercent val="0"/>
          <ns0:showBubbleSize val="0"/>
          <ns0:showLeaderLines val="0"/>
        </ns0:dLbls>
        <ns0:axId val="48650112"/>
        <ns0:axId val="48672768"/>
      </ns0:scatterChart>
      <ns0:valAx>
        <ns0:axId val="48672768"/>
        <ns0:scaling>
          <ns0:orientation val="minMax"/>
          <ns0:max val="0.8"/>
          <ns0:min val="-0.8"/>
        </ns0:scaling>
        <ns0:delete val="0"/>
        <ns0:axPos val="l"/>
        <ns0:majorGridlines>
          <ns0:spPr>
            <ns1:ln w="9525">
              <ns1:solidFill>
                <ns1:srgbClr val="E0E5EB"/>
              </ns1:solidFill>
              <ns1:prstDash val="solid"/>
            </ns1:ln>
          </ns0:spPr>
        </ns0:majorGridlines>
        <ns0:title>
          <ns0:tx>
            <ns0:rich>
              <ns1:bodyPr/>
              <ns1:lstStyle/>
              <ns1:p>
                <ns1:r>
                  <ns1:rPr sz="1500">
                    <ns1:latin typeface="Arial"/>
                    <ns1:ea typeface="Arial"/>
                    <ns1:cs typeface="Arial"/>
                  </ns1:rPr>
                  <ns1:t>Observed state</ns1:t>
                </ns1:r>
              </ns1:p>
            </ns0:rich>
          </ns0:tx>
          <ns0:overlay val="0"/>
          <ns0:txPr>
            <ns1:bodyPr anchorCtr="1"/>
            <ns1:lstStyle/>
            <ns1:p>
              <ns1:pPr>
                <ns1:defRPr sz="1500">
                  <ns1:latin typeface="Arial"/>
                  <ns1:ea typeface="Arial"/>
                  <ns1:cs typeface="Arial"/>
                </ns1:defRPr>
              </ns1:pPr>
            </ns1:p>
          </ns0:txPr>
        </ns0:title>
        <ns0:numFmt formatCode="0.0"/>
        <ns0:majorTickMark val="none"/>
        <ns0:minorTickMark val="none"/>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50112"/>
        <ns0:crossesAt val="-0.8"/>
      </ns0:valAx>
      <ns0:valAx>
        <ns0:axId val="48650112"/>
        <ns0:scaling>
          <ns0:orientation val="minMax"/>
          <ns0:max val="192"/>
          <ns0:min val="0"/>
        </ns0:scaling>
        <ns0:delete val="0"/>
        <ns0:axPos val="b"/>
        <ns0:title>
          <ns0:tx>
            <ns0:rich>
              <ns1:bodyPr/>
              <ns1:lstStyle/>
              <ns1:p>
                <ns1:r>
                  <ns1:rPr sz="1500">
                    <ns1:latin typeface="Arial"/>
                    <ns1:ea typeface="Arial"/>
                    <ns1:cs typeface="Arial"/>
                  </ns1:rPr>
                  <ns1:t>Time step</ns1:t>
                </ns1:r>
              </ns1:p>
            </ns0:rich>
          </ns0:tx>
          <ns0:overlay val="0"/>
          <ns0:txPr>
            <ns1:bodyPr anchorCtr="1"/>
            <ns1:lstStyle/>
            <ns1:p>
              <ns1:pPr>
                <ns1:defRPr sz="1500">
                  <ns1:latin typeface="Arial"/>
                  <ns1:ea typeface="Arial"/>
                  <ns1:cs typeface="Arial"/>
                </ns1:defRPr>
              </ns1:pPr>
            </ns1:p>
          </ns0:txPr>
        </ns0:title>
        <ns0:numFmt formatCode="General"/>
        <ns0:majorTickMark val="none"/>
        <ns0:minorTickMark val="none"/>
        <ns0:tickLblPos val="low"/>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72768"/>
        <ns0:majorUnit val="32"/>
      </ns0:valAx>
      <ns0:spPr>
        <ns1:solidFill>
          <ns1:srgbClr val="FFFFFF"/>
        </ns1:solidFill>
      </ns0:spPr>
    </ns0:plotArea>
    <ns0:legend>
      <ns0:legendPos val="b"/>
      <ns0:overlay val="0"/>
      <ns0:txPr>
        <ns1:bodyPr anchorCtr="1"/>
        <ns1:lstStyle/>
        <ns1:p>
          <ns1:pPr>
            <ns1:defRPr sz="1350">
              <ns1:latin typeface="Arial"/>
              <ns1:ea typeface="Arial"/>
              <ns1:cs typeface="Arial"/>
            </ns1:defRPr>
          </ns1:pPr>
        </ns1:p>
      </ns0:txPr>
    </ns0:legend>
    <ns0:plotVisOnly val="1"/>
  </ns0:chart>
  <ns0:spPr>
    <ns1:solidFill>
      <ns1:srgbClr val="FFFFFF"/>
    </ns1:solidFill>
  </ns0:spPr>
  <ns0:externalData ns2:id="rIdChartSnapshot1">
    <ns0:autoUpdate val="0"/>
  </ns0:externalData>
</ns0:chartSpace>
</file>

<file path=ppt/slides/charts/chart2.xml><?xml version="1.0" encoding="utf-8"?>
<ns0:chartSpace xmlns:ns0="http://schemas.openxmlformats.org/drawingml/2006/chart" xmlns:ns1="http://schemas.openxmlformats.org/drawingml/2006/main" xmlns:ns2="http://schemas.openxmlformats.org/officeDocument/2006/relationships">
  <ns0:lang val="en-US"/>
  <ns0:chart>
    <ns0:plotArea>
      <ns0:barChart>
        <ns0:barDir val="col"/>
        <ns0:grouping val="clustered"/>
        <ns0:varyColors val="0"/>
        <ns0:ser>
          <ns0:idx val="0"/>
          <ns0:order val="0"/>
          <ns0:tx>
            <ns0:v>Mean test MSE</ns0:v>
          </ns0:tx>
          <ns0:spPr>
            <ns1:solidFill>
              <ns1:srgbClr val="152B45"/>
            </ns1:solidFill>
          </ns0:spPr>
          <ns0:dPt>
            <ns0:idx val="0"/>
            <ns0:invertIfNegative val="0"/>
            <ns0:spPr>
              <ns1:solidFill>
                <ns1:srgbClr val="5276A4"/>
              </ns1:solidFill>
            </ns0:spPr>
          </ns0:dPt>
          <ns0:dPt>
            <ns0:idx val="1"/>
            <ns0:invertIfNegative val="0"/>
            <ns0:spPr>
              <ns1:solidFill>
                <ns1:srgbClr val="152B45"/>
              </ns1:solidFill>
            </ns0:spPr>
          </ns0:dPt>
          <ns0:dPt>
            <ns0:idx val="2"/>
            <ns0:invertIfNegative val="0"/>
            <ns0:spPr>
              <ns1:solidFill>
                <ns1:srgbClr val="B67818"/>
              </ns1:solidFill>
            </ns0:spPr>
          </ns0:dPt>
          <ns0:dPt>
            <ns0:idx val="3"/>
            <ns0:invertIfNegative val="0"/>
            <ns0:spPr>
              <ns1:solidFill>
                <ns1:srgbClr val="8B7AA8"/>
              </ns1:solidFill>
            </ns0:spPr>
          </ns0:dPt>
          <ns0:dPt>
            <ns0:idx val="4"/>
            <ns0:invertIfNegative val="0"/>
            <ns0:spPr>
              <ns1:solidFill>
                <ns1:srgbClr val="087E8B"/>
              </ns1:solidFill>
            </ns0:spPr>
          </ns0:dPt>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cat>
            <ns0:strRef>
              <ns0:f>'Chart Data'!$A$2:$A$6</ns0:f>
              <ns0:strCache>
                <ns0:ptCount val="5"/>
                <ns0:pt idx="0">
                  <ns0:v>Dense active</ns0:v>
                </ns0:pt>
                <ns0:pt idx="1">
                  <ns0:v>Dense total</ns0:v>
                </ns0:pt>
                <ns0:pt idx="2">
                  <ns0:v>Learned MoE</ns0:v>
                </ns0:pt>
                <ns0:pt idx="3">
                  <ns0:v>Random routing</ns0:v>
                </ns0:pt>
                <ns0:pt idx="4">
                  <ns0:v>Oracle</ns0:v>
                </ns0:pt>
              </ns0:strCache>
            </ns0:strRef>
          </ns0:cat>
          <ns0:val>
            <ns0:numRef>
              <ns0:f>'Chart Data'!$B$2:$B$6</ns0:f>
              <ns0:numCache>
                <ns0:formatCode>0.000</ns0:formatCode>
                <ns0:ptCount val="5"/>
                <ns0:pt idx="0">
                  <ns0:v>0.01113085728</ns0:v>
                </ns0:pt>
                <ns0:pt idx="1">
                  <ns0:v>0.01106755622</ns0:v>
                </ns0:pt>
                <ns0:pt idx="2">
                  <ns0:v>0.01146624424</ns0:v>
                </ns0:pt>
                <ns0:pt idx="3">
                  <ns0:v>0.01170458055</ns0:v>
                </ns0:pt>
                <ns0:pt idx="4">
                  <ns0:v>0.006670727084</ns0:v>
                </ns0:pt>
              </ns0:numCache>
            </ns0:numRef>
          </ns0:val>
        </ns0:ser>
        <ns0:dLbls>
          <ns0:numFmt formatCode="0.00000" sourceLinked="0"/>
          <ns0:txPr>
            <ns1:bodyPr anchorCtr="1"/>
            <ns1:lstStyle/>
            <ns1:p>
              <ns1:pPr>
                <ns1:defRPr sz="1500">
                  <ns1:latin typeface="Arial"/>
                  <ns1:ea typeface="Arial"/>
                  <ns1:cs typeface="Arial"/>
                </ns1:defRPr>
              </ns1:pPr>
            </ns1:p>
          </ns0:txPr>
          <ns0:dLblPos val="outEnd"/>
          <ns0:showLegendKey val="0"/>
          <ns0:showVal val="1"/>
          <ns0:showCatName val="0"/>
          <ns0:showSerName val="0"/>
          <ns0:showPercent val="0"/>
          <ns0:showBubbleSize val="0"/>
          <ns0:showLeaderLines val="0"/>
        </ns0:dLbls>
        <ns0:gapWidth val="80"/>
        <ns0:axId val="48650112"/>
        <ns0:axId val="48672768"/>
      </ns0:barChart>
      <ns0:catAx>
        <ns0:axId val="48650112"/>
        <ns0:scaling>
          <ns0:orientation val="minMax"/>
        </ns0:scaling>
        <ns0:delete val="0"/>
        <ns0:axPos val="b"/>
        <ns0:title>
          <ns0:txPr>
            <ns1:bodyPr anchorCtr="1"/>
            <ns1:lstStyle/>
            <ns1:p>
              <ns1:pPr>
                <ns1:defRPr sz="1500"/>
              </ns1:pPr>
            </ns1:p>
          </ns0:txPr>
        </ns0:title>
        <ns0:numFmt formatCode="General"/>
        <ns0:majorTickMark val="none"/>
        <ns0:minorTickMark val="none"/>
        <ns0:tickLblPos val="low"/>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72768"/>
      </ns0:catAx>
      <ns0:valAx>
        <ns0:axId val="48672768"/>
        <ns0:scaling>
          <ns0:orientation val="minMax"/>
          <ns0:max val="0.014"/>
          <ns0:min val="0"/>
        </ns0:scaling>
        <ns0:delete val="0"/>
        <ns0:axPos val="l"/>
        <ns0:majorGridlines>
          <ns0:spPr>
            <ns1:ln w="9525">
              <ns1:solidFill>
                <ns1:srgbClr val="E0E5EB"/>
              </ns1:solidFill>
              <ns1:prstDash val="solid"/>
            </ns1:ln>
          </ns0:spPr>
        </ns0:majorGridlines>
        <ns0:title>
          <ns0:tx>
            <ns0:rich>
              <ns1:bodyPr/>
              <ns1:lstStyle/>
              <ns1:p>
                <ns1:r>
                  <ns1:rPr sz="1500">
                    <ns1:latin typeface="Arial"/>
                    <ns1:ea typeface="Arial"/>
                    <ns1:cs typeface="Arial"/>
                  </ns1:rPr>
                  <ns1:t>Original-unit MSE</ns1:t>
                </ns1:r>
              </ns1:p>
            </ns0:rich>
          </ns0:tx>
          <ns0:overlay val="0"/>
          <ns0:txPr>
            <ns1:bodyPr anchorCtr="1"/>
            <ns1:lstStyle/>
            <ns1:p>
              <ns1:pPr>
                <ns1:defRPr sz="1500">
                  <ns1:latin typeface="Arial"/>
                  <ns1:ea typeface="Arial"/>
                  <ns1:cs typeface="Arial"/>
                </ns1:defRPr>
              </ns1:pPr>
            </ns1:p>
          </ns0:txPr>
        </ns0:title>
        <ns0:numFmt formatCode="0.000"/>
        <ns0:majorTickMark val="none"/>
        <ns0:minorTickMark val="none"/>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50112"/>
        <ns0:crossBetween val="between"/>
        <ns0:majorUnit val="0.002"/>
      </ns0:valAx>
      <ns0:spPr>
        <ns1:solidFill>
          <ns1:srgbClr val="FFFFFF"/>
        </ns1:solidFill>
      </ns0:spPr>
    </ns0:plotArea>
    <ns0:plotVisOnly val="1"/>
  </ns0:chart>
  <ns0:spPr>
    <ns1:solidFill>
      <ns1:srgbClr val="FFFFFF"/>
    </ns1:solidFill>
  </ns0:spPr>
  <ns0:externalData ns2:id="rIdChartSnapshot1">
    <ns0:autoUpdate val="0"/>
  </ns0:externalData>
</ns0:chartSpace>
</file>

<file path=ppt/slides/charts/chart3.xml><?xml version="1.0" encoding="utf-8"?>
<ns0:chartSpace xmlns:ns0="http://schemas.openxmlformats.org/drawingml/2006/chart" xmlns:ns1="http://schemas.openxmlformats.org/drawingml/2006/main" xmlns:ns2="http://schemas.openxmlformats.org/officeDocument/2006/relationships">
  <ns0:lang val="en-US"/>
  <ns0:chart>
    <ns0:plotArea>
      <ns0:barChart>
        <ns0:barDir val="col"/>
        <ns0:grouping val="clustered"/>
        <ns0:varyColors val="0"/>
        <ns0:ser>
          <ns0:idx val="0"/>
          <ns0:order val="0"/>
          <ns0:tx>
            <ns0:v>Dense active</ns0:v>
          </ns0:tx>
          <ns0:spPr>
            <ns1:solidFill>
              <ns1:srgbClr val="5276A4"/>
            </ns1:solidFill>
          </ns0:spP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cat>
            <ns0:strRef>
              <ns0:f>'Chart Data'!$A$2:$A$4</ns0:f>
              <ns0:strCache>
                <ns0:ptCount val="3"/>
                <ns0:pt idx="0">
                  <ns0:v>Seed 7</ns0:v>
                </ns0:pt>
                <ns0:pt idx="1">
                  <ns0:v>Seed 17</ns0:v>
                </ns0:pt>
                <ns0:pt idx="2">
                  <ns0:v>Seed 27</ns0:v>
                </ns0:pt>
              </ns0:strCache>
            </ns0:strRef>
          </ns0:cat>
          <ns0:val>
            <ns0:numRef>
              <ns0:f>'Chart Data'!$B$2:$B$4</ns0:f>
              <ns0:numCache>
                <ns0:formatCode>0.000</ns0:formatCode>
                <ns0:ptCount val="3"/>
                <ns0:pt idx="0">
                  <ns0:v>0.01118172053</ns0:v>
                </ns0:pt>
                <ns0:pt idx="1">
                  <ns0:v>0.01131236088</ns0:v>
                </ns0:pt>
                <ns0:pt idx="2">
                  <ns0:v>0.01089849044</ns0:v>
                </ns0:pt>
              </ns0:numCache>
            </ns0:numRef>
          </ns0:val>
        </ns0:ser>
        <ns0:ser>
          <ns0:idx val="1"/>
          <ns0:order val="1"/>
          <ns0:tx>
            <ns0:v>Dense total</ns0:v>
          </ns0:tx>
          <ns0:spPr>
            <ns1:solidFill>
              <ns1:srgbClr val="152B45"/>
            </ns1:solidFill>
          </ns0:spP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cat>
            <ns0:strRef>
              <ns0:f>'Chart Data'!$C$2:$C$4</ns0:f>
              <ns0:strCache>
                <ns0:ptCount val="3"/>
                <ns0:pt idx="0">
                  <ns0:v>Seed 7</ns0:v>
                </ns0:pt>
                <ns0:pt idx="1">
                  <ns0:v>Seed 17</ns0:v>
                </ns0:pt>
                <ns0:pt idx="2">
                  <ns0:v>Seed 27</ns0:v>
                </ns0:pt>
              </ns0:strCache>
            </ns0:strRef>
          </ns0:cat>
          <ns0:val>
            <ns0:numRef>
              <ns0:f>'Chart Data'!$D$2:$D$4</ns0:f>
              <ns0:numCache>
                <ns0:formatCode>0.000</ns0:formatCode>
                <ns0:ptCount val="3"/>
                <ns0:pt idx="0">
                  <ns0:v>0.01111641992</ns0:v>
                </ns0:pt>
                <ns0:pt idx="1">
                  <ns0:v>0.01120240986</ns0:v>
                </ns0:pt>
                <ns0:pt idx="2">
                  <ns0:v>0.01088383887</ns0:v>
                </ns0:pt>
              </ns0:numCache>
            </ns0:numRef>
          </ns0:val>
        </ns0:ser>
        <ns0:ser>
          <ns0:idx val="2"/>
          <ns0:order val="2"/>
          <ns0:tx>
            <ns0:v>Learned MoE</ns0:v>
          </ns0:tx>
          <ns0:spPr>
            <ns1:solidFill>
              <ns1:srgbClr val="B67818"/>
            </ns1:solidFill>
          </ns0:spP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cat>
            <ns0:strRef>
              <ns0:f>'Chart Data'!$E$2:$E$4</ns0:f>
              <ns0:strCache>
                <ns0:ptCount val="3"/>
                <ns0:pt idx="0">
                  <ns0:v>Seed 7</ns0:v>
                </ns0:pt>
                <ns0:pt idx="1">
                  <ns0:v>Seed 17</ns0:v>
                </ns0:pt>
                <ns0:pt idx="2">
                  <ns0:v>Seed 27</ns0:v>
                </ns0:pt>
              </ns0:strCache>
            </ns0:strRef>
          </ns0:cat>
          <ns0:val>
            <ns0:numRef>
              <ns0:f>'Chart Data'!$F$2:$F$4</ns0:f>
              <ns0:numCache>
                <ns0:formatCode>0.000</ns0:formatCode>
                <ns0:ptCount val="3"/>
                <ns0:pt idx="0">
                  <ns0:v>0.01159137301</ns0:v>
                </ns0:pt>
                <ns0:pt idx="1">
                  <ns0:v>0.01147943921</ns0:v>
                </ns0:pt>
                <ns0:pt idx="2">
                  <ns0:v>0.01132792048</ns0:v>
                </ns0:pt>
              </ns0:numCache>
            </ns0:numRef>
          </ns0:val>
        </ns0:ser>
        <ns0:dLbls>
          <ns0:txPr>
            <ns1:bodyPr anchorCtr="1"/>
            <ns1:lstStyle/>
            <ns1:p>
              <ns1:pPr>
                <ns1:defRPr>
                  <ns1:latin typeface="Arial"/>
                  <ns1:ea typeface="Arial"/>
                  <ns1:cs typeface="Arial"/>
                </ns1:defRPr>
              </ns1:pPr>
            </ns1:p>
          </ns0:txPr>
          <ns0:showLegendKey val="0"/>
          <ns0:showVal val="0"/>
          <ns0:showCatName val="0"/>
          <ns0:showSerName val="0"/>
          <ns0:showPercent val="0"/>
          <ns0:showBubbleSize val="0"/>
          <ns0:showLeaderLines val="0"/>
        </ns0:dLbls>
        <ns0:gapWidth val="90"/>
        <ns0:axId val="48650112"/>
        <ns0:axId val="48672768"/>
      </ns0:barChart>
      <ns0:catAx>
        <ns0:axId val="48650112"/>
        <ns0:scaling>
          <ns0:orientation val="minMax"/>
        </ns0:scaling>
        <ns0:delete val="0"/>
        <ns0:axPos val="b"/>
        <ns0:title>
          <ns0:txPr>
            <ns1:bodyPr anchorCtr="1"/>
            <ns1:lstStyle/>
            <ns1:p>
              <ns1:pPr>
                <ns1:defRPr sz="1500"/>
              </ns1:pPr>
            </ns1:p>
          </ns0:txPr>
        </ns0:title>
        <ns0:numFmt formatCode="General"/>
        <ns0:majorTickMark val="none"/>
        <ns0:minorTickMark val="none"/>
        <ns0:tickLblPos val="low"/>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72768"/>
      </ns0:catAx>
      <ns0:valAx>
        <ns0:axId val="48672768"/>
        <ns0:scaling>
          <ns0:orientation val="minMax"/>
          <ns0:max val="0.014"/>
          <ns0:min val="0"/>
        </ns0:scaling>
        <ns0:delete val="0"/>
        <ns0:axPos val="l"/>
        <ns0:majorGridlines>
          <ns0:spPr>
            <ns1:ln w="9525">
              <ns1:solidFill>
                <ns1:srgbClr val="E0E5EB"/>
              </ns1:solidFill>
              <ns1:prstDash val="solid"/>
            </ns1:ln>
          </ns0:spPr>
        </ns0:majorGridlines>
        <ns0:title>
          <ns0:tx>
            <ns0:rich>
              <ns1:bodyPr/>
              <ns1:lstStyle/>
              <ns1:p>
                <ns1:r>
                  <ns1:rPr sz="1500">
                    <ns1:latin typeface="Arial"/>
                    <ns1:ea typeface="Arial"/>
                    <ns1:cs typeface="Arial"/>
                  </ns1:rPr>
                  <ns1:t>Test MSE</ns1:t>
                </ns1:r>
              </ns1:p>
            </ns0:rich>
          </ns0:tx>
          <ns0:overlay val="0"/>
          <ns0:txPr>
            <ns1:bodyPr anchorCtr="1"/>
            <ns1:lstStyle/>
            <ns1:p>
              <ns1:pPr>
                <ns1:defRPr sz="1500">
                  <ns1:latin typeface="Arial"/>
                  <ns1:ea typeface="Arial"/>
                  <ns1:cs typeface="Arial"/>
                </ns1:defRPr>
              </ns1:pPr>
            </ns1:p>
          </ns0:txPr>
        </ns0:title>
        <ns0:numFmt formatCode="0.000"/>
        <ns0:majorTickMark val="none"/>
        <ns0:minorTickMark val="none"/>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50112"/>
        <ns0:crossBetween val="between"/>
      </ns0:valAx>
      <ns0:spPr>
        <ns1:solidFill>
          <ns1:srgbClr val="FFFFFF"/>
        </ns1:solidFill>
      </ns0:spPr>
    </ns0:plotArea>
    <ns0:legend>
      <ns0:legendPos val="b"/>
      <ns0:overlay val="0"/>
      <ns0:txPr>
        <ns1:bodyPr anchorCtr="1"/>
        <ns1:lstStyle/>
        <ns1:p>
          <ns1:pPr>
            <ns1:defRPr sz="1350">
              <ns1:latin typeface="Arial"/>
              <ns1:ea typeface="Arial"/>
              <ns1:cs typeface="Arial"/>
            </ns1:defRPr>
          </ns1:pPr>
        </ns1:p>
      </ns0:txPr>
    </ns0:legend>
    <ns0:plotVisOnly val="1"/>
  </ns0:chart>
  <ns0:spPr>
    <ns1:solidFill>
      <ns1:srgbClr val="FFFFFF"/>
    </ns1:solidFill>
  </ns0:spPr>
  <ns0:externalData ns2:id="rIdChartSnapshot1">
    <ns0:autoUpdate val="0"/>
  </ns0:externalData>
</ns0:chartSpace>
</file>

<file path=ppt/slides/charts/chart4.xml><?xml version="1.0" encoding="utf-8"?>
<ns0:chartSpace xmlns:ns0="http://schemas.openxmlformats.org/drawingml/2006/chart" xmlns:ns1="http://schemas.openxmlformats.org/drawingml/2006/main" xmlns:ns2="http://schemas.openxmlformats.org/officeDocument/2006/relationships">
  <ns0:lang val="en-US"/>
  <ns0:chart>
    <ns0:plotArea>
      <ns0:scatterChart>
        <ns0:scatterStyle val="line"/>
        <ns0:varyColors val="0"/>
        <ns0:ser>
          <ns0:idx val="0"/>
          <ns0:order val="0"/>
          <ns0:tx>
            <ns0:v>Dense active</ns0:v>
          </ns0:tx>
          <ns0:spPr>
            <ns1:ln w="28575">
              <ns1:solidFill>
                <ns1:srgbClr val="5276A4"/>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Data'!$A$2:$A$41</ns0:f>
              <ns0:numCache>
                <ns0:formatCode>General</ns0:formatCode>
                <ns0:ptCount val="40"/>
                <ns0:pt idx="0">
                  <ns0:v>1</ns0:v>
                </ns0:pt>
                <ns0:pt idx="1">
                  <ns0:v>2</ns0:v>
                </ns0:pt>
                <ns0:pt idx="2">
                  <ns0:v>3</ns0:v>
                </ns0:pt>
                <ns0:pt idx="3">
                  <ns0:v>4</ns0:v>
                </ns0:pt>
                <ns0:pt idx="4">
                  <ns0:v>5</ns0:v>
                </ns0:pt>
                <ns0:pt idx="5">
                  <ns0:v>6</ns0:v>
                </ns0:pt>
                <ns0:pt idx="6">
                  <ns0:v>7</ns0:v>
                </ns0:pt>
                <ns0:pt idx="7">
                  <ns0:v>8</ns0:v>
                </ns0:pt>
                <ns0:pt idx="8">
                  <ns0:v>9</ns0:v>
                </ns0:pt>
                <ns0:pt idx="9">
                  <ns0:v>10</ns0:v>
                </ns0:pt>
                <ns0:pt idx="10">
                  <ns0:v>11</ns0:v>
                </ns0:pt>
                <ns0:pt idx="11">
                  <ns0:v>12</ns0:v>
                </ns0:pt>
                <ns0:pt idx="12">
                  <ns0:v>13</ns0:v>
                </ns0:pt>
                <ns0:pt idx="13">
                  <ns0:v>14</ns0:v>
                </ns0:pt>
                <ns0:pt idx="14">
                  <ns0:v>15</ns0:v>
                </ns0:pt>
                <ns0:pt idx="15">
                  <ns0:v>16</ns0:v>
                </ns0:pt>
                <ns0:pt idx="16">
                  <ns0:v>17</ns0:v>
                </ns0:pt>
                <ns0:pt idx="17">
                  <ns0:v>18</ns0:v>
                </ns0:pt>
                <ns0:pt idx="18">
                  <ns0:v>19</ns0:v>
                </ns0:pt>
                <ns0:pt idx="19">
                  <ns0:v>20</ns0:v>
                </ns0:pt>
                <ns0:pt idx="20">
                  <ns0:v>21</ns0:v>
                </ns0:pt>
                <ns0:pt idx="21">
                  <ns0:v>22</ns0:v>
                </ns0:pt>
                <ns0:pt idx="22">
                  <ns0:v>23</ns0:v>
                </ns0:pt>
                <ns0:pt idx="23">
                  <ns0:v>24</ns0:v>
                </ns0:pt>
                <ns0:pt idx="24">
                  <ns0:v>25</ns0:v>
                </ns0:pt>
                <ns0:pt idx="25">
                  <ns0:v>26</ns0:v>
                </ns0:pt>
                <ns0:pt idx="26">
                  <ns0:v>27</ns0:v>
                </ns0:pt>
                <ns0:pt idx="27">
                  <ns0:v>28</ns0:v>
                </ns0:pt>
                <ns0:pt idx="28">
                  <ns0:v>29</ns0:v>
                </ns0:pt>
                <ns0:pt idx="29">
                  <ns0:v>30</ns0:v>
                </ns0:pt>
                <ns0:pt idx="30">
                  <ns0:v>31</ns0:v>
                </ns0:pt>
                <ns0:pt idx="31">
                  <ns0:v>32</ns0:v>
                </ns0:pt>
                <ns0:pt idx="32">
                  <ns0:v>33</ns0:v>
                </ns0:pt>
                <ns0:pt idx="33">
                  <ns0:v>34</ns0:v>
                </ns0:pt>
                <ns0:pt idx="34">
                  <ns0:v>35</ns0:v>
                </ns0:pt>
                <ns0:pt idx="35">
                  <ns0:v>36</ns0:v>
                </ns0:pt>
                <ns0:pt idx="36">
                  <ns0:v>37</ns0:v>
                </ns0:pt>
                <ns0:pt idx="37">
                  <ns0:v>38</ns0:v>
                </ns0:pt>
                <ns0:pt idx="38">
                  <ns0:v>39</ns0:v>
                </ns0:pt>
                <ns0:pt idx="39">
                  <ns0:v>40</ns0:v>
                </ns0:pt>
              </ns0:numCache>
            </ns0:numRef>
          </ns0:xVal>
          <ns0:yVal>
            <ns0:numRef>
              <ns0:f>'Chart Data'!$B$2:$B$41</ns0:f>
              <ns0:numCache>
                <ns0:formatCode>0.0</ns0:formatCode>
                <ns0:ptCount val="40"/>
                <ns0:pt idx="0">
                  <ns0:v>0.3397164247</ns0:v>
                </ns0:pt>
                <ns0:pt idx="1">
                  <ns0:v>0.3044801967</ns0:v>
                </ns0:pt>
                <ns0:pt idx="2">
                  <ns0:v>0.2969275684</ns0:v>
                </ns0:pt>
                <ns0:pt idx="3">
                  <ns0:v>0.2903822119</ns0:v>
                </ns0:pt>
                <ns0:pt idx="4">
                  <ns0:v>0.2816155951</ns0:v>
                </ns0:pt>
                <ns0:pt idx="5">
                  <ns0:v>0.2708780993</ns0:v>
                </ns0:pt>
                <ns0:pt idx="6">
                  <ns0:v>0.2625912256</ns0:v>
                </ns0:pt>
                <ns0:pt idx="7">
                  <ns0:v>0.2538394741</ns0:v>
                </ns0:pt>
                <ns0:pt idx="8">
                  <ns0:v>0.2492382206</ns0:v>
                </ns0:pt>
                <ns0:pt idx="9">
                  <ns0:v>0.2419447337</ns0:v>
                </ns0:pt>
                <ns0:pt idx="10">
                  <ns0:v>0.2382934329</ns0:v>
                </ns0:pt>
                <ns0:pt idx="11">
                  <ns0:v>0.2337625628</ns0:v>
                </ns0:pt>
                <ns0:pt idx="12">
                  <ns0:v>0.2301150858</ns0:v>
                </ns0:pt>
                <ns0:pt idx="13">
                  <ns0:v>0.2275543565</ns0:v>
                </ns0:pt>
                <ns0:pt idx="14">
                  <ns0:v>0.2248610224</ns0:v>
                </ns0:pt>
                <ns0:pt idx="15">
                  <ns0:v>0.2222563577</ns0:v>
                </ns0:pt>
                <ns0:pt idx="16">
                  <ns0:v>0.2205683331</ns0:v>
                </ns0:pt>
                <ns0:pt idx="17">
                  <ns0:v>0.2197600848</ns0:v>
                </ns0:pt>
                <ns0:pt idx="18">
                  <ns0:v>0.2178848648</ns0:v>
                </ns0:pt>
                <ns0:pt idx="19">
                  <ns0:v>0.2166349894</ns0:v>
                </ns0:pt>
                <ns0:pt idx="20">
                  <ns0:v>0.2152410339</ns0:v>
                </ns0:pt>
                <ns0:pt idx="21">
                  <ns0:v>0.2147084164</ns0:v>
                </ns0:pt>
                <ns0:pt idx="22">
                  <ns0:v>0.213206906</ns0:v>
                </ns0:pt>
                <ns0:pt idx="23">
                  <ns0:v>0.2118939318</ns0:v>
                </ns0:pt>
                <ns0:pt idx="24">
                  <ns0:v>0.212372031</ns0:v>
                </ns0:pt>
                <ns0:pt idx="25">
                  <ns0:v>0.211946359</ns0:v>
                </ns0:pt>
                <ns0:pt idx="26">
                  <ns0:v>0.2110721884</ns0:v>
                </ns0:pt>
                <ns0:pt idx="27">
                  <ns0:v>0.210439593</ns0:v>
                </ns0:pt>
                <ns0:pt idx="28">
                  <ns0:v>0.2097717582</ns0:v>
                </ns0:pt>
                <ns0:pt idx="29">
                  <ns0:v>0.2091950036</ns0:v>
                </ns0:pt>
                <ns0:pt idx="30">
                  <ns0:v>0.2090670669</ns0:v>
                </ns0:pt>
                <ns0:pt idx="31">
                  <ns0:v>0.2082226361</ns0:v>
                </ns0:pt>
                <ns0:pt idx="32">
                  <ns0:v>0.208097462</ns0:v>
                </ns0:pt>
                <ns0:pt idx="33">
                  <ns0:v>0.2083960497</ns0:v>
                </ns0:pt>
                <ns0:pt idx="34">
                  <ns0:v>0.2078255018</ns0:v>
                </ns0:pt>
                <ns0:pt idx="35">
                  <ns0:v>0.2072873037</ns0:v>
                </ns0:pt>
                <ns0:pt idx="36">
                  <ns0:v>0.206862202</ns0:v>
                </ns0:pt>
                <ns0:pt idx="37">
                  <ns0:v>0.207668899</ns0:v>
                </ns0:pt>
                <ns0:pt idx="38">
                  <ns0:v>0.2066782863</ns0:v>
                </ns0:pt>
                <ns0:pt idx="39">
                  <ns0:v>0.2069196834</ns0:v>
                </ns0:pt>
              </ns0:numCache>
            </ns0:numRef>
          </ns0:yVal>
        </ns0:ser>
        <ns0:ser>
          <ns0:idx val="1"/>
          <ns0:order val="1"/>
          <ns0:tx>
            <ns0:v>Dense total</ns0:v>
          </ns0:tx>
          <ns0:spPr>
            <ns1:ln w="28575">
              <ns1:solidFill>
                <ns1:srgbClr val="152B45"/>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Data'!$C$2:$C$41</ns0:f>
              <ns0:numCache>
                <ns0:formatCode>General</ns0:formatCode>
                <ns0:ptCount val="40"/>
                <ns0:pt idx="0">
                  <ns0:v>1</ns0:v>
                </ns0:pt>
                <ns0:pt idx="1">
                  <ns0:v>2</ns0:v>
                </ns0:pt>
                <ns0:pt idx="2">
                  <ns0:v>3</ns0:v>
                </ns0:pt>
                <ns0:pt idx="3">
                  <ns0:v>4</ns0:v>
                </ns0:pt>
                <ns0:pt idx="4">
                  <ns0:v>5</ns0:v>
                </ns0:pt>
                <ns0:pt idx="5">
                  <ns0:v>6</ns0:v>
                </ns0:pt>
                <ns0:pt idx="6">
                  <ns0:v>7</ns0:v>
                </ns0:pt>
                <ns0:pt idx="7">
                  <ns0:v>8</ns0:v>
                </ns0:pt>
                <ns0:pt idx="8">
                  <ns0:v>9</ns0:v>
                </ns0:pt>
                <ns0:pt idx="9">
                  <ns0:v>10</ns0:v>
                </ns0:pt>
                <ns0:pt idx="10">
                  <ns0:v>11</ns0:v>
                </ns0:pt>
                <ns0:pt idx="11">
                  <ns0:v>12</ns0:v>
                </ns0:pt>
                <ns0:pt idx="12">
                  <ns0:v>13</ns0:v>
                </ns0:pt>
                <ns0:pt idx="13">
                  <ns0:v>14</ns0:v>
                </ns0:pt>
                <ns0:pt idx="14">
                  <ns0:v>15</ns0:v>
                </ns0:pt>
                <ns0:pt idx="15">
                  <ns0:v>16</ns0:v>
                </ns0:pt>
                <ns0:pt idx="16">
                  <ns0:v>17</ns0:v>
                </ns0:pt>
                <ns0:pt idx="17">
                  <ns0:v>18</ns0:v>
                </ns0:pt>
                <ns0:pt idx="18">
                  <ns0:v>19</ns0:v>
                </ns0:pt>
                <ns0:pt idx="19">
                  <ns0:v>20</ns0:v>
                </ns0:pt>
                <ns0:pt idx="20">
                  <ns0:v>21</ns0:v>
                </ns0:pt>
                <ns0:pt idx="21">
                  <ns0:v>22</ns0:v>
                </ns0:pt>
                <ns0:pt idx="22">
                  <ns0:v>23</ns0:v>
                </ns0:pt>
                <ns0:pt idx="23">
                  <ns0:v>24</ns0:v>
                </ns0:pt>
                <ns0:pt idx="24">
                  <ns0:v>25</ns0:v>
                </ns0:pt>
                <ns0:pt idx="25">
                  <ns0:v>26</ns0:v>
                </ns0:pt>
                <ns0:pt idx="26">
                  <ns0:v>27</ns0:v>
                </ns0:pt>
                <ns0:pt idx="27">
                  <ns0:v>28</ns0:v>
                </ns0:pt>
                <ns0:pt idx="28">
                  <ns0:v>29</ns0:v>
                </ns0:pt>
                <ns0:pt idx="29">
                  <ns0:v>30</ns0:v>
                </ns0:pt>
                <ns0:pt idx="30">
                  <ns0:v>31</ns0:v>
                </ns0:pt>
                <ns0:pt idx="31">
                  <ns0:v>32</ns0:v>
                </ns0:pt>
                <ns0:pt idx="32">
                  <ns0:v>33</ns0:v>
                </ns0:pt>
                <ns0:pt idx="33">
                  <ns0:v>34</ns0:v>
                </ns0:pt>
                <ns0:pt idx="34">
                  <ns0:v>35</ns0:v>
                </ns0:pt>
                <ns0:pt idx="35">
                  <ns0:v>36</ns0:v>
                </ns0:pt>
                <ns0:pt idx="36">
                  <ns0:v>37</ns0:v>
                </ns0:pt>
                <ns0:pt idx="37">
                  <ns0:v>38</ns0:v>
                </ns0:pt>
                <ns0:pt idx="38">
                  <ns0:v>39</ns0:v>
                </ns0:pt>
                <ns0:pt idx="39">
                  <ns0:v>40</ns0:v>
                </ns0:pt>
              </ns0:numCache>
            </ns0:numRef>
          </ns0:xVal>
          <ns0:yVal>
            <ns0:numRef>
              <ns0:f>'Chart Data'!$D$2:$D$41</ns0:f>
              <ns0:numCache>
                <ns0:formatCode>0.0</ns0:formatCode>
                <ns0:ptCount val="40"/>
                <ns0:pt idx="0">
                  <ns0:v>0.3234874687</ns0:v>
                </ns0:pt>
                <ns0:pt idx="1">
                  <ns0:v>0.3022272481</ns0:v>
                </ns0:pt>
                <ns0:pt idx="2">
                  <ns0:v>0.2941905052</ns0:v>
                </ns0:pt>
                <ns0:pt idx="3">
                  <ns0:v>0.2857678344</ns0:v>
                </ns0:pt>
                <ns0:pt idx="4">
                  <ns0:v>0.2765371397</ns0:v>
                </ns0:pt>
                <ns0:pt idx="5">
                  <ns0:v>0.2650639238</ns0:v>
                </ns0:pt>
                <ns0:pt idx="6">
                  <ns0:v>0.2566307799</ns0:v>
                </ns0:pt>
                <ns0:pt idx="7">
                  <ns0:v>0.2472616677</ns0:v>
                </ns0:pt>
                <ns0:pt idx="8">
                  <ns0:v>0.2421693691</ns0:v>
                </ns0:pt>
                <ns0:pt idx="9">
                  <ns0:v>0.2347887298</ns0:v>
                </ns0:pt>
                <ns0:pt idx="10">
                  <ns0:v>0.2323268717</ns0:v>
                </ns0:pt>
                <ns0:pt idx="11">
                  <ns0:v>0.2282116134</ns0:v>
                </ns0:pt>
                <ns0:pt idx="12">
                  <ns0:v>0.2242579169</ns0:v>
                </ns0:pt>
                <ns0:pt idx="13">
                  <ns0:v>0.2216753473</ns0:v>
                </ns0:pt>
                <ns0:pt idx="14">
                  <ns0:v>0.2195117424</ns0:v>
                </ns0:pt>
                <ns0:pt idx="15">
                  <ns0:v>0.2172837149</ns0:v>
                </ns0:pt>
                <ns0:pt idx="16">
                  <ns0:v>0.215951949</ns0:v>
                </ns0:pt>
                <ns0:pt idx="17">
                  <ns0:v>0.2160182225</ns0:v>
                </ns0:pt>
                <ns0:pt idx="18">
                  <ns0:v>0.2148284128</ns0:v>
                </ns0:pt>
                <ns0:pt idx="19">
                  <ns0:v>0.2138212063</ns0:v>
                </ns0:pt>
                <ns0:pt idx="20">
                  <ns0:v>0.2122721146</ns0:v>
                </ns0:pt>
                <ns0:pt idx="21">
                  <ns0:v>0.2116491013</ns0:v>
                </ns0:pt>
                <ns0:pt idx="22">
                  <ns0:v>0.2108705107</ns0:v>
                </ns0:pt>
                <ns0:pt idx="23">
                  <ns0:v>0.2098200679</ns0:v>
                </ns0:pt>
                <ns0:pt idx="24">
                  <ns0:v>0.2099195676</ns0:v>
                </ns0:pt>
                <ns0:pt idx="25">
                  <ns0:v>0.2090539035</ns0:v>
                </ns0:pt>
                <ns0:pt idx="26">
                  <ns0:v>0.2089147581</ns0:v>
                </ns0:pt>
                <ns0:pt idx="27">
                  <ns0:v>0.20934374</ns0:v>
                </ns0:pt>
                <ns0:pt idx="28">
                  <ns0:v>0.2080556716</ns0:v>
                </ns0:pt>
                <ns0:pt idx="29">
                  <ns0:v>0.2073833114</ns0:v>
                </ns0:pt>
                <ns0:pt idx="30">
                  <ns0:v>0.2073788913</ns0:v>
                </ns0:pt>
                <ns0:pt idx="31">
                  <ns0:v>0.2074099736</ns0:v>
                </ns0:pt>
                <ns0:pt idx="32">
                  <ns0:v>0.2061877465</ns0:v>
                </ns0:pt>
                <ns0:pt idx="33">
                  <ns0:v>0.207628027</ns0:v>
                </ns0:pt>
                <ns0:pt idx="34">
                  <ns0:v>0.2069418169</ns0:v>
                </ns0:pt>
                <ns0:pt idx="35">
                  <ns0:v>0.2058169175</ns0:v>
                </ns0:pt>
                <ns0:pt idx="36">
                  <ns0:v>0.2055541763</ns0:v>
                </ns0:pt>
                <ns0:pt idx="37">
                  <ns0:v>0.2063198396</ns0:v>
                </ns0:pt>
                <ns0:pt idx="38">
                  <ns0:v>0.206189281</ns0:v>
                </ns0:pt>
                <ns0:pt idx="39">
                  <ns0:v>0.2058804903</ns0:v>
                </ns0:pt>
              </ns0:numCache>
            </ns0:numRef>
          </ns0:yVal>
        </ns0:ser>
        <ns0:ser>
          <ns0:idx val="2"/>
          <ns0:order val="2"/>
          <ns0:tx>
            <ns0:v>Learned MoE</ns0:v>
          </ns0:tx>
          <ns0:spPr>
            <ns1:ln w="28575">
              <ns1:solidFill>
                <ns1:srgbClr val="B67818"/>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Data'!$E$2:$E$41</ns0:f>
              <ns0:numCache>
                <ns0:formatCode>General</ns0:formatCode>
                <ns0:ptCount val="40"/>
                <ns0:pt idx="0">
                  <ns0:v>1</ns0:v>
                </ns0:pt>
                <ns0:pt idx="1">
                  <ns0:v>2</ns0:v>
                </ns0:pt>
                <ns0:pt idx="2">
                  <ns0:v>3</ns0:v>
                </ns0:pt>
                <ns0:pt idx="3">
                  <ns0:v>4</ns0:v>
                </ns0:pt>
                <ns0:pt idx="4">
                  <ns0:v>5</ns0:v>
                </ns0:pt>
                <ns0:pt idx="5">
                  <ns0:v>6</ns0:v>
                </ns0:pt>
                <ns0:pt idx="6">
                  <ns0:v>7</ns0:v>
                </ns0:pt>
                <ns0:pt idx="7">
                  <ns0:v>8</ns0:v>
                </ns0:pt>
                <ns0:pt idx="8">
                  <ns0:v>9</ns0:v>
                </ns0:pt>
                <ns0:pt idx="9">
                  <ns0:v>10</ns0:v>
                </ns0:pt>
                <ns0:pt idx="10">
                  <ns0:v>11</ns0:v>
                </ns0:pt>
                <ns0:pt idx="11">
                  <ns0:v>12</ns0:v>
                </ns0:pt>
                <ns0:pt idx="12">
                  <ns0:v>13</ns0:v>
                </ns0:pt>
                <ns0:pt idx="13">
                  <ns0:v>14</ns0:v>
                </ns0:pt>
                <ns0:pt idx="14">
                  <ns0:v>15</ns0:v>
                </ns0:pt>
                <ns0:pt idx="15">
                  <ns0:v>16</ns0:v>
                </ns0:pt>
                <ns0:pt idx="16">
                  <ns0:v>17</ns0:v>
                </ns0:pt>
                <ns0:pt idx="17">
                  <ns0:v>18</ns0:v>
                </ns0:pt>
                <ns0:pt idx="18">
                  <ns0:v>19</ns0:v>
                </ns0:pt>
                <ns0:pt idx="19">
                  <ns0:v>20</ns0:v>
                </ns0:pt>
                <ns0:pt idx="20">
                  <ns0:v>21</ns0:v>
                </ns0:pt>
                <ns0:pt idx="21">
                  <ns0:v>22</ns0:v>
                </ns0:pt>
                <ns0:pt idx="22">
                  <ns0:v>23</ns0:v>
                </ns0:pt>
                <ns0:pt idx="23">
                  <ns0:v>24</ns0:v>
                </ns0:pt>
                <ns0:pt idx="24">
                  <ns0:v>25</ns0:v>
                </ns0:pt>
                <ns0:pt idx="25">
                  <ns0:v>26</ns0:v>
                </ns0:pt>
                <ns0:pt idx="26">
                  <ns0:v>27</ns0:v>
                </ns0:pt>
                <ns0:pt idx="27">
                  <ns0:v>28</ns0:v>
                </ns0:pt>
                <ns0:pt idx="28">
                  <ns0:v>29</ns0:v>
                </ns0:pt>
                <ns0:pt idx="29">
                  <ns0:v>30</ns0:v>
                </ns0:pt>
                <ns0:pt idx="30">
                  <ns0:v>31</ns0:v>
                </ns0:pt>
                <ns0:pt idx="31">
                  <ns0:v>32</ns0:v>
                </ns0:pt>
                <ns0:pt idx="32">
                  <ns0:v>33</ns0:v>
                </ns0:pt>
                <ns0:pt idx="33">
                  <ns0:v>34</ns0:v>
                </ns0:pt>
                <ns0:pt idx="34">
                  <ns0:v>35</ns0:v>
                </ns0:pt>
                <ns0:pt idx="35">
                  <ns0:v>36</ns0:v>
                </ns0:pt>
                <ns0:pt idx="36">
                  <ns0:v>37</ns0:v>
                </ns0:pt>
                <ns0:pt idx="37">
                  <ns0:v>38</ns0:v>
                </ns0:pt>
                <ns0:pt idx="38">
                  <ns0:v>39</ns0:v>
                </ns0:pt>
                <ns0:pt idx="39">
                  <ns0:v>40</ns0:v>
                </ns0:pt>
              </ns0:numCache>
            </ns0:numRef>
          </ns0:xVal>
          <ns0:yVal>
            <ns0:numRef>
              <ns0:f>'Chart Data'!$F$2:$F$41</ns0:f>
              <ns0:numCache>
                <ns0:formatCode>0.0</ns0:formatCode>
                <ns0:ptCount val="40"/>
                <ns0:pt idx="0">
                  <ns0:v>0.4060261259</ns0:v>
                </ns0:pt>
                <ns0:pt idx="1">
                  <ns0:v>0.3197568734</ns0:v>
                </ns0:pt>
                <ns0:pt idx="2">
                  <ns0:v>0.3021666978</ns0:v>
                </ns0:pt>
                <ns0:pt idx="3">
                  <ns0:v>0.2936413365</ns0:v>
                </ns0:pt>
                <ns0:pt idx="4">
                  <ns0:v>0.2868775049</ns0:v>
                </ns0:pt>
                <ns0:pt idx="5">
                  <ns0:v>0.2787899531</ns0:v>
                </ns0:pt>
                <ns0:pt idx="6">
                  <ns0:v>0.2722386368</ns0:v>
                </ns0:pt>
                <ns0:pt idx="7">
                  <ns0:v>0.2650551081</ns0:v>
                </ns0:pt>
                <ns0:pt idx="8">
                  <ns0:v>0.2590500493</ns0:v>
                </ns0:pt>
                <ns0:pt idx="9">
                  <ns0:v>0.2531365554</ns0:v>
                </ns0:pt>
                <ns0:pt idx="10">
                  <ns0:v>0.2495765709</ns0:v>
                </ns0:pt>
                <ns0:pt idx="11">
                  <ns0:v>0.2444745682</ns0:v>
                </ns0:pt>
                <ns0:pt idx="12">
                  <ns0:v>0.2408180164</ns0:v>
                </ns0:pt>
                <ns0:pt idx="13">
                  <ns0:v>0.2385666894</ns0:v>
                </ns0:pt>
                <ns0:pt idx="14">
                  <ns0:v>0.2346716335</ns0:v>
                </ns0:pt>
                <ns0:pt idx="15">
                  <ns0:v>0.2333740025</ns0:v>
                </ns0:pt>
                <ns0:pt idx="16">
                  <ns0:v>0.2309508485</ns0:v>
                </ns0:pt>
                <ns0:pt idx="17">
                  <ns0:v>0.229861612</ns0:v>
                </ns0:pt>
                <ns0:pt idx="18">
                  <ns0:v>0.2280207666</ns0:v>
                </ns0:pt>
                <ns0:pt idx="19">
                  <ns0:v>0.2260554749</ns0:v>
                </ns0:pt>
                <ns0:pt idx="20">
                  <ns0:v>0.2255739809</ns0:v>
                </ns0:pt>
                <ns0:pt idx="21">
                  <ns0:v>0.2239693709</ns0:v>
                </ns0:pt>
                <ns0:pt idx="22">
                  <ns0:v>0.2227239423</ns0:v>
                </ns0:pt>
                <ns0:pt idx="23">
                  <ns0:v>0.2217634891</ns0:v>
                </ns0:pt>
                <ns0:pt idx="24">
                  <ns0:v>0.2212889749</ns0:v>
                </ns0:pt>
                <ns0:pt idx="25">
                  <ns0:v>0.2200932724</ns0:v>
                </ns0:pt>
                <ns0:pt idx="26">
                  <ns0:v>0.2194324125</ns0:v>
                </ns0:pt>
                <ns0:pt idx="27">
                  <ns0:v>0.2182024568</ns0:v>
                </ns0:pt>
                <ns0:pt idx="28">
                  <ns0:v>0.2181239089</ns0:v>
                </ns0:pt>
                <ns0:pt idx="29">
                  <ns0:v>0.2178345169</ns0:v>
                </ns0:pt>
                <ns0:pt idx="30">
                  <ns0:v>0.2170124127</ns0:v>
                </ns0:pt>
                <ns0:pt idx="31">
                  <ns0:v>0.2159574661</ns0:v>
                </ns0:pt>
                <ns0:pt idx="32">
                  <ns0:v>0.2160487574</ns0:v>
                </ns0:pt>
                <ns0:pt idx="33">
                  <ns0:v>0.2156809648</ns0:v>
                </ns0:pt>
                <ns0:pt idx="34">
                  <ns0:v>0.2164009437</ns0:v>
                </ns0:pt>
                <ns0:pt idx="35">
                  <ns0:v>0.2146852359</ns0:v>
                </ns0:pt>
                <ns0:pt idx="36">
                  <ns0:v>0.2131556598</ns0:v>
                </ns0:pt>
                <ns0:pt idx="37">
                  <ns0:v>0.2141274567</ns0:v>
                </ns0:pt>
                <ns0:pt idx="38">
                  <ns0:v>0.2134103115</ns0:v>
                </ns0:pt>
                <ns0:pt idx="39">
                  <ns0:v>0.2132755444</ns0:v>
                </ns0:pt>
              </ns0:numCache>
            </ns0:numRef>
          </ns0:yVal>
        </ns0:ser>
        <ns0:ser>
          <ns0:idx val="3"/>
          <ns0:order val="3"/>
          <ns0:tx>
            <ns0:v>Random routing</ns0:v>
          </ns0:tx>
          <ns0:spPr>
            <ns1:ln w="28575">
              <ns1:solidFill>
                <ns1:srgbClr val="8B7AA8"/>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Data'!$G$2:$G$41</ns0:f>
              <ns0:numCache>
                <ns0:formatCode>General</ns0:formatCode>
                <ns0:ptCount val="40"/>
                <ns0:pt idx="0">
                  <ns0:v>1</ns0:v>
                </ns0:pt>
                <ns0:pt idx="1">
                  <ns0:v>2</ns0:v>
                </ns0:pt>
                <ns0:pt idx="2">
                  <ns0:v>3</ns0:v>
                </ns0:pt>
                <ns0:pt idx="3">
                  <ns0:v>4</ns0:v>
                </ns0:pt>
                <ns0:pt idx="4">
                  <ns0:v>5</ns0:v>
                </ns0:pt>
                <ns0:pt idx="5">
                  <ns0:v>6</ns0:v>
                </ns0:pt>
                <ns0:pt idx="6">
                  <ns0:v>7</ns0:v>
                </ns0:pt>
                <ns0:pt idx="7">
                  <ns0:v>8</ns0:v>
                </ns0:pt>
                <ns0:pt idx="8">
                  <ns0:v>9</ns0:v>
                </ns0:pt>
                <ns0:pt idx="9">
                  <ns0:v>10</ns0:v>
                </ns0:pt>
                <ns0:pt idx="10">
                  <ns0:v>11</ns0:v>
                </ns0:pt>
                <ns0:pt idx="11">
                  <ns0:v>12</ns0:v>
                </ns0:pt>
                <ns0:pt idx="12">
                  <ns0:v>13</ns0:v>
                </ns0:pt>
                <ns0:pt idx="13">
                  <ns0:v>14</ns0:v>
                </ns0:pt>
                <ns0:pt idx="14">
                  <ns0:v>15</ns0:v>
                </ns0:pt>
                <ns0:pt idx="15">
                  <ns0:v>16</ns0:v>
                </ns0:pt>
                <ns0:pt idx="16">
                  <ns0:v>17</ns0:v>
                </ns0:pt>
                <ns0:pt idx="17">
                  <ns0:v>18</ns0:v>
                </ns0:pt>
                <ns0:pt idx="18">
                  <ns0:v>19</ns0:v>
                </ns0:pt>
                <ns0:pt idx="19">
                  <ns0:v>20</ns0:v>
                </ns0:pt>
                <ns0:pt idx="20">
                  <ns0:v>21</ns0:v>
                </ns0:pt>
                <ns0:pt idx="21">
                  <ns0:v>22</ns0:v>
                </ns0:pt>
                <ns0:pt idx="22">
                  <ns0:v>23</ns0:v>
                </ns0:pt>
                <ns0:pt idx="23">
                  <ns0:v>24</ns0:v>
                </ns0:pt>
                <ns0:pt idx="24">
                  <ns0:v>25</ns0:v>
                </ns0:pt>
                <ns0:pt idx="25">
                  <ns0:v>26</ns0:v>
                </ns0:pt>
                <ns0:pt idx="26">
                  <ns0:v>27</ns0:v>
                </ns0:pt>
                <ns0:pt idx="27">
                  <ns0:v>28</ns0:v>
                </ns0:pt>
                <ns0:pt idx="28">
                  <ns0:v>29</ns0:v>
                </ns0:pt>
                <ns0:pt idx="29">
                  <ns0:v>30</ns0:v>
                </ns0:pt>
                <ns0:pt idx="30">
                  <ns0:v>31</ns0:v>
                </ns0:pt>
                <ns0:pt idx="31">
                  <ns0:v>32</ns0:v>
                </ns0:pt>
                <ns0:pt idx="32">
                  <ns0:v>33</ns0:v>
                </ns0:pt>
                <ns0:pt idx="33">
                  <ns0:v>34</ns0:v>
                </ns0:pt>
                <ns0:pt idx="34">
                  <ns0:v>35</ns0:v>
                </ns0:pt>
                <ns0:pt idx="35">
                  <ns0:v>36</ns0:v>
                </ns0:pt>
                <ns0:pt idx="36">
                  <ns0:v>37</ns0:v>
                </ns0:pt>
                <ns0:pt idx="37">
                  <ns0:v>38</ns0:v>
                </ns0:pt>
                <ns0:pt idx="38">
                  <ns0:v>39</ns0:v>
                </ns0:pt>
                <ns0:pt idx="39">
                  <ns0:v>40</ns0:v>
                </ns0:pt>
              </ns0:numCache>
            </ns0:numRef>
          </ns0:xVal>
          <ns0:yVal>
            <ns0:numRef>
              <ns0:f>'Chart Data'!$H$2:$H$41</ns0:f>
              <ns0:numCache>
                <ns0:formatCode>0.0</ns0:formatCode>
                <ns0:ptCount val="40"/>
                <ns0:pt idx="0">
                  <ns0:v>0.4203089286</ns0:v>
                </ns0:pt>
                <ns0:pt idx="1">
                  <ns0:v>0.3203657239</ns0:v>
                </ns0:pt>
                <ns0:pt idx="2">
                  <ns0:v>0.3054909371</ns0:v>
                </ns0:pt>
                <ns0:pt idx="3">
                  <ns0:v>0.3002795463</ns0:v>
                </ns0:pt>
                <ns0:pt idx="4">
                  <ns0:v>0.2964668794</ns0:v>
                </ns0:pt>
                <ns0:pt idx="5">
                  <ns0:v>0.2897259608</ns0:v>
                </ns0:pt>
                <ns0:pt idx="6">
                  <ns0:v>0.2832211989</ns0:v>
                </ns0:pt>
                <ns0:pt idx="7">
                  <ns0:v>0.2753411374</ns0:v>
                </ns0:pt>
                <ns0:pt idx="8">
                  <ns0:v>0.2688827842</ns0:v>
                </ns0:pt>
                <ns0:pt idx="9">
                  <ns0:v>0.262198443</ns0:v>
                </ns0:pt>
                <ns0:pt idx="10">
                  <ns0:v>0.2568320086</ns0:v>
                </ns0:pt>
                <ns0:pt idx="11">
                  <ns0:v>0.252255914</ns0:v>
                </ns0:pt>
                <ns0:pt idx="12">
                  <ns0:v>0.247627916</ns0:v>
                </ns0:pt>
                <ns0:pt idx="13">
                  <ns0:v>0.2451236076</ns0:v>
                </ns0:pt>
                <ns0:pt idx="14">
                  <ns0:v>0.2411362564</ns0:v>
                </ns0:pt>
                <ns0:pt idx="15">
                  <ns0:v>0.239467234</ns0:v>
                </ns0:pt>
                <ns0:pt idx="16">
                  <ns0:v>0.2368194024</ns0:v>
                </ns0:pt>
                <ns0:pt idx="17">
                  <ns0:v>0.234754408</ns0:v>
                </ns0:pt>
                <ns0:pt idx="18">
                  <ns0:v>0.2337515075</ns0:v>
                </ns0:pt>
                <ns0:pt idx="19">
                  <ns0:v>0.231949344</ns0:v>
                </ns0:pt>
                <ns0:pt idx="20">
                  <ns0:v>0.2304042819</ns0:v>
                </ns0:pt>
                <ns0:pt idx="21">
                  <ns0:v>0.2281301519</ns0:v>
                </ns0:pt>
                <ns0:pt idx="22">
                  <ns0:v>0.2274628766</ns0:v>
                </ns0:pt>
                <ns0:pt idx="23">
                  <ns0:v>0.226090495</ns0:v>
                </ns0:pt>
                <ns0:pt idx="24">
                  <ns0:v>0.2261510223</ns0:v>
                </ns0:pt>
                <ns0:pt idx="25">
                  <ns0:v>0.2242465857</ns0:v>
                </ns0:pt>
                <ns0:pt idx="26">
                  <ns0:v>0.2248711858</ns0:v>
                </ns0:pt>
                <ns0:pt idx="27">
                  <ns0:v>0.2226139032</ns0:v>
                </ns0:pt>
                <ns0:pt idx="28">
                  <ns0:v>0.2227150321</ns0:v>
                </ns0:pt>
                <ns0:pt idx="29">
                  <ns0:v>0.2226272436</ns0:v>
                </ns0:pt>
                <ns0:pt idx="30">
                  <ns0:v>0.2212416344</ns0:v>
                </ns0:pt>
                <ns0:pt idx="31">
                  <ns0:v>0.2213194942</ns0:v>
                </ns0:pt>
                <ns0:pt idx="32">
                  <ns0:v>0.2208081899</ns0:v>
                </ns0:pt>
                <ns0:pt idx="33">
                  <ns0:v>0.2208902862</ns0:v>
                </ns0:pt>
                <ns0:pt idx="34">
                  <ns0:v>0.2202759737</ns0:v>
                </ns0:pt>
                <ns0:pt idx="35">
                  <ns0:v>0.2193889599</ns0:v>
                </ns0:pt>
                <ns0:pt idx="36">
                  <ns0:v>0.2185882572</ns0:v>
                </ns0:pt>
                <ns0:pt idx="37">
                  <ns0:v>0.2188721015</ns0:v>
                </ns0:pt>
                <ns0:pt idx="38">
                  <ns0:v>0.218257054</ns0:v>
                </ns0:pt>
                <ns0:pt idx="39">
                  <ns0:v>0.2179136087</ns0:v>
                </ns0:pt>
              </ns0:numCache>
            </ns0:numRef>
          </ns0:yVal>
        </ns0:ser>
        <ns0:ser>
          <ns0:idx val="4"/>
          <ns0:order val="4"/>
          <ns0:tx>
            <ns0:v>Oracle</ns0:v>
          </ns0:tx>
          <ns0:spPr>
            <ns1:ln w="28575">
              <ns1:solidFill>
                <ns1:srgbClr val="087E8B"/>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Data'!$I$2:$I$41</ns0:f>
              <ns0:numCache>
                <ns0:formatCode>General</ns0:formatCode>
                <ns0:ptCount val="40"/>
                <ns0:pt idx="0">
                  <ns0:v>1</ns0:v>
                </ns0:pt>
                <ns0:pt idx="1">
                  <ns0:v>2</ns0:v>
                </ns0:pt>
                <ns0:pt idx="2">
                  <ns0:v>3</ns0:v>
                </ns0:pt>
                <ns0:pt idx="3">
                  <ns0:v>4</ns0:v>
                </ns0:pt>
                <ns0:pt idx="4">
                  <ns0:v>5</ns0:v>
                </ns0:pt>
                <ns0:pt idx="5">
                  <ns0:v>6</ns0:v>
                </ns0:pt>
                <ns0:pt idx="6">
                  <ns0:v>7</ns0:v>
                </ns0:pt>
                <ns0:pt idx="7">
                  <ns0:v>8</ns0:v>
                </ns0:pt>
                <ns0:pt idx="8">
                  <ns0:v>9</ns0:v>
                </ns0:pt>
                <ns0:pt idx="9">
                  <ns0:v>10</ns0:v>
                </ns0:pt>
                <ns0:pt idx="10">
                  <ns0:v>11</ns0:v>
                </ns0:pt>
                <ns0:pt idx="11">
                  <ns0:v>12</ns0:v>
                </ns0:pt>
                <ns0:pt idx="12">
                  <ns0:v>13</ns0:v>
                </ns0:pt>
                <ns0:pt idx="13">
                  <ns0:v>14</ns0:v>
                </ns0:pt>
                <ns0:pt idx="14">
                  <ns0:v>15</ns0:v>
                </ns0:pt>
                <ns0:pt idx="15">
                  <ns0:v>16</ns0:v>
                </ns0:pt>
                <ns0:pt idx="16">
                  <ns0:v>17</ns0:v>
                </ns0:pt>
                <ns0:pt idx="17">
                  <ns0:v>18</ns0:v>
                </ns0:pt>
                <ns0:pt idx="18">
                  <ns0:v>19</ns0:v>
                </ns0:pt>
                <ns0:pt idx="19">
                  <ns0:v>20</ns0:v>
                </ns0:pt>
                <ns0:pt idx="20">
                  <ns0:v>21</ns0:v>
                </ns0:pt>
                <ns0:pt idx="21">
                  <ns0:v>22</ns0:v>
                </ns0:pt>
                <ns0:pt idx="22">
                  <ns0:v>23</ns0:v>
                </ns0:pt>
                <ns0:pt idx="23">
                  <ns0:v>24</ns0:v>
                </ns0:pt>
                <ns0:pt idx="24">
                  <ns0:v>25</ns0:v>
                </ns0:pt>
                <ns0:pt idx="25">
                  <ns0:v>26</ns0:v>
                </ns0:pt>
                <ns0:pt idx="26">
                  <ns0:v>27</ns0:v>
                </ns0:pt>
                <ns0:pt idx="27">
                  <ns0:v>28</ns0:v>
                </ns0:pt>
                <ns0:pt idx="28">
                  <ns0:v>29</ns0:v>
                </ns0:pt>
                <ns0:pt idx="29">
                  <ns0:v>30</ns0:v>
                </ns0:pt>
                <ns0:pt idx="30">
                  <ns0:v>31</ns0:v>
                </ns0:pt>
                <ns0:pt idx="31">
                  <ns0:v>32</ns0:v>
                </ns0:pt>
                <ns0:pt idx="32">
                  <ns0:v>33</ns0:v>
                </ns0:pt>
                <ns0:pt idx="33">
                  <ns0:v>34</ns0:v>
                </ns0:pt>
                <ns0:pt idx="34">
                  <ns0:v>35</ns0:v>
                </ns0:pt>
                <ns0:pt idx="35">
                  <ns0:v>36</ns0:v>
                </ns0:pt>
                <ns0:pt idx="36">
                  <ns0:v>37</ns0:v>
                </ns0:pt>
                <ns0:pt idx="37">
                  <ns0:v>38</ns0:v>
                </ns0:pt>
                <ns0:pt idx="38">
                  <ns0:v>39</ns0:v>
                </ns0:pt>
                <ns0:pt idx="39">
                  <ns0:v>40</ns0:v>
                </ns0:pt>
              </ns0:numCache>
            </ns0:numRef>
          </ns0:xVal>
          <ns0:yVal>
            <ns0:numRef>
              <ns0:f>'Chart Data'!$J$2:$J$41</ns0:f>
              <ns0:numCache>
                <ns0:formatCode>0.0</ns0:formatCode>
                <ns0:ptCount val="40"/>
                <ns0:pt idx="0">
                  <ns0:v>0.239194649</ns0:v>
                </ns0:pt>
                <ns0:pt idx="1">
                  <ns0:v>0.153806675</ns0:v>
                </ns0:pt>
                <ns0:pt idx="2">
                  <ns0:v>0.1373804838</ns0:v>
                </ns0:pt>
                <ns0:pt idx="3">
                  <ns0:v>0.1328633319</ns0:v>
                </ns0:pt>
                <ns0:pt idx="4">
                  <ns0:v>0.1310604247</ns0:v>
                </ns0:pt>
                <ns0:pt idx="5">
                  <ns0:v>0.1293959509</ns0:v>
                </ns0:pt>
                <ns0:pt idx="6">
                  <ns0:v>0.1290158542</ns0:v>
                </ns0:pt>
                <ns0:pt idx="7">
                  <ns0:v>0.1271892203</ns0:v>
                </ns0:pt>
                <ns0:pt idx="8">
                  <ns0:v>0.1272845205</ns0:v>
                </ns0:pt>
                <ns0:pt idx="9">
                  <ns0:v>0.12607633</ns0:v>
                </ns0:pt>
                <ns0:pt idx="10">
                  <ns0:v>0.125593283</ns0:v>
                </ns0:pt>
                <ns0:pt idx="11">
                  <ns0:v>0.1261321391</ns0:v>
                </ns0:pt>
                <ns0:pt idx="12">
                  <ns0:v>0.1252593028</ns0:v>
                </ns0:pt>
                <ns0:pt idx="13">
                  <ns0:v>0.1256955386</ns0:v>
                </ns0:pt>
                <ns0:pt idx="14">
                  <ns0:v>0.1246214954</ns0:v>
                </ns0:pt>
                <ns0:pt idx="15">
                  <ns0:v>0.1245107118</ns0:v>
                </ns0:pt>
                <ns0:pt idx="16">
                  <ns0:v>0.1242679787</ns0:v>
                </ns0:pt>
                <ns0:pt idx="17">
                  <ns0:v>0.1239083155</ns0:v>
                </ns0:pt>
                <ns0:pt idx="18">
                  <ns0:v>0.1239056129</ns0:v>
                </ns0:pt>
                <ns0:pt idx="19">
                  <ns0:v>0.1236002485</ns0:v>
                </ns0:pt>
                <ns0:pt idx="20">
                  <ns0:v>0.1237062834</ns0:v>
                </ns0:pt>
                <ns0:pt idx="21">
                  <ns0:v>0.123874427</ns0:v>
                </ns0:pt>
                <ns0:pt idx="22">
                  <ns0:v>0.1236932822</ns0:v>
                </ns0:pt>
                <ns0:pt idx="23">
                  <ns0:v>0.123059442</ns0:v>
                </ns0:pt>
                <ns0:pt idx="24">
                  <ns0:v>0.1239458152</ns0:v>
                </ns0:pt>
                <ns0:pt idx="25">
                  <ns0:v>0.123061379</ns0:v>
                </ns0:pt>
                <ns0:pt idx="26">
                  <ns0:v>0.1235919703</ns0:v>
                </ns0:pt>
                <ns0:pt idx="27">
                  <ns0:v>0.1230319541</ns0:v>
                </ns0:pt>
                <ns0:pt idx="28">
                  <ns0:v>0.1229917525</ns0:v>
                </ns0:pt>
                <ns0:pt idx="29">
                  <ns0:v>0.1230506065</ns0:v>
                </ns0:pt>
                <ns0:pt idx="30">
                  <ns0:v>0.1232011831</ns0:v>
                </ns0:pt>
                <ns0:pt idx="31">
                  <ns0:v>0.1223219474</ns0:v>
                </ns0:pt>
                <ns0:pt idx="32">
                  <ns0:v>0.1227421082</ns0:v>
                </ns0:pt>
                <ns0:pt idx="33">
                  <ns0:v>0.1228839917</ns0:v>
                </ns0:pt>
                <ns0:pt idx="34">
                  <ns0:v>0.1232007064</ns0:v>
                </ns0:pt>
                <ns0:pt idx="35">
                  <ns0:v>0.1225428349</ns0:v>
                </ns0:pt>
                <ns0:pt idx="36">
                  <ns0:v>0.122558603</ns0:v>
                </ns0:pt>
                <ns0:pt idx="37">
                  <ns0:v>0.1225277858</ns0:v>
                </ns0:pt>
                <ns0:pt idx="38">
                  <ns0:v>0.1223060786</ns0:v>
                </ns0:pt>
                <ns0:pt idx="39">
                  <ns0:v>0.1234092215</ns0:v>
                </ns0:pt>
              </ns0:numCache>
            </ns0:numRef>
          </ns0:yVal>
        </ns0:ser>
        <ns0:dLbls>
          <ns0:txPr>
            <ns1:bodyPr anchorCtr="1"/>
            <ns1:lstStyle/>
            <ns1:p>
              <ns1:pPr>
                <ns1:defRPr>
                  <ns1:latin typeface="Arial"/>
                  <ns1:ea typeface="Arial"/>
                  <ns1:cs typeface="Arial"/>
                </ns1:defRPr>
              </ns1:pPr>
            </ns1:p>
          </ns0:txPr>
          <ns0:showLegendKey val="0"/>
          <ns0:showVal val="0"/>
          <ns0:showCatName val="0"/>
          <ns0:showSerName val="0"/>
          <ns0:showPercent val="0"/>
          <ns0:showBubbleSize val="0"/>
          <ns0:showLeaderLines val="0"/>
        </ns0:dLbls>
        <ns0:axId val="48650112"/>
        <ns0:axId val="48672768"/>
      </ns0:scatterChart>
      <ns0:valAx>
        <ns0:axId val="48672768"/>
        <ns0:scaling>
          <ns0:orientation val="minMax"/>
          <ns0:min val="0"/>
        </ns0:scaling>
        <ns0:delete val="0"/>
        <ns0:axPos val="l"/>
        <ns0:majorGridlines>
          <ns0:spPr>
            <ns1:ln w="9525">
              <ns1:solidFill>
                <ns1:srgbClr val="E0E5EB"/>
              </ns1:solidFill>
              <ns1:prstDash val="solid"/>
            </ns1:ln>
          </ns0:spPr>
        </ns0:majorGridlines>
        <ns0:title>
          <ns0:tx>
            <ns0:rich>
              <ns1:bodyPr/>
              <ns1:lstStyle/>
              <ns1:p>
                <ns1:r>
                  <ns1:rPr sz="1500">
                    <ns1:latin typeface="Arial"/>
                    <ns1:ea typeface="Arial"/>
                    <ns1:cs typeface="Arial"/>
                  </ns1:rPr>
                  <ns1:t>Normalized validation MSE</ns1:t>
                </ns1:r>
              </ns1:p>
            </ns0:rich>
          </ns0:tx>
          <ns0:overlay val="0"/>
          <ns0:txPr>
            <ns1:bodyPr anchorCtr="1"/>
            <ns1:lstStyle/>
            <ns1:p>
              <ns1:pPr>
                <ns1:defRPr sz="1500">
                  <ns1:latin typeface="Arial"/>
                  <ns1:ea typeface="Arial"/>
                  <ns1:cs typeface="Arial"/>
                </ns1:defRPr>
              </ns1:pPr>
            </ns1:p>
          </ns0:txPr>
        </ns0:title>
        <ns0:numFmt formatCode="0.0"/>
        <ns0:majorTickMark val="none"/>
        <ns0:minorTickMark val="none"/>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50112"/>
      </ns0:valAx>
      <ns0:valAx>
        <ns0:axId val="48650112"/>
        <ns0:scaling>
          <ns0:orientation val="minMax"/>
          <ns0:max val="40"/>
          <ns0:min val="1"/>
        </ns0:scaling>
        <ns0:delete val="0"/>
        <ns0:axPos val="b"/>
        <ns0:title>
          <ns0:tx>
            <ns0:rich>
              <ns1:bodyPr/>
              <ns1:lstStyle/>
              <ns1:p>
                <ns1:r>
                  <ns1:rPr sz="1500">
                    <ns1:latin typeface="Arial"/>
                    <ns1:ea typeface="Arial"/>
                    <ns1:cs typeface="Arial"/>
                  </ns1:rPr>
                  <ns1:t>Epoch</ns1:t>
                </ns1:r>
              </ns1:p>
            </ns0:rich>
          </ns0:tx>
          <ns0:overlay val="0"/>
          <ns0:txPr>
            <ns1:bodyPr anchorCtr="1"/>
            <ns1:lstStyle/>
            <ns1:p>
              <ns1:pPr>
                <ns1:defRPr sz="1500">
                  <ns1:latin typeface="Arial"/>
                  <ns1:ea typeface="Arial"/>
                  <ns1:cs typeface="Arial"/>
                </ns1:defRPr>
              </ns1:pPr>
            </ns1:p>
          </ns0:txPr>
        </ns0:title>
        <ns0:numFmt formatCode="General"/>
        <ns0:majorTickMark val="none"/>
        <ns0:minorTickMark val="none"/>
        <ns0:tickLblPos val="low"/>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72768"/>
        <ns0:majorUnit val="5"/>
      </ns0:valAx>
      <ns0:spPr>
        <ns1:solidFill>
          <ns1:srgbClr val="FFFFFF"/>
        </ns1:solidFill>
      </ns0:spPr>
    </ns0:plotArea>
    <ns0:legend>
      <ns0:legendPos val="b"/>
      <ns0:overlay val="0"/>
      <ns0:txPr>
        <ns1:bodyPr anchorCtr="1"/>
        <ns1:lstStyle/>
        <ns1:p>
          <ns1:pPr>
            <ns1:defRPr sz="1350">
              <ns1:latin typeface="Arial"/>
              <ns1:ea typeface="Arial"/>
              <ns1:cs typeface="Arial"/>
            </ns1:defRPr>
          </ns1:pPr>
        </ns1:p>
      </ns0:txPr>
    </ns0:legend>
    <ns0:plotVisOnly val="1"/>
  </ns0:chart>
  <ns0:spPr>
    <ns1:solidFill>
      <ns1:srgbClr val="FFFFFF"/>
    </ns1:solidFill>
  </ns0:spPr>
  <ns0:externalData ns2:id="rIdChartSnapshot1">
    <ns0:autoUpdate val="0"/>
  </ns0:externalData>
</ns0:chartSpace>
</file>

<file path=ppt/slides/charts/chart5.xml><?xml version="1.0" encoding="utf-8"?>
<ns0:chartSpace xmlns:ns0="http://schemas.openxmlformats.org/drawingml/2006/chart" xmlns:ns1="http://schemas.openxmlformats.org/drawingml/2006/main" xmlns:ns2="http://schemas.openxmlformats.org/officeDocument/2006/relationships">
  <ns0:lang val="en-US"/>
  <ns0:chart>
    <ns0:plotArea>
      <ns0:scatterChart>
        <ns0:scatterStyle val="line"/>
        <ns0:varyColors val="0"/>
        <ns0:ser>
          <ns0:idx val="0"/>
          <ns0:order val="0"/>
          <ns0:tx>
            <ns0:v>Dense active</ns0:v>
          </ns0:tx>
          <ns0:spPr>
            <ns1:ln w="28575">
              <ns1:solidFill>
                <ns1:srgbClr val="5276A4"/>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Data'!$A$2:$A$25</ns0:f>
              <ns0:numCache>
                <ns0:formatCode>General</ns0:formatCode>
                <ns0:ptCount val="24"/>
                <ns0:pt idx="0">
                  <ns0:v>0</ns0:v>
                </ns0:pt>
                <ns0:pt idx="1">
                  <ns0:v>1</ns0:v>
                </ns0:pt>
                <ns0:pt idx="2">
                  <ns0:v>2</ns0:v>
                </ns0:pt>
                <ns0:pt idx="3">
                  <ns0:v>3</ns0:v>
                </ns0:pt>
                <ns0:pt idx="4">
                  <ns0:v>4</ns0:v>
                </ns0:pt>
                <ns0:pt idx="5">
                  <ns0:v>5</ns0:v>
                </ns0:pt>
                <ns0:pt idx="6">
                  <ns0:v>6</ns0:v>
                </ns0:pt>
                <ns0:pt idx="7">
                  <ns0:v>7</ns0:v>
                </ns0:pt>
                <ns0:pt idx="8">
                  <ns0:v>8</ns0:v>
                </ns0:pt>
                <ns0:pt idx="9">
                  <ns0:v>9</ns0:v>
                </ns0:pt>
                <ns0:pt idx="10">
                  <ns0:v>10</ns0:v>
                </ns0:pt>
                <ns0:pt idx="11">
                  <ns0:v>11</ns0:v>
                </ns0:pt>
                <ns0:pt idx="12">
                  <ns0:v>12</ns0:v>
                </ns0:pt>
                <ns0:pt idx="13">
                  <ns0:v>13</ns0:v>
                </ns0:pt>
                <ns0:pt idx="14">
                  <ns0:v>14</ns0:v>
                </ns0:pt>
                <ns0:pt idx="15">
                  <ns0:v>15</ns0:v>
                </ns0:pt>
                <ns0:pt idx="16">
                  <ns0:v>16</ns0:v>
                </ns0:pt>
                <ns0:pt idx="17">
                  <ns0:v>17</ns0:v>
                </ns0:pt>
                <ns0:pt idx="18">
                  <ns0:v>18</ns0:v>
                </ns0:pt>
                <ns0:pt idx="19">
                  <ns0:v>19</ns0:v>
                </ns0:pt>
                <ns0:pt idx="20">
                  <ns0:v>20</ns0:v>
                </ns0:pt>
                <ns0:pt idx="21">
                  <ns0:v>21</ns0:v>
                </ns0:pt>
                <ns0:pt idx="22">
                  <ns0:v>22</ns0:v>
                </ns0:pt>
                <ns0:pt idx="23">
                  <ns0:v>23</ns0:v>
                </ns0:pt>
              </ns0:numCache>
            </ns0:numRef>
          </ns0:xVal>
          <ns0:yVal>
            <ns0:numRef>
              <ns0:f>'Chart Data'!$B$2:$B$25</ns0:f>
              <ns0:numCache>
                <ns0:formatCode>0.00</ns0:formatCode>
                <ns0:ptCount val="24"/>
                <ns0:pt idx="0">
                  <ns0:v>0.07024813443</ns0:v>
                </ns0:pt>
                <ns0:pt idx="1">
                  <ns0:v>0.01297331663</ns0:v>
                </ns0:pt>
                <ns0:pt idx="2">
                  <ns0:v>0.009338025314</ns0:v>
                </ns0:pt>
                <ns0:pt idx="3">
                  <ns0:v>0.008311981646</ns0:v>
                </ns0:pt>
                <ns0:pt idx="4">
                  <ns0:v>0.007782862366</ns0:v>
                </ns0:pt>
                <ns0:pt idx="5">
                  <ns0:v>0.007892112869</ns0:v>
                </ns0:pt>
                <ns0:pt idx="6">
                  <ns0:v>0.007482556161</ns0:v>
                </ns0:pt>
                <ns0:pt idx="7">
                  <ns0:v>0.007836669683</ns0:v>
                </ns0:pt>
                <ns0:pt idx="8">
                  <ns0:v>0.007799242468</ns0:v>
                </ns0:pt>
                <ns0:pt idx="9">
                  <ns0:v>0.007853251571</ns0:v>
                </ns0:pt>
                <ns0:pt idx="10">
                  <ns0:v>0.007674547688</ns0:v>
                </ns0:pt>
                <ns0:pt idx="11">
                  <ns0:v>0.00802712872</ns0:v>
                </ns0:pt>
                <ns0:pt idx="12">
                  <ns0:v>0.007651928502</ns0:v>
                </ns0:pt>
                <ns0:pt idx="13">
                  <ns0:v>0.007855744412</ns0:v>
                </ns0:pt>
                <ns0:pt idx="14">
                  <ns0:v>0.007864828221</ns0:v>
                </ns0:pt>
                <ns0:pt idx="15">
                  <ns0:v>0.00783085109</ns0:v>
                </ns0:pt>
                <ns0:pt idx="16">
                  <ns0:v>0.007921952754</ns0:v>
                </ns0:pt>
                <ns0:pt idx="17">
                  <ns0:v>0.007598833181</ns0:v>
                </ns0:pt>
                <ns0:pt idx="18">
                  <ns0:v>0.00779476917</ns0:v>
                </ns0:pt>
                <ns0:pt idx="19">
                  <ns0:v>0.007862635422</ns0:v>
                </ns0:pt>
                <ns0:pt idx="20">
                  <ns0:v>0.007445392199</ns0:v>
                </ns0:pt>
                <ns0:pt idx="21">
                  <ns0:v>0.007525264906</ns0:v>
                </ns0:pt>
                <ns0:pt idx="22">
                  <ns0:v>0.00762870737</ns0:v>
                </ns0:pt>
                <ns0:pt idx="23">
                  <ns0:v>0.007622352491</ns0:v>
                </ns0:pt>
              </ns0:numCache>
            </ns0:numRef>
          </ns0:yVal>
        </ns0:ser>
        <ns0:ser>
          <ns0:idx val="1"/>
          <ns0:order val="1"/>
          <ns0:tx>
            <ns0:v>Dense total</ns0:v>
          </ns0:tx>
          <ns0:spPr>
            <ns1:ln w="28575">
              <ns1:solidFill>
                <ns1:srgbClr val="152B45"/>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Data'!$C$2:$C$25</ns0:f>
              <ns0:numCache>
                <ns0:formatCode>General</ns0:formatCode>
                <ns0:ptCount val="24"/>
                <ns0:pt idx="0">
                  <ns0:v>0</ns0:v>
                </ns0:pt>
                <ns0:pt idx="1">
                  <ns0:v>1</ns0:v>
                </ns0:pt>
                <ns0:pt idx="2">
                  <ns0:v>2</ns0:v>
                </ns0:pt>
                <ns0:pt idx="3">
                  <ns0:v>3</ns0:v>
                </ns0:pt>
                <ns0:pt idx="4">
                  <ns0:v>4</ns0:v>
                </ns0:pt>
                <ns0:pt idx="5">
                  <ns0:v>5</ns0:v>
                </ns0:pt>
                <ns0:pt idx="6">
                  <ns0:v>6</ns0:v>
                </ns0:pt>
                <ns0:pt idx="7">
                  <ns0:v>7</ns0:v>
                </ns0:pt>
                <ns0:pt idx="8">
                  <ns0:v>8</ns0:v>
                </ns0:pt>
                <ns0:pt idx="9">
                  <ns0:v>9</ns0:v>
                </ns0:pt>
                <ns0:pt idx="10">
                  <ns0:v>10</ns0:v>
                </ns0:pt>
                <ns0:pt idx="11">
                  <ns0:v>11</ns0:v>
                </ns0:pt>
                <ns0:pt idx="12">
                  <ns0:v>12</ns0:v>
                </ns0:pt>
                <ns0:pt idx="13">
                  <ns0:v>13</ns0:v>
                </ns0:pt>
                <ns0:pt idx="14">
                  <ns0:v>14</ns0:v>
                </ns0:pt>
                <ns0:pt idx="15">
                  <ns0:v>15</ns0:v>
                </ns0:pt>
                <ns0:pt idx="16">
                  <ns0:v>16</ns0:v>
                </ns0:pt>
                <ns0:pt idx="17">
                  <ns0:v>17</ns0:v>
                </ns0:pt>
                <ns0:pt idx="18">
                  <ns0:v>18</ns0:v>
                </ns0:pt>
                <ns0:pt idx="19">
                  <ns0:v>19</ns0:v>
                </ns0:pt>
                <ns0:pt idx="20">
                  <ns0:v>20</ns0:v>
                </ns0:pt>
                <ns0:pt idx="21">
                  <ns0:v>21</ns0:v>
                </ns0:pt>
                <ns0:pt idx="22">
                  <ns0:v>22</ns0:v>
                </ns0:pt>
                <ns0:pt idx="23">
                  <ns0:v>23</ns0:v>
                </ns0:pt>
              </ns0:numCache>
            </ns0:numRef>
          </ns0:xVal>
          <ns0:yVal>
            <ns0:numRef>
              <ns0:f>'Chart Data'!$D$2:$D$25</ns0:f>
              <ns0:numCache>
                <ns0:formatCode>0.00</ns0:formatCode>
                <ns0:ptCount val="24"/>
                <ns0:pt idx="0">
                  <ns0:v>0.07051731894</ns0:v>
                </ns0:pt>
                <ns0:pt idx="1">
                  <ns0:v>0.01271368874</ns0:v>
                </ns0:pt>
                <ns0:pt idx="2">
                  <ns0:v>0.009313173903</ns0:v>
                </ns0:pt>
                <ns0:pt idx="3">
                  <ns0:v>0.008192118568</ns0:v>
                </ns0:pt>
                <ns0:pt idx="4">
                  <ns0:v>0.007798269391</ns0:v>
                </ns0:pt>
                <ns0:pt idx="5">
                  <ns0:v>0.007740529099</ns0:v>
                </ns0:pt>
                <ns0:pt idx="6">
                  <ns0:v>0.007445423709</ns0:v>
                </ns0:pt>
                <ns0:pt idx="7">
                  <ns0:v>0.007737808085</ns0:v>
                </ns0:pt>
                <ns0:pt idx="8">
                  <ns0:v>0.007752827679</ns0:v>
                </ns0:pt>
                <ns0:pt idx="9">
                  <ns0:v>0.007669763329</ns0:v>
                </ns0:pt>
                <ns0:pt idx="10">
                  <ns0:v>0.007678059861</ns0:v>
                </ns0:pt>
                <ns0:pt idx="11">
                  <ns0:v>0.0080059402</ns0:v>
                </ns0:pt>
                <ns0:pt idx="12">
                  <ns0:v>0.007635153054</ns0:v>
                </ns0:pt>
                <ns0:pt idx="13">
                  <ns0:v>0.007782553012</ns0:v>
                </ns0:pt>
                <ns0:pt idx="14">
                  <ns0:v>0.007743831879</ns0:v>
                </ns0:pt>
                <ns0:pt idx="15">
                  <ns0:v>0.007764072623</ns0:v>
                </ns0:pt>
                <ns0:pt idx="16">
                  <ns0:v>0.007880729157</ns0:v>
                </ns0:pt>
                <ns0:pt idx="17">
                  <ns0:v>0.007482036638</ns0:v>
                </ns0:pt>
                <ns0:pt idx="18">
                  <ns0:v>0.007663016518</ns0:v>
                </ns0:pt>
                <ns0:pt idx="19">
                  <ns0:v>0.00784840202</ns0:v>
                </ns0:pt>
                <ns0:pt idx="20">
                  <ns0:v>0.007456211528</ns0:v>
                </ns0:pt>
                <ns0:pt idx="21">
                  <ns0:v>0.007504832776</ns0:v>
                </ns0:pt>
                <ns0:pt idx="22">
                  <ns0:v>0.007530894286</ns0:v>
                </ns0:pt>
                <ns0:pt idx="23">
                  <ns0:v>0.007498543089</ns0:v>
                </ns0:pt>
              </ns0:numCache>
            </ns0:numRef>
          </ns0:yVal>
        </ns0:ser>
        <ns0:ser>
          <ns0:idx val="2"/>
          <ns0:order val="2"/>
          <ns0:tx>
            <ns0:v>Learned MoE</ns0:v>
          </ns0:tx>
          <ns0:spPr>
            <ns1:ln w="28575">
              <ns1:solidFill>
                <ns1:srgbClr val="B67818"/>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Data'!$E$2:$E$25</ns0:f>
              <ns0:numCache>
                <ns0:formatCode>General</ns0:formatCode>
                <ns0:ptCount val="24"/>
                <ns0:pt idx="0">
                  <ns0:v>0</ns0:v>
                </ns0:pt>
                <ns0:pt idx="1">
                  <ns0:v>1</ns0:v>
                </ns0:pt>
                <ns0:pt idx="2">
                  <ns0:v>2</ns0:v>
                </ns0:pt>
                <ns0:pt idx="3">
                  <ns0:v>3</ns0:v>
                </ns0:pt>
                <ns0:pt idx="4">
                  <ns0:v>4</ns0:v>
                </ns0:pt>
                <ns0:pt idx="5">
                  <ns0:v>5</ns0:v>
                </ns0:pt>
                <ns0:pt idx="6">
                  <ns0:v>6</ns0:v>
                </ns0:pt>
                <ns0:pt idx="7">
                  <ns0:v>7</ns0:v>
                </ns0:pt>
                <ns0:pt idx="8">
                  <ns0:v>8</ns0:v>
                </ns0:pt>
                <ns0:pt idx="9">
                  <ns0:v>9</ns0:v>
                </ns0:pt>
                <ns0:pt idx="10">
                  <ns0:v>10</ns0:v>
                </ns0:pt>
                <ns0:pt idx="11">
                  <ns0:v>11</ns0:v>
                </ns0:pt>
                <ns0:pt idx="12">
                  <ns0:v>12</ns0:v>
                </ns0:pt>
                <ns0:pt idx="13">
                  <ns0:v>13</ns0:v>
                </ns0:pt>
                <ns0:pt idx="14">
                  <ns0:v>14</ns0:v>
                </ns0:pt>
                <ns0:pt idx="15">
                  <ns0:v>15</ns0:v>
                </ns0:pt>
                <ns0:pt idx="16">
                  <ns0:v>16</ns0:v>
                </ns0:pt>
                <ns0:pt idx="17">
                  <ns0:v>17</ns0:v>
                </ns0:pt>
                <ns0:pt idx="18">
                  <ns0:v>18</ns0:v>
                </ns0:pt>
                <ns0:pt idx="19">
                  <ns0:v>19</ns0:v>
                </ns0:pt>
                <ns0:pt idx="20">
                  <ns0:v>20</ns0:v>
                </ns0:pt>
                <ns0:pt idx="21">
                  <ns0:v>21</ns0:v>
                </ns0:pt>
                <ns0:pt idx="22">
                  <ns0:v>22</ns0:v>
                </ns0:pt>
                <ns0:pt idx="23">
                  <ns0:v>23</ns0:v>
                </ns0:pt>
              </ns0:numCache>
            </ns0:numRef>
          </ns0:xVal>
          <ns0:yVal>
            <ns0:numRef>
              <ns0:f>'Chart Data'!$F$2:$F$25</ns0:f>
              <ns0:numCache>
                <ns0:formatCode>0.00</ns0:formatCode>
                <ns0:ptCount val="24"/>
                <ns0:pt idx="0">
                  <ns0:v>0.06920344383</ns0:v>
                </ns0:pt>
                <ns0:pt idx="1">
                  <ns0:v>0.01468481682</ns0:v>
                </ns0:pt>
                <ns0:pt idx="2">
                  <ns0:v>0.01046251164</ns0:v>
                </ns0:pt>
                <ns0:pt idx="3">
                  <ns0:v>0.009090087997</ns0:v>
                </ns0:pt>
                <ns0:pt idx="4">
                  <ns0:v>0.008101261376</ns0:v>
                </ns0:pt>
                <ns0:pt idx="5">
                  <ns0:v>0.008121663394</ns0:v>
                </ns0:pt>
                <ns0:pt idx="6">
                  <ns0:v>0.007887784236</ns0:v>
                </ns0:pt>
                <ns0:pt idx="7">
                  <ns0:v>0.008079557059</ns0:v>
                </ns0:pt>
                <ns0:pt idx="8">
                  <ns0:v>0.008041739464</ns0:v>
                </ns0:pt>
                <ns0:pt idx="9">
                  <ns0:v>0.008363880838</ns0:v>
                </ns0:pt>
                <ns0:pt idx="10">
                  <ns0:v>0.008144846186</ns0:v>
                </ns0:pt>
                <ns0:pt idx="11">
                  <ns0:v>0.008280227271</ns0:v>
                </ns0:pt>
                <ns0:pt idx="12">
                  <ns0:v>0.007898070694</ns0:v>
                </ns0:pt>
                <ns0:pt idx="13">
                  <ns0:v>0.008000929374</ns0:v>
                </ns0:pt>
                <ns0:pt idx="14">
                  <ns0:v>0.007907379419</ns0:v>
                </ns0:pt>
                <ns0:pt idx="15">
                  <ns0:v>0.008127673374</ns0:v>
                </ns0:pt>
                <ns0:pt idx="16">
                  <ns0:v>0.008172663705</ns0:v>
                </ns0:pt>
                <ns0:pt idx="17">
                  <ns0:v>0.007807726506</ns0:v>
                </ns0:pt>
                <ns0:pt idx="18">
                  <ns0:v>0.008159028366</ns0:v>
                </ns0:pt>
                <ns0:pt idx="19">
                  <ns0:v>0.007905512738</ns0:v>
                </ns0:pt>
                <ns0:pt idx="20">
                  <ns0:v>0.00758118974</ns0:v>
                </ns0:pt>
                <ns0:pt idx="21">
                  <ns0:v>0.007835853379</ns0:v>
                </ns0:pt>
                <ns0:pt idx="22">
                  <ns0:v>0.007928503988</ns0:v>
                </ns0:pt>
                <ns0:pt idx="23">
                  <ns0:v>0.007940827403</ns0:v>
                </ns0:pt>
              </ns0:numCache>
            </ns0:numRef>
          </ns0:yVal>
        </ns0:ser>
        <ns0:ser>
          <ns0:idx val="3"/>
          <ns0:order val="3"/>
          <ns0:tx>
            <ns0:v>Random routing</ns0:v>
          </ns0:tx>
          <ns0:spPr>
            <ns1:ln w="28575">
              <ns1:solidFill>
                <ns1:srgbClr val="8B7AA8"/>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Data'!$G$2:$G$25</ns0:f>
              <ns0:numCache>
                <ns0:formatCode>General</ns0:formatCode>
                <ns0:ptCount val="24"/>
                <ns0:pt idx="0">
                  <ns0:v>0</ns0:v>
                </ns0:pt>
                <ns0:pt idx="1">
                  <ns0:v>1</ns0:v>
                </ns0:pt>
                <ns0:pt idx="2">
                  <ns0:v>2</ns0:v>
                </ns0:pt>
                <ns0:pt idx="3">
                  <ns0:v>3</ns0:v>
                </ns0:pt>
                <ns0:pt idx="4">
                  <ns0:v>4</ns0:v>
                </ns0:pt>
                <ns0:pt idx="5">
                  <ns0:v>5</ns0:v>
                </ns0:pt>
                <ns0:pt idx="6">
                  <ns0:v>6</ns0:v>
                </ns0:pt>
                <ns0:pt idx="7">
                  <ns0:v>7</ns0:v>
                </ns0:pt>
                <ns0:pt idx="8">
                  <ns0:v>8</ns0:v>
                </ns0:pt>
                <ns0:pt idx="9">
                  <ns0:v>9</ns0:v>
                </ns0:pt>
                <ns0:pt idx="10">
                  <ns0:v>10</ns0:v>
                </ns0:pt>
                <ns0:pt idx="11">
                  <ns0:v>11</ns0:v>
                </ns0:pt>
                <ns0:pt idx="12">
                  <ns0:v>12</ns0:v>
                </ns0:pt>
                <ns0:pt idx="13">
                  <ns0:v>13</ns0:v>
                </ns0:pt>
                <ns0:pt idx="14">
                  <ns0:v>14</ns0:v>
                </ns0:pt>
                <ns0:pt idx="15">
                  <ns0:v>15</ns0:v>
                </ns0:pt>
                <ns0:pt idx="16">
                  <ns0:v>16</ns0:v>
                </ns0:pt>
                <ns0:pt idx="17">
                  <ns0:v>17</ns0:v>
                </ns0:pt>
                <ns0:pt idx="18">
                  <ns0:v>18</ns0:v>
                </ns0:pt>
                <ns0:pt idx="19">
                  <ns0:v>19</ns0:v>
                </ns0:pt>
                <ns0:pt idx="20">
                  <ns0:v>20</ns0:v>
                </ns0:pt>
                <ns0:pt idx="21">
                  <ns0:v>21</ns0:v>
                </ns0:pt>
                <ns0:pt idx="22">
                  <ns0:v>22</ns0:v>
                </ns0:pt>
                <ns0:pt idx="23">
                  <ns0:v>23</ns0:v>
                </ns0:pt>
              </ns0:numCache>
            </ns0:numRef>
          </ns0:xVal>
          <ns0:yVal>
            <ns0:numRef>
              <ns0:f>'Chart Data'!$H$2:$H$25</ns0:f>
              <ns0:numCache>
                <ns0:formatCode>0.00</ns0:formatCode>
                <ns0:ptCount val="24"/>
                <ns0:pt idx="0">
                  <ns0:v>0.06904128442</ns0:v>
                </ns0:pt>
                <ns0:pt idx="1">
                  <ns0:v>0.01513508894</ns0:v>
                </ns0:pt>
                <ns0:pt idx="2">
                  <ns0:v>0.01132437183</ns0:v>
                </ns0:pt>
                <ns0:pt idx="3">
                  <ns0:v>0.009454193835</ns0:v>
                </ns0:pt>
                <ns0:pt idx="4">
                  <ns0:v>0.008472214763</ns0:v>
                </ns0:pt>
                <ns0:pt idx="5">
                  <ns0:v>0.008537152782</ns0:v>
                </ns0:pt>
                <ns0:pt idx="6">
                  <ns0:v>0.008009501733</ns0:v>
                </ns0:pt>
                <ns0:pt idx="7">
                  <ns0:v>0.008288605449</ns0:v>
                </ns0:pt>
                <ns0:pt idx="8">
                  <ns0:v>0.008236000314</ns0:v>
                </ns0:pt>
                <ns0:pt idx="9">
                  <ns0:v>0.008471763072</ns0:v>
                </ns0:pt>
                <ns0:pt idx="10">
                  <ns0:v>0.008205932565</ns0:v>
                </ns0:pt>
                <ns0:pt idx="11">
                  <ns0:v>0.008467583296</ns0:v>
                </ns0:pt>
                <ns0:pt idx="12">
                  <ns0:v>0.008222393381</ns0:v>
                </ns0:pt>
                <ns0:pt idx="13">
                  <ns0:v>0.008246924418</ns0:v>
                </ns0:pt>
                <ns0:pt idx="14">
                  <ns0:v>0.008142535885</ns0:v>
                </ns0:pt>
                <ns0:pt idx="15">
                  <ns0:v>0.008083207843</ns0:v>
                </ns0:pt>
                <ns0:pt idx="16">
                  <ns0:v>0.008389405906</ns0:v>
                </ns0:pt>
                <ns0:pt idx="17">
                  <ns0:v>0.008081529134</ns0:v>
                </ns0:pt>
                <ns0:pt idx="18">
                  <ns0:v>0.008292753249</ns0:v>
                </ns0:pt>
                <ns0:pt idx="19">
                  <ns0:v>0.008222257718</ns0:v>
                </ns0:pt>
                <ns0:pt idx="20">
                  <ns0:v>0.007907928278</ns0:v>
                </ns0:pt>
                <ns0:pt idx="21">
                  <ns0:v>0.008028612162</ns0:v>
                </ns0:pt>
                <ns0:pt idx="22">
                  <ns0:v>0.007964189009</ns0:v>
                </ns0:pt>
                <ns0:pt idx="23">
                  <ns0:v>0.008072781532</ns0:v>
                </ns0:pt>
              </ns0:numCache>
            </ns0:numRef>
          </ns0:yVal>
        </ns0:ser>
        <ns0:ser>
          <ns0:idx val="4"/>
          <ns0:order val="4"/>
          <ns0:tx>
            <ns0:v>Oracle</ns0:v>
          </ns0:tx>
          <ns0:spPr>
            <ns1:ln w="28575">
              <ns1:solidFill>
                <ns1:srgbClr val="087E8B"/>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Data'!$I$2:$I$25</ns0:f>
              <ns0:numCache>
                <ns0:formatCode>General</ns0:formatCode>
                <ns0:ptCount val="24"/>
                <ns0:pt idx="0">
                  <ns0:v>0</ns0:v>
                </ns0:pt>
                <ns0:pt idx="1">
                  <ns0:v>1</ns0:v>
                </ns0:pt>
                <ns0:pt idx="2">
                  <ns0:v>2</ns0:v>
                </ns0:pt>
                <ns0:pt idx="3">
                  <ns0:v>3</ns0:v>
                </ns0:pt>
                <ns0:pt idx="4">
                  <ns0:v>4</ns0:v>
                </ns0:pt>
                <ns0:pt idx="5">
                  <ns0:v>5</ns0:v>
                </ns0:pt>
                <ns0:pt idx="6">
                  <ns0:v>6</ns0:v>
                </ns0:pt>
                <ns0:pt idx="7">
                  <ns0:v>7</ns0:v>
                </ns0:pt>
                <ns0:pt idx="8">
                  <ns0:v>8</ns0:v>
                </ns0:pt>
                <ns0:pt idx="9">
                  <ns0:v>9</ns0:v>
                </ns0:pt>
                <ns0:pt idx="10">
                  <ns0:v>10</ns0:v>
                </ns0:pt>
                <ns0:pt idx="11">
                  <ns0:v>11</ns0:v>
                </ns0:pt>
                <ns0:pt idx="12">
                  <ns0:v>12</ns0:v>
                </ns0:pt>
                <ns0:pt idx="13">
                  <ns0:v>13</ns0:v>
                </ns0:pt>
                <ns0:pt idx="14">
                  <ns0:v>14</ns0:v>
                </ns0:pt>
                <ns0:pt idx="15">
                  <ns0:v>15</ns0:v>
                </ns0:pt>
                <ns0:pt idx="16">
                  <ns0:v>16</ns0:v>
                </ns0:pt>
                <ns0:pt idx="17">
                  <ns0:v>17</ns0:v>
                </ns0:pt>
                <ns0:pt idx="18">
                  <ns0:v>18</ns0:v>
                </ns0:pt>
                <ns0:pt idx="19">
                  <ns0:v>19</ns0:v>
                </ns0:pt>
                <ns0:pt idx="20">
                  <ns0:v>20</ns0:v>
                </ns0:pt>
                <ns0:pt idx="21">
                  <ns0:v>21</ns0:v>
                </ns0:pt>
                <ns0:pt idx="22">
                  <ns0:v>22</ns0:v>
                </ns0:pt>
                <ns0:pt idx="23">
                  <ns0:v>23</ns0:v>
                </ns0:pt>
              </ns0:numCache>
            </ns0:numRef>
          </ns0:xVal>
          <ns0:yVal>
            <ns0:numRef>
              <ns0:f>'Chart Data'!$J$2:$J$25</ns0:f>
              <ns0:numCache>
                <ns0:formatCode>0.00</ns0:formatCode>
                <ns0:ptCount val="24"/>
                <ns0:pt idx="0">
                  <ns0:v>0.006915722974</ns0:v>
                </ns0:pt>
                <ns0:pt idx="1">
                  <ns0:v>0.00678058574</ns0:v>
                </ns0:pt>
                <ns0:pt idx="2">
                  <ns0:v>0.006791856606</ns0:v>
                </ns0:pt>
                <ns0:pt idx="3">
                  <ns0:v>0.006922964317</ns0:v>
                </ns0:pt>
                <ns0:pt idx="4">
                  <ns0:v>0.00652569936</ns0:v>
                </ns0:pt>
                <ns0:pt idx="5">
                  <ns0:v>0.006755417368</ns0:v>
                </ns0:pt>
                <ns0:pt idx="6">
                  <ns0:v>0.00634079442</ns0:v>
                </ns0:pt>
                <ns0:pt idx="7">
                  <ns0:v>0.006868448729</ns0:v>
                </ns0:pt>
                <ns0:pt idx="8">
                  <ns0:v>0.00662278384</ns0:v>
                </ns0:pt>
                <ns0:pt idx="9">
                  <ns0:v>0.006670773495</ns0:v>
                </ns0:pt>
                <ns0:pt idx="10">
                  <ns0:v>0.006499762492</ns0:v>
                </ns0:pt>
                <ns0:pt idx="11">
                  <ns0:v>0.006955173332</ns0:v>
                </ns0:pt>
                <ns0:pt idx="12">
                  <ns0:v>0.006438870759</ns0:v>
                </ns0:pt>
                <ns0:pt idx="13">
                  <ns0:v>0.00662661499</ns0:v>
                </ns0:pt>
                <ns0:pt idx="14">
                  <ns0:v>0.006776637708</ns0:v>
                </ns0:pt>
                <ns0:pt idx="15">
                  <ns0:v>0.006684560018</ns0:v>
                </ns0:pt>
                <ns0:pt idx="16">
                  <ns0:v>0.006726040505</ns0:v>
                </ns0:pt>
                <ns0:pt idx="17">
                  <ns0:v>0.006450009067</ns0:v>
                </ns0:pt>
                <ns0:pt idx="18">
                  <ns0:v>0.006577464597</ns0:v>
                </ns0:pt>
                <ns0:pt idx="19">
                  <ns0:v>0.006717737454</ns0:v>
                </ns0:pt>
                <ns0:pt idx="20">
                  <ns0:v>0.006513666517</ns0:v>
                </ns0:pt>
                <ns0:pt idx="21">
                  <ns0:v>0.006332144296</ns0:v>
                </ns0:pt>
                <ns0:pt idx="22">
                  <ns0:v>0.006451653627</ns0:v>
                </ns0:pt>
                <ns0:pt idx="23">
                  <ns0:v>0.006478897141</ns0:v>
                </ns0:pt>
              </ns0:numCache>
            </ns0:numRef>
          </ns0:yVal>
        </ns0:ser>
        <ns0:dLbls>
          <ns0:txPr>
            <ns1:bodyPr anchorCtr="1"/>
            <ns1:lstStyle/>
            <ns1:p>
              <ns1:pPr>
                <ns1:defRPr>
                  <ns1:latin typeface="Arial"/>
                  <ns1:ea typeface="Arial"/>
                  <ns1:cs typeface="Arial"/>
                </ns1:defRPr>
              </ns1:pPr>
            </ns1:p>
          </ns0:txPr>
          <ns0:showLegendKey val="0"/>
          <ns0:showVal val="0"/>
          <ns0:showCatName val="0"/>
          <ns0:showSerName val="0"/>
          <ns0:showPercent val="0"/>
          <ns0:showBubbleSize val="0"/>
          <ns0:showLeaderLines val="0"/>
        </ns0:dLbls>
        <ns0:axId val="48650112"/>
        <ns0:axId val="48672768"/>
      </ns0:scatterChart>
      <ns0:valAx>
        <ns0:axId val="48672768"/>
        <ns0:scaling>
          <ns0:orientation val="minMax"/>
          <ns0:min val="0"/>
        </ns0:scaling>
        <ns0:delete val="0"/>
        <ns0:axPos val="l"/>
        <ns0:majorGridlines>
          <ns0:spPr>
            <ns1:ln w="9525">
              <ns1:solidFill>
                <ns1:srgbClr val="E0E5EB"/>
              </ns1:solidFill>
              <ns1:prstDash val="solid"/>
            </ns1:ln>
          </ns0:spPr>
        </ns0:majorGridlines>
        <ns0:title>
          <ns0:tx>
            <ns0:rich>
              <ns1:bodyPr/>
              <ns1:lstStyle/>
              <ns1:p>
                <ns1:r>
                  <ns1:rPr sz="1500">
                    <ns1:latin typeface="Arial"/>
                    <ns1:ea typeface="Arial"/>
                    <ns1:cs typeface="Arial"/>
                  </ns1:rPr>
                  <ns1:t>Original-unit MSE</ns1:t>
                </ns1:r>
              </ns1:p>
            </ns0:rich>
          </ns0:tx>
          <ns0:overlay val="0"/>
          <ns0:txPr>
            <ns1:bodyPr anchorCtr="1"/>
            <ns1:lstStyle/>
            <ns1:p>
              <ns1:pPr>
                <ns1:defRPr sz="1500">
                  <ns1:latin typeface="Arial"/>
                  <ns1:ea typeface="Arial"/>
                  <ns1:cs typeface="Arial"/>
                </ns1:defRPr>
              </ns1:pPr>
            </ns1:p>
          </ns0:txPr>
        </ns0:title>
        <ns0:numFmt formatCode="0.00"/>
        <ns0:majorTickMark val="none"/>
        <ns0:minorTickMark val="none"/>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50112"/>
      </ns0:valAx>
      <ns0:valAx>
        <ns0:axId val="48650112"/>
        <ns0:scaling>
          <ns0:orientation val="minMax"/>
          <ns0:max val="23"/>
          <ns0:min val="0"/>
        </ns0:scaling>
        <ns0:delete val="0"/>
        <ns0:axPos val="b"/>
        <ns0:title>
          <ns0:tx>
            <ns0:rich>
              <ns1:bodyPr/>
              <ns1:lstStyle/>
              <ns1:p>
                <ns1:r>
                  <ns1:rPr sz="1500">
                    <ns1:latin typeface="Arial"/>
                    <ns1:ea typeface="Arial"/>
                    <ns1:cs typeface="Arial"/>
                  </ns1:rPr>
                  <ns1:t>Steps after a true regime switch</ns1:t>
                </ns1:r>
              </ns1:p>
            </ns0:rich>
          </ns0:tx>
          <ns0:overlay val="0"/>
          <ns0:txPr>
            <ns1:bodyPr anchorCtr="1"/>
            <ns1:lstStyle/>
            <ns1:p>
              <ns1:pPr>
                <ns1:defRPr sz="1500">
                  <ns1:latin typeface="Arial"/>
                  <ns1:ea typeface="Arial"/>
                  <ns1:cs typeface="Arial"/>
                </ns1:defRPr>
              </ns1:pPr>
            </ns1:p>
          </ns0:txPr>
        </ns0:title>
        <ns0:numFmt formatCode="General"/>
        <ns0:majorTickMark val="none"/>
        <ns0:minorTickMark val="none"/>
        <ns0:tickLblPos val="low"/>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72768"/>
        <ns0:majorUnit val="4"/>
      </ns0:valAx>
      <ns0:spPr>
        <ns1:solidFill>
          <ns1:srgbClr val="FFFFFF"/>
        </ns1:solidFill>
      </ns0:spPr>
    </ns0:plotArea>
    <ns0:legend>
      <ns0:legendPos val="b"/>
      <ns0:overlay val="0"/>
      <ns0:txPr>
        <ns1:bodyPr anchorCtr="1"/>
        <ns1:lstStyle/>
        <ns1:p>
          <ns1:pPr>
            <ns1:defRPr sz="1350">
              <ns1:latin typeface="Arial"/>
              <ns1:ea typeface="Arial"/>
              <ns1:cs typeface="Arial"/>
            </ns1:defRPr>
          </ns1:pPr>
        </ns1:p>
      </ns0:txPr>
    </ns0:legend>
    <ns0:plotVisOnly val="1"/>
  </ns0:chart>
  <ns0:spPr>
    <ns1:solidFill>
      <ns1:srgbClr val="FFFFFF"/>
    </ns1:solidFill>
  </ns0:spPr>
  <ns0:externalData ns2:id="rIdChartSnapshot1">
    <ns0:autoUpdate val="0"/>
  </ns0:externalData>
</ns0:chartSpace>
</file>

<file path=ppt/slides/charts/chart6.xml><?xml version="1.0" encoding="utf-8"?>
<ns0:chartSpace xmlns:ns0="http://schemas.openxmlformats.org/drawingml/2006/chart" xmlns:ns1="http://schemas.openxmlformats.org/drawingml/2006/main" xmlns:ns2="http://schemas.openxmlformats.org/officeDocument/2006/relationships">
  <ns0:lang val="en-US"/>
  <ns0:chart>
    <ns0:plotArea>
      <ns0:barChart>
        <ns0:barDir val="col"/>
        <ns0:grouping val="clustered"/>
        <ns0:varyColors val="0"/>
        <ns0:ser>
          <ns0:idx val="0"/>
          <ns0:order val="0"/>
          <ns0:tx>
            <ns0:v>Learned MoE</ns0:v>
          </ns0:tx>
          <ns0:spPr>
            <ns1:solidFill>
              <ns1:srgbClr val="B67818"/>
            </ns1:solidFill>
          </ns0:spP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cat>
            <ns0:strRef>
              <ns0:f>'Chart Data'!$A$2:$A$4</ns0:f>
              <ns0:strCache>
                <ns0:ptCount val="3"/>
                <ns0:pt idx="0">
                  <ns0:v>Expert 0</ns0:v>
                </ns0:pt>
                <ns0:pt idx="1">
                  <ns0:v>Expert 1</ns0:v>
                </ns0:pt>
                <ns0:pt idx="2">
                  <ns0:v>Expert 2</ns0:v>
                </ns0:pt>
              </ns0:strCache>
            </ns0:strRef>
          </ns0:cat>
          <ns0:val>
            <ns0:numRef>
              <ns0:f>'Chart Data'!$B$2:$B$4</ns0:f>
              <ns0:numCache>
                <ns0:formatCode>0%</ns0:formatCode>
                <ns0:ptCount val="3"/>
                <ns0:pt idx="0">
                  <ns0:v>0.4212415541</ns0:v>
                </ns0:pt>
                <ns0:pt idx="1">
                  <ns0:v>0.2682432432</ns0:v>
                </ns0:pt>
                <ns0:pt idx="2">
                  <ns0:v>0.3105152027</ns0:v>
                </ns0:pt>
              </ns0:numCache>
            </ns0:numRef>
          </ns0:val>
        </ns0:ser>
        <ns0:ser>
          <ns0:idx val="1"/>
          <ns0:order val="1"/>
          <ns0:tx>
            <ns0:v>Random routing</ns0:v>
          </ns0:tx>
          <ns0:spPr>
            <ns1:solidFill>
              <ns1:srgbClr val="8B7AA8"/>
            </ns1:solidFill>
          </ns0:spP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cat>
            <ns0:strRef>
              <ns0:f>'Chart Data'!$C$2:$C$4</ns0:f>
              <ns0:strCache>
                <ns0:ptCount val="3"/>
                <ns0:pt idx="0">
                  <ns0:v>Expert 0</ns0:v>
                </ns0:pt>
                <ns0:pt idx="1">
                  <ns0:v>Expert 1</ns0:v>
                </ns0:pt>
                <ns0:pt idx="2">
                  <ns0:v>Expert 2</ns0:v>
                </ns0:pt>
              </ns0:strCache>
            </ns0:strRef>
          </ns0:cat>
          <ns0:val>
            <ns0:numRef>
              <ns0:f>'Chart Data'!$D$2:$D$4</ns0:f>
              <ns0:numCache>
                <ns0:formatCode>0%</ns0:formatCode>
                <ns0:ptCount val="3"/>
                <ns0:pt idx="0">
                  <ns0:v>0.3266047297</ns0:v>
                </ns0:pt>
                <ns0:pt idx="1">
                  <ns0:v>0.3253378378</ns0:v>
                </ns0:pt>
                <ns0:pt idx="2">
                  <ns0:v>0.3480574324</ns0:v>
                </ns0:pt>
              </ns0:numCache>
            </ns0:numRef>
          </ns0:val>
        </ns0:ser>
        <ns0:dLbls>
          <ns0:txPr>
            <ns1:bodyPr anchorCtr="1"/>
            <ns1:lstStyle/>
            <ns1:p>
              <ns1:pPr>
                <ns1:defRPr>
                  <ns1:latin typeface="Arial"/>
                  <ns1:ea typeface="Arial"/>
                  <ns1:cs typeface="Arial"/>
                </ns1:defRPr>
              </ns1:pPr>
            </ns1:p>
          </ns0:txPr>
          <ns0:showLegendKey val="0"/>
          <ns0:showVal val="0"/>
          <ns0:showCatName val="0"/>
          <ns0:showSerName val="0"/>
          <ns0:showPercent val="0"/>
          <ns0:showBubbleSize val="0"/>
          <ns0:showLeaderLines val="0"/>
        </ns0:dLbls>
        <ns0:axId val="48650112"/>
        <ns0:axId val="48672768"/>
      </ns0:barChart>
      <ns0:catAx>
        <ns0:axId val="48650112"/>
        <ns0:scaling>
          <ns0:orientation val="minMax"/>
        </ns0:scaling>
        <ns0:delete val="0"/>
        <ns0:axPos val="b"/>
        <ns0:title>
          <ns0:txPr>
            <ns1:bodyPr anchorCtr="1"/>
            <ns1:lstStyle/>
            <ns1:p>
              <ns1:pPr>
                <ns1:defRPr sz="1500"/>
              </ns1:pPr>
            </ns1:p>
          </ns0:txPr>
        </ns0:title>
        <ns0:numFmt formatCode="General"/>
        <ns0:majorTickMark val="none"/>
        <ns0:minorTickMark val="none"/>
        <ns0:tickLblPos val="low"/>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72768"/>
      </ns0:catAx>
      <ns0:valAx>
        <ns0:axId val="48672768"/>
        <ns0:scaling>
          <ns0:orientation val="minMax"/>
          <ns0:max val="0.5"/>
          <ns0:min val="0"/>
        </ns0:scaling>
        <ns0:delete val="0"/>
        <ns0:axPos val="l"/>
        <ns0:majorGridlines>
          <ns0:spPr>
            <ns1:ln w="9525">
              <ns1:solidFill>
                <ns1:srgbClr val="E0E5EB"/>
              </ns1:solidFill>
              <ns1:prstDash val="solid"/>
            </ns1:ln>
          </ns0:spPr>
        </ns0:majorGridlines>
        <ns0:title>
          <ns0:tx>
            <ns0:rich>
              <ns1:bodyPr/>
              <ns1:lstStyle/>
              <ns1:p>
                <ns1:r>
                  <ns1:rPr sz="1500">
                    <ns1:latin typeface="Arial"/>
                    <ns1:ea typeface="Arial"/>
                    <ns1:cs typeface="Arial"/>
                  </ns1:rPr>
                  <ns1:t>Fraction of selected expert slots</ns1:t>
                </ns1:r>
              </ns1:p>
            </ns0:rich>
          </ns0:tx>
          <ns0:overlay val="0"/>
          <ns0:txPr>
            <ns1:bodyPr anchorCtr="1"/>
            <ns1:lstStyle/>
            <ns1:p>
              <ns1:pPr>
                <ns1:defRPr sz="1500">
                  <ns1:latin typeface="Arial"/>
                  <ns1:ea typeface="Arial"/>
                  <ns1:cs typeface="Arial"/>
                </ns1:defRPr>
              </ns1:pPr>
            </ns1:p>
          </ns0:txPr>
        </ns0:title>
        <ns0:numFmt formatCode="0%"/>
        <ns0:majorTickMark val="none"/>
        <ns0:minorTickMark val="none"/>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50112"/>
        <ns0:crossBetween val="between"/>
      </ns0:valAx>
      <ns0:spPr>
        <ns1:solidFill>
          <ns1:srgbClr val="FFFFFF"/>
        </ns1:solidFill>
      </ns0:spPr>
    </ns0:plotArea>
    <ns0:legend>
      <ns0:legendPos val="b"/>
      <ns0:overlay val="0"/>
      <ns0:txPr>
        <ns1:bodyPr anchorCtr="1"/>
        <ns1:lstStyle/>
        <ns1:p>
          <ns1:pPr>
            <ns1:defRPr sz="1350">
              <ns1:latin typeface="Arial"/>
              <ns1:ea typeface="Arial"/>
              <ns1:cs typeface="Arial"/>
            </ns1:defRPr>
          </ns1:pPr>
        </ns1:p>
      </ns0:txPr>
    </ns0:legend>
    <ns0:plotVisOnly val="1"/>
  </ns0:chart>
  <ns0:spPr>
    <ns1:solidFill>
      <ns1:srgbClr val="FFFFFF"/>
    </ns1:solidFill>
  </ns0:spPr>
  <ns0:externalData ns2:id="rIdChartSnapshot1">
    <ns0:autoUpdate val="0"/>
  </ns0:externalData>
</ns0:chartSpace>
</file>

<file path=ppt/slides/charts/chart7.xml><?xml version="1.0" encoding="utf-8"?>
<ns0:chartSpace xmlns:ns0="http://schemas.openxmlformats.org/drawingml/2006/chart" xmlns:ns1="http://schemas.openxmlformats.org/drawingml/2006/main" xmlns:ns2="http://schemas.openxmlformats.org/officeDocument/2006/relationships">
  <ns0:lang val="en-US"/>
  <ns0:chart>
    <ns0:plotArea>
      <ns0:scatterChart>
        <ns0:scatterStyle val="line"/>
        <ns0:varyColors val="0"/>
        <ns0:ser>
          <ns0:idx val="0"/>
          <ns0:order val="0"/>
          <ns0:tx>
            <ns0:v>Dense active</ns0:v>
          </ns0:tx>
          <ns0:spPr>
            <ns1:ln w="28575">
              <ns1:solidFill>
                <ns1:srgbClr val="5276A4"/>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Data'!$A$2:$A$33</ns0:f>
              <ns0:numCache>
                <ns0:formatCode>General</ns0:formatCode>
                <ns0:ptCount val="32"/>
                <ns0:pt idx="0">
                  <ns0:v>1</ns0:v>
                </ns0:pt>
                <ns0:pt idx="1">
                  <ns0:v>2</ns0:v>
                </ns0:pt>
                <ns0:pt idx="2">
                  <ns0:v>3</ns0:v>
                </ns0:pt>
                <ns0:pt idx="3">
                  <ns0:v>4</ns0:v>
                </ns0:pt>
                <ns0:pt idx="4">
                  <ns0:v>5</ns0:v>
                </ns0:pt>
                <ns0:pt idx="5">
                  <ns0:v>6</ns0:v>
                </ns0:pt>
                <ns0:pt idx="6">
                  <ns0:v>7</ns0:v>
                </ns0:pt>
                <ns0:pt idx="7">
                  <ns0:v>8</ns0:v>
                </ns0:pt>
                <ns0:pt idx="8">
                  <ns0:v>9</ns0:v>
                </ns0:pt>
                <ns0:pt idx="9">
                  <ns0:v>10</ns0:v>
                </ns0:pt>
                <ns0:pt idx="10">
                  <ns0:v>11</ns0:v>
                </ns0:pt>
                <ns0:pt idx="11">
                  <ns0:v>12</ns0:v>
                </ns0:pt>
                <ns0:pt idx="12">
                  <ns0:v>13</ns0:v>
                </ns0:pt>
                <ns0:pt idx="13">
                  <ns0:v>14</ns0:v>
                </ns0:pt>
                <ns0:pt idx="14">
                  <ns0:v>15</ns0:v>
                </ns0:pt>
                <ns0:pt idx="15">
                  <ns0:v>16</ns0:v>
                </ns0:pt>
                <ns0:pt idx="16">
                  <ns0:v>17</ns0:v>
                </ns0:pt>
                <ns0:pt idx="17">
                  <ns0:v>18</ns0:v>
                </ns0:pt>
                <ns0:pt idx="18">
                  <ns0:v>19</ns0:v>
                </ns0:pt>
                <ns0:pt idx="19">
                  <ns0:v>20</ns0:v>
                </ns0:pt>
                <ns0:pt idx="20">
                  <ns0:v>21</ns0:v>
                </ns0:pt>
                <ns0:pt idx="21">
                  <ns0:v>22</ns0:v>
                </ns0:pt>
                <ns0:pt idx="22">
                  <ns0:v>23</ns0:v>
                </ns0:pt>
                <ns0:pt idx="23">
                  <ns0:v>24</ns0:v>
                </ns0:pt>
                <ns0:pt idx="24">
                  <ns0:v>25</ns0:v>
                </ns0:pt>
                <ns0:pt idx="25">
                  <ns0:v>26</ns0:v>
                </ns0:pt>
                <ns0:pt idx="26">
                  <ns0:v>27</ns0:v>
                </ns0:pt>
                <ns0:pt idx="27">
                  <ns0:v>28</ns0:v>
                </ns0:pt>
                <ns0:pt idx="28">
                  <ns0:v>29</ns0:v>
                </ns0:pt>
                <ns0:pt idx="29">
                  <ns0:v>30</ns0:v>
                </ns0:pt>
                <ns0:pt idx="30">
                  <ns0:v>31</ns0:v>
                </ns0:pt>
                <ns0:pt idx="31">
                  <ns0:v>32</ns0:v>
                </ns0:pt>
              </ns0:numCache>
            </ns0:numRef>
          </ns0:xVal>
          <ns0:yVal>
            <ns0:numRef>
              <ns0:f>'Chart Data'!$B$2:$B$33</ns0:f>
              <ns0:numCache>
                <ns0:formatCode>0.00</ns0:formatCode>
                <ns0:ptCount val="32"/>
                <ns0:pt idx="0">
                  <ns0:v>0.01117683171</ns0:v>
                </ns0:pt>
                <ns0:pt idx="1">
                  <ns0:v>0.02407977606</ns0:v>
                </ns0:pt>
                <ns0:pt idx="2">
                  <ns0:v>0.03481667489</ns0:v>
                </ns0:pt>
                <ns0:pt idx="3">
                  <ns0:v>0.0412760588</ns0:v>
                </ns0:pt>
                <ns0:pt idx="4">
                  <ns0:v>0.04746112972</ns0:v>
                </ns0:pt>
                <ns0:pt idx="5">
                  <ns0:v>0.05245836576</ns0:v>
                </ns0:pt>
                <ns0:pt idx="6">
                  <ns0:v>0.05461463953</ns0:v>
                </ns0:pt>
                <ns0:pt idx="7">
                  <ns0:v>0.05661350613</ns0:v>
                </ns0:pt>
                <ns0:pt idx="8">
                  <ns0:v>0.05717022841</ns0:v>
                </ns0:pt>
                <ns0:pt idx="9">
                  <ns0:v>0.05668580035</ns0:v>
                </ns0:pt>
                <ns0:pt idx="10">
                  <ns0:v>0.05790814757</ns0:v>
                </ns0:pt>
                <ns0:pt idx="11">
                  <ns0:v>0.06051839888</ns0:v>
                </ns0:pt>
                <ns0:pt idx="12">
                  <ns0:v>0.06243621558</ns0:v>
                </ns0:pt>
                <ns0:pt idx="13">
                  <ns0:v>0.06294223294</ns0:v>
                </ns0:pt>
                <ns0:pt idx="14">
                  <ns0:v>0.0624567382</ns0:v>
                </ns0:pt>
                <ns0:pt idx="15">
                  <ns0:v>0.06295580914</ns0:v>
                </ns0:pt>
                <ns0:pt idx="16">
                  <ns0:v>0.0627325053</ns0:v>
                </ns0:pt>
                <ns0:pt idx="17">
                  <ns0:v>0.06187097107</ns0:v>
                </ns0:pt>
                <ns0:pt idx="18">
                  <ns0:v>0.06340300292</ns0:v>
                </ns0:pt>
                <ns0:pt idx="19">
                  <ns0:v>0.06353680541</ns0:v>
                </ns0:pt>
                <ns0:pt idx="20">
                  <ns0:v>0.06413752586</ns0:v>
                </ns0:pt>
                <ns0:pt idx="21">
                  <ns0:v>0.06469442695</ns0:v>
                </ns0:pt>
                <ns0:pt idx="22">
                  <ns0:v>0.0643307964</ns0:v>
                </ns0:pt>
                <ns0:pt idx="23">
                  <ns0:v>0.06611081461</ns0:v>
                </ns0:pt>
                <ns0:pt idx="24">
                  <ns0:v>0.06648944194</ns0:v>
                </ns0:pt>
                <ns0:pt idx="25">
                  <ns0:v>0.06532569726</ns0:v>
                </ns0:pt>
                <ns0:pt idx="26">
                  <ns0:v>0.0658242479</ns0:v>
                </ns0:pt>
                <ns0:pt idx="27">
                  <ns0:v>0.06432269762</ns0:v>
                </ns0:pt>
                <ns0:pt idx="28">
                  <ns0:v>0.06385479867</ns0:v>
                </ns0:pt>
                <ns0:pt idx="29">
                  <ns0:v>0.06382749478</ns0:v>
                </ns0:pt>
                <ns0:pt idx="30">
                  <ns0:v>0.06458908071</ns0:v>
                </ns0:pt>
                <ns0:pt idx="31">
                  <ns0:v>0.06456854194</ns0:v>
                </ns0:pt>
              </ns0:numCache>
            </ns0:numRef>
          </ns0:yVal>
        </ns0:ser>
        <ns0:ser>
          <ns0:idx val="1"/>
          <ns0:order val="1"/>
          <ns0:tx>
            <ns0:v>Dense total</ns0:v>
          </ns0:tx>
          <ns0:spPr>
            <ns1:ln w="28575">
              <ns1:solidFill>
                <ns1:srgbClr val="152B45"/>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Data'!$C$2:$C$33</ns0:f>
              <ns0:numCache>
                <ns0:formatCode>General</ns0:formatCode>
                <ns0:ptCount val="32"/>
                <ns0:pt idx="0">
                  <ns0:v>1</ns0:v>
                </ns0:pt>
                <ns0:pt idx="1">
                  <ns0:v>2</ns0:v>
                </ns0:pt>
                <ns0:pt idx="2">
                  <ns0:v>3</ns0:v>
                </ns0:pt>
                <ns0:pt idx="3">
                  <ns0:v>4</ns0:v>
                </ns0:pt>
                <ns0:pt idx="4">
                  <ns0:v>5</ns0:v>
                </ns0:pt>
                <ns0:pt idx="5">
                  <ns0:v>6</ns0:v>
                </ns0:pt>
                <ns0:pt idx="6">
                  <ns0:v>7</ns0:v>
                </ns0:pt>
                <ns0:pt idx="7">
                  <ns0:v>8</ns0:v>
                </ns0:pt>
                <ns0:pt idx="8">
                  <ns0:v>9</ns0:v>
                </ns0:pt>
                <ns0:pt idx="9">
                  <ns0:v>10</ns0:v>
                </ns0:pt>
                <ns0:pt idx="10">
                  <ns0:v>11</ns0:v>
                </ns0:pt>
                <ns0:pt idx="11">
                  <ns0:v>12</ns0:v>
                </ns0:pt>
                <ns0:pt idx="12">
                  <ns0:v>13</ns0:v>
                </ns0:pt>
                <ns0:pt idx="13">
                  <ns0:v>14</ns0:v>
                </ns0:pt>
                <ns0:pt idx="14">
                  <ns0:v>15</ns0:v>
                </ns0:pt>
                <ns0:pt idx="15">
                  <ns0:v>16</ns0:v>
                </ns0:pt>
                <ns0:pt idx="16">
                  <ns0:v>17</ns0:v>
                </ns0:pt>
                <ns0:pt idx="17">
                  <ns0:v>18</ns0:v>
                </ns0:pt>
                <ns0:pt idx="18">
                  <ns0:v>19</ns0:v>
                </ns0:pt>
                <ns0:pt idx="19">
                  <ns0:v>20</ns0:v>
                </ns0:pt>
                <ns0:pt idx="20">
                  <ns0:v>21</ns0:v>
                </ns0:pt>
                <ns0:pt idx="21">
                  <ns0:v>22</ns0:v>
                </ns0:pt>
                <ns0:pt idx="22">
                  <ns0:v>23</ns0:v>
                </ns0:pt>
                <ns0:pt idx="23">
                  <ns0:v>24</ns0:v>
                </ns0:pt>
                <ns0:pt idx="24">
                  <ns0:v>25</ns0:v>
                </ns0:pt>
                <ns0:pt idx="25">
                  <ns0:v>26</ns0:v>
                </ns0:pt>
                <ns0:pt idx="26">
                  <ns0:v>27</ns0:v>
                </ns0:pt>
                <ns0:pt idx="27">
                  <ns0:v>28</ns0:v>
                </ns0:pt>
                <ns0:pt idx="28">
                  <ns0:v>29</ns0:v>
                </ns0:pt>
                <ns0:pt idx="29">
                  <ns0:v>30</ns0:v>
                </ns0:pt>
                <ns0:pt idx="30">
                  <ns0:v>31</ns0:v>
                </ns0:pt>
                <ns0:pt idx="31">
                  <ns0:v>32</ns0:v>
                </ns0:pt>
              </ns0:numCache>
            </ns0:numRef>
          </ns0:xVal>
          <ns0:yVal>
            <ns0:numRef>
              <ns0:f>'Chart Data'!$D$2:$D$33</ns0:f>
              <ns0:numCache>
                <ns0:formatCode>0.00</ns0:formatCode>
                <ns0:ptCount val="32"/>
                <ns0:pt idx="0">
                  <ns0:v>0.01110361361</ns0:v>
                </ns0:pt>
                <ns0:pt idx="1">
                  <ns0:v>0.02407121472</ns0:v>
                </ns0:pt>
                <ns0:pt idx="2">
                  <ns0:v>0.03477010255</ns0:v>
                </ns0:pt>
                <ns0:pt idx="3">
                  <ns0:v>0.04111809408</ns0:v>
                </ns0:pt>
                <ns0:pt idx="4">
                  <ns0:v>0.0471503747</ns0:v>
                </ns0:pt>
                <ns0:pt idx="5">
                  <ns0:v>0.05133523792</ns0:v>
                </ns0:pt>
                <ns0:pt idx="6">
                  <ns0:v>0.05378022417</ns0:v>
                </ns0:pt>
                <ns0:pt idx="7">
                  <ns0:v>0.05572171385</ns0:v>
                </ns0:pt>
                <ns0:pt idx="8">
                  <ns0:v>0.05617271612</ns0:v>
                </ns0:pt>
                <ns0:pt idx="9">
                  <ns0:v>0.05582012609</ns0:v>
                </ns0:pt>
                <ns0:pt idx="10">
                  <ns0:v>0.05722301453</ns0:v>
                </ns0:pt>
                <ns0:pt idx="11">
                  <ns0:v>0.05965384841</ns0:v>
                </ns0:pt>
                <ns0:pt idx="12">
                  <ns0:v>0.06181942299</ns0:v>
                </ns0:pt>
                <ns0:pt idx="13">
                  <ns0:v>0.06252617141</ns0:v>
                </ns0:pt>
                <ns0:pt idx="14">
                  <ns0:v>0.0619327339</ns0:v>
                </ns0:pt>
                <ns0:pt idx="15">
                  <ns0:v>0.06225250537</ns0:v>
                </ns0:pt>
                <ns0:pt idx="16">
                  <ns0:v>0.06189638252</ns0:v>
                </ns0:pt>
                <ns0:pt idx="17">
                  <ns0:v>0.06196815521</ns0:v>
                </ns0:pt>
                <ns0:pt idx="18">
                  <ns0:v>0.06313397487</ns0:v>
                </ns0:pt>
                <ns0:pt idx="19">
                  <ns0:v>0.06310330828</ns0:v>
                </ns0:pt>
                <ns0:pt idx="20">
                  <ns0:v>0.06357407322</ns0:v>
                </ns0:pt>
                <ns0:pt idx="21">
                  <ns0:v>0.06429656098</ns0:v>
                </ns0:pt>
                <ns0:pt idx="22">
                  <ns0:v>0.0640187785</ns0:v>
                </ns0:pt>
                <ns0:pt idx="23">
                  <ns0:v>0.06484977653</ns0:v>
                </ns0:pt>
                <ns0:pt idx="24">
                  <ns0:v>0.06536069264</ns0:v>
                </ns0:pt>
                <ns0:pt idx="25">
                  <ns0:v>0.06610510995</ns0:v>
                </ns0:pt>
                <ns0:pt idx="26">
                  <ns0:v>0.06751677394</ns0:v>
                </ns0:pt>
                <ns0:pt idx="27">
                  <ns0:v>0.06630270928</ns0:v>
                </ns0:pt>
                <ns0:pt idx="28">
                  <ns0:v>0.06529708952</ns0:v>
                </ns0:pt>
                <ns0:pt idx="29">
                  <ns0:v>0.06468413522</ns0:v>
                </ns0:pt>
                <ns0:pt idx="30">
                  <ns0:v>0.0642399316</ns0:v>
                </ns0:pt>
                <ns0:pt idx="31">
                  <ns0:v>0.0646275878</ns0:v>
                </ns0:pt>
              </ns0:numCache>
            </ns0:numRef>
          </ns0:yVal>
        </ns0:ser>
        <ns0:ser>
          <ns0:idx val="2"/>
          <ns0:order val="2"/>
          <ns0:tx>
            <ns0:v>Learned MoE</ns0:v>
          </ns0:tx>
          <ns0:spPr>
            <ns1:ln w="28575">
              <ns1:solidFill>
                <ns1:srgbClr val="B67818"/>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Data'!$E$2:$E$33</ns0:f>
              <ns0:numCache>
                <ns0:formatCode>General</ns0:formatCode>
                <ns0:ptCount val="32"/>
                <ns0:pt idx="0">
                  <ns0:v>1</ns0:v>
                </ns0:pt>
                <ns0:pt idx="1">
                  <ns0:v>2</ns0:v>
                </ns0:pt>
                <ns0:pt idx="2">
                  <ns0:v>3</ns0:v>
                </ns0:pt>
                <ns0:pt idx="3">
                  <ns0:v>4</ns0:v>
                </ns0:pt>
                <ns0:pt idx="4">
                  <ns0:v>5</ns0:v>
                </ns0:pt>
                <ns0:pt idx="5">
                  <ns0:v>6</ns0:v>
                </ns0:pt>
                <ns0:pt idx="6">
                  <ns0:v>7</ns0:v>
                </ns0:pt>
                <ns0:pt idx="7">
                  <ns0:v>8</ns0:v>
                </ns0:pt>
                <ns0:pt idx="8">
                  <ns0:v>9</ns0:v>
                </ns0:pt>
                <ns0:pt idx="9">
                  <ns0:v>10</ns0:v>
                </ns0:pt>
                <ns0:pt idx="10">
                  <ns0:v>11</ns0:v>
                </ns0:pt>
                <ns0:pt idx="11">
                  <ns0:v>12</ns0:v>
                </ns0:pt>
                <ns0:pt idx="12">
                  <ns0:v>13</ns0:v>
                </ns0:pt>
                <ns0:pt idx="13">
                  <ns0:v>14</ns0:v>
                </ns0:pt>
                <ns0:pt idx="14">
                  <ns0:v>15</ns0:v>
                </ns0:pt>
                <ns0:pt idx="15">
                  <ns0:v>16</ns0:v>
                </ns0:pt>
                <ns0:pt idx="16">
                  <ns0:v>17</ns0:v>
                </ns0:pt>
                <ns0:pt idx="17">
                  <ns0:v>18</ns0:v>
                </ns0:pt>
                <ns0:pt idx="18">
                  <ns0:v>19</ns0:v>
                </ns0:pt>
                <ns0:pt idx="19">
                  <ns0:v>20</ns0:v>
                </ns0:pt>
                <ns0:pt idx="20">
                  <ns0:v>21</ns0:v>
                </ns0:pt>
                <ns0:pt idx="21">
                  <ns0:v>22</ns0:v>
                </ns0:pt>
                <ns0:pt idx="22">
                  <ns0:v>23</ns0:v>
                </ns0:pt>
                <ns0:pt idx="23">
                  <ns0:v>24</ns0:v>
                </ns0:pt>
                <ns0:pt idx="24">
                  <ns0:v>25</ns0:v>
                </ns0:pt>
                <ns0:pt idx="25">
                  <ns0:v>26</ns0:v>
                </ns0:pt>
                <ns0:pt idx="26">
                  <ns0:v>27</ns0:v>
                </ns0:pt>
                <ns0:pt idx="27">
                  <ns0:v>28</ns0:v>
                </ns0:pt>
                <ns0:pt idx="28">
                  <ns0:v>29</ns0:v>
                </ns0:pt>
                <ns0:pt idx="29">
                  <ns0:v>30</ns0:v>
                </ns0:pt>
                <ns0:pt idx="30">
                  <ns0:v>31</ns0:v>
                </ns0:pt>
                <ns0:pt idx="31">
                  <ns0:v>32</ns0:v>
                </ns0:pt>
              </ns0:numCache>
            </ns0:numRef>
          </ns0:xVal>
          <ns0:yVal>
            <ns0:numRef>
              <ns0:f>'Chart Data'!$F$2:$F$33</ns0:f>
              <ns0:numCache>
                <ns0:formatCode>0.00</ns0:formatCode>
                <ns0:ptCount val="32"/>
                <ns0:pt idx="0">
                  <ns0:v>0.01154120329</ns0:v>
                </ns0:pt>
                <ns0:pt idx="1">
                  <ns0:v>0.02495770405</ns0:v>
                </ns0:pt>
                <ns0:pt idx="2">
                  <ns0:v>0.03597406795</ns0:v>
                </ns0:pt>
                <ns0:pt idx="3">
                  <ns0:v>0.04174947242</ns0:v>
                </ns0:pt>
                <ns0:pt idx="4">
                  <ns0:v>0.04753363753</ns0:v>
                </ns0:pt>
                <ns0:pt idx="5">
                  <ns0:v>0.05234504119</ns0:v>
                </ns0:pt>
                <ns0:pt idx="6">
                  <ns0:v>0.05425886561</ns0:v>
                </ns0:pt>
                <ns0:pt idx="7">
                  <ns0:v>0.0566876096</ns0:v>
                </ns0:pt>
                <ns0:pt idx="8">
                  <ns0:v>0.05730641509</ns0:v>
                </ns0:pt>
                <ns0:pt idx="9">
                  <ns0:v>0.05720694115</ns0:v>
                </ns0:pt>
                <ns0:pt idx="10">
                  <ns0:v>0.05917844549</ns0:v>
                </ns0:pt>
                <ns0:pt idx="11">
                  <ns0:v>0.06067764014</ns0:v>
                </ns0:pt>
                <ns0:pt idx="12">
                  <ns0:v>0.06262832383</ns0:v>
                </ns0:pt>
                <ns0:pt idx="13">
                  <ns0:v>0.06386843324</ns0:v>
                </ns0:pt>
                <ns0:pt idx="14">
                  <ns0:v>0.06295263519</ns0:v>
                </ns0:pt>
                <ns0:pt idx="15">
                  <ns0:v>0.06277617315</ns0:v>
                </ns0:pt>
                <ns0:pt idx="16">
                  <ns0:v>0.06269855797</ns0:v>
                </ns0:pt>
                <ns0:pt idx="17">
                  <ns0:v>0.06106683612</ns0:v>
                </ns0:pt>
                <ns0:pt idx="18">
                  <ns0:v>0.06292191148</ns0:v>
                </ns0:pt>
                <ns0:pt idx="19">
                  <ns0:v>0.063166935</ns0:v>
                </ns0:pt>
                <ns0:pt idx="20">
                  <ns0:v>0.06380566582</ns0:v>
                </ns0:pt>
                <ns0:pt idx="21">
                  <ns0:v>0.06457950175</ns0:v>
                </ns0:pt>
                <ns0:pt idx="22">
                  <ns0:v>0.06410662085</ns0:v>
                </ns0:pt>
                <ns0:pt idx="23">
                  <ns0:v>0.06602745006</ns0:v>
                </ns0:pt>
                <ns0:pt idx="24">
                  <ns0:v>0.06597647071</ns0:v>
                </ns0:pt>
                <ns0:pt idx="25">
                  <ns0:v>0.06543525308</ns0:v>
                </ns0:pt>
                <ns0:pt idx="26">
                  <ns0:v>0.06684786081</ns0:v>
                </ns0:pt>
                <ns0:pt idx="27">
                  <ns0:v>0.0655184264</ns0:v>
                </ns0:pt>
                <ns0:pt idx="28">
                  <ns0:v>0.06537154565</ns0:v>
                </ns0:pt>
                <ns0:pt idx="29">
                  <ns0:v>0.06490097319</ns0:v>
                </ns0:pt>
                <ns0:pt idx="30">
                  <ns0:v>0.06413166225</ns0:v>
                </ns0:pt>
                <ns0:pt idx="31">
                  <ns0:v>0.06408190479</ns0:v>
                </ns0:pt>
              </ns0:numCache>
            </ns0:numRef>
          </ns0:yVal>
        </ns0:ser>
        <ns0:ser>
          <ns0:idx val="3"/>
          <ns0:order val="3"/>
          <ns0:tx>
            <ns0:v>Random routing</ns0:v>
          </ns0:tx>
          <ns0:spPr>
            <ns1:ln w="28575">
              <ns1:solidFill>
                <ns1:srgbClr val="8B7AA8"/>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Data'!$G$2:$G$33</ns0:f>
              <ns0:numCache>
                <ns0:formatCode>General</ns0:formatCode>
                <ns0:ptCount val="32"/>
                <ns0:pt idx="0">
                  <ns0:v>1</ns0:v>
                </ns0:pt>
                <ns0:pt idx="1">
                  <ns0:v>2</ns0:v>
                </ns0:pt>
                <ns0:pt idx="2">
                  <ns0:v>3</ns0:v>
                </ns0:pt>
                <ns0:pt idx="3">
                  <ns0:v>4</ns0:v>
                </ns0:pt>
                <ns0:pt idx="4">
                  <ns0:v>5</ns0:v>
                </ns0:pt>
                <ns0:pt idx="5">
                  <ns0:v>6</ns0:v>
                </ns0:pt>
                <ns0:pt idx="6">
                  <ns0:v>7</ns0:v>
                </ns0:pt>
                <ns0:pt idx="7">
                  <ns0:v>8</ns0:v>
                </ns0:pt>
                <ns0:pt idx="8">
                  <ns0:v>9</ns0:v>
                </ns0:pt>
                <ns0:pt idx="9">
                  <ns0:v>10</ns0:v>
                </ns0:pt>
                <ns0:pt idx="10">
                  <ns0:v>11</ns0:v>
                </ns0:pt>
                <ns0:pt idx="11">
                  <ns0:v>12</ns0:v>
                </ns0:pt>
                <ns0:pt idx="12">
                  <ns0:v>13</ns0:v>
                </ns0:pt>
                <ns0:pt idx="13">
                  <ns0:v>14</ns0:v>
                </ns0:pt>
                <ns0:pt idx="14">
                  <ns0:v>15</ns0:v>
                </ns0:pt>
                <ns0:pt idx="15">
                  <ns0:v>16</ns0:v>
                </ns0:pt>
                <ns0:pt idx="16">
                  <ns0:v>17</ns0:v>
                </ns0:pt>
                <ns0:pt idx="17">
                  <ns0:v>18</ns0:v>
                </ns0:pt>
                <ns0:pt idx="18">
                  <ns0:v>19</ns0:v>
                </ns0:pt>
                <ns0:pt idx="19">
                  <ns0:v>20</ns0:v>
                </ns0:pt>
                <ns0:pt idx="20">
                  <ns0:v>21</ns0:v>
                </ns0:pt>
                <ns0:pt idx="21">
                  <ns0:v>22</ns0:v>
                </ns0:pt>
                <ns0:pt idx="22">
                  <ns0:v>23</ns0:v>
                </ns0:pt>
                <ns0:pt idx="23">
                  <ns0:v>24</ns0:v>
                </ns0:pt>
                <ns0:pt idx="24">
                  <ns0:v>25</ns0:v>
                </ns0:pt>
                <ns0:pt idx="25">
                  <ns0:v>26</ns0:v>
                </ns0:pt>
                <ns0:pt idx="26">
                  <ns0:v>27</ns0:v>
                </ns0:pt>
                <ns0:pt idx="27">
                  <ns0:v>28</ns0:v>
                </ns0:pt>
                <ns0:pt idx="28">
                  <ns0:v>29</ns0:v>
                </ns0:pt>
                <ns0:pt idx="29">
                  <ns0:v>30</ns0:v>
                </ns0:pt>
                <ns0:pt idx="30">
                  <ns0:v>31</ns0:v>
                </ns0:pt>
                <ns0:pt idx="31">
                  <ns0:v>32</ns0:v>
                </ns0:pt>
              </ns0:numCache>
            </ns0:numRef>
          </ns0:xVal>
          <ns0:yVal>
            <ns0:numRef>
              <ns0:f>'Chart Data'!$H$2:$H$33</ns0:f>
              <ns0:numCache>
                <ns0:formatCode>0.00</ns0:formatCode>
                <ns0:ptCount val="32"/>
                <ns0:pt idx="0">
                  <ns0:v>0.01172185037</ns0:v>
                </ns0:pt>
                <ns0:pt idx="1">
                  <ns0:v>0.02524976122</ns0:v>
                </ns0:pt>
                <ns0:pt idx="2">
                  <ns0:v>0.03649871051</ns0:v>
                </ns0:pt>
                <ns0:pt idx="3">
                  <ns0:v>0.04294136539</ns0:v>
                </ns0:pt>
                <ns0:pt idx="4">
                  <ns0:v>0.049259644</ns0:v>
                </ns0:pt>
                <ns0:pt idx="5">
                  <ns0:v>0.05359668285</ns0:v>
                </ns0:pt>
                <ns0:pt idx="6">
                  <ns0:v>0.05485766629</ns0:v>
                </ns0:pt>
                <ns0:pt idx="7">
                  <ns0:v>0.05615217487</ns0:v>
                </ns0:pt>
                <ns0:pt idx="8">
                  <ns0:v>0.05713935693</ns0:v>
                </ns0:pt>
                <ns0:pt idx="9">
                  <ns0:v>0.05764748777</ns0:v>
                </ns0:pt>
                <ns0:pt idx="10">
                  <ns0:v>0.05897376438</ns0:v>
                </ns0:pt>
                <ns0:pt idx="11">
                  <ns0:v>0.06060315917</ns0:v>
                </ns0:pt>
                <ns0:pt idx="12">
                  <ns0:v>0.06130191187</ns0:v>
                </ns0:pt>
                <ns0:pt idx="13">
                  <ns0:v>0.06181514387</ns0:v>
                </ns0:pt>
                <ns0:pt idx="14">
                  <ns0:v>0.0616423438</ns0:v>
                </ns0:pt>
                <ns0:pt idx="15">
                  <ns0:v>0.06230018164</ns0:v>
                </ns0:pt>
                <ns0:pt idx="16">
                  <ns0:v>0.06262071307</ns0:v>
                </ns0:pt>
                <ns0:pt idx="17">
                  <ns0:v>0.06134208043</ns0:v>
                </ns0:pt>
                <ns0:pt idx="18">
                  <ns0:v>0.06236309434</ns0:v>
                </ns0:pt>
                <ns0:pt idx="19">
                  <ns0:v>0.06178584943</ns0:v>
                </ns0:pt>
                <ns0:pt idx="20">
                  <ns0:v>0.06265076374</ns0:v>
                </ns0:pt>
                <ns0:pt idx="21">
                  <ns0:v>0.06383739412</ns0:v>
                </ns0:pt>
                <ns0:pt idx="22">
                  <ns0:v>0.06415741642</ns0:v>
                </ns0:pt>
                <ns0:pt idx="23">
                  <ns0:v>0.06526453793</ns0:v>
                </ns0:pt>
                <ns0:pt idx="24">
                  <ns0:v>0.06454244504</ns0:v>
                </ns0:pt>
                <ns0:pt idx="25">
                  <ns0:v>0.06358500446</ns0:v>
                </ns0:pt>
                <ns0:pt idx="26">
                  <ns0:v>0.06484356523</ns0:v>
                </ns0:pt>
                <ns0:pt idx="27">
                  <ns0:v>0.06408030664</ns0:v>
                </ns0:pt>
                <ns0:pt idx="28">
                  <ns0:v>0.06460070362</ns0:v>
                </ns0:pt>
                <ns0:pt idx="29">
                  <ns0:v>0.06473529215</ns0:v>
                </ns0:pt>
                <ns0:pt idx="30">
                  <ns0:v>0.06359502176</ns0:v>
                </ns0:pt>
                <ns0:pt idx="31">
                  <ns0:v>0.06283752496</ns0:v>
                </ns0:pt>
              </ns0:numCache>
            </ns0:numRef>
          </ns0:yVal>
        </ns0:ser>
        <ns0:ser>
          <ns0:idx val="4"/>
          <ns0:order val="4"/>
          <ns0:tx>
            <ns0:v>Oracle</ns0:v>
          </ns0:tx>
          <ns0:spPr>
            <ns1:ln w="28575">
              <ns1:solidFill>
                <ns1:srgbClr val="087E8B"/>
              </ns1:solidFill>
            </ns1:ln>
          </ns0:spPr>
          <ns0:marker>
            <ns0:symbol val="none"/>
          </ns0:marker>
          <ns0:dLbls>
            <ns0:txPr>
              <ns1:bodyPr anchorCtr="1"/>
              <ns1:lstStyle/>
              <ns1:p>
                <ns1:pPr>
                  <ns1:defRPr sz="1500">
                    <ns1:latin typeface="Arial"/>
                    <ns1:ea typeface="Arial"/>
                    <ns1:cs typeface="Arial"/>
                  </ns1:defRPr>
                </ns1:pPr>
              </ns1:p>
            </ns0:txPr>
            <ns0:showLegendKey val="0"/>
            <ns0:showVal val="0"/>
            <ns0:showCatName val="0"/>
            <ns0:showSerName val="0"/>
            <ns0:showPercent val="0"/>
            <ns0:showBubbleSize val="0"/>
            <ns0:showLeaderLines val="0"/>
          </ns0:dLbls>
          <ns0:xVal>
            <ns0:numRef>
              <ns0:f>'Chart Data'!$I$2:$I$33</ns0:f>
              <ns0:numCache>
                <ns0:formatCode>General</ns0:formatCode>
                <ns0:ptCount val="32"/>
                <ns0:pt idx="0">
                  <ns0:v>1</ns0:v>
                </ns0:pt>
                <ns0:pt idx="1">
                  <ns0:v>2</ns0:v>
                </ns0:pt>
                <ns0:pt idx="2">
                  <ns0:v>3</ns0:v>
                </ns0:pt>
                <ns0:pt idx="3">
                  <ns0:v>4</ns0:v>
                </ns0:pt>
                <ns0:pt idx="4">
                  <ns0:v>5</ns0:v>
                </ns0:pt>
                <ns0:pt idx="5">
                  <ns0:v>6</ns0:v>
                </ns0:pt>
                <ns0:pt idx="6">
                  <ns0:v>7</ns0:v>
                </ns0:pt>
                <ns0:pt idx="7">
                  <ns0:v>8</ns0:v>
                </ns0:pt>
                <ns0:pt idx="8">
                  <ns0:v>9</ns0:v>
                </ns0:pt>
                <ns0:pt idx="9">
                  <ns0:v>10</ns0:v>
                </ns0:pt>
                <ns0:pt idx="10">
                  <ns0:v>11</ns0:v>
                </ns0:pt>
                <ns0:pt idx="11">
                  <ns0:v>12</ns0:v>
                </ns0:pt>
                <ns0:pt idx="12">
                  <ns0:v>13</ns0:v>
                </ns0:pt>
                <ns0:pt idx="13">
                  <ns0:v>14</ns0:v>
                </ns0:pt>
                <ns0:pt idx="14">
                  <ns0:v>15</ns0:v>
                </ns0:pt>
                <ns0:pt idx="15">
                  <ns0:v>16</ns0:v>
                </ns0:pt>
                <ns0:pt idx="16">
                  <ns0:v>17</ns0:v>
                </ns0:pt>
                <ns0:pt idx="17">
                  <ns0:v>18</ns0:v>
                </ns0:pt>
                <ns0:pt idx="18">
                  <ns0:v>19</ns0:v>
                </ns0:pt>
                <ns0:pt idx="19">
                  <ns0:v>20</ns0:v>
                </ns0:pt>
                <ns0:pt idx="20">
                  <ns0:v>21</ns0:v>
                </ns0:pt>
                <ns0:pt idx="21">
                  <ns0:v>22</ns0:v>
                </ns0:pt>
                <ns0:pt idx="22">
                  <ns0:v>23</ns0:v>
                </ns0:pt>
                <ns0:pt idx="23">
                  <ns0:v>24</ns0:v>
                </ns0:pt>
                <ns0:pt idx="24">
                  <ns0:v>25</ns0:v>
                </ns0:pt>
                <ns0:pt idx="25">
                  <ns0:v>26</ns0:v>
                </ns0:pt>
                <ns0:pt idx="26">
                  <ns0:v>27</ns0:v>
                </ns0:pt>
                <ns0:pt idx="27">
                  <ns0:v>28</ns0:v>
                </ns0:pt>
                <ns0:pt idx="28">
                  <ns0:v>29</ns0:v>
                </ns0:pt>
                <ns0:pt idx="29">
                  <ns0:v>30</ns0:v>
                </ns0:pt>
                <ns0:pt idx="30">
                  <ns0:v>31</ns0:v>
                </ns0:pt>
                <ns0:pt idx="31">
                  <ns0:v>32</ns0:v>
                </ns0:pt>
              </ns0:numCache>
            </ns0:numRef>
          </ns0:xVal>
          <ns0:yVal>
            <ns0:numRef>
              <ns0:f>'Chart Data'!$J$2:$J$33</ns0:f>
              <ns0:numCache>
                <ns0:formatCode>0.00</ns0:formatCode>
                <ns0:ptCount val="32"/>
                <ns0:pt idx="0">
                  <ns0:v>0.00655168714</ns0:v>
                </ns0:pt>
                <ns0:pt idx="1">
                  <ns0:v>0.0124610768</ns0:v>
                </ns0:pt>
                <ns0:pt idx="2">
                  <ns0:v>0.01836812062</ns0:v>
                </ns0:pt>
                <ns0:pt idx="3">
                  <ns0:v>0.02314415947</ns0:v>
                </ns0:pt>
                <ns0:pt idx="4">
                  <ns0:v>0.02797610685</ns0:v>
                </ns0:pt>
                <ns0:pt idx="5">
                  <ns0:v>0.03219464794</ns0:v>
                </ns0:pt>
                <ns0:pt idx="6">
                  <ns0:v>0.03625152508</ns0:v>
                </ns0:pt>
                <ns0:pt idx="7">
                  <ns0:v>0.03884455313</ns0:v>
                </ns0:pt>
                <ns0:pt idx="8">
                  <ns0:v>0.04123263185</ns0:v>
                </ns0:pt>
                <ns0:pt idx="9">
                  <ns0:v>0.04348925004</ns0:v>
                </ns0:pt>
                <ns0:pt idx="10">
                  <ns0:v>0.04673653096</ns0:v>
                </ns0:pt>
                <ns0:pt idx="11">
                  <ns0:v>0.04974510645</ns0:v>
                </ns0:pt>
                <ns0:pt idx="12">
                  <ns0:v>0.05172569181</ns0:v>
                </ns0:pt>
                <ns0:pt idx="13">
                  <ns0:v>0.05474839235</ns0:v>
                </ns0:pt>
                <ns0:pt idx="14">
                  <ns0:v>0.05602074042</ns0:v>
                </ns0:pt>
                <ns0:pt idx="15">
                  <ns0:v>0.05826704452</ns0:v>
                </ns0:pt>
                <ns0:pt idx="16">
                  <ns0:v>0.06060266619</ns0:v>
                </ns0:pt>
                <ns0:pt idx="17">
                  <ns0:v>0.06140373026</ns0:v>
                </ns0:pt>
                <ns0:pt idx="18">
                  <ns0:v>0.06376573195</ns0:v>
                </ns0:pt>
                <ns0:pt idx="19">
                  <ns0:v>0.06492517392</ns0:v>
                </ns0:pt>
                <ns0:pt idx="20">
                  <ns0:v>0.06653249264</ns0:v>
                </ns0:pt>
                <ns0:pt idx="21">
                  <ns0:v>0.06959593793</ns0:v>
                </ns0:pt>
                <ns0:pt idx="22">
                  <ns0:v>0.07019424935</ns0:v>
                </ns0:pt>
                <ns0:pt idx="23">
                  <ns0:v>0.07210972905</ns0:v>
                </ns0:pt>
                <ns0:pt idx="24">
                  <ns0:v>0.07299330582</ns0:v>
                </ns0:pt>
                <ns0:pt idx="25">
                  <ns0:v>0.07298629483</ns0:v>
                </ns0:pt>
                <ns0:pt idx="26">
                  <ns0:v>0.07531631986</ns0:v>
                </ns0:pt>
                <ns0:pt idx="27">
                  <ns0:v>0.0752555877</ns0:v>
                </ns0:pt>
                <ns0:pt idx="28">
                  <ns0:v>0.07569660495</ns0:v>
                </ns0:pt>
                <ns0:pt idx="29">
                  <ns0:v>0.07618141919</ns0:v>
                </ns0:pt>
                <ns0:pt idx="30">
                  <ns0:v>0.07659214238</ns0:v>
                </ns0:pt>
                <ns0:pt idx="31">
                  <ns0:v>0.07764549553</ns0:v>
                </ns0:pt>
              </ns0:numCache>
            </ns0:numRef>
          </ns0:yVal>
        </ns0:ser>
        <ns0:dLbls>
          <ns0:txPr>
            <ns1:bodyPr anchorCtr="1"/>
            <ns1:lstStyle/>
            <ns1:p>
              <ns1:pPr>
                <ns1:defRPr>
                  <ns1:latin typeface="Arial"/>
                  <ns1:ea typeface="Arial"/>
                  <ns1:cs typeface="Arial"/>
                </ns1:defRPr>
              </ns1:pPr>
            </ns1:p>
          </ns0:txPr>
          <ns0:showLegendKey val="0"/>
          <ns0:showVal val="0"/>
          <ns0:showCatName val="0"/>
          <ns0:showSerName val="0"/>
          <ns0:showPercent val="0"/>
          <ns0:showBubbleSize val="0"/>
          <ns0:showLeaderLines val="0"/>
        </ns0:dLbls>
        <ns0:axId val="48650112"/>
        <ns0:axId val="48672768"/>
      </ns0:scatterChart>
      <ns0:valAx>
        <ns0:axId val="48672768"/>
        <ns0:scaling>
          <ns0:orientation val="minMax"/>
          <ns0:min val="0"/>
        </ns0:scaling>
        <ns0:delete val="0"/>
        <ns0:axPos val="l"/>
        <ns0:majorGridlines>
          <ns0:spPr>
            <ns1:ln w="9525">
              <ns1:solidFill>
                <ns1:srgbClr val="E0E5EB"/>
              </ns1:solidFill>
              <ns1:prstDash val="solid"/>
            </ns1:ln>
          </ns0:spPr>
        </ns0:majorGridlines>
        <ns0:title>
          <ns0:tx>
            <ns0:rich>
              <ns1:bodyPr/>
              <ns1:lstStyle/>
              <ns1:p>
                <ns1:r>
                  <ns1:rPr sz="1500">
                    <ns1:latin typeface="Arial"/>
                    <ns1:ea typeface="Arial"/>
                    <ns1:cs typeface="Arial"/>
                  </ns1:rPr>
                  <ns1:t>Original-unit MSE</ns1:t>
                </ns1:r>
              </ns1:p>
            </ns0:rich>
          </ns0:tx>
          <ns0:overlay val="0"/>
          <ns0:txPr>
            <ns1:bodyPr anchorCtr="1"/>
            <ns1:lstStyle/>
            <ns1:p>
              <ns1:pPr>
                <ns1:defRPr sz="1500">
                  <ns1:latin typeface="Arial"/>
                  <ns1:ea typeface="Arial"/>
                  <ns1:cs typeface="Arial"/>
                </ns1:defRPr>
              </ns1:pPr>
            </ns1:p>
          </ns0:txPr>
        </ns0:title>
        <ns0:numFmt formatCode="0.00"/>
        <ns0:majorTickMark val="none"/>
        <ns0:minorTickMark val="none"/>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50112"/>
      </ns0:valAx>
      <ns0:valAx>
        <ns0:axId val="48650112"/>
        <ns0:scaling>
          <ns0:orientation val="minMax"/>
          <ns0:max val="32"/>
          <ns0:min val="1"/>
        </ns0:scaling>
        <ns0:delete val="0"/>
        <ns0:axPos val="b"/>
        <ns0:title>
          <ns0:tx>
            <ns0:rich>
              <ns1:bodyPr/>
              <ns1:lstStyle/>
              <ns1:p>
                <ns1:r>
                  <ns1:rPr sz="1500">
                    <ns1:latin typeface="Arial"/>
                    <ns1:ea typeface="Arial"/>
                    <ns1:cs typeface="Arial"/>
                  </ns1:rPr>
                  <ns1:t>Forecast horizon</ns1:t>
                </ns1:r>
              </ns1:p>
            </ns0:rich>
          </ns0:tx>
          <ns0:overlay val="0"/>
          <ns0:txPr>
            <ns1:bodyPr anchorCtr="1"/>
            <ns1:lstStyle/>
            <ns1:p>
              <ns1:pPr>
                <ns1:defRPr sz="1500">
                  <ns1:latin typeface="Arial"/>
                  <ns1:ea typeface="Arial"/>
                  <ns1:cs typeface="Arial"/>
                </ns1:defRPr>
              </ns1:pPr>
            </ns1:p>
          </ns0:txPr>
        </ns0:title>
        <ns0:numFmt formatCode="General"/>
        <ns0:majorTickMark val="none"/>
        <ns0:minorTickMark val="none"/>
        <ns0:tickLblPos val="low"/>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72768"/>
        <ns0:majorUnit val="4"/>
      </ns0:valAx>
      <ns0:spPr>
        <ns1:solidFill>
          <ns1:srgbClr val="FFFFFF"/>
        </ns1:solidFill>
      </ns0:spPr>
    </ns0:plotArea>
    <ns0:legend>
      <ns0:legendPos val="b"/>
      <ns0:overlay val="0"/>
      <ns0:txPr>
        <ns1:bodyPr anchorCtr="1"/>
        <ns1:lstStyle/>
        <ns1:p>
          <ns1:pPr>
            <ns1:defRPr sz="1350">
              <ns1:latin typeface="Arial"/>
              <ns1:ea typeface="Arial"/>
              <ns1:cs typeface="Arial"/>
            </ns1:defRPr>
          </ns1:pPr>
        </ns1:p>
      </ns0:txPr>
    </ns0:legend>
    <ns0:plotVisOnly val="1"/>
  </ns0:chart>
  <ns0:spPr>
    <ns1:solidFill>
      <ns1:srgbClr val="FFFFFF"/>
    </ns1:solidFill>
  </ns0:spPr>
  <ns0:externalData ns2:id="rIdChartSnapshot1">
    <ns0:autoUpdate val="0"/>
  </ns0:externalData>
</ns0: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test MSE</c:v>
          </c:tx>
          <c:spPr>
            <a:solidFill xmlns:a="http://schemas.openxmlformats.org/drawingml/2006/main">
              <a:srgbClr val="152B45"/>
            </a:solidFill>
          </c:spPr>
          <c:dLbls>
            <c:numFmt formatCode="0.000000" sourceLinked="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cat>
            <c:strRef>
              <c:f>'Chart Data'!$A$2:$A$5</c:f>
              <c:strCache>
                <c:ptCount val="4"/>
                <c:pt idx="0">
                  <c:v>Dense attention</c:v>
                </c:pt>
                <c:pt idx="1">
                  <c:v>MoH</c:v>
                </c:pt>
                <c:pt idx="2">
                  <c:v>FFN-MoE</c:v>
                </c:pt>
                <c:pt idx="3">
                  <c:v>Both</c:v>
                </c:pt>
              </c:strCache>
            </c:strRef>
          </c:cat>
          <c:val>
            <c:numRef>
              <c:f>'Chart Data'!$B$2:$B$5</c:f>
              <c:numCache>
                <c:formatCode>0.000</c:formatCode>
                <c:ptCount val="4"/>
                <c:pt idx="0">
                  <c:v>0.01101349791</c:v>
                </c:pt>
                <c:pt idx="1">
                  <c:v>0.01078591806</c:v>
                </c:pt>
                <c:pt idx="2">
                  <c:v>0.0106766494</c:v>
                </c:pt>
                <c:pt idx="3">
                  <c:v>0.01062076942</c:v>
                </c:pt>
              </c:numCache>
            </c:numRef>
          </c:val>
        </c:ser>
        <c:dLbls>
          <c:numFmt formatCode="0.000000" sourceLinked="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500"/>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0.013"/>
          <c:min val="0"/>
        </c:scaling>
        <c:delete val="0"/>
        <c:axPos val="l"/>
        <c:majorGridlines>
          <c:spPr>
            <a:ln xmlns:a="http://schemas.openxmlformats.org/drawingml/2006/main" w="9525">
              <a:solidFill>
                <a:srgbClr val="E0E5EB"/>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Original-unit MSE</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Seed 7</c:v>
          </c:tx>
          <c:spPr>
            <a:solidFill xmlns:a="http://schemas.openxmlformats.org/drawingml/2006/main">
              <a:srgbClr val="5276A4"/>
            </a:solidFill>
          </c:spPr>
          <c:invertIfNegative val="0"/>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cat>
            <c:strRef>
              <c:f>'Chart Data'!$A$2:$A$5</c:f>
              <c:strCache>
                <c:ptCount val="4"/>
                <c:pt idx="0">
                  <c:v>MoH vs dense</c:v>
                </c:pt>
                <c:pt idx="1">
                  <c:v>MoH vs capacity</c:v>
                </c:pt>
                <c:pt idx="2">
                  <c:v>MoH vs frozen</c:v>
                </c:pt>
                <c:pt idx="3">
                  <c:v>FFN vs capacity</c:v>
                </c:pt>
              </c:strCache>
            </c:strRef>
          </c:cat>
          <c:val>
            <c:numRef>
              <c:f>'Chart Data'!$B$2:$B$5</c:f>
              <c:numCache>
                <c:formatCode>0.0000</c:formatCode>
                <c:ptCount val="4"/>
                <c:pt idx="0">
                  <c:v>-0.0001297444105</c:v>
                </c:pt>
                <c:pt idx="1">
                  <c:v>0.0001750215888</c:v>
                </c:pt>
                <c:pt idx="2">
                  <c:v>-1.300498843E-05</c:v>
                </c:pt>
                <c:pt idx="3">
                  <c:v>-0.0001914100721</c:v>
                </c:pt>
              </c:numCache>
            </c:numRef>
          </c:val>
        </c:ser>
        <c:ser>
          <c:idx val="1"/>
          <c:order val="1"/>
          <c:tx>
            <c:v>Seed 17</c:v>
          </c:tx>
          <c:spPr>
            <a:solidFill xmlns:a="http://schemas.openxmlformats.org/drawingml/2006/main">
              <a:srgbClr val="152B45"/>
            </a:solidFill>
          </c:spPr>
          <c:invertIfNegative val="0"/>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cat>
            <c:strRef>
              <c:f>'Chart Data'!$C$2:$C$5</c:f>
              <c:strCache>
                <c:ptCount val="4"/>
                <c:pt idx="0">
                  <c:v>MoH vs dense</c:v>
                </c:pt>
                <c:pt idx="1">
                  <c:v>MoH vs capacity</c:v>
                </c:pt>
                <c:pt idx="2">
                  <c:v>MoH vs frozen</c:v>
                </c:pt>
                <c:pt idx="3">
                  <c:v>FFN vs capacity</c:v>
                </c:pt>
              </c:strCache>
            </c:strRef>
          </c:cat>
          <c:val>
            <c:numRef>
              <c:f>'Chart Data'!$D$2:$D$5</c:f>
              <c:numCache>
                <c:formatCode>0.0000</c:formatCode>
                <c:ptCount val="4"/>
                <c:pt idx="0">
                  <c:v>-0.0002048797905</c:v>
                </c:pt>
                <c:pt idx="1">
                  <c:v>-4.702433944E-05</c:v>
                </c:pt>
                <c:pt idx="2">
                  <c:v>4.285573959E-05</c:v>
                </c:pt>
                <c:pt idx="3">
                  <c:v>-2.762582153E-05</c:v>
                </c:pt>
              </c:numCache>
            </c:numRef>
          </c:val>
        </c:ser>
        <c:ser>
          <c:idx val="2"/>
          <c:order val="2"/>
          <c:tx>
            <c:v>Seed 27</c:v>
          </c:tx>
          <c:spPr>
            <a:solidFill xmlns:a="http://schemas.openxmlformats.org/drawingml/2006/main">
              <a:srgbClr val="B67818"/>
            </a:solidFill>
          </c:spPr>
          <c:invertIfNegative val="0"/>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cat>
            <c:strRef>
              <c:f>'Chart Data'!$E$2:$E$5</c:f>
              <c:strCache>
                <c:ptCount val="4"/>
                <c:pt idx="0">
                  <c:v>MoH vs dense</c:v>
                </c:pt>
                <c:pt idx="1">
                  <c:v>MoH vs capacity</c:v>
                </c:pt>
                <c:pt idx="2">
                  <c:v>MoH vs frozen</c:v>
                </c:pt>
                <c:pt idx="3">
                  <c:v>FFN vs capacity</c:v>
                </c:pt>
              </c:strCache>
            </c:strRef>
          </c:cat>
          <c:val>
            <c:numRef>
              <c:f>'Chart Data'!$F$2:$F$5</c:f>
              <c:numCache>
                <c:formatCode>0.0000</c:formatCode>
                <c:ptCount val="4"/>
                <c:pt idx="0">
                  <c:v>-0.0003481153399</c:v>
                </c:pt>
                <c:pt idx="1">
                  <c:v>-0.00020896364</c:v>
                </c:pt>
                <c:pt idx="2">
                  <c:v>1.997034997E-05</c:v>
                </c:pt>
                <c:pt idx="3">
                  <c:v>0.0001572584733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500"/>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0.0002"/>
          <c:min val="-0.0004"/>
        </c:scaling>
        <c:delete val="0"/>
        <c:axPos val="l"/>
        <c:majorGridlines>
          <c:spPr>
            <a:ln xmlns:a="http://schemas.openxmlformats.org/drawingml/2006/main" w="9525">
              <a:solidFill>
                <a:srgbClr val="E0E5EB"/>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Paired MSE difference</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esAt val="-0.0004"/>
        <c:crossBetween val="between"/>
        <c:majorUnit val="0.00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scatterChart>
        <c:scatterStyle val="line"/>
        <c:varyColors val="0"/>
        <c:ser>
          <c:idx val="0"/>
          <c:order val="0"/>
          <c:tx>
            <c:v>Dense attention</c:v>
          </c:tx>
          <c:spPr>
            <a:ln xmlns:a="http://schemas.openxmlformats.org/drawingml/2006/main" w="28575">
              <a:solidFill>
                <a:srgbClr val="152B45"/>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Data'!$A$2:$A$41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xVal>
          <c:yVal>
            <c:numRef>
              <c:f>'Chart Data'!$B$2:$B$41</c:f>
              <c:numCache>
                <c:formatCode>0.0</c:formatCode>
                <c:ptCount val="40"/>
                <c:pt idx="0">
                  <c:v>0.5793485306</c:v>
                </c:pt>
                <c:pt idx="1">
                  <c:v>0.5030235674</c:v>
                </c:pt>
                <c:pt idx="2">
                  <c:v>0.4420290185</c:v>
                </c:pt>
                <c:pt idx="3">
                  <c:v>0.3770779028</c:v>
                </c:pt>
                <c:pt idx="4">
                  <c:v>0.3231892844</c:v>
                </c:pt>
                <c:pt idx="5">
                  <c:v>0.2978171804</c:v>
                </c:pt>
                <c:pt idx="6">
                  <c:v>0.2829487048</c:v>
                </c:pt>
                <c:pt idx="7">
                  <c:v>0.2735184666</c:v>
                </c:pt>
                <c:pt idx="8">
                  <c:v>0.2652594843</c:v>
                </c:pt>
                <c:pt idx="9">
                  <c:v>0.2606103876</c:v>
                </c:pt>
                <c:pt idx="10">
                  <c:v>0.2549974306</c:v>
                </c:pt>
                <c:pt idx="11">
                  <c:v>0.2514902616</c:v>
                </c:pt>
                <c:pt idx="12">
                  <c:v>0.2449878395</c:v>
                </c:pt>
                <c:pt idx="13">
                  <c:v>0.2413188119</c:v>
                </c:pt>
                <c:pt idx="14">
                  <c:v>0.2358372294</c:v>
                </c:pt>
                <c:pt idx="15">
                  <c:v>0.2335343547</c:v>
                </c:pt>
                <c:pt idx="16">
                  <c:v>0.2296403058</c:v>
                </c:pt>
                <c:pt idx="17">
                  <c:v>0.22728071</c:v>
                </c:pt>
                <c:pt idx="18">
                  <c:v>0.2234100117</c:v>
                </c:pt>
                <c:pt idx="19">
                  <c:v>0.2209773396</c:v>
                </c:pt>
                <c:pt idx="20">
                  <c:v>0.2198220776</c:v>
                </c:pt>
                <c:pt idx="21">
                  <c:v>0.2188880396</c:v>
                </c:pt>
                <c:pt idx="22">
                  <c:v>0.2168233273</c:v>
                </c:pt>
                <c:pt idx="23">
                  <c:v>0.2159087581</c:v>
                </c:pt>
                <c:pt idx="24">
                  <c:v>0.2132642156</c:v>
                </c:pt>
                <c:pt idx="25">
                  <c:v>0.212191902</c:v>
                </c:pt>
                <c:pt idx="26">
                  <c:v>0.2108291461</c:v>
                </c:pt>
                <c:pt idx="27">
                  <c:v>0.212006806</c:v>
                </c:pt>
                <c:pt idx="28">
                  <c:v>0.2083556456</c:v>
                </c:pt>
                <c:pt idx="29">
                  <c:v>0.2089197317</c:v>
                </c:pt>
                <c:pt idx="30">
                  <c:v>0.2086932619</c:v>
                </c:pt>
                <c:pt idx="31">
                  <c:v>0.2070897955</c:v>
                </c:pt>
                <c:pt idx="32">
                  <c:v>0.2060292716</c:v>
                </c:pt>
                <c:pt idx="33">
                  <c:v>0.2054033788</c:v>
                </c:pt>
                <c:pt idx="34">
                  <c:v>0.2052308972</c:v>
                </c:pt>
                <c:pt idx="35">
                  <c:v>0.2041673898</c:v>
                </c:pt>
                <c:pt idx="36">
                  <c:v>0.2037911605</c:v>
                </c:pt>
                <c:pt idx="37">
                  <c:v>0.2056860504</c:v>
                </c:pt>
                <c:pt idx="38">
                  <c:v>0.2033732074</c:v>
                </c:pt>
                <c:pt idx="39">
                  <c:v>0.2041532156</c:v>
                </c:pt>
              </c:numCache>
            </c:numRef>
          </c:yVal>
        </c:ser>
        <c:ser>
          <c:idx val="1"/>
          <c:order val="1"/>
          <c:tx>
            <c:v>MoH</c:v>
          </c:tx>
          <c:spPr>
            <a:ln xmlns:a="http://schemas.openxmlformats.org/drawingml/2006/main" w="28575">
              <a:solidFill>
                <a:srgbClr val="B67818"/>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Data'!$C$2:$C$41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xVal>
          <c:yVal>
            <c:numRef>
              <c:f>'Chart Data'!$D$2:$D$41</c:f>
              <c:numCache>
                <c:formatCode>0.0</c:formatCode>
                <c:ptCount val="40"/>
                <c:pt idx="0">
                  <c:v>0.6017244664</c:v>
                </c:pt>
                <c:pt idx="1">
                  <c:v>0.5292338855</c:v>
                </c:pt>
                <c:pt idx="2">
                  <c:v>0.461424309</c:v>
                </c:pt>
                <c:pt idx="3">
                  <c:v>0.3625253809</c:v>
                </c:pt>
                <c:pt idx="4">
                  <c:v>0.2996896837</c:v>
                </c:pt>
                <c:pt idx="5">
                  <c:v>0.2675860655</c:v>
                </c:pt>
                <c:pt idx="6">
                  <c:v>0.2507692709</c:v>
                </c:pt>
                <c:pt idx="7">
                  <c:v>0.2399492712</c:v>
                </c:pt>
                <c:pt idx="8">
                  <c:v>0.2322674414</c:v>
                </c:pt>
                <c:pt idx="9">
                  <c:v>0.2282656848</c:v>
                </c:pt>
                <c:pt idx="10">
                  <c:v>0.22532556</c:v>
                </c:pt>
                <c:pt idx="11">
                  <c:v>0.2208033064</c:v>
                </c:pt>
                <c:pt idx="12">
                  <c:v>0.2181080617</c:v>
                </c:pt>
                <c:pt idx="13">
                  <c:v>0.2177741045</c:v>
                </c:pt>
                <c:pt idx="14">
                  <c:v>0.2145593632</c:v>
                </c:pt>
                <c:pt idx="15">
                  <c:v>0.2141104515</c:v>
                </c:pt>
                <c:pt idx="16">
                  <c:v>0.2120044248</c:v>
                </c:pt>
                <c:pt idx="17">
                  <c:v>0.2117700324</c:v>
                </c:pt>
                <c:pt idx="18">
                  <c:v>0.2114528904</c:v>
                </c:pt>
                <c:pt idx="19">
                  <c:v>0.2096192177</c:v>
                </c:pt>
                <c:pt idx="20">
                  <c:v>0.2089430617</c:v>
                </c:pt>
                <c:pt idx="21">
                  <c:v>0.2097344257</c:v>
                </c:pt>
                <c:pt idx="22">
                  <c:v>0.2074801571</c:v>
                </c:pt>
                <c:pt idx="23">
                  <c:v>0.2076961689</c:v>
                </c:pt>
                <c:pt idx="24">
                  <c:v>0.2069841325</c:v>
                </c:pt>
                <c:pt idx="25">
                  <c:v>0.2072031649</c:v>
                </c:pt>
                <c:pt idx="26">
                  <c:v>0.2053614794</c:v>
                </c:pt>
                <c:pt idx="27">
                  <c:v>0.2060364599</c:v>
                </c:pt>
                <c:pt idx="28">
                  <c:v>0.2049445524</c:v>
                </c:pt>
                <c:pt idx="29">
                  <c:v>0.2043718744</c:v>
                </c:pt>
                <c:pt idx="30">
                  <c:v>0.2048430201</c:v>
                </c:pt>
                <c:pt idx="31">
                  <c:v>0.2037913165</c:v>
                </c:pt>
                <c:pt idx="32">
                  <c:v>0.2044847266</c:v>
                </c:pt>
                <c:pt idx="33">
                  <c:v>0.2037949796</c:v>
                </c:pt>
                <c:pt idx="34">
                  <c:v>0.2042919461</c:v>
                </c:pt>
                <c:pt idx="35">
                  <c:v>0.2031236268</c:v>
                </c:pt>
                <c:pt idx="36">
                  <c:v>0.2033181908</c:v>
                </c:pt>
                <c:pt idx="37">
                  <c:v>0.2031530851</c:v>
                </c:pt>
                <c:pt idx="38">
                  <c:v>0.2020508583</c:v>
                </c:pt>
                <c:pt idx="39">
                  <c:v>0.2029293096</c:v>
                </c:pt>
              </c:numCache>
            </c:numRef>
          </c:yVal>
        </c:ser>
        <c:ser>
          <c:idx val="2"/>
          <c:order val="2"/>
          <c:tx>
            <c:v>FFN-MoE</c:v>
          </c:tx>
          <c:spPr>
            <a:ln xmlns:a="http://schemas.openxmlformats.org/drawingml/2006/main" w="28575">
              <a:solidFill>
                <a:srgbClr val="81905D"/>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Data'!$E$2:$E$41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xVal>
          <c:yVal>
            <c:numRef>
              <c:f>'Chart Data'!$F$2:$F$41</c:f>
              <c:numCache>
                <c:formatCode>0.0</c:formatCode>
                <c:ptCount val="40"/>
                <c:pt idx="0">
                  <c:v>0.5768165398</c:v>
                </c:pt>
                <c:pt idx="1">
                  <c:v>0.5055774431</c:v>
                </c:pt>
                <c:pt idx="2">
                  <c:v>0.4510788094</c:v>
                </c:pt>
                <c:pt idx="3">
                  <c:v>0.4005898956</c:v>
                </c:pt>
                <c:pt idx="4">
                  <c:v>0.3588523734</c:v>
                </c:pt>
                <c:pt idx="5">
                  <c:v>0.3250200386</c:v>
                </c:pt>
                <c:pt idx="6">
                  <c:v>0.2993714213</c:v>
                </c:pt>
                <c:pt idx="7">
                  <c:v>0.2782499987</c:v>
                </c:pt>
                <c:pt idx="8">
                  <c:v>0.2634799848</c:v>
                </c:pt>
                <c:pt idx="9">
                  <c:v>0.2539153772</c:v>
                </c:pt>
                <c:pt idx="10">
                  <c:v>0.2457535637</c:v>
                </c:pt>
                <c:pt idx="11">
                  <c:v>0.2384860147</c:v>
                </c:pt>
                <c:pt idx="12">
                  <c:v>0.2334428281</c:v>
                </c:pt>
                <c:pt idx="13">
                  <c:v>0.2270920285</c:v>
                </c:pt>
                <c:pt idx="14">
                  <c:v>0.2227350842</c:v>
                </c:pt>
                <c:pt idx="15">
                  <c:v>0.2201403714</c:v>
                </c:pt>
                <c:pt idx="16">
                  <c:v>0.2164813861</c:v>
                </c:pt>
                <c:pt idx="17">
                  <c:v>0.2139185198</c:v>
                </c:pt>
                <c:pt idx="18">
                  <c:v>0.2121922716</c:v>
                </c:pt>
                <c:pt idx="19">
                  <c:v>0.2121764363</c:v>
                </c:pt>
                <c:pt idx="20">
                  <c:v>0.2098354224</c:v>
                </c:pt>
                <c:pt idx="21">
                  <c:v>0.2095451208</c:v>
                </c:pt>
                <c:pt idx="22">
                  <c:v>0.2076521209</c:v>
                </c:pt>
                <c:pt idx="23">
                  <c:v>0.2065902954</c:v>
                </c:pt>
                <c:pt idx="24">
                  <c:v>0.2056543189</c:v>
                </c:pt>
                <c:pt idx="25">
                  <c:v>0.2056471806</c:v>
                </c:pt>
                <c:pt idx="26">
                  <c:v>0.2031992749</c:v>
                </c:pt>
                <c:pt idx="27">
                  <c:v>0.204626</c:v>
                </c:pt>
                <c:pt idx="28">
                  <c:v>0.2027241547</c:v>
                </c:pt>
                <c:pt idx="29">
                  <c:v>0.2019330672</c:v>
                </c:pt>
                <c:pt idx="30">
                  <c:v>0.201707303</c:v>
                </c:pt>
                <c:pt idx="31">
                  <c:v>0.2005671457</c:v>
                </c:pt>
                <c:pt idx="32">
                  <c:v>0.2005265327</c:v>
                </c:pt>
                <c:pt idx="33">
                  <c:v>0.1994373479</c:v>
                </c:pt>
                <c:pt idx="34">
                  <c:v>0.2002853351</c:v>
                </c:pt>
                <c:pt idx="35">
                  <c:v>0.199065424</c:v>
                </c:pt>
                <c:pt idx="36">
                  <c:v>0.1998677465</c:v>
                </c:pt>
                <c:pt idx="37">
                  <c:v>0.1981174515</c:v>
                </c:pt>
                <c:pt idx="38">
                  <c:v>0.1978736322</c:v>
                </c:pt>
                <c:pt idx="39">
                  <c:v>0.197146595</c:v>
                </c:pt>
              </c:numCache>
            </c:numRef>
          </c:yVal>
        </c:ser>
        <c:ser>
          <c:idx val="3"/>
          <c:order val="3"/>
          <c:tx>
            <c:v>Both</c:v>
          </c:tx>
          <c:spPr>
            <a:ln xmlns:a="http://schemas.openxmlformats.org/drawingml/2006/main" w="28575">
              <a:solidFill>
                <a:srgbClr val="C98362"/>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Data'!$G$2:$G$41</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xVal>
          <c:yVal>
            <c:numRef>
              <c:f>'Chart Data'!$H$2:$H$41</c:f>
              <c:numCache>
                <c:formatCode>0.0</c:formatCode>
                <c:ptCount val="40"/>
                <c:pt idx="0">
                  <c:v>0.5919765981</c:v>
                </c:pt>
                <c:pt idx="1">
                  <c:v>0.538964635</c:v>
                </c:pt>
                <c:pt idx="2">
                  <c:v>0.4969024976</c:v>
                </c:pt>
                <c:pt idx="3">
                  <c:v>0.4183483675</c:v>
                </c:pt>
                <c:pt idx="4">
                  <c:v>0.3207056883</c:v>
                </c:pt>
                <c:pt idx="5">
                  <c:v>0.277326955</c:v>
                </c:pt>
                <c:pt idx="6">
                  <c:v>0.2560586886</c:v>
                </c:pt>
                <c:pt idx="7">
                  <c:v>0.2419616527</c:v>
                </c:pt>
                <c:pt idx="8">
                  <c:v>0.2332370478</c:v>
                </c:pt>
                <c:pt idx="9">
                  <c:v>0.2285217223</c:v>
                </c:pt>
                <c:pt idx="10">
                  <c:v>0.2252361919</c:v>
                </c:pt>
                <c:pt idx="11">
                  <c:v>0.2207159499</c:v>
                </c:pt>
                <c:pt idx="12">
                  <c:v>0.2189211659</c:v>
                </c:pt>
                <c:pt idx="13">
                  <c:v>0.2169784616</c:v>
                </c:pt>
                <c:pt idx="14">
                  <c:v>0.2150847657</c:v>
                </c:pt>
                <c:pt idx="15">
                  <c:v>0.2139549731</c:v>
                </c:pt>
                <c:pt idx="16">
                  <c:v>0.2117135364</c:v>
                </c:pt>
                <c:pt idx="17">
                  <c:v>0.2113673551</c:v>
                </c:pt>
                <c:pt idx="18">
                  <c:v>0.2109190392</c:v>
                </c:pt>
                <c:pt idx="19">
                  <c:v>0.2095617648</c:v>
                </c:pt>
                <c:pt idx="20">
                  <c:v>0.2092051258</c:v>
                </c:pt>
                <c:pt idx="21">
                  <c:v>0.2082035995</c:v>
                </c:pt>
                <c:pt idx="22">
                  <c:v>0.2065628773</c:v>
                </c:pt>
                <c:pt idx="23">
                  <c:v>0.2066083514</c:v>
                </c:pt>
                <c:pt idx="24">
                  <c:v>0.2057596145</c:v>
                </c:pt>
                <c:pt idx="25">
                  <c:v>0.2043620748</c:v>
                </c:pt>
                <c:pt idx="26">
                  <c:v>0.2042774249</c:v>
                </c:pt>
                <c:pt idx="27">
                  <c:v>0.2035301632</c:v>
                </c:pt>
                <c:pt idx="28">
                  <c:v>0.2032421614</c:v>
                </c:pt>
                <c:pt idx="29">
                  <c:v>0.2019172044</c:v>
                </c:pt>
                <c:pt idx="30">
                  <c:v>0.2017231495</c:v>
                </c:pt>
                <c:pt idx="31">
                  <c:v>0.2007381503</c:v>
                </c:pt>
                <c:pt idx="32">
                  <c:v>0.2011414856</c:v>
                </c:pt>
                <c:pt idx="33">
                  <c:v>0.1998177362</c:v>
                </c:pt>
                <c:pt idx="34">
                  <c:v>0.1993622968</c:v>
                </c:pt>
                <c:pt idx="35">
                  <c:v>0.1990072333</c:v>
                </c:pt>
                <c:pt idx="36">
                  <c:v>0.1983495024</c:v>
                </c:pt>
                <c:pt idx="37">
                  <c:v>0.1973980864</c:v>
                </c:pt>
                <c:pt idx="38">
                  <c:v>0.1966373992</c:v>
                </c:pt>
                <c:pt idx="39">
                  <c:v>0.1967767476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65"/>
          <c:min val="0"/>
        </c:scaling>
        <c:delete val="0"/>
        <c:axPos val="l"/>
        <c:majorGridlines>
          <c:spPr>
            <a:ln xmlns:a="http://schemas.openxmlformats.org/drawingml/2006/main" w="9525">
              <a:solidFill>
                <a:srgbClr val="E0E5EB"/>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Normalized validation MSE</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40"/>
          <c:min val="1"/>
        </c:scaling>
        <c:delete val="0"/>
        <c:axPos val="b"/>
        <c:title>
          <c:tx>
            <c:rich>
              <a:bodyPr xmlns:a="http://schemas.openxmlformats.org/drawingml/2006/main"/>
              <a:lstStyle xmlns:a="http://schemas.openxmlformats.org/drawingml/2006/main"/>
              <a:p xmlns:a="http://schemas.openxmlformats.org/drawingml/2006/main">
                <a:r>
                  <a:rPr sz="1500">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scatterChart>
        <c:scatterStyle val="line"/>
        <c:varyColors val="0"/>
        <c:ser>
          <c:idx val="0"/>
          <c:order val="0"/>
          <c:tx>
            <c:v>Dense attention</c:v>
          </c:tx>
          <c:spPr>
            <a:ln xmlns:a="http://schemas.openxmlformats.org/drawingml/2006/main" w="28575">
              <a:solidFill>
                <a:srgbClr val="152B45"/>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Data'!$B$2:$B$25</c:f>
              <c:numCache>
                <c:formatCode>0.00</c:formatCode>
                <c:ptCount val="24"/>
                <c:pt idx="0">
                  <c:v>0.06994762023</c:v>
                </c:pt>
                <c:pt idx="1">
                  <c:v>0.01198118273</c:v>
                </c:pt>
                <c:pt idx="2">
                  <c:v>0.009194696012</c:v>
                </c:pt>
                <c:pt idx="3">
                  <c:v>0.008402824402</c:v>
                </c:pt>
                <c:pt idx="4">
                  <c:v>0.007744302663</c:v>
                </c:pt>
                <c:pt idx="5">
                  <c:v>0.007824778246</c:v>
                </c:pt>
                <c:pt idx="6">
                  <c:v>0.007455019901</c:v>
                </c:pt>
                <c:pt idx="7">
                  <c:v>0.00780705642</c:v>
                </c:pt>
                <c:pt idx="8">
                  <c:v>0.007687235251</c:v>
                </c:pt>
                <c:pt idx="9">
                  <c:v>0.007815437081</c:v>
                </c:pt>
                <c:pt idx="10">
                  <c:v>0.007631655782</c:v>
                </c:pt>
                <c:pt idx="11">
                  <c:v>0.008072636866</c:v>
                </c:pt>
                <c:pt idx="12">
                  <c:v>0.007757942037</c:v>
                </c:pt>
                <c:pt idx="13">
                  <c:v>0.007732683637</c:v>
                </c:pt>
                <c:pt idx="14">
                  <c:v>0.007602025444</c:v>
                </c:pt>
                <c:pt idx="15">
                  <c:v>0.007822884091</c:v>
                </c:pt>
                <c:pt idx="16">
                  <c:v>0.007959848425</c:v>
                </c:pt>
                <c:pt idx="17">
                  <c:v>0.007561151404</c:v>
                </c:pt>
                <c:pt idx="18">
                  <c:v>0.007708910387</c:v>
                </c:pt>
                <c:pt idx="19">
                  <c:v>0.007732004082</c:v>
                </c:pt>
                <c:pt idx="20">
                  <c:v>0.007290783804</c:v>
                </c:pt>
                <c:pt idx="21">
                  <c:v>0.007587365651</c:v>
                </c:pt>
                <c:pt idx="22">
                  <c:v>0.007389498254</c:v>
                </c:pt>
                <c:pt idx="23">
                  <c:v>0.007306925642</c:v>
                </c:pt>
              </c:numCache>
            </c:numRef>
          </c:yVal>
        </c:ser>
        <c:ser>
          <c:idx val="1"/>
          <c:order val="1"/>
          <c:tx>
            <c:v>MoH</c:v>
          </c:tx>
          <c:spPr>
            <a:ln xmlns:a="http://schemas.openxmlformats.org/drawingml/2006/main" w="28575">
              <a:solidFill>
                <a:srgbClr val="B67818"/>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Data'!$C$2:$C$25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Data'!$D$2:$D$25</c:f>
              <c:numCache>
                <c:formatCode>0.00</c:formatCode>
                <c:ptCount val="24"/>
                <c:pt idx="0">
                  <c:v>0.07082391034</c:v>
                </c:pt>
                <c:pt idx="1">
                  <c:v>0.01145186803</c:v>
                </c:pt>
                <c:pt idx="2">
                  <c:v>0.008768038824</c:v>
                </c:pt>
                <c:pt idx="3">
                  <c:v>0.008069291711</c:v>
                </c:pt>
                <c:pt idx="4">
                  <c:v>0.007522535355</c:v>
                </c:pt>
                <c:pt idx="5">
                  <c:v>0.007520179885</c:v>
                </c:pt>
                <c:pt idx="6">
                  <c:v>0.00704401064</c:v>
                </c:pt>
                <c:pt idx="7">
                  <c:v>0.007585577667</c:v>
                </c:pt>
                <c:pt idx="8">
                  <c:v>0.007438791761</c:v>
                </c:pt>
                <c:pt idx="9">
                  <c:v>0.00750334685</c:v>
                </c:pt>
                <c:pt idx="10">
                  <c:v>0.007415503108</c:v>
                </c:pt>
                <c:pt idx="11">
                  <c:v>0.007717581</c:v>
                </c:pt>
                <c:pt idx="12">
                  <c:v>0.007447833195</c:v>
                </c:pt>
                <c:pt idx="13">
                  <c:v>0.007469176004</c:v>
                </c:pt>
                <c:pt idx="14">
                  <c:v>0.007288713784</c:v>
                </c:pt>
                <c:pt idx="15">
                  <c:v>0.007678251403</c:v>
                </c:pt>
                <c:pt idx="16">
                  <c:v>0.007620526012</c:v>
                </c:pt>
                <c:pt idx="17">
                  <c:v>0.007282380791</c:v>
                </c:pt>
                <c:pt idx="18">
                  <c:v>0.007358612648</c:v>
                </c:pt>
                <c:pt idx="19">
                  <c:v>0.007482257361</c:v>
                </c:pt>
                <c:pt idx="20">
                  <c:v>0.007053001784</c:v>
                </c:pt>
                <c:pt idx="21">
                  <c:v>0.007424446754</c:v>
                </c:pt>
                <c:pt idx="22">
                  <c:v>0.007217929078</c:v>
                </c:pt>
                <c:pt idx="23">
                  <c:v>0.007310710382</c:v>
                </c:pt>
              </c:numCache>
            </c:numRef>
          </c:yVal>
        </c:ser>
        <c:ser>
          <c:idx val="2"/>
          <c:order val="2"/>
          <c:tx>
            <c:v>FFN-MoE</c:v>
          </c:tx>
          <c:spPr>
            <a:ln xmlns:a="http://schemas.openxmlformats.org/drawingml/2006/main" w="28575">
              <a:solidFill>
                <a:srgbClr val="81905D"/>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Data'!$E$2:$E$25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Data'!$F$2:$F$25</c:f>
              <c:numCache>
                <c:formatCode>0.00</c:formatCode>
                <c:ptCount val="24"/>
                <c:pt idx="0">
                  <c:v>0.07143710802</c:v>
                </c:pt>
                <c:pt idx="1">
                  <c:v>0.01134811187</c:v>
                </c:pt>
                <c:pt idx="2">
                  <c:v>0.008582631126</c:v>
                </c:pt>
                <c:pt idx="3">
                  <c:v>0.008056067086</c:v>
                </c:pt>
                <c:pt idx="4">
                  <c:v>0.007381221435</c:v>
                </c:pt>
                <c:pt idx="5">
                  <c:v>0.007349549017</c:v>
                </c:pt>
                <c:pt idx="6">
                  <c:v>0.006952145758</c:v>
                </c:pt>
                <c:pt idx="7">
                  <c:v>0.007397598897</c:v>
                </c:pt>
                <c:pt idx="8">
                  <c:v>0.007241907374</c:v>
                </c:pt>
                <c:pt idx="9">
                  <c:v>0.007361584033</c:v>
                </c:pt>
                <c:pt idx="10">
                  <c:v>0.007176365393</c:v>
                </c:pt>
                <c:pt idx="11">
                  <c:v>0.007701450804</c:v>
                </c:pt>
                <c:pt idx="12">
                  <c:v>0.00733959085</c:v>
                </c:pt>
                <c:pt idx="13">
                  <c:v>0.007297616607</c:v>
                </c:pt>
                <c:pt idx="14">
                  <c:v>0.00727502536</c:v>
                </c:pt>
                <c:pt idx="15">
                  <c:v>0.007415100622</c:v>
                </c:pt>
                <c:pt idx="16">
                  <c:v>0.007418516247</c:v>
                </c:pt>
                <c:pt idx="17">
                  <c:v>0.007085038349</c:v>
                </c:pt>
                <c:pt idx="18">
                  <c:v>0.007239307122</c:v>
                </c:pt>
                <c:pt idx="19">
                  <c:v>0.007360368967</c:v>
                </c:pt>
                <c:pt idx="20">
                  <c:v>0.006937608744</c:v>
                </c:pt>
                <c:pt idx="21">
                  <c:v>0.007103380592</c:v>
                </c:pt>
                <c:pt idx="22">
                  <c:v>0.007030394239</c:v>
                </c:pt>
                <c:pt idx="23">
                  <c:v>0.00711840624</c:v>
                </c:pt>
              </c:numCache>
            </c:numRef>
          </c:yVal>
        </c:ser>
        <c:ser>
          <c:idx val="3"/>
          <c:order val="3"/>
          <c:tx>
            <c:v>Both</c:v>
          </c:tx>
          <c:spPr>
            <a:ln xmlns:a="http://schemas.openxmlformats.org/drawingml/2006/main" w="28575">
              <a:solidFill>
                <a:srgbClr val="C98362"/>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Data'!$G$2:$G$25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Data'!$H$2:$H$25</c:f>
              <c:numCache>
                <c:formatCode>0.00</c:formatCode>
                <c:ptCount val="24"/>
                <c:pt idx="0">
                  <c:v>0.07192760209</c:v>
                </c:pt>
                <c:pt idx="1">
                  <c:v>0.01086525029</c:v>
                </c:pt>
                <c:pt idx="2">
                  <c:v>0.008025076861</c:v>
                </c:pt>
                <c:pt idx="3">
                  <c:v>0.007768866606</c:v>
                </c:pt>
                <c:pt idx="4">
                  <c:v>0.007275136653</c:v>
                </c:pt>
                <c:pt idx="5">
                  <c:v>0.007315537582</c:v>
                </c:pt>
                <c:pt idx="6">
                  <c:v>0.007006692079</c:v>
                </c:pt>
                <c:pt idx="7">
                  <c:v>0.00735401269</c:v>
                </c:pt>
                <c:pt idx="8">
                  <c:v>0.007221649246</c:v>
                </c:pt>
                <c:pt idx="9">
                  <c:v>0.007336919817</c:v>
                </c:pt>
                <c:pt idx="10">
                  <c:v>0.007292750602</c:v>
                </c:pt>
                <c:pt idx="11">
                  <c:v>0.007496577532</c:v>
                </c:pt>
                <c:pt idx="12">
                  <c:v>0.007230955331</c:v>
                </c:pt>
                <c:pt idx="13">
                  <c:v>0.007335560396</c:v>
                </c:pt>
                <c:pt idx="14">
                  <c:v>0.007270332891</c:v>
                </c:pt>
                <c:pt idx="15">
                  <c:v>0.007353203216</c:v>
                </c:pt>
                <c:pt idx="16">
                  <c:v>0.007440987198</c:v>
                </c:pt>
                <c:pt idx="17">
                  <c:v>0.006944353382</c:v>
                </c:pt>
                <c:pt idx="18">
                  <c:v>0.007186113391</c:v>
                </c:pt>
                <c:pt idx="19">
                  <c:v>0.007259408788</c:v>
                </c:pt>
                <c:pt idx="20">
                  <c:v>0.007014157095</c:v>
                </c:pt>
                <c:pt idx="21">
                  <c:v>0.007277842456</c:v>
                </c:pt>
                <c:pt idx="22">
                  <c:v>0.007031667512</c:v>
                </c:pt>
                <c:pt idx="23">
                  <c:v>0.006971636011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E0E5EB"/>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Original-unit MSE</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sz="1500">
                    <a:latin typeface="Arial"/>
                    <a:ea typeface="Arial"/>
                    <a:cs typeface="Arial"/>
                  </a:rPr>
                  <a:t>Steps after a true switch</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scatterChart>
        <c:scatterStyle val="line"/>
        <c:varyColors val="0"/>
        <c:ser>
          <c:idx val="0"/>
          <c:order val="0"/>
          <c:tx>
            <c:v>Dense attention</c:v>
          </c:tx>
          <c:spPr>
            <a:ln xmlns:a="http://schemas.openxmlformats.org/drawingml/2006/main" w="28575">
              <a:solidFill>
                <a:srgbClr val="152B45"/>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Data'!$A$2:$A$33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xVal>
          <c:yVal>
            <c:numRef>
              <c:f>'Chart Data'!$B$2:$B$33</c:f>
              <c:numCache>
                <c:formatCode>0.00</c:formatCode>
                <c:ptCount val="32"/>
                <c:pt idx="0">
                  <c:v>0.01122100962</c:v>
                </c:pt>
                <c:pt idx="1">
                  <c:v>0.02413835252</c:v>
                </c:pt>
                <c:pt idx="2">
                  <c:v>0.03451213241</c:v>
                </c:pt>
                <c:pt idx="3">
                  <c:v>0.04047567894</c:v>
                </c:pt>
                <c:pt idx="4">
                  <c:v>0.0468633684</c:v>
                </c:pt>
                <c:pt idx="5">
                  <c:v>0.05022256076</c:v>
                </c:pt>
                <c:pt idx="6">
                  <c:v>0.05150852104</c:v>
                </c:pt>
                <c:pt idx="7">
                  <c:v>0.053240899</c:v>
                </c:pt>
                <c:pt idx="8">
                  <c:v>0.05338121951</c:v>
                </c:pt>
                <c:pt idx="9">
                  <c:v>0.05362440522</c:v>
                </c:pt>
                <c:pt idx="10">
                  <c:v>0.0555544359</c:v>
                </c:pt>
                <c:pt idx="11">
                  <c:v>0.05731131509</c:v>
                </c:pt>
                <c:pt idx="12">
                  <c:v>0.05738161753</c:v>
                </c:pt>
                <c:pt idx="13">
                  <c:v>0.05723916739</c:v>
                </c:pt>
                <c:pt idx="14">
                  <c:v>0.05691939096</c:v>
                </c:pt>
                <c:pt idx="15">
                  <c:v>0.05724258597</c:v>
                </c:pt>
                <c:pt idx="16">
                  <c:v>0.05790396531</c:v>
                </c:pt>
                <c:pt idx="17">
                  <c:v>0.05684256802</c:v>
                </c:pt>
                <c:pt idx="18">
                  <c:v>0.05707803617</c:v>
                </c:pt>
                <c:pt idx="19">
                  <c:v>0.05648862198</c:v>
                </c:pt>
                <c:pt idx="20">
                  <c:v>0.05682999392</c:v>
                </c:pt>
                <c:pt idx="21">
                  <c:v>0.05773369099</c:v>
                </c:pt>
                <c:pt idx="22">
                  <c:v>0.0577217564</c:v>
                </c:pt>
                <c:pt idx="23">
                  <c:v>0.05939892804</c:v>
                </c:pt>
                <c:pt idx="24">
                  <c:v>0.05885317052</c:v>
                </c:pt>
                <c:pt idx="25">
                  <c:v>0.05793809518</c:v>
                </c:pt>
                <c:pt idx="26">
                  <c:v>0.05932022134</c:v>
                </c:pt>
                <c:pt idx="27">
                  <c:v>0.05834241956</c:v>
                </c:pt>
                <c:pt idx="28">
                  <c:v>0.05791197096</c:v>
                </c:pt>
                <c:pt idx="29">
                  <c:v>0.0579935126</c:v>
                </c:pt>
                <c:pt idx="30">
                  <c:v>0.05768356472</c:v>
                </c:pt>
                <c:pt idx="31">
                  <c:v>0.05730196213</c:v>
                </c:pt>
              </c:numCache>
            </c:numRef>
          </c:yVal>
        </c:ser>
        <c:ser>
          <c:idx val="1"/>
          <c:order val="1"/>
          <c:tx>
            <c:v>MoH</c:v>
          </c:tx>
          <c:spPr>
            <a:ln xmlns:a="http://schemas.openxmlformats.org/drawingml/2006/main" w="28575">
              <a:solidFill>
                <a:srgbClr val="B67818"/>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Data'!$C$2:$C$33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xVal>
          <c:yVal>
            <c:numRef>
              <c:f>'Chart Data'!$D$2:$D$33</c:f>
              <c:numCache>
                <c:formatCode>0.00</c:formatCode>
                <c:ptCount val="32"/>
                <c:pt idx="0">
                  <c:v>0.0108627677</c:v>
                </c:pt>
                <c:pt idx="1">
                  <c:v>0.02364062145</c:v>
                </c:pt>
                <c:pt idx="2">
                  <c:v>0.03368010993</c:v>
                </c:pt>
                <c:pt idx="3">
                  <c:v>0.03910158699</c:v>
                </c:pt>
                <c:pt idx="4">
                  <c:v>0.04482372974</c:v>
                </c:pt>
                <c:pt idx="5">
                  <c:v>0.04739046221</c:v>
                </c:pt>
                <c:pt idx="6">
                  <c:v>0.04826726764</c:v>
                </c:pt>
                <c:pt idx="7">
                  <c:v>0.04938140884</c:v>
                </c:pt>
                <c:pt idx="8">
                  <c:v>0.04985905687</c:v>
                </c:pt>
                <c:pt idx="9">
                  <c:v>0.04989880944</c:v>
                </c:pt>
                <c:pt idx="10">
                  <c:v>0.05194625631</c:v>
                </c:pt>
                <c:pt idx="11">
                  <c:v>0.05355346203</c:v>
                </c:pt>
                <c:pt idx="12">
                  <c:v>0.05373581871</c:v>
                </c:pt>
                <c:pt idx="13">
                  <c:v>0.05425090343</c:v>
                </c:pt>
                <c:pt idx="14">
                  <c:v>0.05480642741</c:v>
                </c:pt>
                <c:pt idx="15">
                  <c:v>0.05534762889</c:v>
                </c:pt>
                <c:pt idx="16">
                  <c:v>0.05558259288</c:v>
                </c:pt>
                <c:pt idx="17">
                  <c:v>0.05445566773</c:v>
                </c:pt>
                <c:pt idx="18">
                  <c:v>0.05466461554</c:v>
                </c:pt>
                <c:pt idx="19">
                  <c:v>0.05453939984</c:v>
                </c:pt>
                <c:pt idx="20">
                  <c:v>0.05538834631</c:v>
                </c:pt>
                <c:pt idx="21">
                  <c:v>0.0563621819</c:v>
                </c:pt>
                <c:pt idx="22">
                  <c:v>0.05675302322</c:v>
                </c:pt>
                <c:pt idx="23">
                  <c:v>0.05832003305</c:v>
                </c:pt>
                <c:pt idx="24">
                  <c:v>0.0577906991</c:v>
                </c:pt>
                <c:pt idx="25">
                  <c:v>0.05708347758</c:v>
                </c:pt>
                <c:pt idx="26">
                  <c:v>0.05846447001</c:v>
                </c:pt>
                <c:pt idx="27">
                  <c:v>0.05754827832</c:v>
                </c:pt>
                <c:pt idx="28">
                  <c:v>0.05699764192</c:v>
                </c:pt>
                <c:pt idx="29">
                  <c:v>0.05679054682</c:v>
                </c:pt>
                <c:pt idx="30">
                  <c:v>0.05669396743</c:v>
                </c:pt>
                <c:pt idx="31">
                  <c:v>0.05674053108</c:v>
                </c:pt>
              </c:numCache>
            </c:numRef>
          </c:yVal>
        </c:ser>
        <c:ser>
          <c:idx val="2"/>
          <c:order val="2"/>
          <c:tx>
            <c:v>FFN-MoE</c:v>
          </c:tx>
          <c:spPr>
            <a:ln xmlns:a="http://schemas.openxmlformats.org/drawingml/2006/main" w="28575">
              <a:solidFill>
                <a:srgbClr val="81905D"/>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Data'!$E$2:$E$33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xVal>
          <c:yVal>
            <c:numRef>
              <c:f>'Chart Data'!$F$2:$F$33</c:f>
              <c:numCache>
                <c:formatCode>0.00</c:formatCode>
                <c:ptCount val="32"/>
                <c:pt idx="0">
                  <c:v>0.01072278122</c:v>
                </c:pt>
                <c:pt idx="1">
                  <c:v>0.02312952032</c:v>
                </c:pt>
                <c:pt idx="2">
                  <c:v>0.03320353602</c:v>
                </c:pt>
                <c:pt idx="3">
                  <c:v>0.03921718647</c:v>
                </c:pt>
                <c:pt idx="4">
                  <c:v>0.04466152191</c:v>
                </c:pt>
                <c:pt idx="5">
                  <c:v>0.04768923298</c:v>
                </c:pt>
                <c:pt idx="6">
                  <c:v>0.04854138692</c:v>
                </c:pt>
                <c:pt idx="7">
                  <c:v>0.05035147816</c:v>
                </c:pt>
                <c:pt idx="8">
                  <c:v>0.05122034624</c:v>
                </c:pt>
                <c:pt idx="9">
                  <c:v>0.0509278588</c:v>
                </c:pt>
                <c:pt idx="10">
                  <c:v>0.05296495184</c:v>
                </c:pt>
                <c:pt idx="11">
                  <c:v>0.05501741047</c:v>
                </c:pt>
                <c:pt idx="12">
                  <c:v>0.05632949</c:v>
                </c:pt>
                <c:pt idx="13">
                  <c:v>0.05651315426</c:v>
                </c:pt>
                <c:pt idx="14">
                  <c:v>0.05604711051</c:v>
                </c:pt>
                <c:pt idx="15">
                  <c:v>0.05621898919</c:v>
                </c:pt>
                <c:pt idx="16">
                  <c:v>0.05645264188</c:v>
                </c:pt>
                <c:pt idx="17">
                  <c:v>0.05583281318</c:v>
                </c:pt>
                <c:pt idx="18">
                  <c:v>0.0568850413</c:v>
                </c:pt>
                <c:pt idx="19">
                  <c:v>0.05702214067</c:v>
                </c:pt>
                <c:pt idx="20">
                  <c:v>0.05734064678</c:v>
                </c:pt>
                <c:pt idx="21">
                  <c:v>0.05754634738</c:v>
                </c:pt>
                <c:pt idx="22">
                  <c:v>0.05766848723</c:v>
                </c:pt>
                <c:pt idx="23">
                  <c:v>0.05904395382</c:v>
                </c:pt>
                <c:pt idx="24">
                  <c:v>0.05832879742</c:v>
                </c:pt>
                <c:pt idx="25">
                  <c:v>0.05778465917</c:v>
                </c:pt>
                <c:pt idx="26">
                  <c:v>0.05918975299</c:v>
                </c:pt>
                <c:pt idx="27">
                  <c:v>0.05821055795</c:v>
                </c:pt>
                <c:pt idx="28">
                  <c:v>0.0574229459</c:v>
                </c:pt>
                <c:pt idx="29">
                  <c:v>0.0572068356</c:v>
                </c:pt>
                <c:pt idx="30">
                  <c:v>0.05678828309</c:v>
                </c:pt>
                <c:pt idx="31">
                  <c:v>0.05693457897</c:v>
                </c:pt>
              </c:numCache>
            </c:numRef>
          </c:yVal>
        </c:ser>
        <c:ser>
          <c:idx val="3"/>
          <c:order val="3"/>
          <c:tx>
            <c:v>Both</c:v>
          </c:tx>
          <c:spPr>
            <a:ln xmlns:a="http://schemas.openxmlformats.org/drawingml/2006/main" w="28575">
              <a:solidFill>
                <a:srgbClr val="C98362"/>
              </a:solidFill>
            </a:ln>
          </c:spPr>
          <c:marker>
            <c:symbol val="none"/>
          </c:mark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xVal>
            <c:numRef>
              <c:f>'Chart Data'!$G$2:$G$33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xVal>
          <c:yVal>
            <c:numRef>
              <c:f>'Chart Data'!$H$2:$H$33</c:f>
              <c:numCache>
                <c:formatCode>0.00</c:formatCode>
                <c:ptCount val="32"/>
                <c:pt idx="0">
                  <c:v>0.01066068374</c:v>
                </c:pt>
                <c:pt idx="1">
                  <c:v>0.02290726267</c:v>
                </c:pt>
                <c:pt idx="2">
                  <c:v>0.03274189557</c:v>
                </c:pt>
                <c:pt idx="3">
                  <c:v>0.03848972296</c:v>
                </c:pt>
                <c:pt idx="4">
                  <c:v>0.04341405878</c:v>
                </c:pt>
                <c:pt idx="5">
                  <c:v>0.0458021462</c:v>
                </c:pt>
                <c:pt idx="6">
                  <c:v>0.04656850174</c:v>
                </c:pt>
                <c:pt idx="7">
                  <c:v>0.04900997629</c:v>
                </c:pt>
                <c:pt idx="8">
                  <c:v>0.04974931851</c:v>
                </c:pt>
                <c:pt idx="9">
                  <c:v>0.04920333003</c:v>
                </c:pt>
                <c:pt idx="10">
                  <c:v>0.05154428879</c:v>
                </c:pt>
                <c:pt idx="11">
                  <c:v>0.0537767671</c:v>
                </c:pt>
                <c:pt idx="12">
                  <c:v>0.05462628851</c:v>
                </c:pt>
                <c:pt idx="13">
                  <c:v>0.05501228323</c:v>
                </c:pt>
                <c:pt idx="14">
                  <c:v>0.05540088937</c:v>
                </c:pt>
                <c:pt idx="15">
                  <c:v>0.05557116618</c:v>
                </c:pt>
                <c:pt idx="16">
                  <c:v>0.05543833971</c:v>
                </c:pt>
                <c:pt idx="17">
                  <c:v>0.0543937621</c:v>
                </c:pt>
                <c:pt idx="18">
                  <c:v>0.05508251737</c:v>
                </c:pt>
                <c:pt idx="19">
                  <c:v>0.05508704359</c:v>
                </c:pt>
                <c:pt idx="20">
                  <c:v>0.05566699058</c:v>
                </c:pt>
                <c:pt idx="21">
                  <c:v>0.05624612297</c:v>
                </c:pt>
                <c:pt idx="22">
                  <c:v>0.05636963993</c:v>
                </c:pt>
                <c:pt idx="23">
                  <c:v>0.0578791375</c:v>
                </c:pt>
                <c:pt idx="24">
                  <c:v>0.05758887157</c:v>
                </c:pt>
                <c:pt idx="25">
                  <c:v>0.05692553769</c:v>
                </c:pt>
                <c:pt idx="26">
                  <c:v>0.05817269782</c:v>
                </c:pt>
                <c:pt idx="27">
                  <c:v>0.05729798973</c:v>
                </c:pt>
                <c:pt idx="28">
                  <c:v>0.05672158425</c:v>
                </c:pt>
                <c:pt idx="29">
                  <c:v>0.05652768662</c:v>
                </c:pt>
                <c:pt idx="30">
                  <c:v>0.05628325169</c:v>
                </c:pt>
                <c:pt idx="31">
                  <c:v>0.0562867187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E0E5EB"/>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Original-unit MSE</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32"/>
          <c:min val="1"/>
        </c:scaling>
        <c:delete val="0"/>
        <c:axPos val="b"/>
        <c:title>
          <c:tx>
            <c:rich>
              <a:bodyPr xmlns:a="http://schemas.openxmlformats.org/drawingml/2006/main"/>
              <a:lstStyle xmlns:a="http://schemas.openxmlformats.org/drawingml/2006/main"/>
              <a:p xmlns:a="http://schemas.openxmlformats.org/drawingml/2006/main">
                <a:r>
                  <a:rPr sz="1500">
                    <a:latin typeface="Arial"/>
                    <a:ea typeface="Arial"/>
                    <a:cs typeface="Arial"/>
                  </a:rPr>
                  <a:t>Forecast horizon</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Learned gate</c:v>
          </c:tx>
          <c:spPr>
            <a:solidFill xmlns:a="http://schemas.openxmlformats.org/drawingml/2006/main">
              <a:srgbClr val="B67818"/>
            </a:solidFill>
          </c:spP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cat>
            <c:strRef>
              <c:f>'Chart Data'!$A$2:$A$4</c:f>
              <c:strCache>
                <c:ptCount val="3"/>
                <c:pt idx="0">
                  <c:v>Routed 1</c:v>
                </c:pt>
                <c:pt idx="1">
                  <c:v>Routed 2</c:v>
                </c:pt>
                <c:pt idx="2">
                  <c:v>Routed 3</c:v>
                </c:pt>
              </c:strCache>
            </c:strRef>
          </c:cat>
          <c:val>
            <c:numRef>
              <c:f>'Chart Data'!$B$2:$B$4</c:f>
              <c:numCache>
                <c:formatCode>0%</c:formatCode>
                <c:ptCount val="3"/>
                <c:pt idx="0">
                  <c:v>0.3188344595</c:v>
                </c:pt>
                <c:pt idx="1">
                  <c:v>0.4357685811</c:v>
                </c:pt>
                <c:pt idx="2">
                  <c:v>0.2453969595</c:v>
                </c:pt>
              </c:numCache>
            </c:numRef>
          </c:val>
        </c:ser>
        <c:ser>
          <c:idx val="1"/>
          <c:order val="1"/>
          <c:tx>
            <c:v>Frozen gate</c:v>
          </c:tx>
          <c:spPr>
            <a:solidFill xmlns:a="http://schemas.openxmlformats.org/drawingml/2006/main">
              <a:srgbClr val="8B7AA8"/>
            </a:solidFill>
          </c:spP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cat>
            <c:strRef>
              <c:f>'Chart Data'!$C$2:$C$4</c:f>
              <c:strCache>
                <c:ptCount val="3"/>
                <c:pt idx="0">
                  <c:v>Routed 1</c:v>
                </c:pt>
                <c:pt idx="1">
                  <c:v>Routed 2</c:v>
                </c:pt>
                <c:pt idx="2">
                  <c:v>Routed 3</c:v>
                </c:pt>
              </c:strCache>
            </c:strRef>
          </c:cat>
          <c:val>
            <c:numRef>
              <c:f>'Chart Data'!$D$2:$D$4</c:f>
              <c:numCache>
                <c:formatCode>0%</c:formatCode>
                <c:ptCount val="3"/>
                <c:pt idx="0">
                  <c:v>0.3520692568</c:v>
                </c:pt>
                <c:pt idx="1">
                  <c:v>0.4378378378</c:v>
                </c:pt>
                <c:pt idx="2">
                  <c:v>0.2100929054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500"/>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0.5"/>
          <c:min val="0"/>
        </c:scaling>
        <c:delete val="0"/>
        <c:axPos val="l"/>
        <c:majorGridlines>
          <c:spPr>
            <a:ln xmlns:a="http://schemas.openxmlformats.org/drawingml/2006/main" w="9525">
              <a:solidFill>
                <a:srgbClr val="E0E5EB"/>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Fraction of routed slots</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B4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75D9EB-E1DE-49C2-ACEC-267D8753BF31}"/>
              </a:ext>
            </a:extLst>
          </p:cNvPr>
          <p:cNvSpPr>
            <a:spLocks xmlns:a="http://schemas.openxmlformats.org/drawingml/2006/main" noGrp="1"/>
          </p:cNvSpPr>
          <p:nvPr/>
        </p:nvSpPr>
        <p:spPr>
          <a:xfrm xmlns:a="http://schemas.openxmlformats.org/drawingml/2006/main">
            <a:off x="685800" y="1524000"/>
            <a:ext cx="1066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400" b="1">
                <a:solidFill>
                  <a:srgbClr val="FFFFFF"/>
                </a:solidFill>
                <a:latin typeface="Arial"/>
                <a:ea typeface="Arial"/>
                <a:cs typeface="Arial"/>
              </a:defRPr>
            </a:defPPr>
          </a:lstStyle>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Twilight MoE</a:t>
            </a:r>
          </a:p>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Dynamics</a:t>
            </a:r>
          </a:p>
        </p:txBody>
      </p:sp>
      <p:sp>
        <p:nvSpPr>
          <p:cNvPr id="2" name="">
            <a:extLst xmlns:a="http://schemas.openxmlformats.org/drawingml/2006/main">
              <a:ext uri="{FF2B5EF4-FFF2-40B4-BE49-F238E27FC236}">
                <a16:creationId xmlns:a16="http://schemas.microsoft.com/office/drawing/2014/main" id="{18DF8DA2-F642-477A-A849-F031A2CF4C19}"/>
              </a:ext>
            </a:extLst>
          </p:cNvPr>
          <p:cNvSpPr>
            <a:spLocks xmlns:a="http://schemas.openxmlformats.org/drawingml/2006/main" noGrp="1"/>
          </p:cNvSpPr>
          <p:nvPr/>
        </p:nvSpPr>
        <p:spPr>
          <a:xfrm xmlns:a="http://schemas.openxmlformats.org/drawingml/2006/main">
            <a:off x="723900" y="3771900"/>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DCE5ED"/>
                </a:solidFill>
                <a:latin typeface="Arial"/>
                <a:ea typeface="Arial"/>
                <a:cs typeface="Arial"/>
              </a:defRPr>
            </a:defPPr>
          </a:lstStyle>
          <a:p xmlns:a="http://schemas.openxmlformats.org/drawingml/2006/main">
            <a:pPr>
              <a:buNone/>
              <a:defRPr sz="2400" b="0">
                <a:solidFill>
                  <a:srgbClr val="DCE5ED"/>
                </a:solidFill>
                <a:latin typeface="Arial"/>
                <a:ea typeface="Arial"/>
                <a:cs typeface="Arial"/>
              </a:defRPr>
            </a:pPr>
            <a:r>
              <a:rPr sz="2400" b="0">
                <a:solidFill>
                  <a:srgbClr val="DCE5ED"/>
                </a:solidFill>
                <a:latin typeface="Arial"/>
                <a:ea typeface="Arial"/>
                <a:cs typeface="Arial"/>
              </a:rPr>
              <a:t>Attention-head and FFN routing for switching dynamics</a:t>
            </a:r>
          </a:p>
        </p:txBody>
      </p:sp>
      <p:sp>
        <p:nvSpPr>
          <p:cNvPr id="3" name="">
            <a:extLst xmlns:a="http://schemas.openxmlformats.org/drawingml/2006/main">
              <a:ext uri="{FF2B5EF4-FFF2-40B4-BE49-F238E27FC236}">
                <a16:creationId xmlns:a16="http://schemas.microsoft.com/office/drawing/2014/main" id="{1BA4F1BF-2009-49D5-81C3-91164B74A56B}"/>
              </a:ext>
            </a:extLst>
          </p:cNvPr>
          <p:cNvSpPr>
            <a:spLocks xmlns:a="http://schemas.openxmlformats.org/drawingml/2006/main" noGrp="1"/>
          </p:cNvSpPr>
          <p:nvPr/>
        </p:nvSpPr>
        <p:spPr>
          <a:xfrm xmlns:a="http://schemas.openxmlformats.org/drawingml/2006/main">
            <a:off x="723900" y="50958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E4B65F"/>
                </a:solidFill>
                <a:latin typeface="Arial"/>
                <a:ea typeface="Arial"/>
                <a:cs typeface="Arial"/>
              </a:defRPr>
            </a:defPPr>
          </a:lstStyle>
          <a:p xmlns:a="http://schemas.openxmlformats.org/drawingml/2006/main">
            <a:pPr>
              <a:buNone/>
              <a:defRPr sz="1875" b="0">
                <a:solidFill>
                  <a:srgbClr val="E4B65F"/>
                </a:solidFill>
                <a:latin typeface="Arial"/>
                <a:ea typeface="Arial"/>
                <a:cs typeface="Arial"/>
              </a:defRPr>
            </a:pPr>
            <a:r>
              <a:rPr sz="1875" b="0">
                <a:solidFill>
                  <a:srgbClr val="E4B65F"/>
                </a:solidFill>
                <a:latin typeface="Arial"/>
                <a:ea typeface="Arial"/>
                <a:cs typeface="Arial"/>
              </a:rPr>
              <a:t>Background, methods, experiments and results</a:t>
            </a:r>
          </a:p>
        </p:txBody>
      </p:sp>
      <p:sp>
        <p:nvSpPr>
          <p:cNvPr id="4" name="">
            <a:extLst xmlns:a="http://schemas.openxmlformats.org/drawingml/2006/main">
              <a:ext uri="{FF2B5EF4-FFF2-40B4-BE49-F238E27FC236}">
                <a16:creationId xmlns:a16="http://schemas.microsoft.com/office/drawing/2014/main" id="{1B532278-942F-4F07-81DD-AC6BF5BAC7F4}"/>
              </a:ext>
            </a:extLst>
          </p:cNvPr>
          <p:cNvSpPr>
            <a:spLocks xmlns:a="http://schemas.openxmlformats.org/drawingml/2006/main" noGrp="1"/>
          </p:cNvSpPr>
          <p:nvPr/>
        </p:nvSpPr>
        <p:spPr>
          <a:xfrm xmlns:a="http://schemas.openxmlformats.org/drawingml/2006/main">
            <a:off x="723900" y="6134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DCE5ED"/>
                </a:solidFill>
                <a:latin typeface="Arial"/>
                <a:ea typeface="Arial"/>
                <a:cs typeface="Arial"/>
              </a:defRPr>
            </a:defPPr>
          </a:lstStyle>
          <a:p xmlns:a="http://schemas.openxmlformats.org/drawingml/2006/main">
            <a:pPr>
              <a:buNone/>
              <a:defRPr sz="1425" b="0">
                <a:solidFill>
                  <a:srgbClr val="DCE5ED"/>
                </a:solidFill>
                <a:latin typeface="Arial"/>
                <a:ea typeface="Arial"/>
                <a:cs typeface="Arial"/>
              </a:defRPr>
            </a:pPr>
            <a:r>
              <a:rPr sz="1425" b="0">
                <a:solidFill>
                  <a:srgbClr val="DCE5ED"/>
                </a:solidFill>
                <a:latin typeface="Arial"/>
                <a:ea typeface="Arial"/>
                <a:cs typeface="Arial"/>
              </a:rPr>
              <a:t>Updated research presentation · 9 October 2026</a:t>
            </a:r>
          </a:p>
        </p:txBody>
      </p:sp>
    </p:spTree>
    <p:extLst>
      <p:ext uri="{BB962C8B-B14F-4D97-AF65-F5344CB8AC3E}">
        <p14:creationId xmlns:p14="http://schemas.microsoft.com/office/powerpoint/2010/main" val="16382444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0A188E-B928-442C-8B4D-C546ACEA264D}"/>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BACKGROUND</a:t>
            </a:r>
          </a:p>
        </p:txBody>
      </p:sp>
      <p:sp>
        <p:nvSpPr>
          <p:cNvPr id="2" name="">
            <a:extLst xmlns:a="http://schemas.openxmlformats.org/drawingml/2006/main">
              <a:ext uri="{FF2B5EF4-FFF2-40B4-BE49-F238E27FC236}">
                <a16:creationId xmlns:a16="http://schemas.microsoft.com/office/drawing/2014/main" id="{9C0D6184-C65C-4753-A742-D5453815CF1F}"/>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Research question</a:t>
            </a:r>
          </a:p>
        </p:txBody>
      </p:sp>
      <p:sp>
        <p:nvSpPr>
          <p:cNvPr id="3" name="">
            <a:extLst xmlns:a="http://schemas.openxmlformats.org/drawingml/2006/main">
              <a:ext uri="{FF2B5EF4-FFF2-40B4-BE49-F238E27FC236}">
                <a16:creationId xmlns:a16="http://schemas.microsoft.com/office/drawing/2014/main" id="{BA71850D-8E47-4108-8F54-3703BAF73177}"/>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0715FE1C-3594-4118-B04C-937DE61365ED}"/>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F7B2434F-9F08-4156-992D-2E6F3506E7EE}"/>
              </a:ext>
            </a:extLst>
          </p:cNvPr>
          <p:cNvSpPr>
            <a:spLocks xmlns:a="http://schemas.openxmlformats.org/drawingml/2006/main" noGrp="1"/>
          </p:cNvSpPr>
          <p:nvPr/>
        </p:nvSpPr>
        <p:spPr>
          <a:xfrm xmlns:a="http://schemas.openxmlformats.org/drawingml/2006/main">
            <a:off x="571500" y="18097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Prediction with hidden changes</a:t>
            </a:r>
          </a:p>
        </p:txBody>
      </p:sp>
      <p:sp>
        <p:nvSpPr>
          <p:cNvPr id="6" name="">
            <a:extLst xmlns:a="http://schemas.openxmlformats.org/drawingml/2006/main">
              <a:ext uri="{FF2B5EF4-FFF2-40B4-BE49-F238E27FC236}">
                <a16:creationId xmlns:a16="http://schemas.microsoft.com/office/drawing/2014/main" id="{7BDD8769-D9CE-4127-AA92-2895735551B2}"/>
              </a:ext>
            </a:extLst>
          </p:cNvPr>
          <p:cNvSpPr>
            <a:spLocks xmlns:a="http://schemas.openxmlformats.org/drawingml/2006/main" noGrp="1"/>
          </p:cNvSpPr>
          <p:nvPr/>
        </p:nvSpPr>
        <p:spPr>
          <a:xfrm xmlns:a="http://schemas.openxmlformats.org/drawingml/2006/main">
            <a:off x="571500" y="22098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The same observed state can evolve under different transition rules. Recent observations may reveal which rule currently applies.</a:t>
            </a:r>
          </a:p>
        </p:txBody>
      </p:sp>
      <p:sp>
        <p:nvSpPr>
          <p:cNvPr id="7" name="">
            <a:extLst xmlns:a="http://schemas.openxmlformats.org/drawingml/2006/main">
              <a:ext uri="{FF2B5EF4-FFF2-40B4-BE49-F238E27FC236}">
                <a16:creationId xmlns:a16="http://schemas.microsoft.com/office/drawing/2014/main" id="{A3C1A097-19C5-494A-BC30-A239AC19DE52}"/>
              </a:ext>
            </a:extLst>
          </p:cNvPr>
          <p:cNvSpPr>
            <a:spLocks xmlns:a="http://schemas.openxmlformats.org/drawingml/2006/main" noGrp="1"/>
          </p:cNvSpPr>
          <p:nvPr/>
        </p:nvSpPr>
        <p:spPr>
          <a:xfrm xmlns:a="http://schemas.openxmlformats.org/drawingml/2006/main">
            <a:off x="571500" y="30956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A possible role for experts</a:t>
            </a:r>
          </a:p>
        </p:txBody>
      </p:sp>
      <p:sp>
        <p:nvSpPr>
          <p:cNvPr id="8" name="">
            <a:extLst xmlns:a="http://schemas.openxmlformats.org/drawingml/2006/main">
              <a:ext uri="{FF2B5EF4-FFF2-40B4-BE49-F238E27FC236}">
                <a16:creationId xmlns:a16="http://schemas.microsoft.com/office/drawing/2014/main" id="{B3A2452A-E80D-4D32-8E92-AB33E278D379}"/>
              </a:ext>
            </a:extLst>
          </p:cNvPr>
          <p:cNvSpPr>
            <a:spLocks xmlns:a="http://schemas.openxmlformats.org/drawingml/2006/main" noGrp="1"/>
          </p:cNvSpPr>
          <p:nvPr/>
        </p:nvSpPr>
        <p:spPr>
          <a:xfrm xmlns:a="http://schemas.openxmlformats.org/drawingml/2006/main">
            <a:off x="571500" y="34956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A router can allocate different histories to specialized predictors. The experiment tests whether this improves next-state prediction.</a:t>
            </a:r>
          </a:p>
        </p:txBody>
      </p:sp>
      <p:sp>
        <p:nvSpPr>
          <p:cNvPr id="9" name="">
            <a:extLst xmlns:a="http://schemas.openxmlformats.org/drawingml/2006/main">
              <a:ext uri="{FF2B5EF4-FFF2-40B4-BE49-F238E27FC236}">
                <a16:creationId xmlns:a16="http://schemas.microsoft.com/office/drawing/2014/main" id="{1AE735C4-CE0B-47B9-9EA0-8B6B7E53E08F}"/>
              </a:ext>
            </a:extLst>
          </p:cNvPr>
          <p:cNvSpPr>
            <a:spLocks xmlns:a="http://schemas.openxmlformats.org/drawingml/2006/main" noGrp="1"/>
          </p:cNvSpPr>
          <p:nvPr/>
        </p:nvSpPr>
        <p:spPr>
          <a:xfrm xmlns:a="http://schemas.openxmlformats.org/drawingml/2006/main">
            <a:off x="571500" y="43815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Controlled scope</a:t>
            </a:r>
          </a:p>
        </p:txBody>
      </p:sp>
      <p:sp>
        <p:nvSpPr>
          <p:cNvPr id="10" name="">
            <a:extLst xmlns:a="http://schemas.openxmlformats.org/drawingml/2006/main">
              <a:ext uri="{FF2B5EF4-FFF2-40B4-BE49-F238E27FC236}">
                <a16:creationId xmlns:a16="http://schemas.microsoft.com/office/drawing/2014/main" id="{9E0040CD-A019-47D6-8B65-E90DD36D06CC}"/>
              </a:ext>
            </a:extLst>
          </p:cNvPr>
          <p:cNvSpPr>
            <a:spLocks xmlns:a="http://schemas.openxmlformats.org/drawingml/2006/main" noGrp="1"/>
          </p:cNvSpPr>
          <p:nvPr/>
        </p:nvSpPr>
        <p:spPr>
          <a:xfrm xmlns:a="http://schemas.openxmlformats.org/drawingml/2006/main">
            <a:off x="571500" y="47815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Four observed dimensions, three hidden regimes and 13 model families. The extension compares attention-head and FFN routing.</a:t>
            </a:r>
          </a:p>
        </p:txBody>
      </p:sp>
    </p:spTree>
    <p:extLst>
      <p:ext uri="{BB962C8B-B14F-4D97-AF65-F5344CB8AC3E}">
        <p14:creationId xmlns:p14="http://schemas.microsoft.com/office/powerpoint/2010/main" val="488660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788A02-5DC9-4FEE-88B3-0D54251E39A7}"/>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BACKGROUND</a:t>
            </a:r>
          </a:p>
        </p:txBody>
      </p:sp>
      <p:sp>
        <p:nvSpPr>
          <p:cNvPr id="2" name="">
            <a:extLst xmlns:a="http://schemas.openxmlformats.org/drawingml/2006/main">
              <a:ext uri="{FF2B5EF4-FFF2-40B4-BE49-F238E27FC236}">
                <a16:creationId xmlns:a16="http://schemas.microsoft.com/office/drawing/2014/main" id="{436B3C46-640A-410E-85C0-B01F3A0EA4E4}"/>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Background mechanisms</a:t>
            </a:r>
          </a:p>
        </p:txBody>
      </p:sp>
      <p:sp>
        <p:nvSpPr>
          <p:cNvPr id="3" name="">
            <a:extLst xmlns:a="http://schemas.openxmlformats.org/drawingml/2006/main">
              <a:ext uri="{FF2B5EF4-FFF2-40B4-BE49-F238E27FC236}">
                <a16:creationId xmlns:a16="http://schemas.microsoft.com/office/drawing/2014/main" id="{C7144126-2CC2-4FDE-9559-7F4F2FAFA3F3}"/>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2266E2BD-E655-4767-8FDA-161DBE56F69E}"/>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BED9C4CA-9F2E-455B-AF39-7CE35F6BEFF0}"/>
              </a:ext>
            </a:extLst>
          </p:cNvPr>
          <p:cNvGraphicFramePr/>
          <p:nvPr/>
        </p:nvGraphicFramePr>
        <p:xfrm>
          <a:off xmlns:a="http://schemas.openxmlformats.org/drawingml/2006/main" x="571500" y="1762125"/>
          <a:ext xmlns:a="http://schemas.openxmlformats.org/drawingml/2006/main" cx="11049000" cy="3524250"/>
        </p:xfrm>
        <a:graphic xmlns:a="http://schemas.openxmlformats.org/drawingml/2006/main">
          <a:graphicData uri="http://schemas.openxmlformats.org/drawingml/2006/table">
            <a:tbl>
              <a:tblPr/>
              <a:tblGrid>
                <a:gridCol w="2190750"/>
                <a:gridCol w="4429125"/>
                <a:gridCol w="4429125"/>
              </a:tblGrid>
              <a:tr h="881063">
                <a:tc>
                  <a:txBody>
                    <a:bodyPr/>
                    <a:lstStyle/>
                    <a:p>
                      <a:r>
                        <a:rPr sz="1725" b="1">
                          <a:solidFill>
                            <a:srgbClr val="FFFFFF"/>
                          </a:solidFill>
                          <a:latin typeface="Arial"/>
                          <a:ea typeface="Arial"/>
                          <a:cs typeface="Arial"/>
                        </a:rPr>
                        <a:t>Concept</a:t>
                      </a:r>
                    </a:p>
                  </a:txBody>
                  <a:tcPr marL="91440" marR="91440" marT="45720" marB="45720">
                    <a:solidFill>
                      <a:srgbClr val="152B45"/>
                    </a:solidFill>
                  </a:tcPr>
                </a:tc>
                <a:tc>
                  <a:txBody>
                    <a:bodyPr/>
                    <a:lstStyle/>
                    <a:p>
                      <a:r>
                        <a:rPr sz="1725" b="1">
                          <a:solidFill>
                            <a:srgbClr val="FFFFFF"/>
                          </a:solidFill>
                          <a:latin typeface="Arial"/>
                          <a:ea typeface="Arial"/>
                          <a:cs typeface="Arial"/>
                        </a:rPr>
                        <a:t>Mechanism</a:t>
                      </a:r>
                    </a:p>
                  </a:txBody>
                  <a:tcPr marL="91440" marR="91440" marT="45720" marB="45720">
                    <a:solidFill>
                      <a:srgbClr val="152B45"/>
                    </a:solidFill>
                  </a:tcPr>
                </a:tc>
                <a:tc>
                  <a:txBody>
                    <a:bodyPr/>
                    <a:lstStyle/>
                    <a:p>
                      <a:r>
                        <a:rPr sz="1725" b="1">
                          <a:solidFill>
                            <a:srgbClr val="FFFFFF"/>
                          </a:solidFill>
                          <a:latin typeface="Arial"/>
                          <a:ea typeface="Arial"/>
                          <a:cs typeface="Arial"/>
                        </a:rPr>
                        <a:t>Role in this project</a:t>
                      </a:r>
                    </a:p>
                  </a:txBody>
                  <a:tcPr marL="91440" marR="91440" marT="45720" marB="45720">
                    <a:solidFill>
                      <a:srgbClr val="152B45"/>
                    </a:solidFill>
                  </a:tcPr>
                </a:tc>
              </a:tr>
              <a:tr h="881063">
                <a:tc>
                  <a:txBody>
                    <a:bodyPr/>
                    <a:lstStyle/>
                    <a:p>
                      <a:r>
                        <a:rPr sz="1725" b="0">
                          <a:solidFill>
                            <a:srgbClr val="24384D"/>
                          </a:solidFill>
                          <a:latin typeface="Arial"/>
                          <a:ea typeface="Arial"/>
                          <a:cs typeface="Arial"/>
                        </a:rPr>
                        <a:t>Dynamical system</a:t>
                      </a:r>
                    </a:p>
                  </a:txBody>
                  <a:tcPr marL="91440" marR="91440" marT="45720" marB="45720">
                    <a:solidFill>
                      <a:srgbClr val="F0F4F7"/>
                    </a:solidFill>
                  </a:tcPr>
                </a:tc>
                <a:tc>
                  <a:txBody>
                    <a:bodyPr/>
                    <a:lstStyle/>
                    <a:p>
                      <a:r>
                        <a:rPr sz="1725" b="0">
                          <a:solidFill>
                            <a:srgbClr val="24384D"/>
                          </a:solidFill>
                          <a:latin typeface="Arial"/>
                          <a:ea typeface="Arial"/>
                          <a:cs typeface="Arial"/>
                        </a:rPr>
                        <a:t>A transition maps the current state to the next state.</a:t>
                      </a:r>
                    </a:p>
                  </a:txBody>
                  <a:tcPr marL="91440" marR="91440" marT="45720" marB="45720">
                    <a:solidFill>
                      <a:srgbClr val="F0F4F7"/>
                    </a:solidFill>
                  </a:tcPr>
                </a:tc>
                <a:tc>
                  <a:txBody>
                    <a:bodyPr/>
                    <a:lstStyle/>
                    <a:p>
                      <a:r>
                        <a:rPr sz="1725" b="0">
                          <a:solidFill>
                            <a:srgbClr val="24384D"/>
                          </a:solidFill>
                          <a:latin typeface="Arial"/>
                          <a:ea typeface="Arial"/>
                          <a:cs typeface="Arial"/>
                        </a:rPr>
                        <a:t>Three stable linear transition matrices.</a:t>
                      </a:r>
                    </a:p>
                  </a:txBody>
                  <a:tcPr marL="91440" marR="91440" marT="45720" marB="45720">
                    <a:solidFill>
                      <a:srgbClr val="F0F4F7"/>
                    </a:solidFill>
                  </a:tcPr>
                </a:tc>
              </a:tr>
              <a:tr h="881063">
                <a:tc>
                  <a:txBody>
                    <a:bodyPr/>
                    <a:lstStyle/>
                    <a:p>
                      <a:r>
                        <a:rPr sz="1725" b="0">
                          <a:solidFill>
                            <a:srgbClr val="24384D"/>
                          </a:solidFill>
                          <a:latin typeface="Arial"/>
                          <a:ea typeface="Arial"/>
                          <a:cs typeface="Arial"/>
                        </a:rPr>
                        <a:t>Hidden switching</a:t>
                      </a:r>
                    </a:p>
                  </a:txBody>
                  <a:tcPr marL="91440" marR="91440" marT="45720" marB="45720">
                    <a:solidFill>
                      <a:srgbClr val="FFFFFF"/>
                    </a:solidFill>
                  </a:tcPr>
                </a:tc>
                <a:tc>
                  <a:txBody>
                    <a:bodyPr/>
                    <a:lstStyle/>
                    <a:p>
                      <a:r>
                        <a:rPr sz="1725" b="0">
                          <a:solidFill>
                            <a:srgbClr val="24384D"/>
                          </a:solidFill>
                          <a:latin typeface="Arial"/>
                          <a:ea typeface="Arial"/>
                          <a:cs typeface="Arial"/>
                        </a:rPr>
                        <a:t>A discrete process changes the active transition.</a:t>
                      </a:r>
                    </a:p>
                  </a:txBody>
                  <a:tcPr marL="91440" marR="91440" marT="45720" marB="45720">
                    <a:solidFill>
                      <a:srgbClr val="FFFFFF"/>
                    </a:solidFill>
                  </a:tcPr>
                </a:tc>
                <a:tc>
                  <a:txBody>
                    <a:bodyPr/>
                    <a:lstStyle/>
                    <a:p>
                      <a:r>
                        <a:rPr sz="1725" b="0">
                          <a:solidFill>
                            <a:srgbClr val="24384D"/>
                          </a:solidFill>
                          <a:latin typeface="Arial"/>
                          <a:ea typeface="Arial"/>
                          <a:cs typeface="Arial"/>
                        </a:rPr>
                        <a:t>Markov regimes create changes in prediction rules.</a:t>
                      </a:r>
                    </a:p>
                  </a:txBody>
                  <a:tcPr marL="91440" marR="91440" marT="45720" marB="45720">
                    <a:solidFill>
                      <a:srgbClr val="FFFFFF"/>
                    </a:solidFill>
                  </a:tcPr>
                </a:tc>
              </a:tr>
              <a:tr h="881063">
                <a:tc>
                  <a:txBody>
                    <a:bodyPr/>
                    <a:lstStyle/>
                    <a:p>
                      <a:r>
                        <a:rPr sz="1725" b="0">
                          <a:solidFill>
                            <a:srgbClr val="24384D"/>
                          </a:solidFill>
                          <a:latin typeface="Arial"/>
                          <a:ea typeface="Arial"/>
                          <a:cs typeface="Arial"/>
                        </a:rPr>
                        <a:t>Mixture of Experts</a:t>
                      </a:r>
                    </a:p>
                  </a:txBody>
                  <a:tcPr marL="91440" marR="91440" marT="45720" marB="45720">
                    <a:solidFill>
                      <a:srgbClr val="F0F4F7"/>
                    </a:solidFill>
                  </a:tcPr>
                </a:tc>
                <a:tc>
                  <a:txBody>
                    <a:bodyPr/>
                    <a:lstStyle/>
                    <a:p>
                      <a:r>
                        <a:rPr sz="1725" b="0">
                          <a:solidFill>
                            <a:srgbClr val="24384D"/>
                          </a:solidFill>
                          <a:latin typeface="Arial"/>
                          <a:ea typeface="Arial"/>
                          <a:cs typeface="Arial"/>
                        </a:rPr>
                        <a:t>A gate combines specialized model outputs.</a:t>
                      </a:r>
                    </a:p>
                  </a:txBody>
                  <a:tcPr marL="91440" marR="91440" marT="45720" marB="45720">
                    <a:solidFill>
                      <a:srgbClr val="F0F4F7"/>
                    </a:solidFill>
                  </a:tcPr>
                </a:tc>
                <a:tc>
                  <a:txBody>
                    <a:bodyPr/>
                    <a:lstStyle/>
                    <a:p>
                      <a:r>
                        <a:rPr sz="1725" b="0">
                          <a:solidFill>
                            <a:srgbClr val="24384D"/>
                          </a:solidFill>
                          <a:latin typeface="Arial"/>
                          <a:ea typeface="Arial"/>
                          <a:cs typeface="Arial"/>
                        </a:rPr>
                        <a:t>A learned gate selects two of three MLP experts.</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C549A3E5-E5E9-4D3A-85FD-0CFBC6CA8E00}"/>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Ground-truth regimes support evaluation and an oracle control. Ordinary predictors cannot see them.</a:t>
            </a:r>
          </a:p>
        </p:txBody>
      </p:sp>
    </p:spTree>
    <p:extLst>
      <p:ext uri="{BB962C8B-B14F-4D97-AF65-F5344CB8AC3E}">
        <p14:creationId xmlns:p14="http://schemas.microsoft.com/office/powerpoint/2010/main" val="18292923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D06CA6B-9185-42A1-AB6B-F9C3577C503B}"/>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50FB6A84-732C-4769-8B52-DD20FE5E266E}"/>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Learned division of labor</a:t>
            </a:r>
          </a:p>
        </p:txBody>
      </p:sp>
      <p:sp>
        <p:nvSpPr>
          <p:cNvPr id="3" name="">
            <a:extLst xmlns:a="http://schemas.openxmlformats.org/drawingml/2006/main">
              <a:ext uri="{FF2B5EF4-FFF2-40B4-BE49-F238E27FC236}">
                <a16:creationId xmlns:a16="http://schemas.microsoft.com/office/drawing/2014/main" id="{7E15BDCF-BB1D-440E-B608-C5365BB913C8}"/>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44F14CD2-7B6A-494C-8E9F-7B36394913C6}"/>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4CDB3FA5-F825-4E6A-AA4A-0DA4C7884DAB}"/>
              </a:ext>
            </a:extLst>
          </p:cNvPr>
          <p:cNvSpPr>
            <a:spLocks xmlns:a="http://schemas.openxmlformats.org/drawingml/2006/main" noGrp="1"/>
          </p:cNvSpPr>
          <p:nvPr/>
        </p:nvSpPr>
        <p:spPr>
          <a:xfrm xmlns:a="http://schemas.openxmlformats.org/drawingml/2006/main">
            <a:off x="571500" y="16954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B45"/>
                </a:solidFill>
                <a:latin typeface="Arial"/>
                <a:ea typeface="Arial"/>
                <a:cs typeface="Arial"/>
              </a:defRPr>
            </a:defPPr>
          </a:lstStyle>
          <a:p xmlns:a="http://schemas.openxmlformats.org/drawingml/2006/main">
            <a:pPr>
              <a:buNone/>
              <a:defRPr sz="2400" b="1">
                <a:solidFill>
                  <a:srgbClr val="152B45"/>
                </a:solidFill>
                <a:latin typeface="Arial"/>
                <a:ea typeface="Arial"/>
                <a:cs typeface="Arial"/>
              </a:defRPr>
            </a:pPr>
            <a:r>
              <a:rPr sz="2400" b="1">
                <a:solidFill>
                  <a:srgbClr val="152B45"/>
                </a:solidFill>
                <a:latin typeface="Arial"/>
                <a:ea typeface="Arial"/>
                <a:cs typeface="Arial"/>
              </a:rPr>
              <a:t>Adaptive Mixtures of Local Experts</a:t>
            </a:r>
          </a:p>
        </p:txBody>
      </p:sp>
      <p:sp>
        <p:nvSpPr>
          <p:cNvPr id="6" name="">
            <a:extLst xmlns:a="http://schemas.openxmlformats.org/drawingml/2006/main">
              <a:ext uri="{FF2B5EF4-FFF2-40B4-BE49-F238E27FC236}">
                <a16:creationId xmlns:a16="http://schemas.microsoft.com/office/drawing/2014/main" id="{13678813-FE6B-44B4-AC11-728A0AFC4B75}"/>
              </a:ext>
            </a:extLst>
          </p:cNvPr>
          <p:cNvSpPr>
            <a:spLocks xmlns:a="http://schemas.openxmlformats.org/drawingml/2006/main" noGrp="1"/>
          </p:cNvSpPr>
          <p:nvPr/>
        </p:nvSpPr>
        <p:spPr>
          <a:xfrm xmlns:a="http://schemas.openxmlformats.org/drawingml/2006/main">
            <a:off x="571500" y="2819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B67818"/>
                </a:solidFill>
                <a:latin typeface="Arial"/>
                <a:ea typeface="Arial"/>
                <a:cs typeface="Arial"/>
              </a:defRPr>
            </a:defPPr>
          </a:lstStyle>
          <a:p xmlns:a="http://schemas.openxmlformats.org/drawingml/2006/main">
            <a:pPr>
              <a:buNone/>
              <a:defRPr sz="1650" b="1">
                <a:solidFill>
                  <a:srgbClr val="B67818"/>
                </a:solidFill>
                <a:latin typeface="Arial"/>
                <a:ea typeface="Arial"/>
                <a:cs typeface="Arial"/>
              </a:defRPr>
            </a:pPr>
            <a:r>
              <a:rPr sz="1650" b="1">
                <a:solidFill>
                  <a:srgbClr val="B67818"/>
                </a:solidFill>
                <a:latin typeface="Arial"/>
                <a:ea typeface="Arial"/>
                <a:cs typeface="Arial"/>
              </a:rPr>
              <a:t>Jacobs et al. (1991)</a:t>
            </a:r>
          </a:p>
        </p:txBody>
      </p:sp>
      <p:sp>
        <p:nvSpPr>
          <p:cNvPr id="7" name="">
            <a:extLst xmlns:a="http://schemas.openxmlformats.org/drawingml/2006/main">
              <a:ext uri="{FF2B5EF4-FFF2-40B4-BE49-F238E27FC236}">
                <a16:creationId xmlns:a16="http://schemas.microsoft.com/office/drawing/2014/main" id="{7E6E2191-CD85-498D-972F-1DBAEBEBAE49}"/>
              </a:ext>
            </a:extLst>
          </p:cNvPr>
          <p:cNvSpPr>
            <a:spLocks xmlns:a="http://schemas.openxmlformats.org/drawingml/2006/main" noGrp="1"/>
          </p:cNvSpPr>
          <p:nvPr/>
        </p:nvSpPr>
        <p:spPr>
          <a:xfrm xmlns:a="http://schemas.openxmlformats.org/drawingml/2006/main">
            <a:off x="571500" y="3286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Principal mechanism</a:t>
            </a:r>
          </a:p>
        </p:txBody>
      </p:sp>
      <p:sp>
        <p:nvSpPr>
          <p:cNvPr id="8" name="">
            <a:extLst xmlns:a="http://schemas.openxmlformats.org/drawingml/2006/main">
              <a:ext uri="{FF2B5EF4-FFF2-40B4-BE49-F238E27FC236}">
                <a16:creationId xmlns:a16="http://schemas.microsoft.com/office/drawing/2014/main" id="{EBB09969-0C8F-428A-B883-C00F26B4FDBE}"/>
              </a:ext>
            </a:extLst>
          </p:cNvPr>
          <p:cNvSpPr>
            <a:spLocks xmlns:a="http://schemas.openxmlformats.org/drawingml/2006/main" noGrp="1"/>
          </p:cNvSpPr>
          <p:nvPr/>
        </p:nvSpPr>
        <p:spPr>
          <a:xfrm xmlns:a="http://schemas.openxmlformats.org/drawingml/2006/main">
            <a:off x="571500" y="3686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Train a gate and local experts jointly. Input-dependent mixing allows different experts to handle different parts of a supervised task.</a:t>
            </a:r>
          </a:p>
        </p:txBody>
      </p:sp>
      <p:sp>
        <p:nvSpPr>
          <p:cNvPr id="9" name="">
            <a:extLst xmlns:a="http://schemas.openxmlformats.org/drawingml/2006/main">
              <a:ext uri="{FF2B5EF4-FFF2-40B4-BE49-F238E27FC236}">
                <a16:creationId xmlns:a16="http://schemas.microsoft.com/office/drawing/2014/main" id="{267452D4-4AB9-4AB8-8731-7708594C082E}"/>
              </a:ext>
            </a:extLst>
          </p:cNvPr>
          <p:cNvSpPr>
            <a:spLocks xmlns:a="http://schemas.openxmlformats.org/drawingml/2006/main" noGrp="1"/>
          </p:cNvSpPr>
          <p:nvPr/>
        </p:nvSpPr>
        <p:spPr>
          <a:xfrm xmlns:a="http://schemas.openxmlformats.org/drawingml/2006/main">
            <a:off x="571500" y="45434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Data and connection</a:t>
            </a:r>
          </a:p>
        </p:txBody>
      </p:sp>
      <p:sp>
        <p:nvSpPr>
          <p:cNvPr id="10" name="">
            <a:extLst xmlns:a="http://schemas.openxmlformats.org/drawingml/2006/main">
              <a:ext uri="{FF2B5EF4-FFF2-40B4-BE49-F238E27FC236}">
                <a16:creationId xmlns:a16="http://schemas.microsoft.com/office/drawing/2014/main" id="{9295B9C7-3D52-44DF-9318-DA82F96EECC6}"/>
              </a:ext>
            </a:extLst>
          </p:cNvPr>
          <p:cNvSpPr>
            <a:spLocks xmlns:a="http://schemas.openxmlformats.org/drawingml/2006/main" noGrp="1"/>
          </p:cNvSpPr>
          <p:nvPr/>
        </p:nvSpPr>
        <p:spPr>
          <a:xfrm xmlns:a="http://schemas.openxmlformats.org/drawingml/2006/main">
            <a:off x="571500" y="49434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Vowel discrimination experiments. This provides the general idea of learning expert allocation.</a:t>
            </a:r>
          </a:p>
        </p:txBody>
      </p:sp>
    </p:spTree>
    <p:extLst>
      <p:ext uri="{BB962C8B-B14F-4D97-AF65-F5344CB8AC3E}">
        <p14:creationId xmlns:p14="http://schemas.microsoft.com/office/powerpoint/2010/main" val="7782629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049913-B2DB-4050-AFFB-3A139072D11F}"/>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B6F623A2-0AE1-438F-80BF-FEA279CFB30C}"/>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Switching linear dynamics</a:t>
            </a:r>
          </a:p>
        </p:txBody>
      </p:sp>
      <p:sp>
        <p:nvSpPr>
          <p:cNvPr id="3" name="">
            <a:extLst xmlns:a="http://schemas.openxmlformats.org/drawingml/2006/main">
              <a:ext uri="{FF2B5EF4-FFF2-40B4-BE49-F238E27FC236}">
                <a16:creationId xmlns:a16="http://schemas.microsoft.com/office/drawing/2014/main" id="{461DDD59-C668-4FBC-8D55-B6DAF5E5E608}"/>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0A7DB4BC-88D4-48CA-94E9-550A612871BB}"/>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96FB785D-3776-4B93-A793-6C7C35F5C07C}"/>
              </a:ext>
            </a:extLst>
          </p:cNvPr>
          <p:cNvSpPr>
            <a:spLocks xmlns:a="http://schemas.openxmlformats.org/drawingml/2006/main" noGrp="1"/>
          </p:cNvSpPr>
          <p:nvPr/>
        </p:nvSpPr>
        <p:spPr>
          <a:xfrm xmlns:a="http://schemas.openxmlformats.org/drawingml/2006/main">
            <a:off x="571500" y="16954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B45"/>
                </a:solidFill>
                <a:latin typeface="Arial"/>
                <a:ea typeface="Arial"/>
                <a:cs typeface="Arial"/>
              </a:defRPr>
            </a:defPPr>
          </a:lstStyle>
          <a:p xmlns:a="http://schemas.openxmlformats.org/drawingml/2006/main">
            <a:pPr>
              <a:buNone/>
              <a:defRPr sz="2400" b="1">
                <a:solidFill>
                  <a:srgbClr val="152B45"/>
                </a:solidFill>
                <a:latin typeface="Arial"/>
                <a:ea typeface="Arial"/>
                <a:cs typeface="Arial"/>
              </a:defRPr>
            </a:pPr>
            <a:r>
              <a:rPr sz="2400" b="1">
                <a:solidFill>
                  <a:srgbClr val="152B45"/>
                </a:solidFill>
                <a:latin typeface="Arial"/>
                <a:ea typeface="Arial"/>
                <a:cs typeface="Arial"/>
              </a:rPr>
              <a:t>Variational Learning for Switching State-Space Models</a:t>
            </a:r>
          </a:p>
        </p:txBody>
      </p:sp>
      <p:sp>
        <p:nvSpPr>
          <p:cNvPr id="6" name="">
            <a:extLst xmlns:a="http://schemas.openxmlformats.org/drawingml/2006/main">
              <a:ext uri="{FF2B5EF4-FFF2-40B4-BE49-F238E27FC236}">
                <a16:creationId xmlns:a16="http://schemas.microsoft.com/office/drawing/2014/main" id="{0D38C635-0D44-499D-BA1D-8E390F7F7F2D}"/>
              </a:ext>
            </a:extLst>
          </p:cNvPr>
          <p:cNvSpPr>
            <a:spLocks xmlns:a="http://schemas.openxmlformats.org/drawingml/2006/main" noGrp="1"/>
          </p:cNvSpPr>
          <p:nvPr/>
        </p:nvSpPr>
        <p:spPr>
          <a:xfrm xmlns:a="http://schemas.openxmlformats.org/drawingml/2006/main">
            <a:off x="571500" y="2819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B67818"/>
                </a:solidFill>
                <a:latin typeface="Arial"/>
                <a:ea typeface="Arial"/>
                <a:cs typeface="Arial"/>
              </a:defRPr>
            </a:defPPr>
          </a:lstStyle>
          <a:p xmlns:a="http://schemas.openxmlformats.org/drawingml/2006/main">
            <a:pPr>
              <a:buNone/>
              <a:defRPr sz="1650" b="1">
                <a:solidFill>
                  <a:srgbClr val="B67818"/>
                </a:solidFill>
                <a:latin typeface="Arial"/>
                <a:ea typeface="Arial"/>
                <a:cs typeface="Arial"/>
              </a:defRPr>
            </a:pPr>
            <a:r>
              <a:rPr sz="1650" b="1">
                <a:solidFill>
                  <a:srgbClr val="B67818"/>
                </a:solidFill>
                <a:latin typeface="Arial"/>
                <a:ea typeface="Arial"/>
                <a:cs typeface="Arial"/>
              </a:rPr>
              <a:t>Ghahramani &amp; Hinton (2000)</a:t>
            </a:r>
          </a:p>
        </p:txBody>
      </p:sp>
      <p:sp>
        <p:nvSpPr>
          <p:cNvPr id="7" name="">
            <a:extLst xmlns:a="http://schemas.openxmlformats.org/drawingml/2006/main">
              <a:ext uri="{FF2B5EF4-FFF2-40B4-BE49-F238E27FC236}">
                <a16:creationId xmlns:a16="http://schemas.microsoft.com/office/drawing/2014/main" id="{DCB4B463-BFD3-457F-8081-4D605E51492E}"/>
              </a:ext>
            </a:extLst>
          </p:cNvPr>
          <p:cNvSpPr>
            <a:spLocks xmlns:a="http://schemas.openxmlformats.org/drawingml/2006/main" noGrp="1"/>
          </p:cNvSpPr>
          <p:nvPr/>
        </p:nvSpPr>
        <p:spPr>
          <a:xfrm xmlns:a="http://schemas.openxmlformats.org/drawingml/2006/main">
            <a:off x="571500" y="3286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Principal mechanism</a:t>
            </a:r>
          </a:p>
        </p:txBody>
      </p:sp>
      <p:sp>
        <p:nvSpPr>
          <p:cNvPr id="8" name="">
            <a:extLst xmlns:a="http://schemas.openxmlformats.org/drawingml/2006/main">
              <a:ext uri="{FF2B5EF4-FFF2-40B4-BE49-F238E27FC236}">
                <a16:creationId xmlns:a16="http://schemas.microsoft.com/office/drawing/2014/main" id="{F7865C12-410C-4C99-9FE6-6E8E85C7F77B}"/>
              </a:ext>
            </a:extLst>
          </p:cNvPr>
          <p:cNvSpPr>
            <a:spLocks xmlns:a="http://schemas.openxmlformats.org/drawingml/2006/main" noGrp="1"/>
          </p:cNvSpPr>
          <p:nvPr/>
        </p:nvSpPr>
        <p:spPr>
          <a:xfrm xmlns:a="http://schemas.openxmlformats.org/drawingml/2006/main">
            <a:off x="571500" y="3686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Combine a discrete switching process with linear dynamical systems. Variational inference approximates the otherwise difficult posterior.</a:t>
            </a:r>
          </a:p>
        </p:txBody>
      </p:sp>
      <p:sp>
        <p:nvSpPr>
          <p:cNvPr id="9" name="">
            <a:extLst xmlns:a="http://schemas.openxmlformats.org/drawingml/2006/main">
              <a:ext uri="{FF2B5EF4-FFF2-40B4-BE49-F238E27FC236}">
                <a16:creationId xmlns:a16="http://schemas.microsoft.com/office/drawing/2014/main" id="{46306D1F-3792-4D92-8612-4FBCD6F835DA}"/>
              </a:ext>
            </a:extLst>
          </p:cNvPr>
          <p:cNvSpPr>
            <a:spLocks xmlns:a="http://schemas.openxmlformats.org/drawingml/2006/main" noGrp="1"/>
          </p:cNvSpPr>
          <p:nvPr/>
        </p:nvSpPr>
        <p:spPr>
          <a:xfrm xmlns:a="http://schemas.openxmlformats.org/drawingml/2006/main">
            <a:off x="571500" y="45434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Data and connection</a:t>
            </a:r>
          </a:p>
        </p:txBody>
      </p:sp>
      <p:sp>
        <p:nvSpPr>
          <p:cNvPr id="10" name="">
            <a:extLst xmlns:a="http://schemas.openxmlformats.org/drawingml/2006/main">
              <a:ext uri="{FF2B5EF4-FFF2-40B4-BE49-F238E27FC236}">
                <a16:creationId xmlns:a16="http://schemas.microsoft.com/office/drawing/2014/main" id="{FDF72A04-C0AE-4275-AF5A-A90B5425AFA4}"/>
              </a:ext>
            </a:extLst>
          </p:cNvPr>
          <p:cNvSpPr>
            <a:spLocks xmlns:a="http://schemas.openxmlformats.org/drawingml/2006/main" noGrp="1"/>
          </p:cNvSpPr>
          <p:nvPr/>
        </p:nvSpPr>
        <p:spPr>
          <a:xfrm xmlns:a="http://schemas.openxmlformats.org/drawingml/2006/main">
            <a:off x="571500" y="49434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Synthetic systems and respiration-force measurements from a sleep-apnea patient. This motivates the hidden-regime generator.</a:t>
            </a:r>
          </a:p>
        </p:txBody>
      </p:sp>
    </p:spTree>
    <p:extLst>
      <p:ext uri="{BB962C8B-B14F-4D97-AF65-F5344CB8AC3E}">
        <p14:creationId xmlns:p14="http://schemas.microsoft.com/office/powerpoint/2010/main" val="8378649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81671DA-93F7-43AD-963F-A5F451EDF5E3}"/>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17EA9013-B350-498C-B3B4-86F8B128610E}"/>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Experts for temporal segmentation</a:t>
            </a:r>
          </a:p>
        </p:txBody>
      </p:sp>
      <p:sp>
        <p:nvSpPr>
          <p:cNvPr id="3" name="">
            <a:extLst xmlns:a="http://schemas.openxmlformats.org/drawingml/2006/main">
              <a:ext uri="{FF2B5EF4-FFF2-40B4-BE49-F238E27FC236}">
                <a16:creationId xmlns:a16="http://schemas.microsoft.com/office/drawing/2014/main" id="{D1372014-21FF-407E-B8A6-FA7D2DB5A212}"/>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6E9451C3-A112-428C-A043-B0E11976D3B0}"/>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34C2FBF-266E-4138-9C9A-09746DEC8EC1}"/>
              </a:ext>
            </a:extLst>
          </p:cNvPr>
          <p:cNvSpPr>
            <a:spLocks xmlns:a="http://schemas.openxmlformats.org/drawingml/2006/main" noGrp="1"/>
          </p:cNvSpPr>
          <p:nvPr/>
        </p:nvSpPr>
        <p:spPr>
          <a:xfrm xmlns:a="http://schemas.openxmlformats.org/drawingml/2006/main">
            <a:off x="571500" y="16954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52B45"/>
                </a:solidFill>
                <a:latin typeface="Arial"/>
                <a:ea typeface="Arial"/>
                <a:cs typeface="Arial"/>
              </a:defRPr>
            </a:defPPr>
          </a:lstStyle>
          <a:p xmlns:a="http://schemas.openxmlformats.org/drawingml/2006/main">
            <a:pPr>
              <a:buNone/>
              <a:defRPr sz="2175" b="1">
                <a:solidFill>
                  <a:srgbClr val="152B45"/>
                </a:solidFill>
                <a:latin typeface="Arial"/>
                <a:ea typeface="Arial"/>
                <a:cs typeface="Arial"/>
              </a:defRPr>
            </a:pPr>
            <a:r>
              <a:rPr sz="2175" b="1">
                <a:solidFill>
                  <a:srgbClr val="152B45"/>
                </a:solidFill>
                <a:latin typeface="Arial"/>
                <a:ea typeface="Arial"/>
                <a:cs typeface="Arial"/>
              </a:rPr>
              <a:t>A model for learning to segment temporal sequences, utilizing a mixture of RNN experts together with adaptive variance</a:t>
            </a:r>
          </a:p>
        </p:txBody>
      </p:sp>
      <p:sp>
        <p:nvSpPr>
          <p:cNvPr id="6" name="">
            <a:extLst xmlns:a="http://schemas.openxmlformats.org/drawingml/2006/main">
              <a:ext uri="{FF2B5EF4-FFF2-40B4-BE49-F238E27FC236}">
                <a16:creationId xmlns:a16="http://schemas.microsoft.com/office/drawing/2014/main" id="{08FF1EEF-30E8-4957-8244-403C1F6BFC2D}"/>
              </a:ext>
            </a:extLst>
          </p:cNvPr>
          <p:cNvSpPr>
            <a:spLocks xmlns:a="http://schemas.openxmlformats.org/drawingml/2006/main" noGrp="1"/>
          </p:cNvSpPr>
          <p:nvPr/>
        </p:nvSpPr>
        <p:spPr>
          <a:xfrm xmlns:a="http://schemas.openxmlformats.org/drawingml/2006/main">
            <a:off x="571500" y="2819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B67818"/>
                </a:solidFill>
                <a:latin typeface="Arial"/>
                <a:ea typeface="Arial"/>
                <a:cs typeface="Arial"/>
              </a:defRPr>
            </a:defPPr>
          </a:lstStyle>
          <a:p xmlns:a="http://schemas.openxmlformats.org/drawingml/2006/main">
            <a:pPr>
              <a:buNone/>
              <a:defRPr sz="1650" b="1">
                <a:solidFill>
                  <a:srgbClr val="B67818"/>
                </a:solidFill>
                <a:latin typeface="Arial"/>
                <a:ea typeface="Arial"/>
                <a:cs typeface="Arial"/>
              </a:defRPr>
            </a:pPr>
            <a:r>
              <a:rPr sz="1650" b="1">
                <a:solidFill>
                  <a:srgbClr val="B67818"/>
                </a:solidFill>
                <a:latin typeface="Arial"/>
                <a:ea typeface="Arial"/>
                <a:cs typeface="Arial"/>
              </a:rPr>
              <a:t>Namikawa &amp; Tani (2008)</a:t>
            </a:r>
          </a:p>
        </p:txBody>
      </p:sp>
      <p:sp>
        <p:nvSpPr>
          <p:cNvPr id="7" name="">
            <a:extLst xmlns:a="http://schemas.openxmlformats.org/drawingml/2006/main">
              <a:ext uri="{FF2B5EF4-FFF2-40B4-BE49-F238E27FC236}">
                <a16:creationId xmlns:a16="http://schemas.microsoft.com/office/drawing/2014/main" id="{C21C15E2-7B62-4AA7-B919-55E80942A8C0}"/>
              </a:ext>
            </a:extLst>
          </p:cNvPr>
          <p:cNvSpPr>
            <a:spLocks xmlns:a="http://schemas.openxmlformats.org/drawingml/2006/main" noGrp="1"/>
          </p:cNvSpPr>
          <p:nvPr/>
        </p:nvSpPr>
        <p:spPr>
          <a:xfrm xmlns:a="http://schemas.openxmlformats.org/drawingml/2006/main">
            <a:off x="571500" y="3286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Principal mechanism</a:t>
            </a:r>
          </a:p>
        </p:txBody>
      </p:sp>
      <p:sp>
        <p:nvSpPr>
          <p:cNvPr id="8" name="">
            <a:extLst xmlns:a="http://schemas.openxmlformats.org/drawingml/2006/main">
              <a:ext uri="{FF2B5EF4-FFF2-40B4-BE49-F238E27FC236}">
                <a16:creationId xmlns:a16="http://schemas.microsoft.com/office/drawing/2014/main" id="{E9D7C74D-2CF2-4CC6-88C7-C7F06E30E69B}"/>
              </a:ext>
            </a:extLst>
          </p:cNvPr>
          <p:cNvSpPr>
            <a:spLocks xmlns:a="http://schemas.openxmlformats.org/drawingml/2006/main" noGrp="1"/>
          </p:cNvSpPr>
          <p:nvPr/>
        </p:nvSpPr>
        <p:spPr>
          <a:xfrm xmlns:a="http://schemas.openxmlformats.org/drawingml/2006/main">
            <a:off x="571500" y="3686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Recurrent experts model temporal primitives. Adaptive output variance changes competition and specialization during likelihood-based learning.</a:t>
            </a:r>
          </a:p>
        </p:txBody>
      </p:sp>
      <p:sp>
        <p:nvSpPr>
          <p:cNvPr id="9" name="">
            <a:extLst xmlns:a="http://schemas.openxmlformats.org/drawingml/2006/main">
              <a:ext uri="{FF2B5EF4-FFF2-40B4-BE49-F238E27FC236}">
                <a16:creationId xmlns:a16="http://schemas.microsoft.com/office/drawing/2014/main" id="{DF0642FA-95AC-443D-AEA7-77495FBFA62B}"/>
              </a:ext>
            </a:extLst>
          </p:cNvPr>
          <p:cNvSpPr>
            <a:spLocks xmlns:a="http://schemas.openxmlformats.org/drawingml/2006/main" noGrp="1"/>
          </p:cNvSpPr>
          <p:nvPr/>
        </p:nvSpPr>
        <p:spPr>
          <a:xfrm xmlns:a="http://schemas.openxmlformats.org/drawingml/2006/main">
            <a:off x="571500" y="45434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Data and connection</a:t>
            </a:r>
          </a:p>
        </p:txBody>
      </p:sp>
      <p:sp>
        <p:nvSpPr>
          <p:cNvPr id="10" name="">
            <a:extLst xmlns:a="http://schemas.openxmlformats.org/drawingml/2006/main">
              <a:ext uri="{FF2B5EF4-FFF2-40B4-BE49-F238E27FC236}">
                <a16:creationId xmlns:a16="http://schemas.microsoft.com/office/drawing/2014/main" id="{03D4FF4C-B072-4F68-B440-BAADA1FC1C66}"/>
              </a:ext>
            </a:extLst>
          </p:cNvPr>
          <p:cNvSpPr>
            <a:spLocks xmlns:a="http://schemas.openxmlformats.org/drawingml/2006/main" noGrp="1"/>
          </p:cNvSpPr>
          <p:nvPr/>
        </p:nvSpPr>
        <p:spPr>
          <a:xfrm xmlns:a="http://schemas.openxmlformats.org/drawingml/2006/main">
            <a:off x="571500" y="49434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Sequences switch among nine Lissajous curves, followed by humanoid sensory–motor experiments.</a:t>
            </a:r>
          </a:p>
        </p:txBody>
      </p:sp>
    </p:spTree>
    <p:extLst>
      <p:ext uri="{BB962C8B-B14F-4D97-AF65-F5344CB8AC3E}">
        <p14:creationId xmlns:p14="http://schemas.microsoft.com/office/powerpoint/2010/main" val="10098652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F375D4-3033-4F44-966F-FEB8960B5359}"/>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25F3EFE7-4991-4D7F-A1FD-1E42D5CE30FB}"/>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Sparse conditional computation</a:t>
            </a:r>
          </a:p>
        </p:txBody>
      </p:sp>
      <p:sp>
        <p:nvSpPr>
          <p:cNvPr id="3" name="">
            <a:extLst xmlns:a="http://schemas.openxmlformats.org/drawingml/2006/main">
              <a:ext uri="{FF2B5EF4-FFF2-40B4-BE49-F238E27FC236}">
                <a16:creationId xmlns:a16="http://schemas.microsoft.com/office/drawing/2014/main" id="{2CDF6030-A23F-47E0-8488-FFD27E40E865}"/>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71AD8898-6B01-46F6-91CF-54BAE4595052}"/>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EBD4F391-8923-4CBE-9909-1E13E59243CD}"/>
              </a:ext>
            </a:extLst>
          </p:cNvPr>
          <p:cNvSpPr>
            <a:spLocks xmlns:a="http://schemas.openxmlformats.org/drawingml/2006/main" noGrp="1"/>
          </p:cNvSpPr>
          <p:nvPr/>
        </p:nvSpPr>
        <p:spPr>
          <a:xfrm xmlns:a="http://schemas.openxmlformats.org/drawingml/2006/main">
            <a:off x="571500" y="16954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B45"/>
                </a:solidFill>
                <a:latin typeface="Arial"/>
                <a:ea typeface="Arial"/>
                <a:cs typeface="Arial"/>
              </a:defRPr>
            </a:defPPr>
          </a:lstStyle>
          <a:p xmlns:a="http://schemas.openxmlformats.org/drawingml/2006/main">
            <a:pPr>
              <a:buNone/>
              <a:defRPr sz="2400" b="1">
                <a:solidFill>
                  <a:srgbClr val="152B45"/>
                </a:solidFill>
                <a:latin typeface="Arial"/>
                <a:ea typeface="Arial"/>
                <a:cs typeface="Arial"/>
              </a:defRPr>
            </a:pPr>
            <a:r>
              <a:rPr sz="2400" b="1">
                <a:solidFill>
                  <a:srgbClr val="152B45"/>
                </a:solidFill>
                <a:latin typeface="Arial"/>
                <a:ea typeface="Arial"/>
                <a:cs typeface="Arial"/>
              </a:rPr>
              <a:t>Outrageously Large Neural Networks: The Sparsely-Gated Mixture-of-Experts Layer</a:t>
            </a:r>
          </a:p>
        </p:txBody>
      </p:sp>
      <p:sp>
        <p:nvSpPr>
          <p:cNvPr id="6" name="">
            <a:extLst xmlns:a="http://schemas.openxmlformats.org/drawingml/2006/main">
              <a:ext uri="{FF2B5EF4-FFF2-40B4-BE49-F238E27FC236}">
                <a16:creationId xmlns:a16="http://schemas.microsoft.com/office/drawing/2014/main" id="{7A81C3AD-EC73-4DCF-9BA6-54D1EA3E655F}"/>
              </a:ext>
            </a:extLst>
          </p:cNvPr>
          <p:cNvSpPr>
            <a:spLocks xmlns:a="http://schemas.openxmlformats.org/drawingml/2006/main" noGrp="1"/>
          </p:cNvSpPr>
          <p:nvPr/>
        </p:nvSpPr>
        <p:spPr>
          <a:xfrm xmlns:a="http://schemas.openxmlformats.org/drawingml/2006/main">
            <a:off x="571500" y="2819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B67818"/>
                </a:solidFill>
                <a:latin typeface="Arial"/>
                <a:ea typeface="Arial"/>
                <a:cs typeface="Arial"/>
              </a:defRPr>
            </a:defPPr>
          </a:lstStyle>
          <a:p xmlns:a="http://schemas.openxmlformats.org/drawingml/2006/main">
            <a:pPr>
              <a:buNone/>
              <a:defRPr sz="1650" b="1">
                <a:solidFill>
                  <a:srgbClr val="B67818"/>
                </a:solidFill>
                <a:latin typeface="Arial"/>
                <a:ea typeface="Arial"/>
                <a:cs typeface="Arial"/>
              </a:defRPr>
            </a:pPr>
            <a:r>
              <a:rPr sz="1650" b="1">
                <a:solidFill>
                  <a:srgbClr val="B67818"/>
                </a:solidFill>
                <a:latin typeface="Arial"/>
                <a:ea typeface="Arial"/>
                <a:cs typeface="Arial"/>
              </a:rPr>
              <a:t>Shazeer et al. (2017)</a:t>
            </a:r>
          </a:p>
        </p:txBody>
      </p:sp>
      <p:sp>
        <p:nvSpPr>
          <p:cNvPr id="7" name="">
            <a:extLst xmlns:a="http://schemas.openxmlformats.org/drawingml/2006/main">
              <a:ext uri="{FF2B5EF4-FFF2-40B4-BE49-F238E27FC236}">
                <a16:creationId xmlns:a16="http://schemas.microsoft.com/office/drawing/2014/main" id="{D1C8D13D-1EB8-4CD5-8302-B4FBF4B08613}"/>
              </a:ext>
            </a:extLst>
          </p:cNvPr>
          <p:cNvSpPr>
            <a:spLocks xmlns:a="http://schemas.openxmlformats.org/drawingml/2006/main" noGrp="1"/>
          </p:cNvSpPr>
          <p:nvPr/>
        </p:nvSpPr>
        <p:spPr>
          <a:xfrm xmlns:a="http://schemas.openxmlformats.org/drawingml/2006/main">
            <a:off x="571500" y="3286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Principal mechanism</a:t>
            </a:r>
          </a:p>
        </p:txBody>
      </p:sp>
      <p:sp>
        <p:nvSpPr>
          <p:cNvPr id="8" name="">
            <a:extLst xmlns:a="http://schemas.openxmlformats.org/drawingml/2006/main">
              <a:ext uri="{FF2B5EF4-FFF2-40B4-BE49-F238E27FC236}">
                <a16:creationId xmlns:a16="http://schemas.microsoft.com/office/drawing/2014/main" id="{73374B92-A87F-4F4C-BE40-96FC4495AB22}"/>
              </a:ext>
            </a:extLst>
          </p:cNvPr>
          <p:cNvSpPr>
            <a:spLocks xmlns:a="http://schemas.openxmlformats.org/drawingml/2006/main" noGrp="1"/>
          </p:cNvSpPr>
          <p:nvPr/>
        </p:nvSpPr>
        <p:spPr>
          <a:xfrm xmlns:a="http://schemas.openxmlformats.org/drawingml/2006/main">
            <a:off x="571500" y="3686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A trainable sparse gate activates a small subset of feedforward experts for each input, increasing total capacity while limiting active computation.</a:t>
            </a:r>
          </a:p>
        </p:txBody>
      </p:sp>
      <p:sp>
        <p:nvSpPr>
          <p:cNvPr id="9" name="">
            <a:extLst xmlns:a="http://schemas.openxmlformats.org/drawingml/2006/main">
              <a:ext uri="{FF2B5EF4-FFF2-40B4-BE49-F238E27FC236}">
                <a16:creationId xmlns:a16="http://schemas.microsoft.com/office/drawing/2014/main" id="{495BA26C-772A-42A8-B2AB-A195328D4C19}"/>
              </a:ext>
            </a:extLst>
          </p:cNvPr>
          <p:cNvSpPr>
            <a:spLocks xmlns:a="http://schemas.openxmlformats.org/drawingml/2006/main" noGrp="1"/>
          </p:cNvSpPr>
          <p:nvPr/>
        </p:nvSpPr>
        <p:spPr>
          <a:xfrm xmlns:a="http://schemas.openxmlformats.org/drawingml/2006/main">
            <a:off x="571500" y="45434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Data and connection</a:t>
            </a:r>
          </a:p>
        </p:txBody>
      </p:sp>
      <p:sp>
        <p:nvSpPr>
          <p:cNvPr id="10" name="">
            <a:extLst xmlns:a="http://schemas.openxmlformats.org/drawingml/2006/main">
              <a:ext uri="{FF2B5EF4-FFF2-40B4-BE49-F238E27FC236}">
                <a16:creationId xmlns:a16="http://schemas.microsoft.com/office/drawing/2014/main" id="{03ADD2B5-CCD7-49E6-AC9C-DE025F1D5B85}"/>
              </a:ext>
            </a:extLst>
          </p:cNvPr>
          <p:cNvSpPr>
            <a:spLocks xmlns:a="http://schemas.openxmlformats.org/drawingml/2006/main" noGrp="1"/>
          </p:cNvSpPr>
          <p:nvPr/>
        </p:nvSpPr>
        <p:spPr>
          <a:xfrm xmlns:a="http://schemas.openxmlformats.org/drawingml/2006/main">
            <a:off x="571500" y="49434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Language modeling and translation. This motivates explicit sparse dispatch and capacity controls.</a:t>
            </a:r>
          </a:p>
        </p:txBody>
      </p:sp>
    </p:spTree>
    <p:extLst>
      <p:ext uri="{BB962C8B-B14F-4D97-AF65-F5344CB8AC3E}">
        <p14:creationId xmlns:p14="http://schemas.microsoft.com/office/powerpoint/2010/main" val="6879941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816014-808B-475C-88A2-BABEC2B23AC1}"/>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E6F49176-63A5-4DC8-9FFA-FA8D56BB2969}"/>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Linear experts for forecasting</a:t>
            </a:r>
          </a:p>
        </p:txBody>
      </p:sp>
      <p:sp>
        <p:nvSpPr>
          <p:cNvPr id="3" name="">
            <a:extLst xmlns:a="http://schemas.openxmlformats.org/drawingml/2006/main">
              <a:ext uri="{FF2B5EF4-FFF2-40B4-BE49-F238E27FC236}">
                <a16:creationId xmlns:a16="http://schemas.microsoft.com/office/drawing/2014/main" id="{94FC5F58-382D-471B-A1A1-0A7757A678C0}"/>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9539DB5C-8E13-4B44-9C3D-70BF0F61A4CE}"/>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1B5AFC2-2FD1-44A2-B22A-F9344BC20701}"/>
              </a:ext>
            </a:extLst>
          </p:cNvPr>
          <p:cNvSpPr>
            <a:spLocks xmlns:a="http://schemas.openxmlformats.org/drawingml/2006/main" noGrp="1"/>
          </p:cNvSpPr>
          <p:nvPr/>
        </p:nvSpPr>
        <p:spPr>
          <a:xfrm xmlns:a="http://schemas.openxmlformats.org/drawingml/2006/main">
            <a:off x="571500" y="16954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B45"/>
                </a:solidFill>
                <a:latin typeface="Arial"/>
                <a:ea typeface="Arial"/>
                <a:cs typeface="Arial"/>
              </a:defRPr>
            </a:defPPr>
          </a:lstStyle>
          <a:p xmlns:a="http://schemas.openxmlformats.org/drawingml/2006/main">
            <a:pPr>
              <a:buNone/>
              <a:defRPr sz="2400" b="1">
                <a:solidFill>
                  <a:srgbClr val="152B45"/>
                </a:solidFill>
                <a:latin typeface="Arial"/>
                <a:ea typeface="Arial"/>
                <a:cs typeface="Arial"/>
              </a:defRPr>
            </a:pPr>
            <a:r>
              <a:rPr sz="2400" b="1">
                <a:solidFill>
                  <a:srgbClr val="152B45"/>
                </a:solidFill>
                <a:latin typeface="Arial"/>
                <a:ea typeface="Arial"/>
                <a:cs typeface="Arial"/>
              </a:rPr>
              <a:t>Mixture-of-Linear-Experts for Long-term Time Series Forecasting</a:t>
            </a:r>
          </a:p>
        </p:txBody>
      </p:sp>
      <p:sp>
        <p:nvSpPr>
          <p:cNvPr id="6" name="">
            <a:extLst xmlns:a="http://schemas.openxmlformats.org/drawingml/2006/main">
              <a:ext uri="{FF2B5EF4-FFF2-40B4-BE49-F238E27FC236}">
                <a16:creationId xmlns:a16="http://schemas.microsoft.com/office/drawing/2014/main" id="{3C555FA8-8CE1-45EA-B2DE-4676EC1AF7D7}"/>
              </a:ext>
            </a:extLst>
          </p:cNvPr>
          <p:cNvSpPr>
            <a:spLocks xmlns:a="http://schemas.openxmlformats.org/drawingml/2006/main" noGrp="1"/>
          </p:cNvSpPr>
          <p:nvPr/>
        </p:nvSpPr>
        <p:spPr>
          <a:xfrm xmlns:a="http://schemas.openxmlformats.org/drawingml/2006/main">
            <a:off x="571500" y="2819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B67818"/>
                </a:solidFill>
                <a:latin typeface="Arial"/>
                <a:ea typeface="Arial"/>
                <a:cs typeface="Arial"/>
              </a:defRPr>
            </a:defPPr>
          </a:lstStyle>
          <a:p xmlns:a="http://schemas.openxmlformats.org/drawingml/2006/main">
            <a:pPr>
              <a:buNone/>
              <a:defRPr sz="1650" b="1">
                <a:solidFill>
                  <a:srgbClr val="B67818"/>
                </a:solidFill>
                <a:latin typeface="Arial"/>
                <a:ea typeface="Arial"/>
                <a:cs typeface="Arial"/>
              </a:defRPr>
            </a:pPr>
            <a:r>
              <a:rPr sz="1650" b="1">
                <a:solidFill>
                  <a:srgbClr val="B67818"/>
                </a:solidFill>
                <a:latin typeface="Arial"/>
                <a:ea typeface="Arial"/>
                <a:cs typeface="Arial"/>
              </a:rPr>
              <a:t>Ni et al. (2024)</a:t>
            </a:r>
          </a:p>
        </p:txBody>
      </p:sp>
      <p:sp>
        <p:nvSpPr>
          <p:cNvPr id="7" name="">
            <a:extLst xmlns:a="http://schemas.openxmlformats.org/drawingml/2006/main">
              <a:ext uri="{FF2B5EF4-FFF2-40B4-BE49-F238E27FC236}">
                <a16:creationId xmlns:a16="http://schemas.microsoft.com/office/drawing/2014/main" id="{9F16B4F6-BC9B-4170-8D70-BCEDDE38C510}"/>
              </a:ext>
            </a:extLst>
          </p:cNvPr>
          <p:cNvSpPr>
            <a:spLocks xmlns:a="http://schemas.openxmlformats.org/drawingml/2006/main" noGrp="1"/>
          </p:cNvSpPr>
          <p:nvPr/>
        </p:nvSpPr>
        <p:spPr>
          <a:xfrm xmlns:a="http://schemas.openxmlformats.org/drawingml/2006/main">
            <a:off x="571500" y="3286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Principal mechanism</a:t>
            </a:r>
          </a:p>
        </p:txBody>
      </p:sp>
      <p:sp>
        <p:nvSpPr>
          <p:cNvPr id="8" name="">
            <a:extLst xmlns:a="http://schemas.openxmlformats.org/drawingml/2006/main">
              <a:ext uri="{FF2B5EF4-FFF2-40B4-BE49-F238E27FC236}">
                <a16:creationId xmlns:a16="http://schemas.microsoft.com/office/drawing/2014/main" id="{04EF29B9-CF09-40CB-91B6-FCC0DFA29D77}"/>
              </a:ext>
            </a:extLst>
          </p:cNvPr>
          <p:cNvSpPr>
            <a:spLocks xmlns:a="http://schemas.openxmlformats.org/drawingml/2006/main" noGrp="1"/>
          </p:cNvSpPr>
          <p:nvPr/>
        </p:nvSpPr>
        <p:spPr>
          <a:xfrm xmlns:a="http://schemas.openxmlformats.org/drawingml/2006/main">
            <a:off x="571500" y="3686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MoLE combines multiple linear-centric forecasting experts. A router uses timestamp information to produce channel-specific mixing weights.</a:t>
            </a:r>
          </a:p>
        </p:txBody>
      </p:sp>
      <p:sp>
        <p:nvSpPr>
          <p:cNvPr id="9" name="">
            <a:extLst xmlns:a="http://schemas.openxmlformats.org/drawingml/2006/main">
              <a:ext uri="{FF2B5EF4-FFF2-40B4-BE49-F238E27FC236}">
                <a16:creationId xmlns:a16="http://schemas.microsoft.com/office/drawing/2014/main" id="{85261D97-A861-4E83-8653-C58CF55246F3}"/>
              </a:ext>
            </a:extLst>
          </p:cNvPr>
          <p:cNvSpPr>
            <a:spLocks xmlns:a="http://schemas.openxmlformats.org/drawingml/2006/main" noGrp="1"/>
          </p:cNvSpPr>
          <p:nvPr/>
        </p:nvSpPr>
        <p:spPr>
          <a:xfrm xmlns:a="http://schemas.openxmlformats.org/drawingml/2006/main">
            <a:off x="571500" y="45434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Data and connection</a:t>
            </a:r>
          </a:p>
        </p:txBody>
      </p:sp>
      <p:sp>
        <p:nvSpPr>
          <p:cNvPr id="10" name="">
            <a:extLst xmlns:a="http://schemas.openxmlformats.org/drawingml/2006/main">
              <a:ext uri="{FF2B5EF4-FFF2-40B4-BE49-F238E27FC236}">
                <a16:creationId xmlns:a16="http://schemas.microsoft.com/office/drawing/2014/main" id="{B5329E09-ABCF-4DA2-BB12-79A3FC71A90A}"/>
              </a:ext>
            </a:extLst>
          </p:cNvPr>
          <p:cNvSpPr>
            <a:spLocks xmlns:a="http://schemas.openxmlformats.org/drawingml/2006/main" noGrp="1"/>
          </p:cNvSpPr>
          <p:nvPr/>
        </p:nvSpPr>
        <p:spPr>
          <a:xfrm xmlns:a="http://schemas.openxmlformats.org/drawingml/2006/main">
            <a:off x="571500" y="49434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ETT, Weather, Electricity, Traffic and Weather2K benchmarks. Expert specialization can also help temporal forecasting.</a:t>
            </a:r>
          </a:p>
        </p:txBody>
      </p:sp>
    </p:spTree>
    <p:extLst>
      <p:ext uri="{BB962C8B-B14F-4D97-AF65-F5344CB8AC3E}">
        <p14:creationId xmlns:p14="http://schemas.microsoft.com/office/powerpoint/2010/main" val="17073894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527F6B-F7F8-4944-BAFC-DCD8D82AE981}"/>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204B03B8-D15C-4BC2-90EB-34FA28CCE94B}"/>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MoE at foundation-model scale</a:t>
            </a:r>
          </a:p>
        </p:txBody>
      </p:sp>
      <p:sp>
        <p:nvSpPr>
          <p:cNvPr id="3" name="">
            <a:extLst xmlns:a="http://schemas.openxmlformats.org/drawingml/2006/main">
              <a:ext uri="{FF2B5EF4-FFF2-40B4-BE49-F238E27FC236}">
                <a16:creationId xmlns:a16="http://schemas.microsoft.com/office/drawing/2014/main" id="{9C8E56BF-08C7-4970-AA3F-A0C3E24F6EE2}"/>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3703D069-D476-46A9-87BF-AA837B88D32D}"/>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937037ED-19FC-4795-AE78-DAF6C4DB1FCE}"/>
              </a:ext>
            </a:extLst>
          </p:cNvPr>
          <p:cNvSpPr>
            <a:spLocks xmlns:a="http://schemas.openxmlformats.org/drawingml/2006/main" noGrp="1"/>
          </p:cNvSpPr>
          <p:nvPr/>
        </p:nvSpPr>
        <p:spPr>
          <a:xfrm xmlns:a="http://schemas.openxmlformats.org/drawingml/2006/main">
            <a:off x="571500" y="169545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B45"/>
                </a:solidFill>
                <a:latin typeface="Arial"/>
                <a:ea typeface="Arial"/>
                <a:cs typeface="Arial"/>
              </a:defRPr>
            </a:defPPr>
          </a:lstStyle>
          <a:p xmlns:a="http://schemas.openxmlformats.org/drawingml/2006/main">
            <a:pPr>
              <a:buNone/>
              <a:defRPr sz="2400" b="1">
                <a:solidFill>
                  <a:srgbClr val="152B45"/>
                </a:solidFill>
                <a:latin typeface="Arial"/>
                <a:ea typeface="Arial"/>
                <a:cs typeface="Arial"/>
              </a:defRPr>
            </a:pPr>
            <a:r>
              <a:rPr sz="2400" b="1">
                <a:solidFill>
                  <a:srgbClr val="152B45"/>
                </a:solidFill>
                <a:latin typeface="Arial"/>
                <a:ea typeface="Arial"/>
                <a:cs typeface="Arial"/>
              </a:rPr>
              <a:t>Time-MoE: Billion-Scale Time Series Foundation Models with Mixture of Experts</a:t>
            </a:r>
          </a:p>
        </p:txBody>
      </p:sp>
      <p:sp>
        <p:nvSpPr>
          <p:cNvPr id="6" name="">
            <a:extLst xmlns:a="http://schemas.openxmlformats.org/drawingml/2006/main">
              <a:ext uri="{FF2B5EF4-FFF2-40B4-BE49-F238E27FC236}">
                <a16:creationId xmlns:a16="http://schemas.microsoft.com/office/drawing/2014/main" id="{42750BC2-66E3-45C8-9C1E-425FD6AD1959}"/>
              </a:ext>
            </a:extLst>
          </p:cNvPr>
          <p:cNvSpPr>
            <a:spLocks xmlns:a="http://schemas.openxmlformats.org/drawingml/2006/main" noGrp="1"/>
          </p:cNvSpPr>
          <p:nvPr/>
        </p:nvSpPr>
        <p:spPr>
          <a:xfrm xmlns:a="http://schemas.openxmlformats.org/drawingml/2006/main">
            <a:off x="571500" y="2819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B67818"/>
                </a:solidFill>
                <a:latin typeface="Arial"/>
                <a:ea typeface="Arial"/>
                <a:cs typeface="Arial"/>
              </a:defRPr>
            </a:defPPr>
          </a:lstStyle>
          <a:p xmlns:a="http://schemas.openxmlformats.org/drawingml/2006/main">
            <a:pPr>
              <a:buNone/>
              <a:defRPr sz="1650" b="1">
                <a:solidFill>
                  <a:srgbClr val="B67818"/>
                </a:solidFill>
                <a:latin typeface="Arial"/>
                <a:ea typeface="Arial"/>
                <a:cs typeface="Arial"/>
              </a:defRPr>
            </a:pPr>
            <a:r>
              <a:rPr sz="1650" b="1">
                <a:solidFill>
                  <a:srgbClr val="B67818"/>
                </a:solidFill>
                <a:latin typeface="Arial"/>
                <a:ea typeface="Arial"/>
                <a:cs typeface="Arial"/>
              </a:rPr>
              <a:t>Shi et al. (2025)</a:t>
            </a:r>
          </a:p>
        </p:txBody>
      </p:sp>
      <p:sp>
        <p:nvSpPr>
          <p:cNvPr id="7" name="">
            <a:extLst xmlns:a="http://schemas.openxmlformats.org/drawingml/2006/main">
              <a:ext uri="{FF2B5EF4-FFF2-40B4-BE49-F238E27FC236}">
                <a16:creationId xmlns:a16="http://schemas.microsoft.com/office/drawing/2014/main" id="{5E8E9A09-C653-47DA-BEDE-A6B8FCADE3BD}"/>
              </a:ext>
            </a:extLst>
          </p:cNvPr>
          <p:cNvSpPr>
            <a:spLocks xmlns:a="http://schemas.openxmlformats.org/drawingml/2006/main" noGrp="1"/>
          </p:cNvSpPr>
          <p:nvPr/>
        </p:nvSpPr>
        <p:spPr>
          <a:xfrm xmlns:a="http://schemas.openxmlformats.org/drawingml/2006/main">
            <a:off x="571500" y="3286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Principal mechanism</a:t>
            </a:r>
          </a:p>
        </p:txBody>
      </p:sp>
      <p:sp>
        <p:nvSpPr>
          <p:cNvPr id="8" name="">
            <a:extLst xmlns:a="http://schemas.openxmlformats.org/drawingml/2006/main">
              <a:ext uri="{FF2B5EF4-FFF2-40B4-BE49-F238E27FC236}">
                <a16:creationId xmlns:a16="http://schemas.microsoft.com/office/drawing/2014/main" id="{FA3A2D1B-5D69-4D38-BEB7-1125792261E3}"/>
              </a:ext>
            </a:extLst>
          </p:cNvPr>
          <p:cNvSpPr>
            <a:spLocks xmlns:a="http://schemas.openxmlformats.org/drawingml/2006/main" noGrp="1"/>
          </p:cNvSpPr>
          <p:nvPr/>
        </p:nvSpPr>
        <p:spPr>
          <a:xfrm xmlns:a="http://schemas.openxmlformats.org/drawingml/2006/main">
            <a:off x="571500" y="3686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A decoder-only forecasting transformer uses sparse temporal experts, a shared expert and multiple forecast-output horizons.</a:t>
            </a:r>
          </a:p>
        </p:txBody>
      </p:sp>
      <p:sp>
        <p:nvSpPr>
          <p:cNvPr id="9" name="">
            <a:extLst xmlns:a="http://schemas.openxmlformats.org/drawingml/2006/main">
              <a:ext uri="{FF2B5EF4-FFF2-40B4-BE49-F238E27FC236}">
                <a16:creationId xmlns:a16="http://schemas.microsoft.com/office/drawing/2014/main" id="{323AFF8A-FE48-4BD3-AA1A-6DE34240D419}"/>
              </a:ext>
            </a:extLst>
          </p:cNvPr>
          <p:cNvSpPr>
            <a:spLocks xmlns:a="http://schemas.openxmlformats.org/drawingml/2006/main" noGrp="1"/>
          </p:cNvSpPr>
          <p:nvPr/>
        </p:nvSpPr>
        <p:spPr>
          <a:xfrm xmlns:a="http://schemas.openxmlformats.org/drawingml/2006/main">
            <a:off x="571500" y="45434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Data and connection</a:t>
            </a:r>
          </a:p>
        </p:txBody>
      </p:sp>
      <p:sp>
        <p:nvSpPr>
          <p:cNvPr id="10" name="">
            <a:extLst xmlns:a="http://schemas.openxmlformats.org/drawingml/2006/main">
              <a:ext uri="{FF2B5EF4-FFF2-40B4-BE49-F238E27FC236}">
                <a16:creationId xmlns:a16="http://schemas.microsoft.com/office/drawing/2014/main" id="{CB42EF69-0E80-4CF4-99CD-0F98CEEFC288}"/>
              </a:ext>
            </a:extLst>
          </p:cNvPr>
          <p:cNvSpPr>
            <a:spLocks xmlns:a="http://schemas.openxmlformats.org/drawingml/2006/main" noGrp="1"/>
          </p:cNvSpPr>
          <p:nvPr/>
        </p:nvSpPr>
        <p:spPr>
          <a:xfrm xmlns:a="http://schemas.openxmlformats.org/drawingml/2006/main">
            <a:off x="571500" y="49434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Time-300B contains more than 300 billion time points across heterogeneous domains.</a:t>
            </a:r>
          </a:p>
        </p:txBody>
      </p:sp>
    </p:spTree>
    <p:extLst>
      <p:ext uri="{BB962C8B-B14F-4D97-AF65-F5344CB8AC3E}">
        <p14:creationId xmlns:p14="http://schemas.microsoft.com/office/powerpoint/2010/main" val="19230434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29FEC5D-AAD1-4DA4-A47D-A4B4EF278CCB}"/>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FD1C08AA-758C-46BD-BCC8-5941C23EB18D}"/>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Token-dependent attention-head selection</a:t>
            </a:r>
          </a:p>
        </p:txBody>
      </p:sp>
      <p:sp>
        <p:nvSpPr>
          <p:cNvPr id="3" name="">
            <a:extLst xmlns:a="http://schemas.openxmlformats.org/drawingml/2006/main">
              <a:ext uri="{FF2B5EF4-FFF2-40B4-BE49-F238E27FC236}">
                <a16:creationId xmlns:a16="http://schemas.microsoft.com/office/drawing/2014/main" id="{E3A6EC03-0BD0-4A58-9AB0-8AD5A92157D9}"/>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ABB3B71F-4751-4B37-8D10-B5FCC42E76E3}"/>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D642169A-51CF-4474-8CAD-70A18748BF9B}"/>
              </a:ext>
            </a:extLst>
          </p:cNvPr>
          <p:cNvSpPr>
            <a:spLocks xmlns:a="http://schemas.openxmlformats.org/drawingml/2006/main" noGrp="1"/>
          </p:cNvSpPr>
          <p:nvPr/>
        </p:nvSpPr>
        <p:spPr>
          <a:xfrm xmlns:a="http://schemas.openxmlformats.org/drawingml/2006/main">
            <a:off x="571500" y="17335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B45"/>
                </a:solidFill>
                <a:latin typeface="Arial"/>
                <a:ea typeface="Arial"/>
                <a:cs typeface="Arial"/>
              </a:defRPr>
            </a:defPPr>
          </a:lstStyle>
          <a:p xmlns:a="http://schemas.openxmlformats.org/drawingml/2006/main">
            <a:pPr>
              <a:defRPr sz="2400" b="1">
                <a:solidFill>
                  <a:srgbClr val="152B45"/>
                </a:solidFill>
                <a:latin typeface="Arial"/>
                <a:ea typeface="Arial"/>
                <a:cs typeface="Arial"/>
              </a:defRPr>
            </a:pPr>
            <a:r>
              <a:rPr sz="2400" b="1">
                <a:solidFill>
                  <a:srgbClr val="152B45"/>
                </a:solidFill>
                <a:latin typeface="Arial"/>
                <a:ea typeface="Arial"/>
                <a:cs typeface="Arial"/>
              </a:rPr>
              <a:t>Mixture of Attention Heads:</a:t>
            </a:r>
          </a:p>
          <a:p xmlns:a="http://schemas.openxmlformats.org/drawingml/2006/main">
            <a:pPr>
              <a:defRPr sz="2400" b="1">
                <a:solidFill>
                  <a:srgbClr val="152B45"/>
                </a:solidFill>
                <a:latin typeface="Arial"/>
                <a:ea typeface="Arial"/>
                <a:cs typeface="Arial"/>
              </a:defRPr>
            </a:pPr>
            <a:r>
              <a:rPr sz="2400" b="1">
                <a:solidFill>
                  <a:srgbClr val="152B45"/>
                </a:solidFill>
                <a:latin typeface="Arial"/>
                <a:ea typeface="Arial"/>
                <a:cs typeface="Arial"/>
              </a:rPr>
              <a:t>Selecting Attention Heads Per Token</a:t>
            </a:r>
          </a:p>
        </p:txBody>
      </p:sp>
      <p:sp>
        <p:nvSpPr>
          <p:cNvPr id="6" name="">
            <a:extLst xmlns:a="http://schemas.openxmlformats.org/drawingml/2006/main">
              <a:ext uri="{FF2B5EF4-FFF2-40B4-BE49-F238E27FC236}">
                <a16:creationId xmlns:a16="http://schemas.microsoft.com/office/drawing/2014/main" id="{8162878F-E91D-49B5-ABB9-C3D07E9BAD66}"/>
              </a:ext>
            </a:extLst>
          </p:cNvPr>
          <p:cNvSpPr>
            <a:spLocks xmlns:a="http://schemas.openxmlformats.org/drawingml/2006/main" noGrp="1"/>
          </p:cNvSpPr>
          <p:nvPr/>
        </p:nvSpPr>
        <p:spPr>
          <a:xfrm xmlns:a="http://schemas.openxmlformats.org/drawingml/2006/main">
            <a:off x="571500" y="280987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B67818"/>
                </a:solidFill>
                <a:latin typeface="Arial"/>
                <a:ea typeface="Arial"/>
                <a:cs typeface="Arial"/>
              </a:defRPr>
            </a:defPPr>
          </a:lstStyle>
          <a:p xmlns:a="http://schemas.openxmlformats.org/drawingml/2006/main">
            <a:pPr>
              <a:defRPr sz="1725" b="1">
                <a:solidFill>
                  <a:srgbClr val="B67818"/>
                </a:solidFill>
                <a:latin typeface="Arial"/>
                <a:ea typeface="Arial"/>
                <a:cs typeface="Arial"/>
              </a:defRPr>
            </a:pPr>
            <a:r>
              <a:rPr sz="1725" b="1">
                <a:solidFill>
                  <a:srgbClr val="B67818"/>
                </a:solidFill>
                <a:latin typeface="Arial"/>
                <a:ea typeface="Arial"/>
                <a:cs typeface="Arial"/>
              </a:rPr>
              <a:t>Zhang et al., EMNLP 2022</a:t>
            </a:r>
          </a:p>
        </p:txBody>
      </p:sp>
      <p:sp>
        <p:nvSpPr>
          <p:cNvPr id="7" name="">
            <a:extLst xmlns:a="http://schemas.openxmlformats.org/drawingml/2006/main">
              <a:ext uri="{FF2B5EF4-FFF2-40B4-BE49-F238E27FC236}">
                <a16:creationId xmlns:a16="http://schemas.microsoft.com/office/drawing/2014/main" id="{9E65788A-A32A-4662-BFAE-0AA451271F3A}"/>
              </a:ext>
            </a:extLst>
          </p:cNvPr>
          <p:cNvSpPr>
            <a:spLocks xmlns:a="http://schemas.openxmlformats.org/drawingml/2006/main" noGrp="1"/>
          </p:cNvSpPr>
          <p:nvPr/>
        </p:nvSpPr>
        <p:spPr>
          <a:xfrm xmlns:a="http://schemas.openxmlformats.org/drawingml/2006/main">
            <a:off x="571500" y="3286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Principal mechanism</a:t>
            </a:r>
          </a:p>
        </p:txBody>
      </p:sp>
      <p:sp>
        <p:nvSpPr>
          <p:cNvPr id="8" name="">
            <a:extLst xmlns:a="http://schemas.openxmlformats.org/drawingml/2006/main">
              <a:ext uri="{FF2B5EF4-FFF2-40B4-BE49-F238E27FC236}">
                <a16:creationId xmlns:a16="http://schemas.microsoft.com/office/drawing/2014/main" id="{7212B5F3-32F2-448B-98CB-265CCC803881}"/>
              </a:ext>
            </a:extLst>
          </p:cNvPr>
          <p:cNvSpPr>
            <a:spLocks xmlns:a="http://schemas.openxmlformats.org/drawingml/2006/main" noGrp="1"/>
          </p:cNvSpPr>
          <p:nvPr/>
        </p:nvSpPr>
        <p:spPr>
          <a:xfrm xmlns:a="http://schemas.openxmlformats.org/drawingml/2006/main">
            <a:off x="571500" y="3686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A token router selects a subset of parameterized attention heads and combines their contributions.</a:t>
            </a:r>
          </a:p>
        </p:txBody>
      </p:sp>
      <p:sp>
        <p:nvSpPr>
          <p:cNvPr id="9" name="">
            <a:extLst xmlns:a="http://schemas.openxmlformats.org/drawingml/2006/main">
              <a:ext uri="{FF2B5EF4-FFF2-40B4-BE49-F238E27FC236}">
                <a16:creationId xmlns:a16="http://schemas.microsoft.com/office/drawing/2014/main" id="{8847D47A-FCF8-4FA6-AAB5-29CC5D6F8047}"/>
              </a:ext>
            </a:extLst>
          </p:cNvPr>
          <p:cNvSpPr>
            <a:spLocks xmlns:a="http://schemas.openxmlformats.org/drawingml/2006/main" noGrp="1"/>
          </p:cNvSpPr>
          <p:nvPr/>
        </p:nvSpPr>
        <p:spPr>
          <a:xfrm xmlns:a="http://schemas.openxmlformats.org/drawingml/2006/main">
            <a:off x="571500" y="45243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Evaluation and connection</a:t>
            </a:r>
          </a:p>
        </p:txBody>
      </p:sp>
      <p:sp>
        <p:nvSpPr>
          <p:cNvPr id="10" name="">
            <a:extLst xmlns:a="http://schemas.openxmlformats.org/drawingml/2006/main">
              <a:ext uri="{FF2B5EF4-FFF2-40B4-BE49-F238E27FC236}">
                <a16:creationId xmlns:a16="http://schemas.microsoft.com/office/drawing/2014/main" id="{6976B0D3-60E6-4C0F-B9A5-331909218508}"/>
              </a:ext>
            </a:extLst>
          </p:cNvPr>
          <p:cNvSpPr>
            <a:spLocks xmlns:a="http://schemas.openxmlformats.org/drawingml/2006/main" noGrp="1"/>
          </p:cNvSpPr>
          <p:nvPr/>
        </p:nvSpPr>
        <p:spPr>
          <a:xfrm xmlns:a="http://schemas.openxmlformats.org/drawingml/2006/main">
            <a:off x="571500" y="49244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Machine translation and masked language modeling. This motivates attention-layer routing, but we do not separately reproduce MoA.</a:t>
            </a:r>
          </a:p>
        </p:txBody>
      </p:sp>
    </p:spTree>
    <p:extLst>
      <p:ext uri="{BB962C8B-B14F-4D97-AF65-F5344CB8AC3E}">
        <p14:creationId xmlns:p14="http://schemas.microsoft.com/office/powerpoint/2010/main" val="1915025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84F1F9B-7107-4754-9B01-D8BFEDB1F5A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11134C0E-21C9-4846-B054-6D9E0A1514D1}"/>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Shared and routed attention heads</a:t>
            </a:r>
          </a:p>
        </p:txBody>
      </p:sp>
      <p:sp>
        <p:nvSpPr>
          <p:cNvPr id="3" name="">
            <a:extLst xmlns:a="http://schemas.openxmlformats.org/drawingml/2006/main">
              <a:ext uri="{FF2B5EF4-FFF2-40B4-BE49-F238E27FC236}">
                <a16:creationId xmlns:a16="http://schemas.microsoft.com/office/drawing/2014/main" id="{4FFC5E09-8731-4302-A468-645BE592CA4B}"/>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59BE543B-DEF9-4724-9D46-8979E5E4D56E}"/>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206775DA-12F3-445D-9C5F-840D7E6CB900}"/>
              </a:ext>
            </a:extLst>
          </p:cNvPr>
          <p:cNvSpPr>
            <a:spLocks xmlns:a="http://schemas.openxmlformats.org/drawingml/2006/main" noGrp="1"/>
          </p:cNvSpPr>
          <p:nvPr/>
        </p:nvSpPr>
        <p:spPr>
          <a:xfrm xmlns:a="http://schemas.openxmlformats.org/drawingml/2006/main">
            <a:off x="571500" y="17335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2B45"/>
                </a:solidFill>
                <a:latin typeface="Arial"/>
                <a:ea typeface="Arial"/>
                <a:cs typeface="Arial"/>
              </a:defRPr>
            </a:defPPr>
          </a:lstStyle>
          <a:p xmlns:a="http://schemas.openxmlformats.org/drawingml/2006/main">
            <a:pPr>
              <a:defRPr sz="2400" b="1">
                <a:solidFill>
                  <a:srgbClr val="152B45"/>
                </a:solidFill>
                <a:latin typeface="Arial"/>
                <a:ea typeface="Arial"/>
                <a:cs typeface="Arial"/>
              </a:defRPr>
            </a:pPr>
            <a:r>
              <a:rPr sz="2400" b="1">
                <a:solidFill>
                  <a:srgbClr val="152B45"/>
                </a:solidFill>
                <a:latin typeface="Arial"/>
                <a:ea typeface="Arial"/>
                <a:cs typeface="Arial"/>
              </a:rPr>
              <a:t>MoH: Multi-Head Attention as</a:t>
            </a:r>
          </a:p>
          <a:p xmlns:a="http://schemas.openxmlformats.org/drawingml/2006/main">
            <a:pPr>
              <a:defRPr sz="2400" b="1">
                <a:solidFill>
                  <a:srgbClr val="152B45"/>
                </a:solidFill>
                <a:latin typeface="Arial"/>
                <a:ea typeface="Arial"/>
                <a:cs typeface="Arial"/>
              </a:defRPr>
            </a:pPr>
            <a:r>
              <a:rPr sz="2400" b="1">
                <a:solidFill>
                  <a:srgbClr val="152B45"/>
                </a:solidFill>
                <a:latin typeface="Arial"/>
                <a:ea typeface="Arial"/>
                <a:cs typeface="Arial"/>
              </a:rPr>
              <a:t>Mixture-of-Head Attention</a:t>
            </a:r>
          </a:p>
        </p:txBody>
      </p:sp>
      <p:sp>
        <p:nvSpPr>
          <p:cNvPr id="6" name="">
            <a:extLst xmlns:a="http://schemas.openxmlformats.org/drawingml/2006/main">
              <a:ext uri="{FF2B5EF4-FFF2-40B4-BE49-F238E27FC236}">
                <a16:creationId xmlns:a16="http://schemas.microsoft.com/office/drawing/2014/main" id="{F1D2C2C2-6C6B-4214-8AFC-52D3CA72D192}"/>
              </a:ext>
            </a:extLst>
          </p:cNvPr>
          <p:cNvSpPr>
            <a:spLocks xmlns:a="http://schemas.openxmlformats.org/drawingml/2006/main" noGrp="1"/>
          </p:cNvSpPr>
          <p:nvPr/>
        </p:nvSpPr>
        <p:spPr>
          <a:xfrm xmlns:a="http://schemas.openxmlformats.org/drawingml/2006/main">
            <a:off x="571500" y="280987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B67818"/>
                </a:solidFill>
                <a:latin typeface="Arial"/>
                <a:ea typeface="Arial"/>
                <a:cs typeface="Arial"/>
              </a:defRPr>
            </a:defPPr>
          </a:lstStyle>
          <a:p xmlns:a="http://schemas.openxmlformats.org/drawingml/2006/main">
            <a:pPr>
              <a:defRPr sz="1725" b="1">
                <a:solidFill>
                  <a:srgbClr val="B67818"/>
                </a:solidFill>
                <a:latin typeface="Arial"/>
                <a:ea typeface="Arial"/>
                <a:cs typeface="Arial"/>
              </a:defRPr>
            </a:pPr>
            <a:r>
              <a:rPr sz="1725" b="1">
                <a:solidFill>
                  <a:srgbClr val="B67818"/>
                </a:solidFill>
                <a:latin typeface="Arial"/>
                <a:ea typeface="Arial"/>
                <a:cs typeface="Arial"/>
              </a:rPr>
              <a:t>Jin et al., ICML 2025</a:t>
            </a:r>
          </a:p>
        </p:txBody>
      </p:sp>
      <p:sp>
        <p:nvSpPr>
          <p:cNvPr id="7" name="">
            <a:extLst xmlns:a="http://schemas.openxmlformats.org/drawingml/2006/main">
              <a:ext uri="{FF2B5EF4-FFF2-40B4-BE49-F238E27FC236}">
                <a16:creationId xmlns:a16="http://schemas.microsoft.com/office/drawing/2014/main" id="{8D6C3C56-826E-4634-B97D-D54EC759BE44}"/>
              </a:ext>
            </a:extLst>
          </p:cNvPr>
          <p:cNvSpPr>
            <a:spLocks xmlns:a="http://schemas.openxmlformats.org/drawingml/2006/main" noGrp="1"/>
          </p:cNvSpPr>
          <p:nvPr/>
        </p:nvSpPr>
        <p:spPr>
          <a:xfrm xmlns:a="http://schemas.openxmlformats.org/drawingml/2006/main">
            <a:off x="571500" y="3286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Principal mechanism</a:t>
            </a:r>
          </a:p>
        </p:txBody>
      </p:sp>
      <p:sp>
        <p:nvSpPr>
          <p:cNvPr id="8" name="">
            <a:extLst xmlns:a="http://schemas.openxmlformats.org/drawingml/2006/main">
              <a:ext uri="{FF2B5EF4-FFF2-40B4-BE49-F238E27FC236}">
                <a16:creationId xmlns:a16="http://schemas.microsoft.com/office/drawing/2014/main" id="{17F13D1D-E64A-4A98-BA7F-1B91C0216886}"/>
              </a:ext>
            </a:extLst>
          </p:cNvPr>
          <p:cNvSpPr>
            <a:spLocks xmlns:a="http://schemas.openxmlformats.org/drawingml/2006/main" noGrp="1"/>
          </p:cNvSpPr>
          <p:nvPr/>
        </p:nvSpPr>
        <p:spPr>
          <a:xfrm xmlns:a="http://schemas.openxmlformats.org/drawingml/2006/main">
            <a:off x="571500" y="3686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A weighted head sum combines shared heads with token-selected routed heads through two-stage gating.</a:t>
            </a:r>
          </a:p>
        </p:txBody>
      </p:sp>
      <p:sp>
        <p:nvSpPr>
          <p:cNvPr id="9" name="">
            <a:extLst xmlns:a="http://schemas.openxmlformats.org/drawingml/2006/main">
              <a:ext uri="{FF2B5EF4-FFF2-40B4-BE49-F238E27FC236}">
                <a16:creationId xmlns:a16="http://schemas.microsoft.com/office/drawing/2014/main" id="{2AC96E18-FD11-4345-832A-18FD51D468D7}"/>
              </a:ext>
            </a:extLst>
          </p:cNvPr>
          <p:cNvSpPr>
            <a:spLocks xmlns:a="http://schemas.openxmlformats.org/drawingml/2006/main" noGrp="1"/>
          </p:cNvSpPr>
          <p:nvPr/>
        </p:nvSpPr>
        <p:spPr>
          <a:xfrm xmlns:a="http://schemas.openxmlformats.org/drawingml/2006/main">
            <a:off x="571500" y="45243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Evaluation and adaptation</a:t>
            </a:r>
          </a:p>
        </p:txBody>
      </p:sp>
      <p:sp>
        <p:nvSpPr>
          <p:cNvPr id="10" name="">
            <a:extLst xmlns:a="http://schemas.openxmlformats.org/drawingml/2006/main">
              <a:ext uri="{FF2B5EF4-FFF2-40B4-BE49-F238E27FC236}">
                <a16:creationId xmlns:a16="http://schemas.microsoft.com/office/drawing/2014/main" id="{40F59E89-C4D3-45ED-A5BA-544D7242A668}"/>
              </a:ext>
            </a:extLst>
          </p:cNvPr>
          <p:cNvSpPr>
            <a:spLocks xmlns:a="http://schemas.openxmlformats.org/drawingml/2006/main" noGrp="1"/>
          </p:cNvSpPr>
          <p:nvPr/>
        </p:nvSpPr>
        <p:spPr>
          <a:xfrm xmlns:a="http://schemas.openxmlformats.org/drawingml/2006/main">
            <a:off x="571500" y="49244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The paper tests vision and language models. Our small causal predictor adapts the gate while computing all attention heads.</a:t>
            </a:r>
          </a:p>
        </p:txBody>
      </p:sp>
    </p:spTree>
    <p:extLst>
      <p:ext uri="{BB962C8B-B14F-4D97-AF65-F5344CB8AC3E}">
        <p14:creationId xmlns:p14="http://schemas.microsoft.com/office/powerpoint/2010/main" val="196831648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2BA9C7-6184-4D38-96E1-5F13D7F3480E}"/>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RELATED WORK</a:t>
            </a:r>
          </a:p>
        </p:txBody>
      </p:sp>
      <p:sp>
        <p:nvSpPr>
          <p:cNvPr id="2" name="">
            <a:extLst xmlns:a="http://schemas.openxmlformats.org/drawingml/2006/main">
              <a:ext uri="{FF2B5EF4-FFF2-40B4-BE49-F238E27FC236}">
                <a16:creationId xmlns:a16="http://schemas.microsoft.com/office/drawing/2014/main" id="{03E7D4FC-6154-4A99-9E21-3AF6D9CCC440}"/>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Position of the toy experiment</a:t>
            </a:r>
          </a:p>
        </p:txBody>
      </p:sp>
      <p:sp>
        <p:nvSpPr>
          <p:cNvPr id="3" name="">
            <a:extLst xmlns:a="http://schemas.openxmlformats.org/drawingml/2006/main">
              <a:ext uri="{FF2B5EF4-FFF2-40B4-BE49-F238E27FC236}">
                <a16:creationId xmlns:a16="http://schemas.microsoft.com/office/drawing/2014/main" id="{16397DFC-4ECB-47C3-8BEE-ED66514C555D}"/>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1E3549E1-CD22-4622-911E-1917A3E058EC}"/>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850C2B87-ACD8-48F8-84CD-99AE53B80077}"/>
              </a:ext>
            </a:extLst>
          </p:cNvPr>
          <p:cNvGraphicFramePr/>
          <p:nvPr/>
        </p:nvGraphicFramePr>
        <p:xfrm>
          <a:off xmlns:a="http://schemas.openxmlformats.org/drawingml/2006/main" x="571500" y="1714500"/>
          <a:ext xmlns:a="http://schemas.openxmlformats.org/drawingml/2006/main" cx="11049000" cy="3429000"/>
        </p:xfrm>
        <a:graphic xmlns:a="http://schemas.openxmlformats.org/drawingml/2006/main">
          <a:graphicData uri="http://schemas.openxmlformats.org/drawingml/2006/table">
            <a:tbl>
              <a:tblPr/>
              <a:tblGrid>
                <a:gridCol w="3714750"/>
                <a:gridCol w="7334250"/>
              </a:tblGrid>
              <a:tr h="685800">
                <a:tc>
                  <a:txBody>
                    <a:bodyPr/>
                    <a:lstStyle/>
                    <a:p>
                      <a:r>
                        <a:rPr sz="1725" b="1">
                          <a:solidFill>
                            <a:srgbClr val="FFFFFF"/>
                          </a:solidFill>
                          <a:latin typeface="Arial"/>
                          <a:ea typeface="Arial"/>
                          <a:cs typeface="Arial"/>
                        </a:rPr>
                        <a:t>Design choice</a:t>
                      </a:r>
                    </a:p>
                  </a:txBody>
                  <a:tcPr marL="91440" marR="91440" marT="45720" marB="45720">
                    <a:solidFill>
                      <a:srgbClr val="152B45"/>
                    </a:solidFill>
                  </a:tcPr>
                </a:tc>
                <a:tc>
                  <a:txBody>
                    <a:bodyPr/>
                    <a:lstStyle/>
                    <a:p>
                      <a:r>
                        <a:rPr sz="1725" b="1">
                          <a:solidFill>
                            <a:srgbClr val="FFFFFF"/>
                          </a:solidFill>
                          <a:latin typeface="Arial"/>
                          <a:ea typeface="Arial"/>
                          <a:cs typeface="Arial"/>
                        </a:rPr>
                        <a:t>What it makes testable</a:t>
                      </a:r>
                    </a:p>
                  </a:txBody>
                  <a:tcPr marL="91440" marR="91440" marT="45720" marB="45720">
                    <a:solidFill>
                      <a:srgbClr val="152B45"/>
                    </a:solidFill>
                  </a:tcPr>
                </a:tc>
              </a:tr>
              <a:tr h="685800">
                <a:tc>
                  <a:txBody>
                    <a:bodyPr/>
                    <a:lstStyle/>
                    <a:p>
                      <a:r>
                        <a:rPr sz="1725" b="0">
                          <a:solidFill>
                            <a:srgbClr val="24384D"/>
                          </a:solidFill>
                          <a:latin typeface="Arial"/>
                          <a:ea typeface="Arial"/>
                          <a:cs typeface="Arial"/>
                        </a:rPr>
                        <a:t>Known switching mechanism</a:t>
                      </a:r>
                    </a:p>
                  </a:txBody>
                  <a:tcPr marL="91440" marR="91440" marT="45720" marB="45720">
                    <a:solidFill>
                      <a:srgbClr val="F0F4F7"/>
                    </a:solidFill>
                  </a:tcPr>
                </a:tc>
                <a:tc>
                  <a:txBody>
                    <a:bodyPr/>
                    <a:lstStyle/>
                    <a:p>
                      <a:r>
                        <a:rPr sz="1725" b="0">
                          <a:solidFill>
                            <a:srgbClr val="24384D"/>
                          </a:solidFill>
                          <a:latin typeface="Arial"/>
                          <a:ea typeface="Arial"/>
                          <a:cs typeface="Arial"/>
                        </a:rPr>
                        <a:t>Prediction errors can be aligned to true switches.</a:t>
                      </a:r>
                    </a:p>
                  </a:txBody>
                  <a:tcPr marL="91440" marR="91440" marT="45720" marB="45720">
                    <a:solidFill>
                      <a:srgbClr val="F0F4F7"/>
                    </a:solidFill>
                  </a:tcPr>
                </a:tc>
              </a:tr>
              <a:tr h="685800">
                <a:tc>
                  <a:txBody>
                    <a:bodyPr/>
                    <a:lstStyle/>
                    <a:p>
                      <a:r>
                        <a:rPr sz="1725" b="0">
                          <a:solidFill>
                            <a:srgbClr val="24384D"/>
                          </a:solidFill>
                          <a:latin typeface="Arial"/>
                          <a:ea typeface="Arial"/>
                          <a:cs typeface="Arial"/>
                        </a:rPr>
                        <a:t>Small feedforward experts</a:t>
                      </a:r>
                    </a:p>
                  </a:txBody>
                  <a:tcPr marL="91440" marR="91440" marT="45720" marB="45720">
                    <a:solidFill>
                      <a:srgbClr val="FFFFFF"/>
                    </a:solidFill>
                  </a:tcPr>
                </a:tc>
                <a:tc>
                  <a:txBody>
                    <a:bodyPr/>
                    <a:lstStyle/>
                    <a:p>
                      <a:r>
                        <a:rPr sz="1725" b="0">
                          <a:solidFill>
                            <a:srgbClr val="24384D"/>
                          </a:solidFill>
                          <a:latin typeface="Arial"/>
                          <a:ea typeface="Arial"/>
                          <a:cs typeface="Arial"/>
                        </a:rPr>
                        <a:t>Architecture and capacity comparisons remain inspectable.</a:t>
                      </a:r>
                    </a:p>
                  </a:txBody>
                  <a:tcPr marL="91440" marR="91440" marT="45720" marB="45720">
                    <a:solidFill>
                      <a:srgbClr val="FFFFFF"/>
                    </a:solidFill>
                  </a:tcPr>
                </a:tc>
              </a:tr>
              <a:tr h="685800">
                <a:tc>
                  <a:txBody>
                    <a:bodyPr/>
                    <a:lstStyle/>
                    <a:p>
                      <a:r>
                        <a:rPr sz="1725" b="0">
                          <a:solidFill>
                            <a:srgbClr val="24384D"/>
                          </a:solidFill>
                          <a:latin typeface="Arial"/>
                          <a:ea typeface="Arial"/>
                          <a:cs typeface="Arial"/>
                        </a:rPr>
                        <a:t>Dense, random and oracle controls</a:t>
                      </a:r>
                    </a:p>
                  </a:txBody>
                  <a:tcPr marL="91440" marR="91440" marT="45720" marB="45720">
                    <a:solidFill>
                      <a:srgbClr val="F0F4F7"/>
                    </a:solidFill>
                  </a:tcPr>
                </a:tc>
                <a:tc>
                  <a:txBody>
                    <a:bodyPr/>
                    <a:lstStyle/>
                    <a:p>
                      <a:r>
                        <a:rPr sz="1725" b="0">
                          <a:solidFill>
                            <a:srgbClr val="24384D"/>
                          </a:solidFill>
                          <a:latin typeface="Arial"/>
                          <a:ea typeface="Arial"/>
                          <a:cs typeface="Arial"/>
                        </a:rPr>
                        <a:t>Separate extra parameters, learned routing and privileged labels.</a:t>
                      </a:r>
                    </a:p>
                  </a:txBody>
                  <a:tcPr marL="91440" marR="91440" marT="45720" marB="45720">
                    <a:solidFill>
                      <a:srgbClr val="F0F4F7"/>
                    </a:solidFill>
                  </a:tcPr>
                </a:tc>
              </a:tr>
              <a:tr h="685800">
                <a:tc>
                  <a:txBody>
                    <a:bodyPr/>
                    <a:lstStyle/>
                    <a:p>
                      <a:r>
                        <a:rPr sz="1725" b="0">
                          <a:solidFill>
                            <a:srgbClr val="24384D"/>
                          </a:solidFill>
                          <a:latin typeface="Arial"/>
                          <a:ea typeface="Arial"/>
                          <a:cs typeface="Arial"/>
                        </a:rPr>
                        <a:t>Independent generated sequences</a:t>
                      </a:r>
                    </a:p>
                  </a:txBody>
                  <a:tcPr marL="91440" marR="91440" marT="45720" marB="45720">
                    <a:solidFill>
                      <a:srgbClr val="FFFFFF"/>
                    </a:solidFill>
                  </a:tcPr>
                </a:tc>
                <a:tc>
                  <a:txBody>
                    <a:bodyPr/>
                    <a:lstStyle/>
                    <a:p>
                      <a:r>
                        <a:rPr sz="1725" b="0">
                          <a:solidFill>
                            <a:srgbClr val="24384D"/>
                          </a:solidFill>
                          <a:latin typeface="Arial"/>
                          <a:ea typeface="Arial"/>
                          <a:cs typeface="Arial"/>
                        </a:rPr>
                        <a:t>Repeat the entire experiment across data and training seeds.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4521159-304B-45BD-B03D-A005D4C5FA55}"/>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The contribution here is a reproducible experimental platform. Novelty and MoE superiority remain unproven.</a:t>
            </a:r>
          </a:p>
        </p:txBody>
      </p:sp>
    </p:spTree>
    <p:extLst>
      <p:ext uri="{BB962C8B-B14F-4D97-AF65-F5344CB8AC3E}">
        <p14:creationId xmlns:p14="http://schemas.microsoft.com/office/powerpoint/2010/main" val="18512296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10661B-83E9-46DA-932A-570B65C33800}"/>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METHOD</a:t>
            </a:r>
          </a:p>
        </p:txBody>
      </p:sp>
      <p:sp>
        <p:nvSpPr>
          <p:cNvPr id="2" name="">
            <a:extLst xmlns:a="http://schemas.openxmlformats.org/drawingml/2006/main">
              <a:ext uri="{FF2B5EF4-FFF2-40B4-BE49-F238E27FC236}">
                <a16:creationId xmlns:a16="http://schemas.microsoft.com/office/drawing/2014/main" id="{5DA5F145-B0C2-40B4-BB76-7A04447B3546}"/>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Synthetic data generator</a:t>
            </a:r>
          </a:p>
        </p:txBody>
      </p:sp>
      <p:sp>
        <p:nvSpPr>
          <p:cNvPr id="3" name="">
            <a:extLst xmlns:a="http://schemas.openxmlformats.org/drawingml/2006/main">
              <a:ext uri="{FF2B5EF4-FFF2-40B4-BE49-F238E27FC236}">
                <a16:creationId xmlns:a16="http://schemas.microsoft.com/office/drawing/2014/main" id="{DEB17145-9C1C-458A-BBEF-70863D018E96}"/>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9255432F-A3BF-4559-9662-B58F93B1C135}"/>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438402D1-F9E3-42A7-8F8F-3592359E0468}"/>
              </a:ext>
            </a:extLst>
          </p:cNvPr>
          <p:cNvSpPr>
            <a:spLocks xmlns:a="http://schemas.openxmlformats.org/drawingml/2006/main" noGrp="1"/>
          </p:cNvSpPr>
          <p:nvPr/>
        </p:nvSpPr>
        <p:spPr>
          <a:xfrm xmlns:a="http://schemas.openxmlformats.org/drawingml/2006/main">
            <a:off x="619125" y="18288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B45"/>
                </a:solidFill>
                <a:latin typeface="Arial"/>
                <a:ea typeface="Arial"/>
                <a:cs typeface="Arial"/>
              </a:defRPr>
            </a:defPPr>
          </a:lstStyle>
          <a:p xmlns:a="http://schemas.openxmlformats.org/drawingml/2006/main">
            <a:pPr>
              <a:buNone/>
              <a:defRPr sz="3225" b="1">
                <a:solidFill>
                  <a:srgbClr val="152B45"/>
                </a:solidFill>
                <a:latin typeface="Arial"/>
                <a:ea typeface="Arial"/>
                <a:cs typeface="Arial"/>
              </a:defRPr>
            </a:pPr>
            <a:r>
              <a:rPr sz="3225" b="1">
                <a:solidFill>
                  <a:srgbClr val="152B45"/>
                </a:solidFill>
                <a:latin typeface="Arial"/>
                <a:ea typeface="Arial"/>
                <a:cs typeface="Arial"/>
              </a:rPr>
              <a:t>x(t + 1) = A[r(t)] x(t) + ε(t)</a:t>
            </a:r>
          </a:p>
        </p:txBody>
      </p:sp>
      <p:sp>
        <p:nvSpPr>
          <p:cNvPr id="6" name="">
            <a:extLst xmlns:a="http://schemas.openxmlformats.org/drawingml/2006/main">
              <a:ext uri="{FF2B5EF4-FFF2-40B4-BE49-F238E27FC236}">
                <a16:creationId xmlns:a16="http://schemas.microsoft.com/office/drawing/2014/main" id="{61D46D75-9074-482C-9392-FAD7FBD75D4B}"/>
              </a:ext>
            </a:extLst>
          </p:cNvPr>
          <p:cNvSpPr>
            <a:spLocks xmlns:a="http://schemas.openxmlformats.org/drawingml/2006/main" noGrp="1"/>
          </p:cNvSpPr>
          <p:nvPr/>
        </p:nvSpPr>
        <p:spPr>
          <a:xfrm xmlns:a="http://schemas.openxmlformats.org/drawingml/2006/main">
            <a:off x="619125" y="27146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4384D"/>
                </a:solidFill>
                <a:latin typeface="Arial"/>
                <a:ea typeface="Arial"/>
                <a:cs typeface="Arial"/>
              </a:defRPr>
            </a:defPPr>
          </a:lstStyle>
          <a:p xmlns:a="http://schemas.openxmlformats.org/drawingml/2006/main">
            <a:pPr>
              <a:buNone/>
              <a:defRPr sz="2175" b="0">
                <a:solidFill>
                  <a:srgbClr val="24384D"/>
                </a:solidFill>
                <a:latin typeface="Arial"/>
                <a:ea typeface="Arial"/>
                <a:cs typeface="Arial"/>
              </a:defRPr>
            </a:pPr>
            <a:r>
              <a:rPr sz="2175" b="0">
                <a:solidFill>
                  <a:srgbClr val="24384D"/>
                </a:solidFill>
                <a:latin typeface="Arial"/>
                <a:ea typeface="Arial"/>
                <a:cs typeface="Arial"/>
              </a:rPr>
              <a:t>x(t) ∈ ℝ⁴     r(t) ∈ {0, 1, 2}     ε(t) ~ N(0, 0.08² I)</a:t>
            </a:r>
          </a:p>
        </p:txBody>
      </p:sp>
      <p:sp>
        <p:nvSpPr>
          <p:cNvPr id="7" name="">
            <a:extLst xmlns:a="http://schemas.openxmlformats.org/drawingml/2006/main">
              <a:ext uri="{FF2B5EF4-FFF2-40B4-BE49-F238E27FC236}">
                <a16:creationId xmlns:a16="http://schemas.microsoft.com/office/drawing/2014/main" id="{38E2D330-6111-43DE-A078-2EE67E7BC711}"/>
              </a:ext>
            </a:extLst>
          </p:cNvPr>
          <p:cNvSpPr>
            <a:spLocks xmlns:a="http://schemas.openxmlformats.org/drawingml/2006/main" noGrp="1"/>
          </p:cNvSpPr>
          <p:nvPr/>
        </p:nvSpPr>
        <p:spPr>
          <a:xfrm xmlns:a="http://schemas.openxmlformats.org/drawingml/2006/main">
            <a:off x="571500" y="36195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Stable transition matrices</a:t>
            </a:r>
          </a:p>
        </p:txBody>
      </p:sp>
      <p:sp>
        <p:nvSpPr>
          <p:cNvPr id="8" name="">
            <a:extLst xmlns:a="http://schemas.openxmlformats.org/drawingml/2006/main">
              <a:ext uri="{FF2B5EF4-FFF2-40B4-BE49-F238E27FC236}">
                <a16:creationId xmlns:a16="http://schemas.microsoft.com/office/drawing/2014/main" id="{65D7B089-6DFA-4830-BF29-559B353B5123}"/>
              </a:ext>
            </a:extLst>
          </p:cNvPr>
          <p:cNvSpPr>
            <a:spLocks xmlns:a="http://schemas.openxmlformats.org/drawingml/2006/main" noGrp="1"/>
          </p:cNvSpPr>
          <p:nvPr/>
        </p:nvSpPr>
        <p:spPr>
          <a:xfrm xmlns:a="http://schemas.openxmlformats.org/drawingml/2006/main">
            <a:off x="571500" y="40195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A[r] = 0.94 · blockdiag(R(αr), R(βr)), with two planar rotations.</a:t>
            </a:r>
          </a:p>
        </p:txBody>
      </p:sp>
      <p:sp>
        <p:nvSpPr>
          <p:cNvPr id="9" name="">
            <a:extLst xmlns:a="http://schemas.openxmlformats.org/drawingml/2006/main">
              <a:ext uri="{FF2B5EF4-FFF2-40B4-BE49-F238E27FC236}">
                <a16:creationId xmlns:a16="http://schemas.microsoft.com/office/drawing/2014/main" id="{5B064638-B1AC-4DE6-886C-808CD0A0EEA3}"/>
              </a:ext>
            </a:extLst>
          </p:cNvPr>
          <p:cNvSpPr>
            <a:spLocks xmlns:a="http://schemas.openxmlformats.org/drawingml/2006/main" noGrp="1"/>
          </p:cNvSpPr>
          <p:nvPr/>
        </p:nvSpPr>
        <p:spPr>
          <a:xfrm xmlns:a="http://schemas.openxmlformats.org/drawingml/2006/main">
            <a:off x="571500" y="48577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Regime persistence</a:t>
            </a:r>
          </a:p>
        </p:txBody>
      </p:sp>
      <p:sp>
        <p:nvSpPr>
          <p:cNvPr id="10" name="">
            <a:extLst xmlns:a="http://schemas.openxmlformats.org/drawingml/2006/main">
              <a:ext uri="{FF2B5EF4-FFF2-40B4-BE49-F238E27FC236}">
                <a16:creationId xmlns:a16="http://schemas.microsoft.com/office/drawing/2014/main" id="{0E173A84-47CD-473E-91D2-AE83A568A930}"/>
              </a:ext>
            </a:extLst>
          </p:cNvPr>
          <p:cNvSpPr>
            <a:spLocks xmlns:a="http://schemas.openxmlformats.org/drawingml/2006/main" noGrp="1"/>
          </p:cNvSpPr>
          <p:nvPr/>
        </p:nvSpPr>
        <p:spPr>
          <a:xfrm xmlns:a="http://schemas.openxmlformats.org/drawingml/2006/main">
            <a:off x="571500" y="52578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P(stay) = 0.95. Each alternative receives probability 0.025. Mean regime duration is 20 steps.</a:t>
            </a:r>
          </a:p>
        </p:txBody>
      </p:sp>
    </p:spTree>
    <p:extLst>
      <p:ext uri="{BB962C8B-B14F-4D97-AF65-F5344CB8AC3E}">
        <p14:creationId xmlns:p14="http://schemas.microsoft.com/office/powerpoint/2010/main" val="69325066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8E5F6C-B2B5-49EB-8B61-DD97F7F6A9A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METHOD</a:t>
            </a:r>
          </a:p>
        </p:txBody>
      </p:sp>
      <p:sp>
        <p:nvSpPr>
          <p:cNvPr id="2" name="">
            <a:extLst xmlns:a="http://schemas.openxmlformats.org/drawingml/2006/main">
              <a:ext uri="{FF2B5EF4-FFF2-40B4-BE49-F238E27FC236}">
                <a16:creationId xmlns:a16="http://schemas.microsoft.com/office/drawing/2014/main" id="{E44667F8-CD87-4EC2-B6AB-08EDC558C379}"/>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Example generated sequence</a:t>
            </a:r>
          </a:p>
        </p:txBody>
      </p:sp>
      <p:sp>
        <p:nvSpPr>
          <p:cNvPr id="3" name="">
            <a:extLst xmlns:a="http://schemas.openxmlformats.org/drawingml/2006/main">
              <a:ext uri="{FF2B5EF4-FFF2-40B4-BE49-F238E27FC236}">
                <a16:creationId xmlns:a16="http://schemas.microsoft.com/office/drawing/2014/main" id="{082E27CF-2B8A-48EF-A784-1EE44BCAF906}"/>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6C05C1CA-E56E-44CE-BD99-B300CC3C84B4}"/>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675BF36A-F8C3-4F3E-AC57-0EC963673D9B}"/>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f47a3db7a7c0439a"/>
          </a:graphicData>
        </a:graphic>
      </p:graphicFrame>
      <p:sp>
        <p:nvSpPr>
          <p:cNvPr id="6" name="">
            <a:extLst xmlns:a="http://schemas.openxmlformats.org/drawingml/2006/main">
              <a:ext uri="{FF2B5EF4-FFF2-40B4-BE49-F238E27FC236}">
                <a16:creationId xmlns:a16="http://schemas.microsoft.com/office/drawing/2014/main" id="{9D2A4839-25FC-4629-8519-224F53BD3A71}"/>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Actual training sequence, seed 7. Noise and hidden rule changes both affect the observations.</a:t>
            </a:r>
          </a:p>
        </p:txBody>
      </p:sp>
    </p:spTree>
    <p:extLst>
      <p:ext uri="{BB962C8B-B14F-4D97-AF65-F5344CB8AC3E}">
        <p14:creationId xmlns:p14="http://schemas.microsoft.com/office/powerpoint/2010/main" val="20912095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F2CC69-E387-459E-8AF7-04A4243EF92E}"/>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EXPERIMENT</a:t>
            </a:r>
          </a:p>
        </p:txBody>
      </p:sp>
      <p:sp>
        <p:nvSpPr>
          <p:cNvPr id="2" name="">
            <a:extLst xmlns:a="http://schemas.openxmlformats.org/drawingml/2006/main">
              <a:ext uri="{FF2B5EF4-FFF2-40B4-BE49-F238E27FC236}">
                <a16:creationId xmlns:a16="http://schemas.microsoft.com/office/drawing/2014/main" id="{4CC9BB79-F8DC-48C2-BB09-920F15D9FB25}"/>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Dataset partitions and causal windows</a:t>
            </a:r>
          </a:p>
        </p:txBody>
      </p:sp>
      <p:sp>
        <p:nvSpPr>
          <p:cNvPr id="3" name="">
            <a:extLst xmlns:a="http://schemas.openxmlformats.org/drawingml/2006/main">
              <a:ext uri="{FF2B5EF4-FFF2-40B4-BE49-F238E27FC236}">
                <a16:creationId xmlns:a16="http://schemas.microsoft.com/office/drawing/2014/main" id="{FE9BBD3A-B1B9-4F3A-BD85-86725FF84563}"/>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6BED206F-C9DA-4AC8-A8BB-D4BF1E4BD593}"/>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15</a:t>
            </a:r>
          </a:p>
        </p:txBody>
      </p:sp>
      <p:graphicFrame>
        <p:nvGraphicFramePr>
          <p:cNvPr id="5" name="">
            <a:extLst xmlns:a="http://schemas.openxmlformats.org/drawingml/2006/main">
              <a:ext uri="{FF2B5EF4-FFF2-40B4-BE49-F238E27FC236}">
                <a16:creationId xmlns:a16="http://schemas.microsoft.com/office/drawing/2014/main" id="{9D47E742-B9B5-40E1-91A0-82751B2C4C23}"/>
              </a:ext>
            </a:extLst>
          </p:cNvPr>
          <p:cNvGraphicFramePr/>
          <p:nvPr/>
        </p:nvGraphicFramePr>
        <p:xfrm>
          <a:off xmlns:a="http://schemas.openxmlformats.org/drawingml/2006/main" x="571500" y="1762125"/>
          <a:ext xmlns:a="http://schemas.openxmlformats.org/drawingml/2006/main" cx="11049000" cy="2762250"/>
        </p:xfrm>
        <a:graphic xmlns:a="http://schemas.openxmlformats.org/drawingml/2006/main">
          <a:graphicData uri="http://schemas.openxmlformats.org/drawingml/2006/table">
            <a:tbl>
              <a:tblPr/>
              <a:tblGrid>
                <a:gridCol w="2524125"/>
                <a:gridCol w="1809750"/>
                <a:gridCol w="3143250"/>
                <a:gridCol w="3571875"/>
              </a:tblGrid>
              <a:tr h="690563">
                <a:tc>
                  <a:txBody>
                    <a:bodyPr/>
                    <a:lstStyle/>
                    <a:p>
                      <a:r>
                        <a:rPr sz="1725" b="1">
                          <a:solidFill>
                            <a:srgbClr val="FFFFFF"/>
                          </a:solidFill>
                          <a:latin typeface="Arial"/>
                          <a:ea typeface="Arial"/>
                          <a:cs typeface="Arial"/>
                        </a:rPr>
                        <a:t>Partition</a:t>
                      </a:r>
                    </a:p>
                  </a:txBody>
                  <a:tcPr marL="91440" marR="91440" marT="45720" marB="45720">
                    <a:solidFill>
                      <a:srgbClr val="152B45"/>
                    </a:solidFill>
                  </a:tcPr>
                </a:tc>
                <a:tc>
                  <a:txBody>
                    <a:bodyPr/>
                    <a:lstStyle/>
                    <a:p>
                      <a:r>
                        <a:rPr sz="1725" b="1">
                          <a:solidFill>
                            <a:srgbClr val="FFFFFF"/>
                          </a:solidFill>
                          <a:latin typeface="Arial"/>
                          <a:ea typeface="Arial"/>
                          <a:cs typeface="Arial"/>
                        </a:rPr>
                        <a:t>Sequences</a:t>
                      </a:r>
                    </a:p>
                  </a:txBody>
                  <a:tcPr marL="91440" marR="91440" marT="45720" marB="45720">
                    <a:solidFill>
                      <a:srgbClr val="152B45"/>
                    </a:solidFill>
                  </a:tcPr>
                </a:tc>
                <a:tc>
                  <a:txBody>
                    <a:bodyPr/>
                    <a:lstStyle/>
                    <a:p>
                      <a:r>
                        <a:rPr sz="1725" b="1">
                          <a:solidFill>
                            <a:srgbClr val="FFFFFF"/>
                          </a:solidFill>
                          <a:latin typeface="Arial"/>
                          <a:ea typeface="Arial"/>
                          <a:cs typeface="Arial"/>
                        </a:rPr>
                        <a:t>States per sequence</a:t>
                      </a:r>
                    </a:p>
                  </a:txBody>
                  <a:tcPr marL="91440" marR="91440" marT="45720" marB="45720">
                    <a:solidFill>
                      <a:srgbClr val="152B45"/>
                    </a:solidFill>
                  </a:tcPr>
                </a:tc>
                <a:tc>
                  <a:txBody>
                    <a:bodyPr/>
                    <a:lstStyle/>
                    <a:p>
                      <a:r>
                        <a:rPr sz="1725" b="1">
                          <a:solidFill>
                            <a:srgbClr val="FFFFFF"/>
                          </a:solidFill>
                          <a:latin typeface="Arial"/>
                          <a:ea typeface="Arial"/>
                          <a:cs typeface="Arial"/>
                        </a:rPr>
                        <a:t>Prediction windows</a:t>
                      </a:r>
                    </a:p>
                  </a:txBody>
                  <a:tcPr marL="91440" marR="91440" marT="45720" marB="45720">
                    <a:solidFill>
                      <a:srgbClr val="152B45"/>
                    </a:solidFill>
                  </a:tcPr>
                </a:tc>
              </a:tr>
              <a:tr h="690563">
                <a:tc>
                  <a:txBody>
                    <a:bodyPr/>
                    <a:lstStyle/>
                    <a:p>
                      <a:r>
                        <a:rPr sz="1725" b="0">
                          <a:solidFill>
                            <a:srgbClr val="24384D"/>
                          </a:solidFill>
                          <a:latin typeface="Arial"/>
                          <a:ea typeface="Arial"/>
                          <a:cs typeface="Arial"/>
                        </a:rPr>
                        <a:t>Training</a:t>
                      </a:r>
                    </a:p>
                  </a:txBody>
                  <a:tcPr marL="91440" marR="91440" marT="45720" marB="45720">
                    <a:solidFill>
                      <a:srgbClr val="F0F4F7"/>
                    </a:solidFill>
                  </a:tcPr>
                </a:tc>
                <a:tc>
                  <a:txBody>
                    <a:bodyPr/>
                    <a:lstStyle/>
                    <a:p>
                      <a:r>
                        <a:rPr sz="1725" b="0">
                          <a:solidFill>
                            <a:srgbClr val="24384D"/>
                          </a:solidFill>
                          <a:latin typeface="Arial"/>
                          <a:ea typeface="Arial"/>
                          <a:cs typeface="Arial"/>
                        </a:rPr>
                        <a:t>256</a:t>
                      </a:r>
                    </a:p>
                  </a:txBody>
                  <a:tcPr marL="91440" marR="91440" marT="45720" marB="45720">
                    <a:solidFill>
                      <a:srgbClr val="F0F4F7"/>
                    </a:solidFill>
                  </a:tcPr>
                </a:tc>
                <a:tc>
                  <a:txBody>
                    <a:bodyPr/>
                    <a:lstStyle/>
                    <a:p>
                      <a:r>
                        <a:rPr sz="1725" b="0">
                          <a:solidFill>
                            <a:srgbClr val="24384D"/>
                          </a:solidFill>
                          <a:latin typeface="Arial"/>
                          <a:ea typeface="Arial"/>
                          <a:cs typeface="Arial"/>
                        </a:rPr>
                        <a:t>193 × 4</a:t>
                      </a:r>
                    </a:p>
                  </a:txBody>
                  <a:tcPr marL="91440" marR="91440" marT="45720" marB="45720">
                    <a:solidFill>
                      <a:srgbClr val="F0F4F7"/>
                    </a:solidFill>
                  </a:tcPr>
                </a:tc>
                <a:tc>
                  <a:txBody>
                    <a:bodyPr/>
                    <a:lstStyle/>
                    <a:p>
                      <a:r>
                        <a:rPr sz="1725" b="0">
                          <a:solidFill>
                            <a:srgbClr val="24384D"/>
                          </a:solidFill>
                          <a:latin typeface="Arial"/>
                          <a:ea typeface="Arial"/>
                          <a:cs typeface="Arial"/>
                        </a:rPr>
                        <a:t>47,360</a:t>
                      </a:r>
                    </a:p>
                  </a:txBody>
                  <a:tcPr marL="91440" marR="91440" marT="45720" marB="45720">
                    <a:solidFill>
                      <a:srgbClr val="F0F4F7"/>
                    </a:solidFill>
                  </a:tcPr>
                </a:tc>
              </a:tr>
              <a:tr h="690563">
                <a:tc>
                  <a:txBody>
                    <a:bodyPr/>
                    <a:lstStyle/>
                    <a:p>
                      <a:r>
                        <a:rPr sz="1725" b="0">
                          <a:solidFill>
                            <a:srgbClr val="24384D"/>
                          </a:solidFill>
                          <a:latin typeface="Arial"/>
                          <a:ea typeface="Arial"/>
                          <a:cs typeface="Arial"/>
                        </a:rPr>
                        <a:t>Validation</a:t>
                      </a:r>
                    </a:p>
                  </a:txBody>
                  <a:tcPr marL="91440" marR="91440" marT="45720" marB="45720">
                    <a:solidFill>
                      <a:srgbClr val="FFFFFF"/>
                    </a:solidFill>
                  </a:tcPr>
                </a:tc>
                <a:tc>
                  <a:txBody>
                    <a:bodyPr/>
                    <a:lstStyle/>
                    <a:p>
                      <a:r>
                        <a:rPr sz="1725" b="0">
                          <a:solidFill>
                            <a:srgbClr val="24384D"/>
                          </a:solidFill>
                          <a:latin typeface="Arial"/>
                          <a:ea typeface="Arial"/>
                          <a:cs typeface="Arial"/>
                        </a:rPr>
                        <a:t>64</a:t>
                      </a:r>
                    </a:p>
                  </a:txBody>
                  <a:tcPr marL="91440" marR="91440" marT="45720" marB="45720">
                    <a:solidFill>
                      <a:srgbClr val="FFFFFF"/>
                    </a:solidFill>
                  </a:tcPr>
                </a:tc>
                <a:tc>
                  <a:txBody>
                    <a:bodyPr/>
                    <a:lstStyle/>
                    <a:p>
                      <a:r>
                        <a:rPr sz="1725" b="0">
                          <a:solidFill>
                            <a:srgbClr val="24384D"/>
                          </a:solidFill>
                          <a:latin typeface="Arial"/>
                          <a:ea typeface="Arial"/>
                          <a:cs typeface="Arial"/>
                        </a:rPr>
                        <a:t>193 × 4</a:t>
                      </a:r>
                    </a:p>
                  </a:txBody>
                  <a:tcPr marL="91440" marR="91440" marT="45720" marB="45720">
                    <a:solidFill>
                      <a:srgbClr val="FFFFFF"/>
                    </a:solidFill>
                  </a:tcPr>
                </a:tc>
                <a:tc>
                  <a:txBody>
                    <a:bodyPr/>
                    <a:lstStyle/>
                    <a:p>
                      <a:r>
                        <a:rPr sz="1725" b="0">
                          <a:solidFill>
                            <a:srgbClr val="24384D"/>
                          </a:solidFill>
                          <a:latin typeface="Arial"/>
                          <a:ea typeface="Arial"/>
                          <a:cs typeface="Arial"/>
                        </a:rPr>
                        <a:t>11,840</a:t>
                      </a:r>
                    </a:p>
                  </a:txBody>
                  <a:tcPr marL="91440" marR="91440" marT="45720" marB="45720">
                    <a:solidFill>
                      <a:srgbClr val="FFFFFF"/>
                    </a:solidFill>
                  </a:tcPr>
                </a:tc>
              </a:tr>
              <a:tr h="690563">
                <a:tc>
                  <a:txBody>
                    <a:bodyPr/>
                    <a:lstStyle/>
                    <a:p>
                      <a:r>
                        <a:rPr sz="1725" b="0">
                          <a:solidFill>
                            <a:srgbClr val="24384D"/>
                          </a:solidFill>
                          <a:latin typeface="Arial"/>
                          <a:ea typeface="Arial"/>
                          <a:cs typeface="Arial"/>
                        </a:rPr>
                        <a:t>Test</a:t>
                      </a:r>
                    </a:p>
                  </a:txBody>
                  <a:tcPr marL="91440" marR="91440" marT="45720" marB="45720">
                    <a:solidFill>
                      <a:srgbClr val="F0F4F7"/>
                    </a:solidFill>
                  </a:tcPr>
                </a:tc>
                <a:tc>
                  <a:txBody>
                    <a:bodyPr/>
                    <a:lstStyle/>
                    <a:p>
                      <a:r>
                        <a:rPr sz="1725" b="0">
                          <a:solidFill>
                            <a:srgbClr val="24384D"/>
                          </a:solidFill>
                          <a:latin typeface="Arial"/>
                          <a:ea typeface="Arial"/>
                          <a:cs typeface="Arial"/>
                        </a:rPr>
                        <a:t>64</a:t>
                      </a:r>
                    </a:p>
                  </a:txBody>
                  <a:tcPr marL="91440" marR="91440" marT="45720" marB="45720">
                    <a:solidFill>
                      <a:srgbClr val="F0F4F7"/>
                    </a:solidFill>
                  </a:tcPr>
                </a:tc>
                <a:tc>
                  <a:txBody>
                    <a:bodyPr/>
                    <a:lstStyle/>
                    <a:p>
                      <a:r>
                        <a:rPr sz="1725" b="0">
                          <a:solidFill>
                            <a:srgbClr val="24384D"/>
                          </a:solidFill>
                          <a:latin typeface="Arial"/>
                          <a:ea typeface="Arial"/>
                          <a:cs typeface="Arial"/>
                        </a:rPr>
                        <a:t>193 × 4</a:t>
                      </a:r>
                    </a:p>
                  </a:txBody>
                  <a:tcPr marL="91440" marR="91440" marT="45720" marB="45720">
                    <a:solidFill>
                      <a:srgbClr val="F0F4F7"/>
                    </a:solidFill>
                  </a:tcPr>
                </a:tc>
                <a:tc>
                  <a:txBody>
                    <a:bodyPr/>
                    <a:lstStyle/>
                    <a:p>
                      <a:r>
                        <a:rPr sz="1725" b="0">
                          <a:solidFill>
                            <a:srgbClr val="24384D"/>
                          </a:solidFill>
                          <a:latin typeface="Arial"/>
                          <a:ea typeface="Arial"/>
                          <a:cs typeface="Arial"/>
                        </a:rPr>
                        <a:t>11,840</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EBAAB3C3-2E5B-4155-B511-A695704E174C}"/>
              </a:ext>
            </a:extLst>
          </p:cNvPr>
          <p:cNvSpPr>
            <a:spLocks xmlns:a="http://schemas.openxmlformats.org/drawingml/2006/main" noGrp="1"/>
          </p:cNvSpPr>
          <p:nvPr/>
        </p:nvSpPr>
        <p:spPr>
          <a:xfrm xmlns:a="http://schemas.openxmlformats.org/drawingml/2006/main">
            <a:off x="571500" y="48577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One input and one target</a:t>
            </a:r>
          </a:p>
        </p:txBody>
      </p:sp>
      <p:sp>
        <p:nvSpPr>
          <p:cNvPr id="7" name="">
            <a:extLst xmlns:a="http://schemas.openxmlformats.org/drawingml/2006/main">
              <a:ext uri="{FF2B5EF4-FFF2-40B4-BE49-F238E27FC236}">
                <a16:creationId xmlns:a16="http://schemas.microsoft.com/office/drawing/2014/main" id="{926F83A7-CD78-4868-9605-C50D51C53E6E}"/>
              </a:ext>
            </a:extLst>
          </p:cNvPr>
          <p:cNvSpPr>
            <a:spLocks xmlns:a="http://schemas.openxmlformats.org/drawingml/2006/main" noGrp="1"/>
          </p:cNvSpPr>
          <p:nvPr/>
        </p:nvSpPr>
        <p:spPr>
          <a:xfrm xmlns:a="http://schemas.openxmlformats.org/drawingml/2006/main">
            <a:off x="571500" y="52578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Eight observed states become 32 input values. The target is the next four-dimensional state.</a:t>
            </a:r>
          </a:p>
        </p:txBody>
      </p:sp>
    </p:spTree>
    <p:extLst>
      <p:ext uri="{BB962C8B-B14F-4D97-AF65-F5344CB8AC3E}">
        <p14:creationId xmlns:p14="http://schemas.microsoft.com/office/powerpoint/2010/main" val="211656123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380DBE-F1E9-4CFB-B95C-083B0817A3A0}"/>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METHOD</a:t>
            </a:r>
          </a:p>
        </p:txBody>
      </p:sp>
      <p:sp>
        <p:nvSpPr>
          <p:cNvPr id="2" name="">
            <a:extLst xmlns:a="http://schemas.openxmlformats.org/drawingml/2006/main">
              <a:ext uri="{FF2B5EF4-FFF2-40B4-BE49-F238E27FC236}">
                <a16:creationId xmlns:a16="http://schemas.microsoft.com/office/drawing/2014/main" id="{7F5252FB-120A-45AC-8BEA-9CC584255236}"/>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Preprocessing and information boundaries</a:t>
            </a:r>
          </a:p>
        </p:txBody>
      </p:sp>
      <p:sp>
        <p:nvSpPr>
          <p:cNvPr id="3" name="">
            <a:extLst xmlns:a="http://schemas.openxmlformats.org/drawingml/2006/main">
              <a:ext uri="{FF2B5EF4-FFF2-40B4-BE49-F238E27FC236}">
                <a16:creationId xmlns:a16="http://schemas.microsoft.com/office/drawing/2014/main" id="{21803602-9DF3-43F0-B02C-1B74B7DA6E51}"/>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166E3ABE-3432-4AB5-BC19-9DA87C60084E}"/>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48344966-5405-4F2B-91DC-CE607F262DDD}"/>
              </a:ext>
            </a:extLst>
          </p:cNvPr>
          <p:cNvSpPr>
            <a:spLocks xmlns:a="http://schemas.openxmlformats.org/drawingml/2006/main" noGrp="1"/>
          </p:cNvSpPr>
          <p:nvPr/>
        </p:nvSpPr>
        <p:spPr>
          <a:xfrm xmlns:a="http://schemas.openxmlformats.org/drawingml/2006/main">
            <a:off x="571500" y="17907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Training-only normalization</a:t>
            </a:r>
          </a:p>
        </p:txBody>
      </p:sp>
      <p:sp>
        <p:nvSpPr>
          <p:cNvPr id="6" name="">
            <a:extLst xmlns:a="http://schemas.openxmlformats.org/drawingml/2006/main">
              <a:ext uri="{FF2B5EF4-FFF2-40B4-BE49-F238E27FC236}">
                <a16:creationId xmlns:a16="http://schemas.microsoft.com/office/drawing/2014/main" id="{1AAB37A6-FB32-4AB6-9A34-322D7C5EA2F9}"/>
              </a:ext>
            </a:extLst>
          </p:cNvPr>
          <p:cNvSpPr>
            <a:spLocks xmlns:a="http://schemas.openxmlformats.org/drawingml/2006/main" noGrp="1"/>
          </p:cNvSpPr>
          <p:nvPr/>
        </p:nvSpPr>
        <p:spPr>
          <a:xfrm xmlns:a="http://schemas.openxmlformats.org/drawingml/2006/main">
            <a:off x="571500" y="2190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Estimate four means and standard deviations from training states. Apply the same transform to validation and test histories and targets.</a:t>
            </a:r>
          </a:p>
        </p:txBody>
      </p:sp>
      <p:sp>
        <p:nvSpPr>
          <p:cNvPr id="7" name="">
            <a:extLst xmlns:a="http://schemas.openxmlformats.org/drawingml/2006/main">
              <a:ext uri="{FF2B5EF4-FFF2-40B4-BE49-F238E27FC236}">
                <a16:creationId xmlns:a16="http://schemas.microsoft.com/office/drawing/2014/main" id="{F6A68DBD-855D-4D11-A482-371DE5484AC3}"/>
              </a:ext>
            </a:extLst>
          </p:cNvPr>
          <p:cNvSpPr>
            <a:spLocks xmlns:a="http://schemas.openxmlformats.org/drawingml/2006/main" noGrp="1"/>
          </p:cNvSpPr>
          <p:nvPr/>
        </p:nvSpPr>
        <p:spPr>
          <a:xfrm xmlns:a="http://schemas.openxmlformats.org/drawingml/2006/main">
            <a:off x="571500" y="31432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Regime-label boundary</a:t>
            </a:r>
          </a:p>
        </p:txBody>
      </p:sp>
      <p:sp>
        <p:nvSpPr>
          <p:cNvPr id="8" name="">
            <a:extLst xmlns:a="http://schemas.openxmlformats.org/drawingml/2006/main">
              <a:ext uri="{FF2B5EF4-FFF2-40B4-BE49-F238E27FC236}">
                <a16:creationId xmlns:a16="http://schemas.microsoft.com/office/drawing/2014/main" id="{F2089EB4-9002-447F-8281-F30D0E72616F}"/>
              </a:ext>
            </a:extLst>
          </p:cNvPr>
          <p:cNvSpPr>
            <a:spLocks xmlns:a="http://schemas.openxmlformats.org/drawingml/2006/main" noGrp="1"/>
          </p:cNvSpPr>
          <p:nvPr/>
        </p:nvSpPr>
        <p:spPr>
          <a:xfrm xmlns:a="http://schemas.openxmlformats.org/drawingml/2006/main">
            <a:off x="571500" y="35433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Only the oracle receives the target transition’s true regime. Learned, random and dense models use observed histories only.</a:t>
            </a:r>
          </a:p>
        </p:txBody>
      </p:sp>
      <p:sp>
        <p:nvSpPr>
          <p:cNvPr id="9" name="">
            <a:extLst xmlns:a="http://schemas.openxmlformats.org/drawingml/2006/main">
              <a:ext uri="{FF2B5EF4-FFF2-40B4-BE49-F238E27FC236}">
                <a16:creationId xmlns:a16="http://schemas.microsoft.com/office/drawing/2014/main" id="{F0E1675B-50C7-4474-A3C6-68F0CCDFE147}"/>
              </a:ext>
            </a:extLst>
          </p:cNvPr>
          <p:cNvSpPr>
            <a:spLocks xmlns:a="http://schemas.openxmlformats.org/drawingml/2006/main" noGrp="1"/>
          </p:cNvSpPr>
          <p:nvPr/>
        </p:nvSpPr>
        <p:spPr>
          <a:xfrm xmlns:a="http://schemas.openxmlformats.org/drawingml/2006/main">
            <a:off x="571500" y="44958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Causal uncertainty at a switch</a:t>
            </a:r>
          </a:p>
        </p:txBody>
      </p:sp>
      <p:sp>
        <p:nvSpPr>
          <p:cNvPr id="10" name="">
            <a:extLst xmlns:a="http://schemas.openxmlformats.org/drawingml/2006/main">
              <a:ext uri="{FF2B5EF4-FFF2-40B4-BE49-F238E27FC236}">
                <a16:creationId xmlns:a16="http://schemas.microsoft.com/office/drawing/2014/main" id="{B556AA78-67A3-4CF3-8C89-98576108AB05}"/>
              </a:ext>
            </a:extLst>
          </p:cNvPr>
          <p:cNvSpPr>
            <a:spLocks xmlns:a="http://schemas.openxmlformats.org/drawingml/2006/main" noGrp="1"/>
          </p:cNvSpPr>
          <p:nvPr/>
        </p:nvSpPr>
        <p:spPr>
          <a:xfrm xmlns:a="http://schemas.openxmlformats.org/drawingml/2006/main">
            <a:off x="571500" y="48958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The next transition can change regime before its consequence becomes visible. Immediate switch errors therefore include genuine uncertainty.</a:t>
            </a:r>
          </a:p>
        </p:txBody>
      </p:sp>
    </p:spTree>
    <p:extLst>
      <p:ext uri="{BB962C8B-B14F-4D97-AF65-F5344CB8AC3E}">
        <p14:creationId xmlns:p14="http://schemas.microsoft.com/office/powerpoint/2010/main" val="19938196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D1614C2D-35BC-4571-B7CC-CA6E84B05725}"/>
              </a:ext>
            </a:extLst>
          </p:cNvPr>
          <p:cNvCxnSpPr>
            <a:stCxn xmlns:a="http://schemas.openxmlformats.org/drawingml/2006/main" id="9" idx="3"/>
            <a:endCxn xmlns:a="http://schemas.openxmlformats.org/drawingml/2006/main" id="10" idx="1"/>
          </p:cNvCxnSpPr>
          <p:nvPr/>
        </p:nvCxnSpPr>
        <p:spPr>
          <a:xfrm xmlns:a="http://schemas.openxmlformats.org/drawingml/2006/main" flipV="1">
            <a:off x="8953500" y="3643313"/>
            <a:ext cx="762000" cy="952500"/>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16" name="">
            <a:extLst xmlns:a="http://schemas.openxmlformats.org/drawingml/2006/main">
              <a:ext uri="{FF2B5EF4-FFF2-40B4-BE49-F238E27FC236}">
                <a16:creationId xmlns:a16="http://schemas.microsoft.com/office/drawing/2014/main" id="{09376EF5-0366-4E90-BA8A-8A436B10D999}"/>
              </a:ext>
            </a:extLst>
          </p:cNvPr>
          <p:cNvCxnSpPr>
            <a:stCxn xmlns:a="http://schemas.openxmlformats.org/drawingml/2006/main" id="6" idx="3"/>
            <a:endCxn xmlns:a="http://schemas.openxmlformats.org/drawingml/2006/main" id="9" idx="1"/>
          </p:cNvCxnSpPr>
          <p:nvPr/>
        </p:nvCxnSpPr>
        <p:spPr>
          <a:xfrm xmlns:a="http://schemas.openxmlformats.org/drawingml/2006/main">
            <a:off x="5619750" y="2190750"/>
            <a:ext cx="571500" cy="2405063"/>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15" name="">
            <a:extLst xmlns:a="http://schemas.openxmlformats.org/drawingml/2006/main">
              <a:ext uri="{FF2B5EF4-FFF2-40B4-BE49-F238E27FC236}">
                <a16:creationId xmlns:a16="http://schemas.microsoft.com/office/drawing/2014/main" id="{52AF3714-2C3D-4C17-9E03-47E642C6CDAA}"/>
              </a:ext>
            </a:extLst>
          </p:cNvPr>
          <p:cNvCxnSpPr>
            <a:stCxn xmlns:a="http://schemas.openxmlformats.org/drawingml/2006/main" id="8" idx="3"/>
            <a:endCxn xmlns:a="http://schemas.openxmlformats.org/drawingml/2006/main" id="10" idx="1"/>
          </p:cNvCxnSpPr>
          <p:nvPr/>
        </p:nvCxnSpPr>
        <p:spPr>
          <a:xfrm xmlns:a="http://schemas.openxmlformats.org/drawingml/2006/main">
            <a:off x="8953500" y="3405188"/>
            <a:ext cx="762000" cy="238125"/>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14" name="">
            <a:extLst xmlns:a="http://schemas.openxmlformats.org/drawingml/2006/main">
              <a:ext uri="{FF2B5EF4-FFF2-40B4-BE49-F238E27FC236}">
                <a16:creationId xmlns:a16="http://schemas.microsoft.com/office/drawing/2014/main" id="{C0CFC044-8CBE-4D29-A4A5-6E23A307A6DB}"/>
              </a:ext>
            </a:extLst>
          </p:cNvPr>
          <p:cNvCxnSpPr>
            <a:stCxn xmlns:a="http://schemas.openxmlformats.org/drawingml/2006/main" id="6" idx="3"/>
            <a:endCxn xmlns:a="http://schemas.openxmlformats.org/drawingml/2006/main" id="8" idx="1"/>
          </p:cNvCxnSpPr>
          <p:nvPr/>
        </p:nvCxnSpPr>
        <p:spPr>
          <a:xfrm xmlns:a="http://schemas.openxmlformats.org/drawingml/2006/main">
            <a:off x="5619750" y="2190750"/>
            <a:ext cx="571500" cy="1214438"/>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13" name="">
            <a:extLst xmlns:a="http://schemas.openxmlformats.org/drawingml/2006/main">
              <a:ext uri="{FF2B5EF4-FFF2-40B4-BE49-F238E27FC236}">
                <a16:creationId xmlns:a16="http://schemas.microsoft.com/office/drawing/2014/main" id="{B5A5B7E6-1E4E-4E3E-B0ED-10DC31545EB3}"/>
              </a:ext>
            </a:extLst>
          </p:cNvPr>
          <p:cNvCxnSpPr>
            <a:stCxn xmlns:a="http://schemas.openxmlformats.org/drawingml/2006/main" id="7" idx="3"/>
            <a:endCxn xmlns:a="http://schemas.openxmlformats.org/drawingml/2006/main" id="10" idx="1"/>
          </p:cNvCxnSpPr>
          <p:nvPr/>
        </p:nvCxnSpPr>
        <p:spPr>
          <a:xfrm xmlns:a="http://schemas.openxmlformats.org/drawingml/2006/main">
            <a:off x="8953500" y="2214563"/>
            <a:ext cx="762000" cy="1428750"/>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12" name="">
            <a:extLst xmlns:a="http://schemas.openxmlformats.org/drawingml/2006/main">
              <a:ext uri="{FF2B5EF4-FFF2-40B4-BE49-F238E27FC236}">
                <a16:creationId xmlns:a16="http://schemas.microsoft.com/office/drawing/2014/main" id="{DF5FB5F6-CDEE-442D-810B-9E0525F5F01F}"/>
              </a:ext>
            </a:extLst>
          </p:cNvPr>
          <p:cNvCxnSpPr>
            <a:stCxn xmlns:a="http://schemas.openxmlformats.org/drawingml/2006/main" id="6" idx="3"/>
            <a:endCxn xmlns:a="http://schemas.openxmlformats.org/drawingml/2006/main" id="7" idx="1"/>
          </p:cNvCxnSpPr>
          <p:nvPr/>
        </p:nvCxnSpPr>
        <p:spPr>
          <a:xfrm xmlns:a="http://schemas.openxmlformats.org/drawingml/2006/main">
            <a:off x="5619750" y="2190750"/>
            <a:ext cx="571500" cy="23813"/>
          </a:xfrm>
          <a:prstGeom xmlns:a="http://schemas.openxmlformats.org/drawingml/2006/main" prst="straightConnector1">
            <a:avLst/>
          </a:prstGeom>
          <a:ln xmlns:a="http://schemas.openxmlformats.org/drawingml/2006/main" w="19050">
            <a:solidFill>
              <a:srgbClr val="607083"/>
            </a:solidFill>
            <a:tailEnd type="arrow" w="med" len="med"/>
          </a:ln>
        </p:spPr>
      </p:cxnSp>
      <p:cxnSp>
        <p:nvCxnSpPr>
          <p:cNvPr id="11" name="">
            <a:extLst xmlns:a="http://schemas.openxmlformats.org/drawingml/2006/main">
              <a:ext uri="{FF2B5EF4-FFF2-40B4-BE49-F238E27FC236}">
                <a16:creationId xmlns:a16="http://schemas.microsoft.com/office/drawing/2014/main" id="{EB65CB65-C651-4BFF-B7FA-AED1A1B95AD8}"/>
              </a:ext>
            </a:extLst>
          </p:cNvPr>
          <p:cNvCxnSpPr>
            <a:stCxn xmlns:a="http://schemas.openxmlformats.org/drawingml/2006/main" id="5" idx="3"/>
            <a:endCxn xmlns:a="http://schemas.openxmlformats.org/drawingml/2006/main" id="6" idx="1"/>
          </p:cNvCxnSpPr>
          <p:nvPr/>
        </p:nvCxnSpPr>
        <p:spPr>
          <a:xfrm xmlns:a="http://schemas.openxmlformats.org/drawingml/2006/main" flipV="1">
            <a:off x="2619375" y="2190750"/>
            <a:ext cx="523875" cy="1423988"/>
          </a:xfrm>
          <a:prstGeom xmlns:a="http://schemas.openxmlformats.org/drawingml/2006/main" prst="straightConnector1">
            <a:avLst/>
          </a:prstGeom>
          <a:ln xmlns:a="http://schemas.openxmlformats.org/drawingml/2006/main" w="19050">
            <a:solidFill>
              <a:srgbClr val="607083"/>
            </a:solidFill>
            <a:tailEnd type="arrow" w="med" len="med"/>
          </a:ln>
        </p:spPr>
      </p:cxnSp>
      <p:sp>
        <p:nvSpPr>
          <p:cNvPr id="19" name="">
            <a:extLst xmlns:a="http://schemas.openxmlformats.org/drawingml/2006/main">
              <a:ext uri="{FF2B5EF4-FFF2-40B4-BE49-F238E27FC236}">
                <a16:creationId xmlns:a16="http://schemas.microsoft.com/office/drawing/2014/main" id="{F4DBB0C3-B2A1-48D4-A50E-E93AD9F913CE}"/>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METHOD</a:t>
            </a:r>
          </a:p>
        </p:txBody>
      </p:sp>
      <p:sp>
        <p:nvSpPr>
          <p:cNvPr id="2" name="">
            <a:extLst xmlns:a="http://schemas.openxmlformats.org/drawingml/2006/main">
              <a:ext uri="{FF2B5EF4-FFF2-40B4-BE49-F238E27FC236}">
                <a16:creationId xmlns:a16="http://schemas.microsoft.com/office/drawing/2014/main" id="{BCBB016D-A1ED-466A-B4FB-8BF263CDC3CF}"/>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Original MLP mixture architecture</a:t>
            </a:r>
          </a:p>
        </p:txBody>
      </p:sp>
      <p:sp>
        <p:nvSpPr>
          <p:cNvPr id="3" name="">
            <a:extLst xmlns:a="http://schemas.openxmlformats.org/drawingml/2006/main">
              <a:ext uri="{FF2B5EF4-FFF2-40B4-BE49-F238E27FC236}">
                <a16:creationId xmlns:a16="http://schemas.microsoft.com/office/drawing/2014/main" id="{11F984E2-0F95-4AA0-A53F-B9CF656C96E0}"/>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934C760B-453A-4F3B-AF5E-C772EDD6ACA1}"/>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BC37450D-EE97-4E99-BE66-C6CCD6E22297}"/>
              </a:ext>
            </a:extLst>
          </p:cNvPr>
          <p:cNvSpPr>
            <a:spLocks xmlns:a="http://schemas.openxmlformats.org/drawingml/2006/main" noGrp="1"/>
          </p:cNvSpPr>
          <p:nvPr/>
        </p:nvSpPr>
        <p:spPr>
          <a:xfrm xmlns:a="http://schemas.openxmlformats.org/drawingml/2006/main">
            <a:off x="571500" y="3162300"/>
            <a:ext cx="2047875" cy="904875"/>
          </a:xfrm>
          <a:prstGeom xmlns:a="http://schemas.openxmlformats.org/drawingml/2006/main" prst="rect">
            <a:avLst/>
          </a:prstGeom>
          <a:solidFill xmlns:a="http://schemas.openxmlformats.org/drawingml/2006/main">
            <a:srgbClr val="EEF3F7"/>
          </a:solidFill>
          <a:ln xmlns:a="http://schemas.openxmlformats.org/drawingml/2006/main" w="9525">
            <a:solidFill>
              <a:srgbClr val="9CAAB8"/>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buNone/>
              <a:defRPr sz="1800">
                <a:solidFill>
                  <a:srgbClr val="152B45"/>
                </a:solidFill>
                <a:latin typeface="Arial"/>
                <a:ea typeface="Arial"/>
                <a:cs typeface="Arial"/>
              </a:defRPr>
            </a:pPr>
            <a:r>
              <a:rPr sz="1800">
                <a:solidFill>
                  <a:srgbClr val="152B45"/>
                </a:solidFill>
                <a:latin typeface="Arial"/>
                <a:ea typeface="Arial"/>
                <a:cs typeface="Arial"/>
              </a:rPr>
              <a:t>8 observed states</a:t>
            </a:r>
          </a:p>
          <a:p xmlns:a="http://schemas.openxmlformats.org/drawingml/2006/main">
            <a:pPr algn="ctr">
              <a:buNone/>
              <a:defRPr sz="1800">
                <a:solidFill>
                  <a:srgbClr val="152B45"/>
                </a:solidFill>
                <a:latin typeface="Arial"/>
                <a:ea typeface="Arial"/>
                <a:cs typeface="Arial"/>
              </a:defRPr>
            </a:pPr>
            <a:r>
              <a:rPr sz="1800">
                <a:solidFill>
                  <a:srgbClr val="152B45"/>
                </a:solidFill>
                <a:latin typeface="Arial"/>
                <a:ea typeface="Arial"/>
                <a:cs typeface="Arial"/>
              </a:rPr>
              <a:t>32 values</a:t>
            </a:r>
          </a:p>
        </p:txBody>
      </p:sp>
      <p:sp>
        <p:nvSpPr>
          <p:cNvPr id="6" name="">
            <a:extLst xmlns:a="http://schemas.openxmlformats.org/drawingml/2006/main">
              <a:ext uri="{FF2B5EF4-FFF2-40B4-BE49-F238E27FC236}">
                <a16:creationId xmlns:a16="http://schemas.microsoft.com/office/drawing/2014/main" id="{685AB2C8-9EF7-4617-BA85-512189A6FC2F}"/>
              </a:ext>
            </a:extLst>
          </p:cNvPr>
          <p:cNvSpPr>
            <a:spLocks xmlns:a="http://schemas.openxmlformats.org/drawingml/2006/main" noGrp="1"/>
          </p:cNvSpPr>
          <p:nvPr/>
        </p:nvSpPr>
        <p:spPr>
          <a:xfrm xmlns:a="http://schemas.openxmlformats.org/drawingml/2006/main">
            <a:off x="3143250" y="1762125"/>
            <a:ext cx="2476500" cy="857250"/>
          </a:xfrm>
          <a:prstGeom xmlns:a="http://schemas.openxmlformats.org/drawingml/2006/main" prst="rect">
            <a:avLst/>
          </a:prstGeom>
          <a:solidFill xmlns:a="http://schemas.openxmlformats.org/drawingml/2006/main">
            <a:srgbClr val="EEF3F7"/>
          </a:solidFill>
          <a:ln xmlns:a="http://schemas.openxmlformats.org/drawingml/2006/main" w="9525">
            <a:solidFill>
              <a:srgbClr val="9CAAB8"/>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buNone/>
              <a:defRPr sz="1800">
                <a:solidFill>
                  <a:srgbClr val="152B45"/>
                </a:solidFill>
                <a:latin typeface="Arial"/>
                <a:ea typeface="Arial"/>
                <a:cs typeface="Arial"/>
              </a:defRPr>
            </a:pPr>
            <a:r>
              <a:rPr sz="1800">
                <a:solidFill>
                  <a:srgbClr val="152B45"/>
                </a:solidFill>
                <a:latin typeface="Arial"/>
                <a:ea typeface="Arial"/>
                <a:cs typeface="Arial"/>
              </a:rPr>
              <a:t>Router MLP</a:t>
            </a:r>
          </a:p>
          <a:p xmlns:a="http://schemas.openxmlformats.org/drawingml/2006/main">
            <a:pPr algn="ctr">
              <a:buNone/>
              <a:defRPr sz="1800">
                <a:solidFill>
                  <a:srgbClr val="152B45"/>
                </a:solidFill>
                <a:latin typeface="Arial"/>
                <a:ea typeface="Arial"/>
                <a:cs typeface="Arial"/>
              </a:defRPr>
            </a:pPr>
            <a:r>
              <a:rPr sz="1800">
                <a:solidFill>
                  <a:srgbClr val="152B45"/>
                </a:solidFill>
                <a:latin typeface="Arial"/>
                <a:ea typeface="Arial"/>
                <a:cs typeface="Arial"/>
              </a:rPr>
              <a:t>32 → 24 → 3</a:t>
            </a:r>
          </a:p>
        </p:txBody>
      </p:sp>
      <p:sp>
        <p:nvSpPr>
          <p:cNvPr id="7" name="">
            <a:extLst xmlns:a="http://schemas.openxmlformats.org/drawingml/2006/main">
              <a:ext uri="{FF2B5EF4-FFF2-40B4-BE49-F238E27FC236}">
                <a16:creationId xmlns:a16="http://schemas.microsoft.com/office/drawing/2014/main" id="{72454707-E287-4D28-BC20-E7A0179D5DD1}"/>
              </a:ext>
            </a:extLst>
          </p:cNvPr>
          <p:cNvSpPr>
            <a:spLocks xmlns:a="http://schemas.openxmlformats.org/drawingml/2006/main" noGrp="1"/>
          </p:cNvSpPr>
          <p:nvPr/>
        </p:nvSpPr>
        <p:spPr>
          <a:xfrm xmlns:a="http://schemas.openxmlformats.org/drawingml/2006/main">
            <a:off x="6191250" y="1809750"/>
            <a:ext cx="2762250" cy="809625"/>
          </a:xfrm>
          <a:prstGeom xmlns:a="http://schemas.openxmlformats.org/drawingml/2006/main" prst="rect">
            <a:avLst/>
          </a:prstGeom>
          <a:solidFill xmlns:a="http://schemas.openxmlformats.org/drawingml/2006/main">
            <a:srgbClr val="EEF3F7"/>
          </a:solidFill>
          <a:ln xmlns:a="http://schemas.openxmlformats.org/drawingml/2006/main" w="9525">
            <a:solidFill>
              <a:srgbClr val="9CAAB8"/>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buNone/>
              <a:defRPr sz="1800">
                <a:solidFill>
                  <a:srgbClr val="152B45"/>
                </a:solidFill>
                <a:latin typeface="Arial"/>
                <a:ea typeface="Arial"/>
                <a:cs typeface="Arial"/>
              </a:defRPr>
            </a:pPr>
            <a:r>
              <a:rPr sz="1800">
                <a:solidFill>
                  <a:srgbClr val="152B45"/>
                </a:solidFill>
                <a:latin typeface="Arial"/>
                <a:ea typeface="Arial"/>
                <a:cs typeface="Arial"/>
              </a:rPr>
              <a:t>Expert 0</a:t>
            </a:r>
          </a:p>
          <a:p xmlns:a="http://schemas.openxmlformats.org/drawingml/2006/main">
            <a:pPr algn="ctr">
              <a:buNone/>
              <a:defRPr sz="1800">
                <a:solidFill>
                  <a:srgbClr val="152B45"/>
                </a:solidFill>
                <a:latin typeface="Arial"/>
                <a:ea typeface="Arial"/>
                <a:cs typeface="Arial"/>
              </a:defRPr>
            </a:pPr>
            <a:r>
              <a:rPr sz="1800">
                <a:solidFill>
                  <a:srgbClr val="152B45"/>
                </a:solidFill>
                <a:latin typeface="Arial"/>
                <a:ea typeface="Arial"/>
                <a:cs typeface="Arial"/>
              </a:rPr>
              <a:t>32 → 32 → 32 → 4</a:t>
            </a:r>
          </a:p>
        </p:txBody>
      </p:sp>
      <p:sp>
        <p:nvSpPr>
          <p:cNvPr id="8" name="">
            <a:extLst xmlns:a="http://schemas.openxmlformats.org/drawingml/2006/main">
              <a:ext uri="{FF2B5EF4-FFF2-40B4-BE49-F238E27FC236}">
                <a16:creationId xmlns:a16="http://schemas.microsoft.com/office/drawing/2014/main" id="{31F5A1F2-920D-45F8-A03B-9D16CDC076B5}"/>
              </a:ext>
            </a:extLst>
          </p:cNvPr>
          <p:cNvSpPr>
            <a:spLocks xmlns:a="http://schemas.openxmlformats.org/drawingml/2006/main" noGrp="1"/>
          </p:cNvSpPr>
          <p:nvPr/>
        </p:nvSpPr>
        <p:spPr>
          <a:xfrm xmlns:a="http://schemas.openxmlformats.org/drawingml/2006/main">
            <a:off x="6191250" y="3000375"/>
            <a:ext cx="2762250" cy="809625"/>
          </a:xfrm>
          <a:prstGeom xmlns:a="http://schemas.openxmlformats.org/drawingml/2006/main" prst="rect">
            <a:avLst/>
          </a:prstGeom>
          <a:solidFill xmlns:a="http://schemas.openxmlformats.org/drawingml/2006/main">
            <a:srgbClr val="EEF3F7"/>
          </a:solidFill>
          <a:ln xmlns:a="http://schemas.openxmlformats.org/drawingml/2006/main" w="9525">
            <a:solidFill>
              <a:srgbClr val="9CAAB8"/>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buNone/>
              <a:defRPr sz="1800">
                <a:solidFill>
                  <a:srgbClr val="152B45"/>
                </a:solidFill>
                <a:latin typeface="Arial"/>
                <a:ea typeface="Arial"/>
                <a:cs typeface="Arial"/>
              </a:defRPr>
            </a:pPr>
            <a:r>
              <a:rPr sz="1800">
                <a:solidFill>
                  <a:srgbClr val="152B45"/>
                </a:solidFill>
                <a:latin typeface="Arial"/>
                <a:ea typeface="Arial"/>
                <a:cs typeface="Arial"/>
              </a:rPr>
              <a:t>Expert 1</a:t>
            </a:r>
          </a:p>
          <a:p xmlns:a="http://schemas.openxmlformats.org/drawingml/2006/main">
            <a:pPr algn="ctr">
              <a:buNone/>
              <a:defRPr sz="1800">
                <a:solidFill>
                  <a:srgbClr val="152B45"/>
                </a:solidFill>
                <a:latin typeface="Arial"/>
                <a:ea typeface="Arial"/>
                <a:cs typeface="Arial"/>
              </a:defRPr>
            </a:pPr>
            <a:r>
              <a:rPr sz="1800">
                <a:solidFill>
                  <a:srgbClr val="152B45"/>
                </a:solidFill>
                <a:latin typeface="Arial"/>
                <a:ea typeface="Arial"/>
                <a:cs typeface="Arial"/>
              </a:rPr>
              <a:t>32 → 32 → 32 → 4</a:t>
            </a:r>
          </a:p>
        </p:txBody>
      </p:sp>
      <p:sp>
        <p:nvSpPr>
          <p:cNvPr id="9" name="">
            <a:extLst xmlns:a="http://schemas.openxmlformats.org/drawingml/2006/main">
              <a:ext uri="{FF2B5EF4-FFF2-40B4-BE49-F238E27FC236}">
                <a16:creationId xmlns:a16="http://schemas.microsoft.com/office/drawing/2014/main" id="{48944F8A-4DD3-46BA-98A6-986EF7237BDA}"/>
              </a:ext>
            </a:extLst>
          </p:cNvPr>
          <p:cNvSpPr>
            <a:spLocks xmlns:a="http://schemas.openxmlformats.org/drawingml/2006/main" noGrp="1"/>
          </p:cNvSpPr>
          <p:nvPr/>
        </p:nvSpPr>
        <p:spPr>
          <a:xfrm xmlns:a="http://schemas.openxmlformats.org/drawingml/2006/main">
            <a:off x="6191250" y="4191000"/>
            <a:ext cx="2762250" cy="809625"/>
          </a:xfrm>
          <a:prstGeom xmlns:a="http://schemas.openxmlformats.org/drawingml/2006/main" prst="rect">
            <a:avLst/>
          </a:prstGeom>
          <a:solidFill xmlns:a="http://schemas.openxmlformats.org/drawingml/2006/main">
            <a:srgbClr val="EEF3F7"/>
          </a:solidFill>
          <a:ln xmlns:a="http://schemas.openxmlformats.org/drawingml/2006/main" w="9525">
            <a:solidFill>
              <a:srgbClr val="9CAAB8"/>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buNone/>
              <a:defRPr sz="1800">
                <a:solidFill>
                  <a:srgbClr val="152B45"/>
                </a:solidFill>
                <a:latin typeface="Arial"/>
                <a:ea typeface="Arial"/>
                <a:cs typeface="Arial"/>
              </a:defRPr>
            </a:pPr>
            <a:r>
              <a:rPr sz="1800">
                <a:solidFill>
                  <a:srgbClr val="152B45"/>
                </a:solidFill>
                <a:latin typeface="Arial"/>
                <a:ea typeface="Arial"/>
                <a:cs typeface="Arial"/>
              </a:rPr>
              <a:t>Expert 2</a:t>
            </a:r>
          </a:p>
          <a:p xmlns:a="http://schemas.openxmlformats.org/drawingml/2006/main">
            <a:pPr algn="ctr">
              <a:buNone/>
              <a:defRPr sz="1800">
                <a:solidFill>
                  <a:srgbClr val="152B45"/>
                </a:solidFill>
                <a:latin typeface="Arial"/>
                <a:ea typeface="Arial"/>
                <a:cs typeface="Arial"/>
              </a:defRPr>
            </a:pPr>
            <a:r>
              <a:rPr sz="1800">
                <a:solidFill>
                  <a:srgbClr val="152B45"/>
                </a:solidFill>
                <a:latin typeface="Arial"/>
                <a:ea typeface="Arial"/>
                <a:cs typeface="Arial"/>
              </a:rPr>
              <a:t>32 → 32 → 32 → 4</a:t>
            </a:r>
          </a:p>
        </p:txBody>
      </p:sp>
      <p:sp>
        <p:nvSpPr>
          <p:cNvPr id="10" name="">
            <a:extLst xmlns:a="http://schemas.openxmlformats.org/drawingml/2006/main">
              <a:ext uri="{FF2B5EF4-FFF2-40B4-BE49-F238E27FC236}">
                <a16:creationId xmlns:a16="http://schemas.microsoft.com/office/drawing/2014/main" id="{E1F74AE4-F96F-4A00-9019-584FA3440368}"/>
              </a:ext>
            </a:extLst>
          </p:cNvPr>
          <p:cNvSpPr>
            <a:spLocks xmlns:a="http://schemas.openxmlformats.org/drawingml/2006/main" noGrp="1"/>
          </p:cNvSpPr>
          <p:nvPr/>
        </p:nvSpPr>
        <p:spPr>
          <a:xfrm xmlns:a="http://schemas.openxmlformats.org/drawingml/2006/main">
            <a:off x="9715500" y="3190875"/>
            <a:ext cx="2000250" cy="904875"/>
          </a:xfrm>
          <a:prstGeom xmlns:a="http://schemas.openxmlformats.org/drawingml/2006/main" prst="rect">
            <a:avLst/>
          </a:prstGeom>
          <a:solidFill xmlns:a="http://schemas.openxmlformats.org/drawingml/2006/main">
            <a:srgbClr val="EEF3F7"/>
          </a:solidFill>
          <a:ln xmlns:a="http://schemas.openxmlformats.org/drawingml/2006/main" w="9525">
            <a:solidFill>
              <a:srgbClr val="9CAAB8"/>
            </a:solidFill>
          </a:ln>
        </p:spPr>
        <p:txBody>
          <a:bodyPr xmlns:a="http://schemas.openxmlformats.org/drawingml/2006/main" anchor="ctr"/>
          <a:lstStyle xmlns:a="http://schemas.openxmlformats.org/drawingml/2006/main">
            <a:defPPr algn="ctr">
              <a:defRPr sz="1800">
                <a:solidFill>
                  <a:srgbClr val="152B45"/>
                </a:solidFill>
                <a:latin typeface="Arial"/>
                <a:ea typeface="Arial"/>
                <a:cs typeface="Arial"/>
              </a:defRPr>
            </a:defPPr>
          </a:lstStyle>
          <a:p xmlns:a="http://schemas.openxmlformats.org/drawingml/2006/main">
            <a:pPr algn="ctr">
              <a:buNone/>
              <a:defRPr sz="1800">
                <a:solidFill>
                  <a:srgbClr val="152B45"/>
                </a:solidFill>
                <a:latin typeface="Arial"/>
                <a:ea typeface="Arial"/>
                <a:cs typeface="Arial"/>
              </a:defRPr>
            </a:pPr>
            <a:r>
              <a:rPr sz="1800">
                <a:solidFill>
                  <a:srgbClr val="152B45"/>
                </a:solidFill>
                <a:latin typeface="Arial"/>
                <a:ea typeface="Arial"/>
                <a:cs typeface="Arial"/>
              </a:rPr>
              <a:t>Weighted sum</a:t>
            </a:r>
          </a:p>
          <a:p xmlns:a="http://schemas.openxmlformats.org/drawingml/2006/main">
            <a:pPr algn="ctr">
              <a:buNone/>
              <a:defRPr sz="1800">
                <a:solidFill>
                  <a:srgbClr val="152B45"/>
                </a:solidFill>
                <a:latin typeface="Arial"/>
                <a:ea typeface="Arial"/>
                <a:cs typeface="Arial"/>
              </a:defRPr>
            </a:pPr>
            <a:r>
              <a:rPr sz="1800">
                <a:solidFill>
                  <a:srgbClr val="152B45"/>
                </a:solidFill>
                <a:latin typeface="Arial"/>
                <a:ea typeface="Arial"/>
                <a:cs typeface="Arial"/>
              </a:rPr>
              <a:t>4-state prediction</a:t>
            </a:r>
          </a:p>
        </p:txBody>
      </p:sp>
      <p:sp>
        <p:nvSpPr>
          <p:cNvPr id="18" name="">
            <a:extLst xmlns:a="http://schemas.openxmlformats.org/drawingml/2006/main">
              <a:ext uri="{FF2B5EF4-FFF2-40B4-BE49-F238E27FC236}">
                <a16:creationId xmlns:a16="http://schemas.microsoft.com/office/drawing/2014/main" id="{63658C28-DFCA-4371-A7D7-524F39812800}"/>
              </a:ext>
            </a:extLst>
          </p:cNvPr>
          <p:cNvSpPr>
            <a:spLocks xmlns:a="http://schemas.openxmlformats.org/drawingml/2006/main" noGrp="1"/>
          </p:cNvSpPr>
          <p:nvPr/>
        </p:nvSpPr>
        <p:spPr>
          <a:xfrm xmlns:a="http://schemas.openxmlformats.org/drawingml/2006/main">
            <a:off x="619125" y="56197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87E8B"/>
                </a:solidFill>
                <a:latin typeface="Arial"/>
                <a:ea typeface="Arial"/>
                <a:cs typeface="Arial"/>
              </a:defRPr>
            </a:defPPr>
          </a:lstStyle>
          <a:p xmlns:a="http://schemas.openxmlformats.org/drawingml/2006/main">
            <a:pPr>
              <a:buNone/>
              <a:defRPr sz="1875" b="1">
                <a:solidFill>
                  <a:srgbClr val="087E8B"/>
                </a:solidFill>
                <a:latin typeface="Arial"/>
                <a:ea typeface="Arial"/>
                <a:cs typeface="Arial"/>
              </a:defRPr>
            </a:pPr>
            <a:r>
              <a:rPr sz="1875" b="1">
                <a:solidFill>
                  <a:srgbClr val="087E8B"/>
                </a:solidFill>
                <a:latin typeface="Arial"/>
                <a:ea typeface="Arial"/>
                <a:cs typeface="Arial"/>
              </a:rPr>
              <a:t>Same history enters each selected expert. Top-2 routing activates two experts per window.</a:t>
            </a:r>
          </a:p>
        </p:txBody>
      </p:sp>
    </p:spTree>
    <p:extLst>
      <p:ext uri="{BB962C8B-B14F-4D97-AF65-F5344CB8AC3E}">
        <p14:creationId xmlns:p14="http://schemas.microsoft.com/office/powerpoint/2010/main" val="1098432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C388FDB-0B78-43AC-9D8D-83F7244B67E9}"/>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METHOD</a:t>
            </a:r>
          </a:p>
        </p:txBody>
      </p:sp>
      <p:sp>
        <p:nvSpPr>
          <p:cNvPr id="2" name="">
            <a:extLst xmlns:a="http://schemas.openxmlformats.org/drawingml/2006/main">
              <a:ext uri="{FF2B5EF4-FFF2-40B4-BE49-F238E27FC236}">
                <a16:creationId xmlns:a16="http://schemas.microsoft.com/office/drawing/2014/main" id="{5A4A94BB-34FD-4C06-B684-9B23789B33B0}"/>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Sparse routing and the training objective</a:t>
            </a:r>
          </a:p>
        </p:txBody>
      </p:sp>
      <p:sp>
        <p:nvSpPr>
          <p:cNvPr id="3" name="">
            <a:extLst xmlns:a="http://schemas.openxmlformats.org/drawingml/2006/main">
              <a:ext uri="{FF2B5EF4-FFF2-40B4-BE49-F238E27FC236}">
                <a16:creationId xmlns:a16="http://schemas.microsoft.com/office/drawing/2014/main" id="{D779C433-F9EC-40B7-81B6-A6960E4E92E0}"/>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893F21E5-9A17-4FAE-97CC-2A87091445BD}"/>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1AA10DF2-B42E-4892-BA6A-2D5624A2FD3A}"/>
              </a:ext>
            </a:extLst>
          </p:cNvPr>
          <p:cNvSpPr>
            <a:spLocks xmlns:a="http://schemas.openxmlformats.org/drawingml/2006/main" noGrp="1"/>
          </p:cNvSpPr>
          <p:nvPr/>
        </p:nvSpPr>
        <p:spPr>
          <a:xfrm xmlns:a="http://schemas.openxmlformats.org/drawingml/2006/main">
            <a:off x="571500" y="17335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Top-2 gate</a:t>
            </a:r>
          </a:p>
        </p:txBody>
      </p:sp>
      <p:sp>
        <p:nvSpPr>
          <p:cNvPr id="6" name="">
            <a:extLst xmlns:a="http://schemas.openxmlformats.org/drawingml/2006/main">
              <a:ext uri="{FF2B5EF4-FFF2-40B4-BE49-F238E27FC236}">
                <a16:creationId xmlns:a16="http://schemas.microsoft.com/office/drawing/2014/main" id="{C2F5A0D6-D069-4B68-A900-86897C769F43}"/>
              </a:ext>
            </a:extLst>
          </p:cNvPr>
          <p:cNvSpPr>
            <a:spLocks xmlns:a="http://schemas.openxmlformats.org/drawingml/2006/main" noGrp="1"/>
          </p:cNvSpPr>
          <p:nvPr/>
        </p:nvSpPr>
        <p:spPr>
          <a:xfrm xmlns:a="http://schemas.openxmlformats.org/drawingml/2006/main">
            <a:off x="571500" y="21336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Compute three probabilities, keep the two largest, and renormalize their weights to sum to one.</a:t>
            </a:r>
          </a:p>
        </p:txBody>
      </p:sp>
      <p:sp>
        <p:nvSpPr>
          <p:cNvPr id="7" name="">
            <a:extLst xmlns:a="http://schemas.openxmlformats.org/drawingml/2006/main">
              <a:ext uri="{FF2B5EF4-FFF2-40B4-BE49-F238E27FC236}">
                <a16:creationId xmlns:a16="http://schemas.microsoft.com/office/drawing/2014/main" id="{882777A3-1EBD-4DF8-BF50-FF16B8D0A22D}"/>
              </a:ext>
            </a:extLst>
          </p:cNvPr>
          <p:cNvSpPr>
            <a:spLocks xmlns:a="http://schemas.openxmlformats.org/drawingml/2006/main" noGrp="1"/>
          </p:cNvSpPr>
          <p:nvPr/>
        </p:nvSpPr>
        <p:spPr>
          <a:xfrm xmlns:a="http://schemas.openxmlformats.org/drawingml/2006/main">
            <a:off x="619125" y="303847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2B45"/>
                </a:solidFill>
                <a:latin typeface="Arial"/>
                <a:ea typeface="Arial"/>
                <a:cs typeface="Arial"/>
              </a:defRPr>
            </a:defPPr>
          </a:lstStyle>
          <a:p xmlns:a="http://schemas.openxmlformats.org/drawingml/2006/main">
            <a:pPr>
              <a:buNone/>
              <a:defRPr sz="2700" b="1">
                <a:solidFill>
                  <a:srgbClr val="152B45"/>
                </a:solidFill>
                <a:latin typeface="Arial"/>
                <a:ea typeface="Arial"/>
                <a:cs typeface="Arial"/>
              </a:defRPr>
            </a:pPr>
            <a:r>
              <a:rPr sz="2700" b="1">
                <a:solidFill>
                  <a:srgbClr val="152B45"/>
                </a:solidFill>
                <a:latin typeface="Arial"/>
                <a:ea typeface="Arial"/>
                <a:cs typeface="Arial"/>
              </a:rPr>
              <a:t>ŷ = Σ selected w[e] Expert[e](history)</a:t>
            </a:r>
          </a:p>
        </p:txBody>
      </p:sp>
      <p:sp>
        <p:nvSpPr>
          <p:cNvPr id="8" name="">
            <a:extLst xmlns:a="http://schemas.openxmlformats.org/drawingml/2006/main">
              <a:ext uri="{FF2B5EF4-FFF2-40B4-BE49-F238E27FC236}">
                <a16:creationId xmlns:a16="http://schemas.microsoft.com/office/drawing/2014/main" id="{2E836016-8575-415B-A94A-07FE13E7BCEC}"/>
              </a:ext>
            </a:extLst>
          </p:cNvPr>
          <p:cNvSpPr>
            <a:spLocks xmlns:a="http://schemas.openxmlformats.org/drawingml/2006/main" noGrp="1"/>
          </p:cNvSpPr>
          <p:nvPr/>
        </p:nvSpPr>
        <p:spPr>
          <a:xfrm xmlns:a="http://schemas.openxmlformats.org/drawingml/2006/main">
            <a:off x="571500" y="38766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Loss</a:t>
            </a:r>
          </a:p>
        </p:txBody>
      </p:sp>
      <p:sp>
        <p:nvSpPr>
          <p:cNvPr id="9" name="">
            <a:extLst xmlns:a="http://schemas.openxmlformats.org/drawingml/2006/main">
              <a:ext uri="{FF2B5EF4-FFF2-40B4-BE49-F238E27FC236}">
                <a16:creationId xmlns:a16="http://schemas.microsoft.com/office/drawing/2014/main" id="{6CB05239-4B26-47CA-9062-8E4DADB8109B}"/>
              </a:ext>
            </a:extLst>
          </p:cNvPr>
          <p:cNvSpPr>
            <a:spLocks xmlns:a="http://schemas.openxmlformats.org/drawingml/2006/main" noGrp="1"/>
          </p:cNvSpPr>
          <p:nvPr/>
        </p:nvSpPr>
        <p:spPr>
          <a:xfrm xmlns:a="http://schemas.openxmlformats.org/drawingml/2006/main">
            <a:off x="571500" y="42767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Normalized prediction MSE + 0.01 × 3 × Σe f[e] · mean(p[e])</a:t>
            </a:r>
          </a:p>
        </p:txBody>
      </p:sp>
      <p:sp>
        <p:nvSpPr>
          <p:cNvPr id="10" name="">
            <a:extLst xmlns:a="http://schemas.openxmlformats.org/drawingml/2006/main">
              <a:ext uri="{FF2B5EF4-FFF2-40B4-BE49-F238E27FC236}">
                <a16:creationId xmlns:a16="http://schemas.microsoft.com/office/drawing/2014/main" id="{5293F9AA-A3F1-4979-83F1-B033B5AD3AA3}"/>
              </a:ext>
            </a:extLst>
          </p:cNvPr>
          <p:cNvSpPr>
            <a:spLocks xmlns:a="http://schemas.openxmlformats.org/drawingml/2006/main" noGrp="1"/>
          </p:cNvSpPr>
          <p:nvPr/>
        </p:nvSpPr>
        <p:spPr>
          <a:xfrm xmlns:a="http://schemas.openxmlformats.org/drawingml/2006/main">
            <a:off x="619125" y="48958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f[e] is the fraction of selected slots assigned to expert e. Its gradient is stopped.</a:t>
            </a:r>
          </a:p>
        </p:txBody>
      </p:sp>
      <p:sp>
        <p:nvSpPr>
          <p:cNvPr id="11" name="">
            <a:extLst xmlns:a="http://schemas.openxmlformats.org/drawingml/2006/main">
              <a:ext uri="{FF2B5EF4-FFF2-40B4-BE49-F238E27FC236}">
                <a16:creationId xmlns:a16="http://schemas.microsoft.com/office/drawing/2014/main" id="{2CF93CD2-A76A-4771-8B2C-78E3780C49C8}"/>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Sparse dispatch evaluates an expert only for the batch rows that select it.</a:t>
            </a:r>
          </a:p>
        </p:txBody>
      </p:sp>
    </p:spTree>
    <p:extLst>
      <p:ext uri="{BB962C8B-B14F-4D97-AF65-F5344CB8AC3E}">
        <p14:creationId xmlns:p14="http://schemas.microsoft.com/office/powerpoint/2010/main" val="22674239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3E9D03-070D-42F4-9EDD-1AC71CE1616F}"/>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EXPERIMENT</a:t>
            </a:r>
          </a:p>
        </p:txBody>
      </p:sp>
      <p:sp>
        <p:nvSpPr>
          <p:cNvPr id="2" name="">
            <a:extLst xmlns:a="http://schemas.openxmlformats.org/drawingml/2006/main">
              <a:ext uri="{FF2B5EF4-FFF2-40B4-BE49-F238E27FC236}">
                <a16:creationId xmlns:a16="http://schemas.microsoft.com/office/drawing/2014/main" id="{53C45E2F-0ED1-48C5-BAD9-E0C5F5D1A944}"/>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Original MLP families and capacity controls</a:t>
            </a:r>
          </a:p>
        </p:txBody>
      </p:sp>
      <p:sp>
        <p:nvSpPr>
          <p:cNvPr id="3" name="">
            <a:extLst xmlns:a="http://schemas.openxmlformats.org/drawingml/2006/main">
              <a:ext uri="{FF2B5EF4-FFF2-40B4-BE49-F238E27FC236}">
                <a16:creationId xmlns:a16="http://schemas.microsoft.com/office/drawing/2014/main" id="{B9A38460-9A59-4C79-8EC9-A6F87E806286}"/>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C670567E-209E-498D-856D-E5730BC81CDC}"/>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19</a:t>
            </a:r>
          </a:p>
        </p:txBody>
      </p:sp>
      <p:graphicFrame>
        <p:nvGraphicFramePr>
          <p:cNvPr id="5" name="">
            <a:extLst xmlns:a="http://schemas.openxmlformats.org/drawingml/2006/main">
              <a:ext uri="{FF2B5EF4-FFF2-40B4-BE49-F238E27FC236}">
                <a16:creationId xmlns:a16="http://schemas.microsoft.com/office/drawing/2014/main" id="{CE77B920-5DC5-460F-9EC5-27DAC29CB35C}"/>
              </a:ext>
            </a:extLst>
          </p:cNvPr>
          <p:cNvGraphicFramePr/>
          <p:nvPr/>
        </p:nvGraphicFramePr>
        <p:xfrm>
          <a:off xmlns:a="http://schemas.openxmlformats.org/drawingml/2006/main" x="571500" y="1714500"/>
          <a:ext xmlns:a="http://schemas.openxmlformats.org/drawingml/2006/main" cx="11049000" cy="3667125"/>
        </p:xfrm>
        <a:graphic xmlns:a="http://schemas.openxmlformats.org/drawingml/2006/main">
          <a:graphicData uri="http://schemas.openxmlformats.org/drawingml/2006/table">
            <a:tbl>
              <a:tblPr/>
              <a:tblGrid>
                <a:gridCol w="2905125"/>
                <a:gridCol w="2095500"/>
                <a:gridCol w="2190750"/>
                <a:gridCol w="3857625"/>
              </a:tblGrid>
              <a:tr h="611188">
                <a:tc>
                  <a:txBody>
                    <a:bodyPr/>
                    <a:lstStyle/>
                    <a:p>
                      <a:r>
                        <a:rPr sz="1650" b="1">
                          <a:solidFill>
                            <a:srgbClr val="FFFFFF"/>
                          </a:solidFill>
                          <a:latin typeface="Arial"/>
                          <a:ea typeface="Arial"/>
                          <a:cs typeface="Arial"/>
                        </a:rPr>
                        <a:t>Family</a:t>
                      </a:r>
                    </a:p>
                  </a:txBody>
                  <a:tcPr marL="91440" marR="91440" marT="45720" marB="45720">
                    <a:solidFill>
                      <a:srgbClr val="152B45"/>
                    </a:solidFill>
                  </a:tcPr>
                </a:tc>
                <a:tc>
                  <a:txBody>
                    <a:bodyPr/>
                    <a:lstStyle/>
                    <a:p>
                      <a:r>
                        <a:rPr sz="1650" b="1">
                          <a:solidFill>
                            <a:srgbClr val="FFFFFF"/>
                          </a:solidFill>
                          <a:latin typeface="Arial"/>
                          <a:ea typeface="Arial"/>
                          <a:cs typeface="Arial"/>
                        </a:rPr>
                        <a:t>Total params</a:t>
                      </a:r>
                    </a:p>
                  </a:txBody>
                  <a:tcPr marL="91440" marR="91440" marT="45720" marB="45720">
                    <a:solidFill>
                      <a:srgbClr val="152B45"/>
                    </a:solidFill>
                  </a:tcPr>
                </a:tc>
                <a:tc>
                  <a:txBody>
                    <a:bodyPr/>
                    <a:lstStyle/>
                    <a:p>
                      <a:r>
                        <a:rPr sz="1650" b="1">
                          <a:solidFill>
                            <a:srgbClr val="FFFFFF"/>
                          </a:solidFill>
                          <a:latin typeface="Arial"/>
                          <a:ea typeface="Arial"/>
                          <a:cs typeface="Arial"/>
                        </a:rPr>
                        <a:t>Active proxy</a:t>
                      </a:r>
                    </a:p>
                  </a:txBody>
                  <a:tcPr marL="91440" marR="91440" marT="45720" marB="45720">
                    <a:solidFill>
                      <a:srgbClr val="152B45"/>
                    </a:solidFill>
                  </a:tcPr>
                </a:tc>
                <a:tc>
                  <a:txBody>
                    <a:bodyPr/>
                    <a:lstStyle/>
                    <a:p>
                      <a:r>
                        <a:rPr sz="1650" b="1">
                          <a:solidFill>
                            <a:srgbClr val="FFFFFF"/>
                          </a:solidFill>
                          <a:latin typeface="Arial"/>
                          <a:ea typeface="Arial"/>
                          <a:cs typeface="Arial"/>
                        </a:rPr>
                        <a:t>Purpose</a:t>
                      </a:r>
                    </a:p>
                  </a:txBody>
                  <a:tcPr marL="91440" marR="91440" marT="45720" marB="45720">
                    <a:solidFill>
                      <a:srgbClr val="152B45"/>
                    </a:solidFill>
                  </a:tcPr>
                </a:tc>
              </a:tr>
              <a:tr h="611188">
                <a:tc>
                  <a:txBody>
                    <a:bodyPr/>
                    <a:lstStyle/>
                    <a:p>
                      <a:r>
                        <a:rPr sz="1650" b="0">
                          <a:solidFill>
                            <a:srgbClr val="24384D"/>
                          </a:solidFill>
                          <a:latin typeface="Arial"/>
                          <a:ea typeface="Arial"/>
                          <a:cs typeface="Arial"/>
                        </a:rPr>
                        <a:t>Dense active</a:t>
                      </a:r>
                    </a:p>
                  </a:txBody>
                  <a:tcPr marL="91440" marR="91440" marT="45720" marB="45720">
                    <a:solidFill>
                      <a:srgbClr val="F0F4F7"/>
                    </a:solidFill>
                  </a:tcPr>
                </a:tc>
                <a:tc>
                  <a:txBody>
                    <a:bodyPr/>
                    <a:lstStyle/>
                    <a:p>
                      <a:r>
                        <a:rPr sz="1650" b="0">
                          <a:solidFill>
                            <a:srgbClr val="24384D"/>
                          </a:solidFill>
                          <a:latin typeface="Arial"/>
                          <a:ea typeface="Arial"/>
                          <a:cs typeface="Arial"/>
                        </a:rPr>
                        <a:t>5,419</a:t>
                      </a:r>
                    </a:p>
                  </a:txBody>
                  <a:tcPr marL="91440" marR="91440" marT="45720" marB="45720">
                    <a:solidFill>
                      <a:srgbClr val="F0F4F7"/>
                    </a:solidFill>
                  </a:tcPr>
                </a:tc>
                <a:tc>
                  <a:txBody>
                    <a:bodyPr/>
                    <a:lstStyle/>
                    <a:p>
                      <a:r>
                        <a:rPr sz="1650" b="0">
                          <a:solidFill>
                            <a:srgbClr val="24384D"/>
                          </a:solidFill>
                          <a:latin typeface="Arial"/>
                          <a:ea typeface="Arial"/>
                          <a:cs typeface="Arial"/>
                        </a:rPr>
                        <a:t>5,419</a:t>
                      </a:r>
                    </a:p>
                  </a:txBody>
                  <a:tcPr marL="91440" marR="91440" marT="45720" marB="45720">
                    <a:solidFill>
                      <a:srgbClr val="F0F4F7"/>
                    </a:solidFill>
                  </a:tcPr>
                </a:tc>
                <a:tc>
                  <a:txBody>
                    <a:bodyPr/>
                    <a:lstStyle/>
                    <a:p>
                      <a:r>
                        <a:rPr sz="1650" b="0">
                          <a:solidFill>
                            <a:srgbClr val="24384D"/>
                          </a:solidFill>
                          <a:latin typeface="Arial"/>
                          <a:ea typeface="Arial"/>
                          <a:cs typeface="Arial"/>
                        </a:rPr>
                        <a:t>32–57–57–4 MLP</a:t>
                      </a:r>
                    </a:p>
                  </a:txBody>
                  <a:tcPr marL="91440" marR="91440" marT="45720" marB="45720">
                    <a:solidFill>
                      <a:srgbClr val="F0F4F7"/>
                    </a:solidFill>
                  </a:tcPr>
                </a:tc>
              </a:tr>
              <a:tr h="611188">
                <a:tc>
                  <a:txBody>
                    <a:bodyPr/>
                    <a:lstStyle/>
                    <a:p>
                      <a:r>
                        <a:rPr sz="1650" b="0">
                          <a:solidFill>
                            <a:srgbClr val="24384D"/>
                          </a:solidFill>
                          <a:latin typeface="Arial"/>
                          <a:ea typeface="Arial"/>
                          <a:cs typeface="Arial"/>
                        </a:rPr>
                        <a:t>Dense total</a:t>
                      </a:r>
                    </a:p>
                  </a:txBody>
                  <a:tcPr marL="91440" marR="91440" marT="45720" marB="45720">
                    <a:solidFill>
                      <a:srgbClr val="FFFFFF"/>
                    </a:solidFill>
                  </a:tcPr>
                </a:tc>
                <a:tc>
                  <a:txBody>
                    <a:bodyPr/>
                    <a:lstStyle/>
                    <a:p>
                      <a:r>
                        <a:rPr sz="1650" b="0">
                          <a:solidFill>
                            <a:srgbClr val="24384D"/>
                          </a:solidFill>
                          <a:latin typeface="Arial"/>
                          <a:ea typeface="Arial"/>
                          <a:cs typeface="Arial"/>
                        </a:rPr>
                        <a:t>7,564</a:t>
                      </a:r>
                    </a:p>
                  </a:txBody>
                  <a:tcPr marL="91440" marR="91440" marT="45720" marB="45720">
                    <a:solidFill>
                      <a:srgbClr val="FFFFFF"/>
                    </a:solidFill>
                  </a:tcPr>
                </a:tc>
                <a:tc>
                  <a:txBody>
                    <a:bodyPr/>
                    <a:lstStyle/>
                    <a:p>
                      <a:r>
                        <a:rPr sz="1650" b="0">
                          <a:solidFill>
                            <a:srgbClr val="24384D"/>
                          </a:solidFill>
                          <a:latin typeface="Arial"/>
                          <a:ea typeface="Arial"/>
                          <a:cs typeface="Arial"/>
                        </a:rPr>
                        <a:t>7,564</a:t>
                      </a:r>
                    </a:p>
                  </a:txBody>
                  <a:tcPr marL="91440" marR="91440" marT="45720" marB="45720">
                    <a:solidFill>
                      <a:srgbClr val="FFFFFF"/>
                    </a:solidFill>
                  </a:tcPr>
                </a:tc>
                <a:tc>
                  <a:txBody>
                    <a:bodyPr/>
                    <a:lstStyle/>
                    <a:p>
                      <a:r>
                        <a:rPr sz="1650" b="0">
                          <a:solidFill>
                            <a:srgbClr val="24384D"/>
                          </a:solidFill>
                          <a:latin typeface="Arial"/>
                          <a:ea typeface="Arial"/>
                          <a:cs typeface="Arial"/>
                        </a:rPr>
                        <a:t>32–70–70–4 MLP</a:t>
                      </a:r>
                    </a:p>
                  </a:txBody>
                  <a:tcPr marL="91440" marR="91440" marT="45720" marB="45720">
                    <a:solidFill>
                      <a:srgbClr val="FFFFFF"/>
                    </a:solidFill>
                  </a:tcPr>
                </a:tc>
              </a:tr>
              <a:tr h="611188">
                <a:tc>
                  <a:txBody>
                    <a:bodyPr/>
                    <a:lstStyle/>
                    <a:p>
                      <a:r>
                        <a:rPr sz="1650" b="0">
                          <a:solidFill>
                            <a:srgbClr val="24384D"/>
                          </a:solidFill>
                          <a:latin typeface="Arial"/>
                          <a:ea typeface="Arial"/>
                          <a:cs typeface="Arial"/>
                        </a:rPr>
                        <a:t>Learned MoE</a:t>
                      </a:r>
                    </a:p>
                  </a:txBody>
                  <a:tcPr marL="91440" marR="91440" marT="45720" marB="45720">
                    <a:solidFill>
                      <a:srgbClr val="F0F4F7"/>
                    </a:solidFill>
                  </a:tcPr>
                </a:tc>
                <a:tc>
                  <a:txBody>
                    <a:bodyPr/>
                    <a:lstStyle/>
                    <a:p>
                      <a:r>
                        <a:rPr sz="1650" b="0">
                          <a:solidFill>
                            <a:srgbClr val="24384D"/>
                          </a:solidFill>
                          <a:latin typeface="Arial"/>
                          <a:ea typeface="Arial"/>
                          <a:cs typeface="Arial"/>
                        </a:rPr>
                        <a:t>7,599</a:t>
                      </a:r>
                    </a:p>
                  </a:txBody>
                  <a:tcPr marL="91440" marR="91440" marT="45720" marB="45720">
                    <a:solidFill>
                      <a:srgbClr val="F0F4F7"/>
                    </a:solidFill>
                  </a:tcPr>
                </a:tc>
                <a:tc>
                  <a:txBody>
                    <a:bodyPr/>
                    <a:lstStyle/>
                    <a:p>
                      <a:r>
                        <a:rPr sz="1650" b="0">
                          <a:solidFill>
                            <a:srgbClr val="24384D"/>
                          </a:solidFill>
                          <a:latin typeface="Arial"/>
                          <a:ea typeface="Arial"/>
                          <a:cs typeface="Arial"/>
                        </a:rPr>
                        <a:t>5,355</a:t>
                      </a:r>
                    </a:p>
                  </a:txBody>
                  <a:tcPr marL="91440" marR="91440" marT="45720" marB="45720">
                    <a:solidFill>
                      <a:srgbClr val="F0F4F7"/>
                    </a:solidFill>
                  </a:tcPr>
                </a:tc>
                <a:tc>
                  <a:txBody>
                    <a:bodyPr/>
                    <a:lstStyle/>
                    <a:p>
                      <a:r>
                        <a:rPr sz="1650" b="0">
                          <a:solidFill>
                            <a:srgbClr val="24384D"/>
                          </a:solidFill>
                          <a:latin typeface="Arial"/>
                          <a:ea typeface="Arial"/>
                          <a:cs typeface="Arial"/>
                        </a:rPr>
                        <a:t>Learned router, top-2</a:t>
                      </a:r>
                    </a:p>
                  </a:txBody>
                  <a:tcPr marL="91440" marR="91440" marT="45720" marB="45720">
                    <a:solidFill>
                      <a:srgbClr val="F0F4F7"/>
                    </a:solidFill>
                  </a:tcPr>
                </a:tc>
              </a:tr>
              <a:tr h="611188">
                <a:tc>
                  <a:txBody>
                    <a:bodyPr/>
                    <a:lstStyle/>
                    <a:p>
                      <a:r>
                        <a:rPr sz="1650" b="0">
                          <a:solidFill>
                            <a:srgbClr val="24384D"/>
                          </a:solidFill>
                          <a:latin typeface="Arial"/>
                          <a:ea typeface="Arial"/>
                          <a:cs typeface="Arial"/>
                        </a:rPr>
                        <a:t>Random routing</a:t>
                      </a:r>
                    </a:p>
                  </a:txBody>
                  <a:tcPr marL="91440" marR="91440" marT="45720" marB="45720">
                    <a:solidFill>
                      <a:srgbClr val="FFFFFF"/>
                    </a:solidFill>
                  </a:tcPr>
                </a:tc>
                <a:tc>
                  <a:txBody>
                    <a:bodyPr/>
                    <a:lstStyle/>
                    <a:p>
                      <a:r>
                        <a:rPr sz="1650" b="0">
                          <a:solidFill>
                            <a:srgbClr val="24384D"/>
                          </a:solidFill>
                          <a:latin typeface="Arial"/>
                          <a:ea typeface="Arial"/>
                          <a:cs typeface="Arial"/>
                        </a:rPr>
                        <a:t>6,828</a:t>
                      </a:r>
                    </a:p>
                  </a:txBody>
                  <a:tcPr marL="91440" marR="91440" marT="45720" marB="45720">
                    <a:solidFill>
                      <a:srgbClr val="FFFFFF"/>
                    </a:solidFill>
                  </a:tcPr>
                </a:tc>
                <a:tc>
                  <a:txBody>
                    <a:bodyPr/>
                    <a:lstStyle/>
                    <a:p>
                      <a:r>
                        <a:rPr sz="1650" b="0">
                          <a:solidFill>
                            <a:srgbClr val="24384D"/>
                          </a:solidFill>
                          <a:latin typeface="Arial"/>
                          <a:ea typeface="Arial"/>
                          <a:cs typeface="Arial"/>
                        </a:rPr>
                        <a:t>4,584</a:t>
                      </a:r>
                    </a:p>
                  </a:txBody>
                  <a:tcPr marL="91440" marR="91440" marT="45720" marB="45720">
                    <a:solidFill>
                      <a:srgbClr val="FFFFFF"/>
                    </a:solidFill>
                  </a:tcPr>
                </a:tc>
                <a:tc>
                  <a:txBody>
                    <a:bodyPr/>
                    <a:lstStyle/>
                    <a:p>
                      <a:r>
                        <a:rPr sz="1650" b="0">
                          <a:solidFill>
                            <a:srgbClr val="24384D"/>
                          </a:solidFill>
                          <a:latin typeface="Arial"/>
                          <a:ea typeface="Arial"/>
                          <a:cs typeface="Arial"/>
                        </a:rPr>
                        <a:t>Frozen random router, top-2</a:t>
                      </a:r>
                    </a:p>
                  </a:txBody>
                  <a:tcPr marL="91440" marR="91440" marT="45720" marB="45720">
                    <a:solidFill>
                      <a:srgbClr val="FFFFFF"/>
                    </a:solidFill>
                  </a:tcPr>
                </a:tc>
              </a:tr>
              <a:tr h="611188">
                <a:tc>
                  <a:txBody>
                    <a:bodyPr/>
                    <a:lstStyle/>
                    <a:p>
                      <a:r>
                        <a:rPr sz="1650" b="0">
                          <a:solidFill>
                            <a:srgbClr val="24384D"/>
                          </a:solidFill>
                          <a:latin typeface="Arial"/>
                          <a:ea typeface="Arial"/>
                          <a:cs typeface="Arial"/>
                        </a:rPr>
                        <a:t>Oracle</a:t>
                      </a:r>
                    </a:p>
                  </a:txBody>
                  <a:tcPr marL="91440" marR="91440" marT="45720" marB="45720">
                    <a:solidFill>
                      <a:srgbClr val="F0F4F7"/>
                    </a:solidFill>
                  </a:tcPr>
                </a:tc>
                <a:tc>
                  <a:txBody>
                    <a:bodyPr/>
                    <a:lstStyle/>
                    <a:p>
                      <a:r>
                        <a:rPr sz="1650" b="0">
                          <a:solidFill>
                            <a:srgbClr val="24384D"/>
                          </a:solidFill>
                          <a:latin typeface="Arial"/>
                          <a:ea typeface="Arial"/>
                          <a:cs typeface="Arial"/>
                        </a:rPr>
                        <a:t>6,732</a:t>
                      </a:r>
                    </a:p>
                  </a:txBody>
                  <a:tcPr marL="91440" marR="91440" marT="45720" marB="45720">
                    <a:solidFill>
                      <a:srgbClr val="F0F4F7"/>
                    </a:solidFill>
                  </a:tcPr>
                </a:tc>
                <a:tc>
                  <a:txBody>
                    <a:bodyPr/>
                    <a:lstStyle/>
                    <a:p>
                      <a:r>
                        <a:rPr sz="1650" b="0">
                          <a:solidFill>
                            <a:srgbClr val="24384D"/>
                          </a:solidFill>
                          <a:latin typeface="Arial"/>
                          <a:ea typeface="Arial"/>
                          <a:cs typeface="Arial"/>
                        </a:rPr>
                        <a:t>2,244</a:t>
                      </a:r>
                    </a:p>
                  </a:txBody>
                  <a:tcPr marL="91440" marR="91440" marT="45720" marB="45720">
                    <a:solidFill>
                      <a:srgbClr val="F0F4F7"/>
                    </a:solidFill>
                  </a:tcPr>
                </a:tc>
                <a:tc>
                  <a:txBody>
                    <a:bodyPr/>
                    <a:lstStyle/>
                    <a:p>
                      <a:r>
                        <a:rPr sz="1650" b="0">
                          <a:solidFill>
                            <a:srgbClr val="24384D"/>
                          </a:solidFill>
                          <a:latin typeface="Arial"/>
                          <a:ea typeface="Arial"/>
                          <a:cs typeface="Arial"/>
                        </a:rPr>
                        <a:t>True regime selects one expert</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1B42237D-9778-4BFB-8BB7-3E0348FD8A16}"/>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Two dense widths approximate active and total parameter capacity. These counts do not measure FLOPs.</a:t>
            </a:r>
          </a:p>
        </p:txBody>
      </p:sp>
    </p:spTree>
    <p:extLst>
      <p:ext uri="{BB962C8B-B14F-4D97-AF65-F5344CB8AC3E}">
        <p14:creationId xmlns:p14="http://schemas.microsoft.com/office/powerpoint/2010/main" val="204693680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BEE567-931B-4282-A2F9-F6719D72FFBD}"/>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ATTENTION METHOD</a:t>
            </a:r>
          </a:p>
        </p:txBody>
      </p:sp>
      <p:sp>
        <p:nvSpPr>
          <p:cNvPr id="2" name="">
            <a:extLst xmlns:a="http://schemas.openxmlformats.org/drawingml/2006/main">
              <a:ext uri="{FF2B5EF4-FFF2-40B4-BE49-F238E27FC236}">
                <a16:creationId xmlns:a16="http://schemas.microsoft.com/office/drawing/2014/main" id="{30AB8187-A5D6-45F6-8A3B-5FD7AC25F4C9}"/>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A common backbone for both routing locations</a:t>
            </a:r>
          </a:p>
        </p:txBody>
      </p:sp>
      <p:sp>
        <p:nvSpPr>
          <p:cNvPr id="3" name="">
            <a:extLst xmlns:a="http://schemas.openxmlformats.org/drawingml/2006/main">
              <a:ext uri="{FF2B5EF4-FFF2-40B4-BE49-F238E27FC236}">
                <a16:creationId xmlns:a16="http://schemas.microsoft.com/office/drawing/2014/main" id="{D75F2F88-6363-43B2-9DE4-10F8CAB1D4E7}"/>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AC70A848-72C8-4B61-8B52-9BEC3A57D167}"/>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20</a:t>
            </a:r>
          </a:p>
        </p:txBody>
      </p:sp>
      <p:graphicFrame>
        <p:nvGraphicFramePr>
          <p:cNvPr id="5" name="">
            <a:extLst xmlns:a="http://schemas.openxmlformats.org/drawingml/2006/main">
              <a:ext uri="{FF2B5EF4-FFF2-40B4-BE49-F238E27FC236}">
                <a16:creationId xmlns:a16="http://schemas.microsoft.com/office/drawing/2014/main" id="{268BAD4E-0FFA-474E-8C73-40111031C82F}"/>
              </a:ext>
            </a:extLst>
          </p:cNvPr>
          <p:cNvGraphicFramePr/>
          <p:nvPr/>
        </p:nvGraphicFramePr>
        <p:xfrm>
          <a:off xmlns:a="http://schemas.openxmlformats.org/drawingml/2006/main" x="571500" y="1762125"/>
          <a:ext xmlns:a="http://schemas.openxmlformats.org/drawingml/2006/main" cx="11049000" cy="3619500"/>
        </p:xfrm>
        <a:graphic xmlns:a="http://schemas.openxmlformats.org/drawingml/2006/main">
          <a:graphicData uri="http://schemas.openxmlformats.org/drawingml/2006/table">
            <a:tbl>
              <a:tblPr/>
              <a:tblGrid>
                <a:gridCol w="2857500"/>
                <a:gridCol w="8191500"/>
              </a:tblGrid>
              <a:tr h="603250">
                <a:tc>
                  <a:txBody>
                    <a:bodyPr/>
                    <a:lstStyle/>
                    <a:p>
                      <a:r>
                        <a:rPr sz="1800" b="1">
                          <a:solidFill>
                            <a:srgbClr val="FFFFFF"/>
                          </a:solidFill>
                          <a:latin typeface="Arial"/>
                          <a:ea typeface="Arial"/>
                          <a:cs typeface="Arial"/>
                        </a:rPr>
                        <a:t>Stage</a:t>
                      </a:r>
                    </a:p>
                  </a:txBody>
                  <a:tcPr marL="91440" marR="91440" marT="45720" marB="45720">
                    <a:solidFill>
                      <a:srgbClr val="152B45"/>
                    </a:solidFill>
                  </a:tcPr>
                </a:tc>
                <a:tc>
                  <a:txBody>
                    <a:bodyPr/>
                    <a:lstStyle/>
                    <a:p>
                      <a:r>
                        <a:rPr sz="1800" b="1">
                          <a:solidFill>
                            <a:srgbClr val="FFFFFF"/>
                          </a:solidFill>
                          <a:latin typeface="Arial"/>
                          <a:ea typeface="Arial"/>
                          <a:cs typeface="Arial"/>
                        </a:rPr>
                        <a:t>Structure</a:t>
                      </a:r>
                    </a:p>
                  </a:txBody>
                  <a:tcPr marL="91440" marR="91440" marT="45720" marB="45720">
                    <a:solidFill>
                      <a:srgbClr val="152B45"/>
                    </a:solidFill>
                  </a:tcPr>
                </a:tc>
              </a:tr>
              <a:tr h="603250">
                <a:tc>
                  <a:txBody>
                    <a:bodyPr/>
                    <a:lstStyle/>
                    <a:p>
                      <a:r>
                        <a:rPr sz="1800" b="0">
                          <a:solidFill>
                            <a:srgbClr val="24384D"/>
                          </a:solidFill>
                          <a:latin typeface="Arial"/>
                          <a:ea typeface="Arial"/>
                          <a:cs typeface="Arial"/>
                        </a:rPr>
                        <a:t>Input</a:t>
                      </a:r>
                    </a:p>
                  </a:txBody>
                  <a:tcPr marL="91440" marR="91440" marT="45720" marB="45720">
                    <a:solidFill>
                      <a:srgbClr val="F0F4F7"/>
                    </a:solidFill>
                  </a:tcPr>
                </a:tc>
                <a:tc>
                  <a:txBody>
                    <a:bodyPr/>
                    <a:lstStyle/>
                    <a:p>
                      <a:r>
                        <a:rPr sz="1800" b="0">
                          <a:solidFill>
                            <a:srgbClr val="24384D"/>
                          </a:solidFill>
                          <a:latin typeface="Arial"/>
                          <a:ea typeface="Arial"/>
                          <a:cs typeface="Arial"/>
                        </a:rPr>
                        <a:t>8 observed states × 4 coordinates</a:t>
                      </a:r>
                    </a:p>
                  </a:txBody>
                  <a:tcPr marL="91440" marR="91440" marT="45720" marB="45720">
                    <a:solidFill>
                      <a:srgbClr val="F0F4F7"/>
                    </a:solidFill>
                  </a:tcPr>
                </a:tc>
              </a:tr>
              <a:tr h="603250">
                <a:tc>
                  <a:txBody>
                    <a:bodyPr/>
                    <a:lstStyle/>
                    <a:p>
                      <a:r>
                        <a:rPr sz="1800" b="0">
                          <a:solidFill>
                            <a:srgbClr val="24384D"/>
                          </a:solidFill>
                          <a:latin typeface="Arial"/>
                          <a:ea typeface="Arial"/>
                          <a:cs typeface="Arial"/>
                        </a:rPr>
                        <a:t>Embedding</a:t>
                      </a:r>
                    </a:p>
                  </a:txBody>
                  <a:tcPr marL="91440" marR="91440" marT="45720" marB="45720">
                    <a:solidFill>
                      <a:srgbClr val="FFFFFF"/>
                    </a:solidFill>
                  </a:tcPr>
                </a:tc>
                <a:tc>
                  <a:txBody>
                    <a:bodyPr/>
                    <a:lstStyle/>
                    <a:p>
                      <a:r>
                        <a:rPr sz="1800" b="0">
                          <a:solidFill>
                            <a:srgbClr val="24384D"/>
                          </a:solidFill>
                          <a:latin typeface="Arial"/>
                          <a:ea typeface="Arial"/>
                          <a:cs typeface="Arial"/>
                        </a:rPr>
                        <a:t>Linear 4 to 16, plus 8 learned position vectors</a:t>
                      </a:r>
                    </a:p>
                  </a:txBody>
                  <a:tcPr marL="91440" marR="91440" marT="45720" marB="45720">
                    <a:solidFill>
                      <a:srgbClr val="FFFFFF"/>
                    </a:solidFill>
                  </a:tcPr>
                </a:tc>
              </a:tr>
              <a:tr h="603250">
                <a:tc>
                  <a:txBody>
                    <a:bodyPr/>
                    <a:lstStyle/>
                    <a:p>
                      <a:r>
                        <a:rPr sz="1800" b="0">
                          <a:solidFill>
                            <a:srgbClr val="24384D"/>
                          </a:solidFill>
                          <a:latin typeface="Arial"/>
                          <a:ea typeface="Arial"/>
                          <a:cs typeface="Arial"/>
                        </a:rPr>
                        <a:t>Two Transformer blocks</a:t>
                      </a:r>
                    </a:p>
                  </a:txBody>
                  <a:tcPr marL="91440" marR="91440" marT="45720" marB="45720">
                    <a:solidFill>
                      <a:srgbClr val="F0F4F7"/>
                    </a:solidFill>
                  </a:tcPr>
                </a:tc>
                <a:tc>
                  <a:txBody>
                    <a:bodyPr/>
                    <a:lstStyle/>
                    <a:p>
                      <a:r>
                        <a:rPr sz="1800" b="0">
                          <a:solidFill>
                            <a:srgbClr val="24384D"/>
                          </a:solidFill>
                          <a:latin typeface="Arial"/>
                          <a:ea typeface="Arial"/>
                          <a:cs typeface="Arial"/>
                        </a:rPr>
                        <a:t>LayerNorm + attention + residual, then LayerNorm + FFN + residual</a:t>
                      </a:r>
                    </a:p>
                  </a:txBody>
                  <a:tcPr marL="91440" marR="91440" marT="45720" marB="45720">
                    <a:solidFill>
                      <a:srgbClr val="F0F4F7"/>
                    </a:solidFill>
                  </a:tcPr>
                </a:tc>
              </a:tr>
              <a:tr h="603250">
                <a:tc>
                  <a:txBody>
                    <a:bodyPr/>
                    <a:lstStyle/>
                    <a:p>
                      <a:r>
                        <a:rPr sz="1800" b="0">
                          <a:solidFill>
                            <a:srgbClr val="24384D"/>
                          </a:solidFill>
                          <a:latin typeface="Arial"/>
                          <a:ea typeface="Arial"/>
                          <a:cs typeface="Arial"/>
                        </a:rPr>
                        <a:t>Attention</a:t>
                      </a:r>
                    </a:p>
                  </a:txBody>
                  <a:tcPr marL="91440" marR="91440" marT="45720" marB="45720">
                    <a:solidFill>
                      <a:srgbClr val="FFFFFF"/>
                    </a:solidFill>
                  </a:tcPr>
                </a:tc>
                <a:tc>
                  <a:txBody>
                    <a:bodyPr/>
                    <a:lstStyle/>
                    <a:p>
                      <a:r>
                        <a:rPr sz="1800" b="0">
                          <a:solidFill>
                            <a:srgbClr val="24384D"/>
                          </a:solidFill>
                          <a:latin typeface="Arial"/>
                          <a:ea typeface="Arial"/>
                          <a:cs typeface="Arial"/>
                        </a:rPr>
                        <a:t>4 heads with dimension 4 per head</a:t>
                      </a:r>
                    </a:p>
                  </a:txBody>
                  <a:tcPr marL="91440" marR="91440" marT="45720" marB="45720">
                    <a:solidFill>
                      <a:srgbClr val="FFFFFF"/>
                    </a:solidFill>
                  </a:tcPr>
                </a:tc>
              </a:tr>
              <a:tr h="603250">
                <a:tc>
                  <a:txBody>
                    <a:bodyPr/>
                    <a:lstStyle/>
                    <a:p>
                      <a:r>
                        <a:rPr sz="1800" b="0">
                          <a:solidFill>
                            <a:srgbClr val="24384D"/>
                          </a:solidFill>
                          <a:latin typeface="Arial"/>
                          <a:ea typeface="Arial"/>
                          <a:cs typeface="Arial"/>
                        </a:rPr>
                        <a:t>Readout</a:t>
                      </a:r>
                    </a:p>
                  </a:txBody>
                  <a:tcPr marL="91440" marR="91440" marT="45720" marB="45720">
                    <a:solidFill>
                      <a:srgbClr val="F0F4F7"/>
                    </a:solidFill>
                  </a:tcPr>
                </a:tc>
                <a:tc>
                  <a:txBody>
                    <a:bodyPr/>
                    <a:lstStyle/>
                    <a:p>
                      <a:r>
                        <a:rPr sz="1800" b="0">
                          <a:solidFill>
                            <a:srgbClr val="24384D"/>
                          </a:solidFill>
                          <a:latin typeface="Arial"/>
                          <a:ea typeface="Arial"/>
                          <a:cs typeface="Arial"/>
                        </a:rPr>
                        <a:t>Final LayerNorm and linear 16-to-4 map of the last token</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F147E7C6-621D-4FC1-A5B5-1A6B653D6483}"/>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Attention mixes positions. FFNs transform token representations. Both participate in feature learning.</a:t>
            </a:r>
          </a:p>
        </p:txBody>
      </p:sp>
    </p:spTree>
    <p:extLst>
      <p:ext uri="{BB962C8B-B14F-4D97-AF65-F5344CB8AC3E}">
        <p14:creationId xmlns:p14="http://schemas.microsoft.com/office/powerpoint/2010/main" val="182737258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733F46-C2D3-4163-BFC8-402D3D9D480F}"/>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ATTENTION METHOD</a:t>
            </a:r>
          </a:p>
        </p:txBody>
      </p:sp>
      <p:sp>
        <p:nvSpPr>
          <p:cNvPr id="2" name="">
            <a:extLst xmlns:a="http://schemas.openxmlformats.org/drawingml/2006/main">
              <a:ext uri="{FF2B5EF4-FFF2-40B4-BE49-F238E27FC236}">
                <a16:creationId xmlns:a16="http://schemas.microsoft.com/office/drawing/2014/main" id="{93E6B48D-C2DE-4F18-BDA1-734BC4A8DA08}"/>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MoH gates one shared and two routed heads</a:t>
            </a:r>
          </a:p>
        </p:txBody>
      </p:sp>
      <p:sp>
        <p:nvSpPr>
          <p:cNvPr id="3" name="">
            <a:extLst xmlns:a="http://schemas.openxmlformats.org/drawingml/2006/main">
              <a:ext uri="{FF2B5EF4-FFF2-40B4-BE49-F238E27FC236}">
                <a16:creationId xmlns:a16="http://schemas.microsoft.com/office/drawing/2014/main" id="{C07325B9-FA93-436A-8AAE-1EF6717A09A0}"/>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9D07AE0A-3DDC-47F6-9C4C-954B8AE534D5}"/>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7333EE49-CC72-47DD-A582-C6C98E567101}"/>
              </a:ext>
            </a:extLst>
          </p:cNvPr>
          <p:cNvSpPr>
            <a:spLocks xmlns:a="http://schemas.openxmlformats.org/drawingml/2006/main" noGrp="1"/>
          </p:cNvSpPr>
          <p:nvPr/>
        </p:nvSpPr>
        <p:spPr>
          <a:xfrm xmlns:a="http://schemas.openxmlformats.org/drawingml/2006/main">
            <a:off x="571500" y="1762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Two-stage token gate</a:t>
            </a:r>
          </a:p>
        </p:txBody>
      </p:sp>
      <p:sp>
        <p:nvSpPr>
          <p:cNvPr id="6" name="">
            <a:extLst xmlns:a="http://schemas.openxmlformats.org/drawingml/2006/main">
              <a:ext uri="{FF2B5EF4-FFF2-40B4-BE49-F238E27FC236}">
                <a16:creationId xmlns:a16="http://schemas.microsoft.com/office/drawing/2014/main" id="{F5D0B0AA-D6BC-4DC3-8856-FA47566B6D18}"/>
              </a:ext>
            </a:extLst>
          </p:cNvPr>
          <p:cNvSpPr>
            <a:spLocks xmlns:a="http://schemas.openxmlformats.org/drawingml/2006/main" noGrp="1"/>
          </p:cNvSpPr>
          <p:nvPr/>
        </p:nvSpPr>
        <p:spPr>
          <a:xfrm xmlns:a="http://schemas.openxmlformats.org/drawingml/2006/main">
            <a:off x="571500" y="2162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p = softmax(Wroute z), over three routed heads</a:t>
            </a:r>
          </a:p>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α = softmax(Wtype z), over shared and routed types</a:t>
            </a:r>
          </a:p>
        </p:txBody>
      </p:sp>
      <p:sp>
        <p:nvSpPr>
          <p:cNvPr id="7" name="">
            <a:extLst xmlns:a="http://schemas.openxmlformats.org/drawingml/2006/main">
              <a:ext uri="{FF2B5EF4-FFF2-40B4-BE49-F238E27FC236}">
                <a16:creationId xmlns:a16="http://schemas.microsoft.com/office/drawing/2014/main" id="{301DF75C-9BB5-42BF-AED4-B133C2FC6F76}"/>
              </a:ext>
            </a:extLst>
          </p:cNvPr>
          <p:cNvSpPr>
            <a:spLocks xmlns:a="http://schemas.openxmlformats.org/drawingml/2006/main" noGrp="1"/>
          </p:cNvSpPr>
          <p:nvPr/>
        </p:nvSpPr>
        <p:spPr>
          <a:xfrm xmlns:a="http://schemas.openxmlformats.org/drawingml/2006/main">
            <a:off x="571500" y="31908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Selected head weights</a:t>
            </a:r>
          </a:p>
        </p:txBody>
      </p:sp>
      <p:sp>
        <p:nvSpPr>
          <p:cNvPr id="8" name="">
            <a:extLst xmlns:a="http://schemas.openxmlformats.org/drawingml/2006/main">
              <a:ext uri="{FF2B5EF4-FFF2-40B4-BE49-F238E27FC236}">
                <a16:creationId xmlns:a16="http://schemas.microsoft.com/office/drawing/2014/main" id="{098CC0BA-D186-48A3-8A7B-3401D1FD2BCA}"/>
              </a:ext>
            </a:extLst>
          </p:cNvPr>
          <p:cNvSpPr>
            <a:spLocks xmlns:a="http://schemas.openxmlformats.org/drawingml/2006/main" noGrp="1"/>
          </p:cNvSpPr>
          <p:nvPr/>
        </p:nvSpPr>
        <p:spPr>
          <a:xfrm xmlns:a="http://schemas.openxmlformats.org/drawingml/2006/main">
            <a:off x="571500" y="35909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Shared head: αshared</a:t>
            </a:r>
          </a:p>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Top-2 routed heads: αrouted × p[h]. Third routed head: 0.</a:t>
            </a:r>
          </a:p>
        </p:txBody>
      </p:sp>
      <p:sp>
        <p:nvSpPr>
          <p:cNvPr id="9" name="">
            <a:extLst xmlns:a="http://schemas.openxmlformats.org/drawingml/2006/main">
              <a:ext uri="{FF2B5EF4-FFF2-40B4-BE49-F238E27FC236}">
                <a16:creationId xmlns:a16="http://schemas.microsoft.com/office/drawing/2014/main" id="{4C5BC324-B799-452B-9588-1C3BEB320EDA}"/>
              </a:ext>
            </a:extLst>
          </p:cNvPr>
          <p:cNvSpPr>
            <a:spLocks xmlns:a="http://schemas.openxmlformats.org/drawingml/2006/main" noGrp="1"/>
          </p:cNvSpPr>
          <p:nvPr/>
        </p:nvSpPr>
        <p:spPr>
          <a:xfrm xmlns:a="http://schemas.openxmlformats.org/drawingml/2006/main">
            <a:off x="571500" y="46196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defRPr sz="2025" b="1">
                <a:solidFill>
                  <a:srgbClr val="152B45"/>
                </a:solidFill>
                <a:latin typeface="Arial"/>
                <a:ea typeface="Arial"/>
                <a:cs typeface="Arial"/>
              </a:defRPr>
            </a:pPr>
            <a:r>
              <a:rPr sz="2025" b="1">
                <a:solidFill>
                  <a:srgbClr val="152B45"/>
                </a:solidFill>
                <a:latin typeface="Arial"/>
                <a:ea typeface="Arial"/>
                <a:cs typeface="Arial"/>
              </a:rPr>
              <a:t>Training and computation</a:t>
            </a:r>
          </a:p>
        </p:txBody>
      </p:sp>
      <p:sp>
        <p:nvSpPr>
          <p:cNvPr id="10" name="">
            <a:extLst xmlns:a="http://schemas.openxmlformats.org/drawingml/2006/main">
              <a:ext uri="{FF2B5EF4-FFF2-40B4-BE49-F238E27FC236}">
                <a16:creationId xmlns:a16="http://schemas.microsoft.com/office/drawing/2014/main" id="{76C6CE47-9443-4703-B1EE-E2F65E03FA59}"/>
              </a:ext>
            </a:extLst>
          </p:cNvPr>
          <p:cNvSpPr>
            <a:spLocks xmlns:a="http://schemas.openxmlformats.org/drawingml/2006/main" noGrp="1"/>
          </p:cNvSpPr>
          <p:nvPr/>
        </p:nvSpPr>
        <p:spPr>
          <a:xfrm xmlns:a="http://schemas.openxmlformats.org/drawingml/2006/main">
            <a:off x="571500" y="50196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Attention balance penalty: Σ mean(p[h]) × selection frequency[h]</a:t>
            </a:r>
          </a:p>
          <a:p xmlns:a="http://schemas.openxmlformats.org/drawingml/2006/main">
            <a:pPr>
              <a:defRPr sz="1875" b="0">
                <a:solidFill>
                  <a:srgbClr val="24384D"/>
                </a:solidFill>
                <a:latin typeface="Arial"/>
                <a:ea typeface="Arial"/>
                <a:cs typeface="Arial"/>
              </a:defRPr>
            </a:pPr>
            <a:r>
              <a:rPr sz="1875" b="0">
                <a:solidFill>
                  <a:srgbClr val="24384D"/>
                </a:solidFill>
                <a:latin typeface="Arial"/>
                <a:ea typeface="Arial"/>
                <a:cs typeface="Arial"/>
              </a:rPr>
              <a:t>Coefficient 0.01. All attention heads still execute in this reference.</a:t>
            </a:r>
          </a:p>
        </p:txBody>
      </p:sp>
    </p:spTree>
    <p:extLst>
      <p:ext uri="{BB962C8B-B14F-4D97-AF65-F5344CB8AC3E}">
        <p14:creationId xmlns:p14="http://schemas.microsoft.com/office/powerpoint/2010/main" val="179464061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DBED8A-19B5-4CCE-BA2F-A6648F1C7E51}"/>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ATTENTION METHOD</a:t>
            </a:r>
          </a:p>
        </p:txBody>
      </p:sp>
      <p:sp>
        <p:nvSpPr>
          <p:cNvPr id="2" name="">
            <a:extLst xmlns:a="http://schemas.openxmlformats.org/drawingml/2006/main">
              <a:ext uri="{FF2B5EF4-FFF2-40B4-BE49-F238E27FC236}">
                <a16:creationId xmlns:a16="http://schemas.microsoft.com/office/drawing/2014/main" id="{B5A507C0-2445-43AE-AC46-C5AD7EA503F3}"/>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The 2 × 2 routing comparison</a:t>
            </a:r>
          </a:p>
        </p:txBody>
      </p:sp>
      <p:sp>
        <p:nvSpPr>
          <p:cNvPr id="3" name="">
            <a:extLst xmlns:a="http://schemas.openxmlformats.org/drawingml/2006/main">
              <a:ext uri="{FF2B5EF4-FFF2-40B4-BE49-F238E27FC236}">
                <a16:creationId xmlns:a16="http://schemas.microsoft.com/office/drawing/2014/main" id="{15B1F77A-8E15-4722-820E-9090C36C5DCC}"/>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0D0FFE56-74DD-4466-BF4D-B7A703753391}"/>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22</a:t>
            </a:r>
          </a:p>
        </p:txBody>
      </p:sp>
      <p:graphicFrame>
        <p:nvGraphicFramePr>
          <p:cNvPr id="5" name="">
            <a:extLst xmlns:a="http://schemas.openxmlformats.org/drawingml/2006/main">
              <a:ext uri="{FF2B5EF4-FFF2-40B4-BE49-F238E27FC236}">
                <a16:creationId xmlns:a16="http://schemas.microsoft.com/office/drawing/2014/main" id="{EBC29245-476B-4873-9A0C-14A7EBF45150}"/>
              </a:ext>
            </a:extLst>
          </p:cNvPr>
          <p:cNvGraphicFramePr/>
          <p:nvPr/>
        </p:nvGraphicFramePr>
        <p:xfrm>
          <a:off xmlns:a="http://schemas.openxmlformats.org/drawingml/2006/main" x="571500" y="1809750"/>
          <a:ext xmlns:a="http://schemas.openxmlformats.org/drawingml/2006/main" cx="11049000" cy="3143250"/>
        </p:xfrm>
        <a:graphic xmlns:a="http://schemas.openxmlformats.org/drawingml/2006/main">
          <a:graphicData uri="http://schemas.openxmlformats.org/drawingml/2006/table">
            <a:tbl>
              <a:tblPr/>
              <a:tblGrid>
                <a:gridCol w="2952750"/>
                <a:gridCol w="4048125"/>
                <a:gridCol w="4048125"/>
              </a:tblGrid>
              <a:tr h="628650">
                <a:tc>
                  <a:txBody>
                    <a:bodyPr/>
                    <a:lstStyle/>
                    <a:p>
                      <a:r>
                        <a:rPr sz="1875" b="1">
                          <a:solidFill>
                            <a:srgbClr val="FFFFFF"/>
                          </a:solidFill>
                          <a:latin typeface="Arial"/>
                          <a:ea typeface="Arial"/>
                          <a:cs typeface="Arial"/>
                        </a:rPr>
                        <a:t>Family</a:t>
                      </a:r>
                    </a:p>
                  </a:txBody>
                  <a:tcPr marL="91440" marR="91440" marT="45720" marB="45720">
                    <a:solidFill>
                      <a:srgbClr val="152B45"/>
                    </a:solidFill>
                  </a:tcPr>
                </a:tc>
                <a:tc>
                  <a:txBody>
                    <a:bodyPr/>
                    <a:lstStyle/>
                    <a:p>
                      <a:r>
                        <a:rPr sz="1875" b="1">
                          <a:solidFill>
                            <a:srgbClr val="FFFFFF"/>
                          </a:solidFill>
                          <a:latin typeface="Arial"/>
                          <a:ea typeface="Arial"/>
                          <a:cs typeface="Arial"/>
                        </a:rPr>
                        <a:t>Attention</a:t>
                      </a:r>
                    </a:p>
                  </a:txBody>
                  <a:tcPr marL="91440" marR="91440" marT="45720" marB="45720">
                    <a:solidFill>
                      <a:srgbClr val="152B45"/>
                    </a:solidFill>
                  </a:tcPr>
                </a:tc>
                <a:tc>
                  <a:txBody>
                    <a:bodyPr/>
                    <a:lstStyle/>
                    <a:p>
                      <a:r>
                        <a:rPr sz="1875" b="1">
                          <a:solidFill>
                            <a:srgbClr val="FFFFFF"/>
                          </a:solidFill>
                          <a:latin typeface="Arial"/>
                          <a:ea typeface="Arial"/>
                          <a:cs typeface="Arial"/>
                        </a:rPr>
                        <a:t>FFN</a:t>
                      </a:r>
                    </a:p>
                  </a:txBody>
                  <a:tcPr marL="91440" marR="91440" marT="45720" marB="45720">
                    <a:solidFill>
                      <a:srgbClr val="152B45"/>
                    </a:solidFill>
                  </a:tcPr>
                </a:tc>
              </a:tr>
              <a:tr h="628650">
                <a:tc>
                  <a:txBody>
                    <a:bodyPr/>
                    <a:lstStyle/>
                    <a:p>
                      <a:r>
                        <a:rPr sz="1875" b="0">
                          <a:solidFill>
                            <a:srgbClr val="24384D"/>
                          </a:solidFill>
                          <a:latin typeface="Arial"/>
                          <a:ea typeface="Arial"/>
                          <a:cs typeface="Arial"/>
                        </a:rPr>
                        <a:t>Standard backbone</a:t>
                      </a:r>
                    </a:p>
                  </a:txBody>
                  <a:tcPr marL="91440" marR="91440" marT="45720" marB="45720">
                    <a:solidFill>
                      <a:srgbClr val="F0F4F7"/>
                    </a:solidFill>
                  </a:tcPr>
                </a:tc>
                <a:tc>
                  <a:txBody>
                    <a:bodyPr/>
                    <a:lstStyle/>
                    <a:p>
                      <a:r>
                        <a:rPr sz="1875" b="0">
                          <a:solidFill>
                            <a:srgbClr val="24384D"/>
                          </a:solidFill>
                          <a:latin typeface="Arial"/>
                          <a:ea typeface="Arial"/>
                          <a:cs typeface="Arial"/>
                        </a:rPr>
                        <a:t>4 dense heads</a:t>
                      </a:r>
                    </a:p>
                  </a:txBody>
                  <a:tcPr marL="91440" marR="91440" marT="45720" marB="45720">
                    <a:solidFill>
                      <a:srgbClr val="F0F4F7"/>
                    </a:solidFill>
                  </a:tcPr>
                </a:tc>
                <a:tc>
                  <a:txBody>
                    <a:bodyPr/>
                    <a:lstStyle/>
                    <a:p>
                      <a:r>
                        <a:rPr sz="1875" b="0">
                          <a:solidFill>
                            <a:srgbClr val="24384D"/>
                          </a:solidFill>
                          <a:latin typeface="Arial"/>
                          <a:ea typeface="Arial"/>
                          <a:cs typeface="Arial"/>
                        </a:rPr>
                        <a:t>1 dense FFN</a:t>
                      </a:r>
                    </a:p>
                  </a:txBody>
                  <a:tcPr marL="91440" marR="91440" marT="45720" marB="45720">
                    <a:solidFill>
                      <a:srgbClr val="F0F4F7"/>
                    </a:solidFill>
                  </a:tcPr>
                </a:tc>
              </a:tr>
              <a:tr h="628650">
                <a:tc>
                  <a:txBody>
                    <a:bodyPr/>
                    <a:lstStyle/>
                    <a:p>
                      <a:r>
                        <a:rPr sz="1875" b="0">
                          <a:solidFill>
                            <a:srgbClr val="24384D"/>
                          </a:solidFill>
                          <a:latin typeface="Arial"/>
                          <a:ea typeface="Arial"/>
                          <a:cs typeface="Arial"/>
                        </a:rPr>
                        <a:t>MoH</a:t>
                      </a:r>
                    </a:p>
                  </a:txBody>
                  <a:tcPr marL="91440" marR="91440" marT="45720" marB="45720">
                    <a:solidFill>
                      <a:srgbClr val="FFFFFF"/>
                    </a:solidFill>
                  </a:tcPr>
                </a:tc>
                <a:tc>
                  <a:txBody>
                    <a:bodyPr/>
                    <a:lstStyle/>
                    <a:p>
                      <a:r>
                        <a:rPr sz="1875" b="0">
                          <a:solidFill>
                            <a:srgbClr val="24384D"/>
                          </a:solidFill>
                          <a:latin typeface="Arial"/>
                          <a:ea typeface="Arial"/>
                          <a:cs typeface="Arial"/>
                        </a:rPr>
                        <a:t>1 shared + top-2 routed</a:t>
                      </a:r>
                    </a:p>
                  </a:txBody>
                  <a:tcPr marL="91440" marR="91440" marT="45720" marB="45720">
                    <a:solidFill>
                      <a:srgbClr val="FFFFFF"/>
                    </a:solidFill>
                  </a:tcPr>
                </a:tc>
                <a:tc>
                  <a:txBody>
                    <a:bodyPr/>
                    <a:lstStyle/>
                    <a:p>
                      <a:r>
                        <a:rPr sz="1875" b="0">
                          <a:solidFill>
                            <a:srgbClr val="24384D"/>
                          </a:solidFill>
                          <a:latin typeface="Arial"/>
                          <a:ea typeface="Arial"/>
                          <a:cs typeface="Arial"/>
                        </a:rPr>
                        <a:t>1 dense FFN</a:t>
                      </a:r>
                    </a:p>
                  </a:txBody>
                  <a:tcPr marL="91440" marR="91440" marT="45720" marB="45720">
                    <a:solidFill>
                      <a:srgbClr val="FFFFFF"/>
                    </a:solidFill>
                  </a:tcPr>
                </a:tc>
              </a:tr>
              <a:tr h="628650">
                <a:tc>
                  <a:txBody>
                    <a:bodyPr/>
                    <a:lstStyle/>
                    <a:p>
                      <a:r>
                        <a:rPr sz="1875" b="0">
                          <a:solidFill>
                            <a:srgbClr val="24384D"/>
                          </a:solidFill>
                          <a:latin typeface="Arial"/>
                          <a:ea typeface="Arial"/>
                          <a:cs typeface="Arial"/>
                        </a:rPr>
                        <a:t>FFN-MoE</a:t>
                      </a:r>
                    </a:p>
                  </a:txBody>
                  <a:tcPr marL="91440" marR="91440" marT="45720" marB="45720">
                    <a:solidFill>
                      <a:srgbClr val="F0F4F7"/>
                    </a:solidFill>
                  </a:tcPr>
                </a:tc>
                <a:tc>
                  <a:txBody>
                    <a:bodyPr/>
                    <a:lstStyle/>
                    <a:p>
                      <a:r>
                        <a:rPr sz="1875" b="0">
                          <a:solidFill>
                            <a:srgbClr val="24384D"/>
                          </a:solidFill>
                          <a:latin typeface="Arial"/>
                          <a:ea typeface="Arial"/>
                          <a:cs typeface="Arial"/>
                        </a:rPr>
                        <a:t>4 dense heads</a:t>
                      </a:r>
                    </a:p>
                  </a:txBody>
                  <a:tcPr marL="91440" marR="91440" marT="45720" marB="45720">
                    <a:solidFill>
                      <a:srgbClr val="F0F4F7"/>
                    </a:solidFill>
                  </a:tcPr>
                </a:tc>
                <a:tc>
                  <a:txBody>
                    <a:bodyPr/>
                    <a:lstStyle/>
                    <a:p>
                      <a:r>
                        <a:rPr sz="1875" b="0">
                          <a:solidFill>
                            <a:srgbClr val="24384D"/>
                          </a:solidFill>
                          <a:latin typeface="Arial"/>
                          <a:ea typeface="Arial"/>
                          <a:cs typeface="Arial"/>
                        </a:rPr>
                        <a:t>Top-2 of 3 experts</a:t>
                      </a:r>
                    </a:p>
                  </a:txBody>
                  <a:tcPr marL="91440" marR="91440" marT="45720" marB="45720">
                    <a:solidFill>
                      <a:srgbClr val="F0F4F7"/>
                    </a:solidFill>
                  </a:tcPr>
                </a:tc>
              </a:tr>
              <a:tr h="628650">
                <a:tc>
                  <a:txBody>
                    <a:bodyPr/>
                    <a:lstStyle/>
                    <a:p>
                      <a:r>
                        <a:rPr sz="1875" b="0">
                          <a:solidFill>
                            <a:srgbClr val="24384D"/>
                          </a:solidFill>
                          <a:latin typeface="Arial"/>
                          <a:ea typeface="Arial"/>
                          <a:cs typeface="Arial"/>
                        </a:rPr>
                        <a:t>Both</a:t>
                      </a:r>
                    </a:p>
                  </a:txBody>
                  <a:tcPr marL="91440" marR="91440" marT="45720" marB="45720">
                    <a:solidFill>
                      <a:srgbClr val="FFFFFF"/>
                    </a:solidFill>
                  </a:tcPr>
                </a:tc>
                <a:tc>
                  <a:txBody>
                    <a:bodyPr/>
                    <a:lstStyle/>
                    <a:p>
                      <a:r>
                        <a:rPr sz="1875" b="0">
                          <a:solidFill>
                            <a:srgbClr val="24384D"/>
                          </a:solidFill>
                          <a:latin typeface="Arial"/>
                          <a:ea typeface="Arial"/>
                          <a:cs typeface="Arial"/>
                        </a:rPr>
                        <a:t>1 shared + top-2 routed</a:t>
                      </a:r>
                    </a:p>
                  </a:txBody>
                  <a:tcPr marL="91440" marR="91440" marT="45720" marB="45720">
                    <a:solidFill>
                      <a:srgbClr val="FFFFFF"/>
                    </a:solidFill>
                  </a:tcPr>
                </a:tc>
                <a:tc>
                  <a:txBody>
                    <a:bodyPr/>
                    <a:lstStyle/>
                    <a:p>
                      <a:r>
                        <a:rPr sz="1875" b="0">
                          <a:solidFill>
                            <a:srgbClr val="24384D"/>
                          </a:solidFill>
                          <a:latin typeface="Arial"/>
                          <a:ea typeface="Arial"/>
                          <a:cs typeface="Arial"/>
                        </a:rPr>
                        <a:t>Top-2 of 3 experts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3F79848-0CEC-4DC6-A399-320120964D3C}"/>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The original flattened MLP MoE is a separate architecture. This comparison uses the same Transformer backbone.</a:t>
            </a:r>
          </a:p>
        </p:txBody>
      </p:sp>
    </p:spTree>
    <p:extLst>
      <p:ext uri="{BB962C8B-B14F-4D97-AF65-F5344CB8AC3E}">
        <p14:creationId xmlns:p14="http://schemas.microsoft.com/office/powerpoint/2010/main" val="72389513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848728-9783-44B8-A783-E0EBD74232E0}"/>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ATTENTION EXPERIMENT</a:t>
            </a:r>
          </a:p>
        </p:txBody>
      </p:sp>
      <p:sp>
        <p:nvSpPr>
          <p:cNvPr id="2" name="">
            <a:extLst xmlns:a="http://schemas.openxmlformats.org/drawingml/2006/main">
              <a:ext uri="{FF2B5EF4-FFF2-40B4-BE49-F238E27FC236}">
                <a16:creationId xmlns:a16="http://schemas.microsoft.com/office/drawing/2014/main" id="{453AE69E-B4A0-4ED8-871D-9F0DC10FA64D}"/>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Controls separate routing from capacity</a:t>
            </a:r>
          </a:p>
        </p:txBody>
      </p:sp>
      <p:sp>
        <p:nvSpPr>
          <p:cNvPr id="3" name="">
            <a:extLst xmlns:a="http://schemas.openxmlformats.org/drawingml/2006/main">
              <a:ext uri="{FF2B5EF4-FFF2-40B4-BE49-F238E27FC236}">
                <a16:creationId xmlns:a16="http://schemas.microsoft.com/office/drawing/2014/main" id="{24FA49D2-6CCF-49AE-A2BA-C5F5FB96CCC5}"/>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DA83EF87-2EFD-4750-94E8-A4A7D8FCE606}"/>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23</a:t>
            </a:r>
          </a:p>
        </p:txBody>
      </p:sp>
      <p:graphicFrame>
        <p:nvGraphicFramePr>
          <p:cNvPr id="5" name="">
            <a:extLst xmlns:a="http://schemas.openxmlformats.org/drawingml/2006/main">
              <a:ext uri="{FF2B5EF4-FFF2-40B4-BE49-F238E27FC236}">
                <a16:creationId xmlns:a16="http://schemas.microsoft.com/office/drawing/2014/main" id="{FF3491C1-D400-496C-B1E3-AD9FCD0810E0}"/>
              </a:ext>
            </a:extLst>
          </p:cNvPr>
          <p:cNvGraphicFramePr/>
          <p:nvPr/>
        </p:nvGraphicFramePr>
        <p:xfrm>
          <a:off xmlns:a="http://schemas.openxmlformats.org/drawingml/2006/main" x="571500" y="1714500"/>
          <a:ext xmlns:a="http://schemas.openxmlformats.org/drawingml/2006/main" cx="11049000" cy="3981450"/>
        </p:xfrm>
        <a:graphic xmlns:a="http://schemas.openxmlformats.org/drawingml/2006/main">
          <a:graphicData uri="http://schemas.openxmlformats.org/drawingml/2006/table">
            <a:tbl>
              <a:tblPr/>
              <a:tblGrid>
                <a:gridCol w="3429000"/>
                <a:gridCol w="1809750"/>
                <a:gridCol w="5810250"/>
              </a:tblGrid>
              <a:tr h="442383">
                <a:tc>
                  <a:txBody>
                    <a:bodyPr/>
                    <a:lstStyle/>
                    <a:p>
                      <a:r>
                        <a:rPr sz="1650" b="1">
                          <a:solidFill>
                            <a:srgbClr val="FFFFFF"/>
                          </a:solidFill>
                          <a:latin typeface="Arial"/>
                          <a:ea typeface="Arial"/>
                          <a:cs typeface="Arial"/>
                        </a:rPr>
                        <a:t>Family</a:t>
                      </a:r>
                    </a:p>
                  </a:txBody>
                  <a:tcPr marL="91440" marR="91440" marT="45720" marB="45720">
                    <a:solidFill>
                      <a:srgbClr val="152B45"/>
                    </a:solidFill>
                  </a:tcPr>
                </a:tc>
                <a:tc>
                  <a:txBody>
                    <a:bodyPr/>
                    <a:lstStyle/>
                    <a:p>
                      <a:r>
                        <a:rPr sz="1650" b="1">
                          <a:solidFill>
                            <a:srgbClr val="FFFFFF"/>
                          </a:solidFill>
                          <a:latin typeface="Arial"/>
                          <a:ea typeface="Arial"/>
                          <a:cs typeface="Arial"/>
                        </a:rPr>
                        <a:t>Total params</a:t>
                      </a:r>
                    </a:p>
                  </a:txBody>
                  <a:tcPr marL="91440" marR="91440" marT="45720" marB="45720">
                    <a:solidFill>
                      <a:srgbClr val="152B45"/>
                    </a:solidFill>
                  </a:tcPr>
                </a:tc>
                <a:tc>
                  <a:txBody>
                    <a:bodyPr/>
                    <a:lstStyle/>
                    <a:p>
                      <a:r>
                        <a:rPr sz="1650" b="1">
                          <a:solidFill>
                            <a:srgbClr val="FFFFFF"/>
                          </a:solidFill>
                          <a:latin typeface="Arial"/>
                          <a:ea typeface="Arial"/>
                          <a:cs typeface="Arial"/>
                        </a:rPr>
                        <a:t>Control or treatment</a:t>
                      </a:r>
                    </a:p>
                  </a:txBody>
                  <a:tcPr marL="91440" marR="91440" marT="45720" marB="45720">
                    <a:solidFill>
                      <a:srgbClr val="152B45"/>
                    </a:solidFill>
                  </a:tcPr>
                </a:tc>
              </a:tr>
              <a:tr h="442383">
                <a:tc>
                  <a:txBody>
                    <a:bodyPr/>
                    <a:lstStyle/>
                    <a:p>
                      <a:r>
                        <a:rPr sz="1650" b="0">
                          <a:solidFill>
                            <a:srgbClr val="24384D"/>
                          </a:solidFill>
                          <a:latin typeface="Arial"/>
                          <a:ea typeface="Arial"/>
                          <a:cs typeface="Arial"/>
                        </a:rPr>
                        <a:t>attn_dense</a:t>
                      </a:r>
                    </a:p>
                  </a:txBody>
                  <a:tcPr marL="91440" marR="91440" marT="45720" marB="45720">
                    <a:solidFill>
                      <a:srgbClr val="F0F4F7"/>
                    </a:solidFill>
                  </a:tcPr>
                </a:tc>
                <a:tc>
                  <a:txBody>
                    <a:bodyPr/>
                    <a:lstStyle/>
                    <a:p>
                      <a:r>
                        <a:rPr sz="1650" b="0">
                          <a:solidFill>
                            <a:srgbClr val="24384D"/>
                          </a:solidFill>
                          <a:latin typeface="Arial"/>
                          <a:ea typeface="Arial"/>
                          <a:cs typeface="Arial"/>
                        </a:rPr>
                        <a:t>4628</a:t>
                      </a:r>
                    </a:p>
                  </a:txBody>
                  <a:tcPr marL="91440" marR="91440" marT="45720" marB="45720">
                    <a:solidFill>
                      <a:srgbClr val="F0F4F7"/>
                    </a:solidFill>
                  </a:tcPr>
                </a:tc>
                <a:tc>
                  <a:txBody>
                    <a:bodyPr/>
                    <a:lstStyle/>
                    <a:p>
                      <a:r>
                        <a:rPr sz="1650" b="0">
                          <a:solidFill>
                            <a:srgbClr val="24384D"/>
                          </a:solidFill>
                          <a:latin typeface="Arial"/>
                          <a:ea typeface="Arial"/>
                          <a:cs typeface="Arial"/>
                        </a:rPr>
                        <a:t>4-head baseline</a:t>
                      </a:r>
                    </a:p>
                  </a:txBody>
                  <a:tcPr marL="91440" marR="91440" marT="45720" marB="45720">
                    <a:solidFill>
                      <a:srgbClr val="F0F4F7"/>
                    </a:solidFill>
                  </a:tcPr>
                </a:tc>
              </a:tr>
              <a:tr h="442383">
                <a:tc>
                  <a:txBody>
                    <a:bodyPr/>
                    <a:lstStyle/>
                    <a:p>
                      <a:r>
                        <a:rPr sz="1650" b="0">
                          <a:solidFill>
                            <a:srgbClr val="24384D"/>
                          </a:solidFill>
                          <a:latin typeface="Arial"/>
                          <a:ea typeface="Arial"/>
                          <a:cs typeface="Arial"/>
                        </a:rPr>
                        <a:t>attn_active</a:t>
                      </a:r>
                    </a:p>
                  </a:txBody>
                  <a:tcPr marL="91440" marR="91440" marT="45720" marB="45720">
                    <a:solidFill>
                      <a:srgbClr val="FFFFFF"/>
                    </a:solidFill>
                  </a:tcPr>
                </a:tc>
                <a:tc>
                  <a:txBody>
                    <a:bodyPr/>
                    <a:lstStyle/>
                    <a:p>
                      <a:r>
                        <a:rPr sz="1650" b="0">
                          <a:solidFill>
                            <a:srgbClr val="24384D"/>
                          </a:solidFill>
                          <a:latin typeface="Arial"/>
                          <a:ea typeface="Arial"/>
                          <a:cs typeface="Arial"/>
                        </a:rPr>
                        <a:t>4116</a:t>
                      </a:r>
                    </a:p>
                  </a:txBody>
                  <a:tcPr marL="91440" marR="91440" marT="45720" marB="45720">
                    <a:solidFill>
                      <a:srgbClr val="FFFFFF"/>
                    </a:solidFill>
                  </a:tcPr>
                </a:tc>
                <a:tc>
                  <a:txBody>
                    <a:bodyPr/>
                    <a:lstStyle/>
                    <a:p>
                      <a:r>
                        <a:rPr sz="1650" b="0">
                          <a:solidFill>
                            <a:srgbClr val="24384D"/>
                          </a:solidFill>
                          <a:latin typeface="Arial"/>
                          <a:ea typeface="Arial"/>
                          <a:cs typeface="Arial"/>
                        </a:rPr>
                        <a:t>3 dense heads</a:t>
                      </a:r>
                    </a:p>
                  </a:txBody>
                  <a:tcPr marL="91440" marR="91440" marT="45720" marB="45720">
                    <a:solidFill>
                      <a:srgbClr val="FFFFFF"/>
                    </a:solidFill>
                  </a:tcPr>
                </a:tc>
              </a:tr>
              <a:tr h="442383">
                <a:tc>
                  <a:txBody>
                    <a:bodyPr/>
                    <a:lstStyle/>
                    <a:p>
                      <a:r>
                        <a:rPr sz="1650" b="0">
                          <a:solidFill>
                            <a:srgbClr val="24384D"/>
                          </a:solidFill>
                          <a:latin typeface="Arial"/>
                          <a:ea typeface="Arial"/>
                          <a:cs typeface="Arial"/>
                        </a:rPr>
                        <a:t>attn_total</a:t>
                      </a:r>
                    </a:p>
                  </a:txBody>
                  <a:tcPr marL="91440" marR="91440" marT="45720" marB="45720">
                    <a:solidFill>
                      <a:srgbClr val="F0F4F7"/>
                    </a:solidFill>
                  </a:tcPr>
                </a:tc>
                <a:tc>
                  <a:txBody>
                    <a:bodyPr/>
                    <a:lstStyle/>
                    <a:p>
                      <a:r>
                        <a:rPr sz="1650" b="0">
                          <a:solidFill>
                            <a:srgbClr val="24384D"/>
                          </a:solidFill>
                          <a:latin typeface="Arial"/>
                          <a:ea typeface="Arial"/>
                          <a:cs typeface="Arial"/>
                        </a:rPr>
                        <a:t>4826</a:t>
                      </a:r>
                    </a:p>
                  </a:txBody>
                  <a:tcPr marL="91440" marR="91440" marT="45720" marB="45720">
                    <a:solidFill>
                      <a:srgbClr val="F0F4F7"/>
                    </a:solidFill>
                  </a:tcPr>
                </a:tc>
                <a:tc>
                  <a:txBody>
                    <a:bodyPr/>
                    <a:lstStyle/>
                    <a:p>
                      <a:r>
                        <a:rPr sz="1650" b="0">
                          <a:solidFill>
                            <a:srgbClr val="24384D"/>
                          </a:solidFill>
                          <a:latin typeface="Arial"/>
                          <a:ea typeface="Arial"/>
                          <a:cs typeface="Arial"/>
                        </a:rPr>
                        <a:t>MoH capacity control</a:t>
                      </a:r>
                    </a:p>
                  </a:txBody>
                  <a:tcPr marL="91440" marR="91440" marT="45720" marB="45720">
                    <a:solidFill>
                      <a:srgbClr val="F0F4F7"/>
                    </a:solidFill>
                  </a:tcPr>
                </a:tc>
              </a:tr>
              <a:tr h="442383">
                <a:tc>
                  <a:txBody>
                    <a:bodyPr/>
                    <a:lstStyle/>
                    <a:p>
                      <a:r>
                        <a:rPr sz="1650" b="0">
                          <a:solidFill>
                            <a:srgbClr val="24384D"/>
                          </a:solidFill>
                          <a:latin typeface="Arial"/>
                          <a:ea typeface="Arial"/>
                          <a:cs typeface="Arial"/>
                        </a:rPr>
                        <a:t>attn_moh</a:t>
                      </a:r>
                    </a:p>
                  </a:txBody>
                  <a:tcPr marL="91440" marR="91440" marT="45720" marB="45720">
                    <a:solidFill>
                      <a:srgbClr val="FFFFFF"/>
                    </a:solidFill>
                  </a:tcPr>
                </a:tc>
                <a:tc>
                  <a:txBody>
                    <a:bodyPr/>
                    <a:lstStyle/>
                    <a:p>
                      <a:r>
                        <a:rPr sz="1650" b="0">
                          <a:solidFill>
                            <a:srgbClr val="24384D"/>
                          </a:solidFill>
                          <a:latin typeface="Arial"/>
                          <a:ea typeface="Arial"/>
                          <a:cs typeface="Arial"/>
                        </a:rPr>
                        <a:t>4820</a:t>
                      </a:r>
                    </a:p>
                  </a:txBody>
                  <a:tcPr marL="91440" marR="91440" marT="45720" marB="45720">
                    <a:solidFill>
                      <a:srgbClr val="FFFFFF"/>
                    </a:solidFill>
                  </a:tcPr>
                </a:tc>
                <a:tc>
                  <a:txBody>
                    <a:bodyPr/>
                    <a:lstStyle/>
                    <a:p>
                      <a:r>
                        <a:rPr sz="1650" b="0">
                          <a:solidFill>
                            <a:srgbClr val="24384D"/>
                          </a:solidFill>
                          <a:latin typeface="Arial"/>
                          <a:ea typeface="Arial"/>
                          <a:cs typeface="Arial"/>
                        </a:rPr>
                        <a:t>Learned head routing</a:t>
                      </a:r>
                    </a:p>
                  </a:txBody>
                  <a:tcPr marL="91440" marR="91440" marT="45720" marB="45720">
                    <a:solidFill>
                      <a:srgbClr val="FFFFFF"/>
                    </a:solidFill>
                  </a:tcPr>
                </a:tc>
              </a:tr>
              <a:tr h="442383">
                <a:tc>
                  <a:txBody>
                    <a:bodyPr/>
                    <a:lstStyle/>
                    <a:p>
                      <a:r>
                        <a:rPr sz="1650" b="0">
                          <a:solidFill>
                            <a:srgbClr val="24384D"/>
                          </a:solidFill>
                          <a:latin typeface="Arial"/>
                          <a:ea typeface="Arial"/>
                          <a:cs typeface="Arial"/>
                        </a:rPr>
                        <a:t>attn_random</a:t>
                      </a:r>
                    </a:p>
                  </a:txBody>
                  <a:tcPr marL="91440" marR="91440" marT="45720" marB="45720">
                    <a:solidFill>
                      <a:srgbClr val="F0F4F7"/>
                    </a:solidFill>
                  </a:tcPr>
                </a:tc>
                <a:tc>
                  <a:txBody>
                    <a:bodyPr/>
                    <a:lstStyle/>
                    <a:p>
                      <a:r>
                        <a:rPr sz="1650" b="0">
                          <a:solidFill>
                            <a:srgbClr val="24384D"/>
                          </a:solidFill>
                          <a:latin typeface="Arial"/>
                          <a:ea typeface="Arial"/>
                          <a:cs typeface="Arial"/>
                        </a:rPr>
                        <a:t>4820</a:t>
                      </a:r>
                    </a:p>
                  </a:txBody>
                  <a:tcPr marL="91440" marR="91440" marT="45720" marB="45720">
                    <a:solidFill>
                      <a:srgbClr val="F0F4F7"/>
                    </a:solidFill>
                  </a:tcPr>
                </a:tc>
                <a:tc>
                  <a:txBody>
                    <a:bodyPr/>
                    <a:lstStyle/>
                    <a:p>
                      <a:r>
                        <a:rPr sz="1650" b="0">
                          <a:solidFill>
                            <a:srgbClr val="24384D"/>
                          </a:solidFill>
                          <a:latin typeface="Arial"/>
                          <a:ea typeface="Arial"/>
                          <a:cs typeface="Arial"/>
                        </a:rPr>
                        <a:t>Frozen head gate</a:t>
                      </a:r>
                    </a:p>
                  </a:txBody>
                  <a:tcPr marL="91440" marR="91440" marT="45720" marB="45720">
                    <a:solidFill>
                      <a:srgbClr val="F0F4F7"/>
                    </a:solidFill>
                  </a:tcPr>
                </a:tc>
              </a:tr>
              <a:tr h="442383">
                <a:tc>
                  <a:txBody>
                    <a:bodyPr/>
                    <a:lstStyle/>
                    <a:p>
                      <a:r>
                        <a:rPr sz="1650" b="0">
                          <a:solidFill>
                            <a:srgbClr val="24384D"/>
                          </a:solidFill>
                          <a:latin typeface="Arial"/>
                          <a:ea typeface="Arial"/>
                          <a:cs typeface="Arial"/>
                        </a:rPr>
                        <a:t>attn_ffn_moe</a:t>
                      </a:r>
                    </a:p>
                  </a:txBody>
                  <a:tcPr marL="91440" marR="91440" marT="45720" marB="45720">
                    <a:solidFill>
                      <a:srgbClr val="FFFFFF"/>
                    </a:solidFill>
                  </a:tcPr>
                </a:tc>
                <a:tc>
                  <a:txBody>
                    <a:bodyPr/>
                    <a:lstStyle/>
                    <a:p>
                      <a:r>
                        <a:rPr sz="1650" b="0">
                          <a:solidFill>
                            <a:srgbClr val="24384D"/>
                          </a:solidFill>
                          <a:latin typeface="Arial"/>
                          <a:ea typeface="Arial"/>
                          <a:cs typeface="Arial"/>
                        </a:rPr>
                        <a:t>9012</a:t>
                      </a:r>
                    </a:p>
                  </a:txBody>
                  <a:tcPr marL="91440" marR="91440" marT="45720" marB="45720">
                    <a:solidFill>
                      <a:srgbClr val="FFFFFF"/>
                    </a:solidFill>
                  </a:tcPr>
                </a:tc>
                <a:tc>
                  <a:txBody>
                    <a:bodyPr/>
                    <a:lstStyle/>
                    <a:p>
                      <a:r>
                        <a:rPr sz="1650" b="0">
                          <a:solidFill>
                            <a:srgbClr val="24384D"/>
                          </a:solidFill>
                          <a:latin typeface="Arial"/>
                          <a:ea typeface="Arial"/>
                          <a:cs typeface="Arial"/>
                        </a:rPr>
                        <a:t>Learned FFN routing</a:t>
                      </a:r>
                    </a:p>
                  </a:txBody>
                  <a:tcPr marL="91440" marR="91440" marT="45720" marB="45720">
                    <a:solidFill>
                      <a:srgbClr val="FFFFFF"/>
                    </a:solidFill>
                  </a:tcPr>
                </a:tc>
              </a:tr>
              <a:tr h="442383">
                <a:tc>
                  <a:txBody>
                    <a:bodyPr/>
                    <a:lstStyle/>
                    <a:p>
                      <a:r>
                        <a:rPr sz="1650" b="0">
                          <a:solidFill>
                            <a:srgbClr val="24384D"/>
                          </a:solidFill>
                          <a:latin typeface="Arial"/>
                          <a:ea typeface="Arial"/>
                          <a:cs typeface="Arial"/>
                        </a:rPr>
                        <a:t>attn_ffn_total</a:t>
                      </a:r>
                    </a:p>
                  </a:txBody>
                  <a:tcPr marL="91440" marR="91440" marT="45720" marB="45720">
                    <a:solidFill>
                      <a:srgbClr val="F0F4F7"/>
                    </a:solidFill>
                  </a:tcPr>
                </a:tc>
                <a:tc>
                  <a:txBody>
                    <a:bodyPr/>
                    <a:lstStyle/>
                    <a:p>
                      <a:r>
                        <a:rPr sz="1650" b="0">
                          <a:solidFill>
                            <a:srgbClr val="24384D"/>
                          </a:solidFill>
                          <a:latin typeface="Arial"/>
                          <a:ea typeface="Arial"/>
                          <a:cs typeface="Arial"/>
                        </a:rPr>
                        <a:t>8984</a:t>
                      </a:r>
                    </a:p>
                  </a:txBody>
                  <a:tcPr marL="91440" marR="91440" marT="45720" marB="45720">
                    <a:solidFill>
                      <a:srgbClr val="F0F4F7"/>
                    </a:solidFill>
                  </a:tcPr>
                </a:tc>
                <a:tc>
                  <a:txBody>
                    <a:bodyPr/>
                    <a:lstStyle/>
                    <a:p>
                      <a:r>
                        <a:rPr sz="1650" b="0">
                          <a:solidFill>
                            <a:srgbClr val="24384D"/>
                          </a:solidFill>
                          <a:latin typeface="Arial"/>
                          <a:ea typeface="Arial"/>
                          <a:cs typeface="Arial"/>
                        </a:rPr>
                        <a:t>FFN capacity control</a:t>
                      </a:r>
                    </a:p>
                  </a:txBody>
                  <a:tcPr marL="91440" marR="91440" marT="45720" marB="45720">
                    <a:solidFill>
                      <a:srgbClr val="F0F4F7"/>
                    </a:solidFill>
                  </a:tcPr>
                </a:tc>
              </a:tr>
              <a:tr h="442383">
                <a:tc>
                  <a:txBody>
                    <a:bodyPr/>
                    <a:lstStyle/>
                    <a:p>
                      <a:r>
                        <a:rPr sz="1650" b="0">
                          <a:solidFill>
                            <a:srgbClr val="24384D"/>
                          </a:solidFill>
                          <a:latin typeface="Arial"/>
                          <a:ea typeface="Arial"/>
                          <a:cs typeface="Arial"/>
                        </a:rPr>
                        <a:t>attn_both</a:t>
                      </a:r>
                    </a:p>
                  </a:txBody>
                  <a:tcPr marL="91440" marR="91440" marT="45720" marB="45720">
                    <a:solidFill>
                      <a:srgbClr val="FFFFFF"/>
                    </a:solidFill>
                  </a:tcPr>
                </a:tc>
                <a:tc>
                  <a:txBody>
                    <a:bodyPr/>
                    <a:lstStyle/>
                    <a:p>
                      <a:r>
                        <a:rPr sz="1650" b="0">
                          <a:solidFill>
                            <a:srgbClr val="24384D"/>
                          </a:solidFill>
                          <a:latin typeface="Arial"/>
                          <a:ea typeface="Arial"/>
                          <a:cs typeface="Arial"/>
                        </a:rPr>
                        <a:t>9204</a:t>
                      </a:r>
                    </a:p>
                  </a:txBody>
                  <a:tcPr marL="91440" marR="91440" marT="45720" marB="45720">
                    <a:solidFill>
                      <a:srgbClr val="FFFFFF"/>
                    </a:solidFill>
                  </a:tcPr>
                </a:tc>
                <a:tc>
                  <a:txBody>
                    <a:bodyPr/>
                    <a:lstStyle/>
                    <a:p>
                      <a:r>
                        <a:rPr sz="1650" b="0">
                          <a:solidFill>
                            <a:srgbClr val="24384D"/>
                          </a:solidFill>
                          <a:latin typeface="Arial"/>
                          <a:ea typeface="Arial"/>
                          <a:cs typeface="Arial"/>
                        </a:rPr>
                        <a:t>Both routing locations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EF4CA91-3E5B-4998-B950-F9B66A3B798F}"/>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All 13 families use the same data splits and a fixed 40-epoch budget for each seed.</a:t>
            </a:r>
          </a:p>
        </p:txBody>
      </p:sp>
    </p:spTree>
    <p:extLst>
      <p:ext uri="{BB962C8B-B14F-4D97-AF65-F5344CB8AC3E}">
        <p14:creationId xmlns:p14="http://schemas.microsoft.com/office/powerpoint/2010/main" val="64577838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30E79E-06DC-47A2-8EC9-678A3DD2891B}"/>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EXPERIMENT</a:t>
            </a:r>
          </a:p>
        </p:txBody>
      </p:sp>
      <p:sp>
        <p:nvSpPr>
          <p:cNvPr id="2" name="">
            <a:extLst xmlns:a="http://schemas.openxmlformats.org/drawingml/2006/main">
              <a:ext uri="{FF2B5EF4-FFF2-40B4-BE49-F238E27FC236}">
                <a16:creationId xmlns:a16="http://schemas.microsoft.com/office/drawing/2014/main" id="{5CDC4B49-9296-40AB-BFD4-F0DFA522A6A2}"/>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Training protocol</a:t>
            </a:r>
          </a:p>
        </p:txBody>
      </p:sp>
      <p:sp>
        <p:nvSpPr>
          <p:cNvPr id="3" name="">
            <a:extLst xmlns:a="http://schemas.openxmlformats.org/drawingml/2006/main">
              <a:ext uri="{FF2B5EF4-FFF2-40B4-BE49-F238E27FC236}">
                <a16:creationId xmlns:a16="http://schemas.microsoft.com/office/drawing/2014/main" id="{B1A13CAB-2079-4AED-A606-E1AEB4FE13AC}"/>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EC32B9B9-DFB1-4D4B-A23C-B0A574C4468A}"/>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24</a:t>
            </a:r>
          </a:p>
        </p:txBody>
      </p:sp>
      <p:graphicFrame>
        <p:nvGraphicFramePr>
          <p:cNvPr id="5" name="">
            <a:extLst xmlns:a="http://schemas.openxmlformats.org/drawingml/2006/main">
              <a:ext uri="{FF2B5EF4-FFF2-40B4-BE49-F238E27FC236}">
                <a16:creationId xmlns:a16="http://schemas.microsoft.com/office/drawing/2014/main" id="{13D72838-D106-4122-AB11-AFCC873B821A}"/>
              </a:ext>
            </a:extLst>
          </p:cNvPr>
          <p:cNvGraphicFramePr/>
          <p:nvPr/>
        </p:nvGraphicFramePr>
        <p:xfrm>
          <a:off xmlns:a="http://schemas.openxmlformats.org/drawingml/2006/main" x="571500" y="1714500"/>
          <a:ext xmlns:a="http://schemas.openxmlformats.org/drawingml/2006/main" cx="11049000" cy="3667125"/>
        </p:xfrm>
        <a:graphic xmlns:a="http://schemas.openxmlformats.org/drawingml/2006/main">
          <a:graphicData uri="http://schemas.openxmlformats.org/drawingml/2006/table">
            <a:tbl>
              <a:tblPr/>
              <a:tblGrid>
                <a:gridCol w="3524250"/>
                <a:gridCol w="7524750"/>
              </a:tblGrid>
              <a:tr h="523875">
                <a:tc>
                  <a:txBody>
                    <a:bodyPr/>
                    <a:lstStyle/>
                    <a:p>
                      <a:r>
                        <a:rPr sz="1725" b="1">
                          <a:solidFill>
                            <a:srgbClr val="FFFFFF"/>
                          </a:solidFill>
                          <a:latin typeface="Arial"/>
                          <a:ea typeface="Arial"/>
                          <a:cs typeface="Arial"/>
                        </a:rPr>
                        <a:t>Setting</a:t>
                      </a:r>
                    </a:p>
                  </a:txBody>
                  <a:tcPr marL="91440" marR="91440" marT="45720" marB="45720">
                    <a:solidFill>
                      <a:srgbClr val="152B45"/>
                    </a:solidFill>
                  </a:tcPr>
                </a:tc>
                <a:tc>
                  <a:txBody>
                    <a:bodyPr/>
                    <a:lstStyle/>
                    <a:p>
                      <a:r>
                        <a:rPr sz="1725" b="1">
                          <a:solidFill>
                            <a:srgbClr val="FFFFFF"/>
                          </a:solidFill>
                          <a:latin typeface="Arial"/>
                          <a:ea typeface="Arial"/>
                          <a:cs typeface="Arial"/>
                        </a:rPr>
                        <a:t>Full preset</a:t>
                      </a:r>
                    </a:p>
                  </a:txBody>
                  <a:tcPr marL="91440" marR="91440" marT="45720" marB="45720">
                    <a:solidFill>
                      <a:srgbClr val="152B45"/>
                    </a:solidFill>
                  </a:tcPr>
                </a:tc>
              </a:tr>
              <a:tr h="523875">
                <a:tc>
                  <a:txBody>
                    <a:bodyPr/>
                    <a:lstStyle/>
                    <a:p>
                      <a:r>
                        <a:rPr sz="1725" b="0">
                          <a:solidFill>
                            <a:srgbClr val="24384D"/>
                          </a:solidFill>
                          <a:latin typeface="Arial"/>
                          <a:ea typeface="Arial"/>
                          <a:cs typeface="Arial"/>
                        </a:rPr>
                        <a:t>Independent seeds</a:t>
                      </a:r>
                    </a:p>
                  </a:txBody>
                  <a:tcPr marL="91440" marR="91440" marT="45720" marB="45720">
                    <a:solidFill>
                      <a:srgbClr val="F0F4F7"/>
                    </a:solidFill>
                  </a:tcPr>
                </a:tc>
                <a:tc>
                  <a:txBody>
                    <a:bodyPr/>
                    <a:lstStyle/>
                    <a:p>
                      <a:r>
                        <a:rPr sz="1725" b="0">
                          <a:solidFill>
                            <a:srgbClr val="24384D"/>
                          </a:solidFill>
                          <a:latin typeface="Arial"/>
                          <a:ea typeface="Arial"/>
                          <a:cs typeface="Arial"/>
                        </a:rPr>
                        <a:t>7, 17, 27</a:t>
                      </a:r>
                    </a:p>
                  </a:txBody>
                  <a:tcPr marL="91440" marR="91440" marT="45720" marB="45720">
                    <a:solidFill>
                      <a:srgbClr val="F0F4F7"/>
                    </a:solidFill>
                  </a:tcPr>
                </a:tc>
              </a:tr>
              <a:tr h="523875">
                <a:tc>
                  <a:txBody>
                    <a:bodyPr/>
                    <a:lstStyle/>
                    <a:p>
                      <a:r>
                        <a:rPr sz="1725" b="0">
                          <a:solidFill>
                            <a:srgbClr val="24384D"/>
                          </a:solidFill>
                          <a:latin typeface="Arial"/>
                          <a:ea typeface="Arial"/>
                          <a:cs typeface="Arial"/>
                        </a:rPr>
                        <a:t>Optimization</a:t>
                      </a:r>
                    </a:p>
                  </a:txBody>
                  <a:tcPr marL="91440" marR="91440" marT="45720" marB="45720">
                    <a:solidFill>
                      <a:srgbClr val="FFFFFF"/>
                    </a:solidFill>
                  </a:tcPr>
                </a:tc>
                <a:tc>
                  <a:txBody>
                    <a:bodyPr/>
                    <a:lstStyle/>
                    <a:p>
                      <a:r>
                        <a:rPr sz="1725" b="0">
                          <a:solidFill>
                            <a:srgbClr val="24384D"/>
                          </a:solidFill>
                          <a:latin typeface="Arial"/>
                          <a:ea typeface="Arial"/>
                          <a:cs typeface="Arial"/>
                        </a:rPr>
                        <a:t>Adam, learning rate 0.001, batch size 512</a:t>
                      </a:r>
                    </a:p>
                  </a:txBody>
                  <a:tcPr marL="91440" marR="91440" marT="45720" marB="45720">
                    <a:solidFill>
                      <a:srgbClr val="FFFFFF"/>
                    </a:solidFill>
                  </a:tcPr>
                </a:tc>
              </a:tr>
              <a:tr h="523875">
                <a:tc>
                  <a:txBody>
                    <a:bodyPr/>
                    <a:lstStyle/>
                    <a:p>
                      <a:r>
                        <a:rPr sz="1725" b="0">
                          <a:solidFill>
                            <a:srgbClr val="24384D"/>
                          </a:solidFill>
                          <a:latin typeface="Arial"/>
                          <a:ea typeface="Arial"/>
                          <a:cs typeface="Arial"/>
                        </a:rPr>
                        <a:t>Budget</a:t>
                      </a:r>
                    </a:p>
                  </a:txBody>
                  <a:tcPr marL="91440" marR="91440" marT="45720" marB="45720">
                    <a:solidFill>
                      <a:srgbClr val="F0F4F7"/>
                    </a:solidFill>
                  </a:tcPr>
                </a:tc>
                <a:tc>
                  <a:txBody>
                    <a:bodyPr/>
                    <a:lstStyle/>
                    <a:p>
                      <a:r>
                        <a:rPr sz="1725" b="0">
                          <a:solidFill>
                            <a:srgbClr val="24384D"/>
                          </a:solidFill>
                          <a:latin typeface="Arial"/>
                          <a:ea typeface="Arial"/>
                          <a:cs typeface="Arial"/>
                        </a:rPr>
                        <a:t>40 epochs, 93 minibatches per epoch</a:t>
                      </a:r>
                    </a:p>
                  </a:txBody>
                  <a:tcPr marL="91440" marR="91440" marT="45720" marB="45720">
                    <a:solidFill>
                      <a:srgbClr val="F0F4F7"/>
                    </a:solidFill>
                  </a:tcPr>
                </a:tc>
              </a:tr>
              <a:tr h="523875">
                <a:tc>
                  <a:txBody>
                    <a:bodyPr/>
                    <a:lstStyle/>
                    <a:p>
                      <a:r>
                        <a:rPr sz="1725" b="0">
                          <a:solidFill>
                            <a:srgbClr val="24384D"/>
                          </a:solidFill>
                          <a:latin typeface="Arial"/>
                          <a:ea typeface="Arial"/>
                          <a:cs typeface="Arial"/>
                        </a:rPr>
                        <a:t>Stabilization</a:t>
                      </a:r>
                    </a:p>
                  </a:txBody>
                  <a:tcPr marL="91440" marR="91440" marT="45720" marB="45720">
                    <a:solidFill>
                      <a:srgbClr val="FFFFFF"/>
                    </a:solidFill>
                  </a:tcPr>
                </a:tc>
                <a:tc>
                  <a:txBody>
                    <a:bodyPr/>
                    <a:lstStyle/>
                    <a:p>
                      <a:r>
                        <a:rPr sz="1725" b="0">
                          <a:solidFill>
                            <a:srgbClr val="24384D"/>
                          </a:solidFill>
                          <a:latin typeface="Arial"/>
                          <a:ea typeface="Arial"/>
                          <a:cs typeface="Arial"/>
                        </a:rPr>
                        <a:t>Global gradient norm clipped to 5</a:t>
                      </a:r>
                    </a:p>
                  </a:txBody>
                  <a:tcPr marL="91440" marR="91440" marT="45720" marB="45720">
                    <a:solidFill>
                      <a:srgbClr val="FFFFFF"/>
                    </a:solidFill>
                  </a:tcPr>
                </a:tc>
              </a:tr>
              <a:tr h="523875">
                <a:tc>
                  <a:txBody>
                    <a:bodyPr/>
                    <a:lstStyle/>
                    <a:p>
                      <a:r>
                        <a:rPr sz="1725" b="0">
                          <a:solidFill>
                            <a:srgbClr val="24384D"/>
                          </a:solidFill>
                          <a:latin typeface="Arial"/>
                          <a:ea typeface="Arial"/>
                          <a:cs typeface="Arial"/>
                        </a:rPr>
                        <a:t>Checkpoint criterion</a:t>
                      </a:r>
                    </a:p>
                  </a:txBody>
                  <a:tcPr marL="91440" marR="91440" marT="45720" marB="45720">
                    <a:solidFill>
                      <a:srgbClr val="F0F4F7"/>
                    </a:solidFill>
                  </a:tcPr>
                </a:tc>
                <a:tc>
                  <a:txBody>
                    <a:bodyPr/>
                    <a:lstStyle/>
                    <a:p>
                      <a:r>
                        <a:rPr sz="1725" b="0">
                          <a:solidFill>
                            <a:srgbClr val="24384D"/>
                          </a:solidFill>
                          <a:latin typeface="Arial"/>
                          <a:ea typeface="Arial"/>
                          <a:cs typeface="Arial"/>
                        </a:rPr>
                        <a:t>Lowest validation prediction MSE</a:t>
                      </a:r>
                    </a:p>
                  </a:txBody>
                  <a:tcPr marL="91440" marR="91440" marT="45720" marB="45720">
                    <a:solidFill>
                      <a:srgbClr val="F0F4F7"/>
                    </a:solidFill>
                  </a:tcPr>
                </a:tc>
              </a:tr>
              <a:tr h="523875">
                <a:tc>
                  <a:txBody>
                    <a:bodyPr/>
                    <a:lstStyle/>
                    <a:p>
                      <a:r>
                        <a:rPr sz="1725" b="0">
                          <a:solidFill>
                            <a:srgbClr val="24384D"/>
                          </a:solidFill>
                          <a:latin typeface="Arial"/>
                          <a:ea typeface="Arial"/>
                          <a:cs typeface="Arial"/>
                        </a:rPr>
                        <a:t>Runtime</a:t>
                      </a:r>
                    </a:p>
                  </a:txBody>
                  <a:tcPr marL="91440" marR="91440" marT="45720" marB="45720">
                    <a:solidFill>
                      <a:srgbClr val="FFFFFF"/>
                    </a:solidFill>
                  </a:tcPr>
                </a:tc>
                <a:tc>
                  <a:txBody>
                    <a:bodyPr/>
                    <a:lstStyle/>
                    <a:p>
                      <a:r>
                        <a:rPr sz="1725" b="0">
                          <a:solidFill>
                            <a:srgbClr val="24384D"/>
                          </a:solidFill>
                          <a:latin typeface="Arial"/>
                          <a:ea typeface="Arial"/>
                          <a:cs typeface="Arial"/>
                        </a:rPr>
                        <a:t>CPU, two PyTorch threads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7A7BACD-E1BF-4A7E-8EDE-5F367E63D4DD}"/>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All families use the same data splits and training budget for each seed.</a:t>
            </a:r>
          </a:p>
        </p:txBody>
      </p:sp>
    </p:spTree>
    <p:extLst>
      <p:ext uri="{BB962C8B-B14F-4D97-AF65-F5344CB8AC3E}">
        <p14:creationId xmlns:p14="http://schemas.microsoft.com/office/powerpoint/2010/main" val="7626109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D03F30-4863-4FD7-9476-3B9AB6A4D92B}"/>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EXPERIMENT</a:t>
            </a:r>
          </a:p>
        </p:txBody>
      </p:sp>
      <p:sp>
        <p:nvSpPr>
          <p:cNvPr id="2" name="">
            <a:extLst xmlns:a="http://schemas.openxmlformats.org/drawingml/2006/main">
              <a:ext uri="{FF2B5EF4-FFF2-40B4-BE49-F238E27FC236}">
                <a16:creationId xmlns:a16="http://schemas.microsoft.com/office/drawing/2014/main" id="{ED55F8F0-E25A-4AEF-B78C-FBE67F9657CA}"/>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Evaluation definitions</a:t>
            </a:r>
          </a:p>
        </p:txBody>
      </p:sp>
      <p:sp>
        <p:nvSpPr>
          <p:cNvPr id="3" name="">
            <a:extLst xmlns:a="http://schemas.openxmlformats.org/drawingml/2006/main">
              <a:ext uri="{FF2B5EF4-FFF2-40B4-BE49-F238E27FC236}">
                <a16:creationId xmlns:a16="http://schemas.microsoft.com/office/drawing/2014/main" id="{50F1F091-B8BF-4B0B-9A08-B405EC5E5F54}"/>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E06C0582-333E-41FD-9579-7B42A98B9FEB}"/>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7EE3913C-875C-490E-9528-EA49DF262B16}"/>
              </a:ext>
            </a:extLst>
          </p:cNvPr>
          <p:cNvGraphicFramePr/>
          <p:nvPr/>
        </p:nvGraphicFramePr>
        <p:xfrm>
          <a:off xmlns:a="http://schemas.openxmlformats.org/drawingml/2006/main" x="571500" y="1714500"/>
          <a:ext xmlns:a="http://schemas.openxmlformats.org/drawingml/2006/main" cx="11049000" cy="3810000"/>
        </p:xfrm>
        <a:graphic xmlns:a="http://schemas.openxmlformats.org/drawingml/2006/main">
          <a:graphicData uri="http://schemas.openxmlformats.org/drawingml/2006/table">
            <a:tbl>
              <a:tblPr/>
              <a:tblGrid>
                <a:gridCol w="2952750"/>
                <a:gridCol w="8096250"/>
              </a:tblGrid>
              <a:tr h="635000">
                <a:tc>
                  <a:txBody>
                    <a:bodyPr/>
                    <a:lstStyle/>
                    <a:p>
                      <a:r>
                        <a:rPr sz="1725" b="1">
                          <a:solidFill>
                            <a:srgbClr val="FFFFFF"/>
                          </a:solidFill>
                          <a:latin typeface="Arial"/>
                          <a:ea typeface="Arial"/>
                          <a:cs typeface="Arial"/>
                        </a:rPr>
                        <a:t>Measure</a:t>
                      </a:r>
                    </a:p>
                  </a:txBody>
                  <a:tcPr marL="91440" marR="91440" marT="45720" marB="45720">
                    <a:solidFill>
                      <a:srgbClr val="152B45"/>
                    </a:solidFill>
                  </a:tcPr>
                </a:tc>
                <a:tc>
                  <a:txBody>
                    <a:bodyPr/>
                    <a:lstStyle/>
                    <a:p>
                      <a:r>
                        <a:rPr sz="1725" b="1">
                          <a:solidFill>
                            <a:srgbClr val="FFFFFF"/>
                          </a:solidFill>
                          <a:latin typeface="Arial"/>
                          <a:ea typeface="Arial"/>
                          <a:cs typeface="Arial"/>
                        </a:rPr>
                        <a:t>Definition</a:t>
                      </a:r>
                    </a:p>
                  </a:txBody>
                  <a:tcPr marL="91440" marR="91440" marT="45720" marB="45720">
                    <a:solidFill>
                      <a:srgbClr val="152B45"/>
                    </a:solidFill>
                  </a:tcPr>
                </a:tc>
              </a:tr>
              <a:tr h="635000">
                <a:tc>
                  <a:txBody>
                    <a:bodyPr/>
                    <a:lstStyle/>
                    <a:p>
                      <a:r>
                        <a:rPr sz="1725" b="0">
                          <a:solidFill>
                            <a:srgbClr val="24384D"/>
                          </a:solidFill>
                          <a:latin typeface="Arial"/>
                          <a:ea typeface="Arial"/>
                          <a:cs typeface="Arial"/>
                        </a:rPr>
                        <a:t>One-step MSE</a:t>
                      </a:r>
                    </a:p>
                  </a:txBody>
                  <a:tcPr marL="91440" marR="91440" marT="45720" marB="45720">
                    <a:solidFill>
                      <a:srgbClr val="F0F4F7"/>
                    </a:solidFill>
                  </a:tcPr>
                </a:tc>
                <a:tc>
                  <a:txBody>
                    <a:bodyPr/>
                    <a:lstStyle/>
                    <a:p>
                      <a:r>
                        <a:rPr sz="1725" b="0">
                          <a:solidFill>
                            <a:srgbClr val="24384D"/>
                          </a:solidFill>
                          <a:latin typeface="Arial"/>
                          <a:ea typeface="Arial"/>
                          <a:cs typeface="Arial"/>
                        </a:rPr>
                        <a:t>Mean squared error over test windows and 4 original-unit coordinates.</a:t>
                      </a:r>
                    </a:p>
                  </a:txBody>
                  <a:tcPr marL="91440" marR="91440" marT="45720" marB="45720">
                    <a:solidFill>
                      <a:srgbClr val="F0F4F7"/>
                    </a:solidFill>
                  </a:tcPr>
                </a:tc>
              </a:tr>
              <a:tr h="635000">
                <a:tc>
                  <a:txBody>
                    <a:bodyPr/>
                    <a:lstStyle/>
                    <a:p>
                      <a:r>
                        <a:rPr sz="1725" b="0">
                          <a:solidFill>
                            <a:srgbClr val="24384D"/>
                          </a:solidFill>
                          <a:latin typeface="Arial"/>
                          <a:ea typeface="Arial"/>
                          <a:cs typeface="Arial"/>
                        </a:rPr>
                        <a:t>Switch MSE</a:t>
                      </a:r>
                    </a:p>
                  </a:txBody>
                  <a:tcPr marL="91440" marR="91440" marT="45720" marB="45720">
                    <a:solidFill>
                      <a:srgbClr val="FFFFFF"/>
                    </a:solidFill>
                  </a:tcPr>
                </a:tc>
                <a:tc>
                  <a:txBody>
                    <a:bodyPr/>
                    <a:lstStyle/>
                    <a:p>
                      <a:r>
                        <a:rPr sz="1725" b="0">
                          <a:solidFill>
                            <a:srgbClr val="24384D"/>
                          </a:solidFill>
                          <a:latin typeface="Arial"/>
                          <a:ea typeface="Arial"/>
                          <a:cs typeface="Arial"/>
                        </a:rPr>
                        <a:t>Error on transitions whose regime age equals zero.</a:t>
                      </a:r>
                    </a:p>
                  </a:txBody>
                  <a:tcPr marL="91440" marR="91440" marT="45720" marB="45720">
                    <a:solidFill>
                      <a:srgbClr val="FFFFFF"/>
                    </a:solidFill>
                  </a:tcPr>
                </a:tc>
              </a:tr>
              <a:tr h="635000">
                <a:tc>
                  <a:txBody>
                    <a:bodyPr/>
                    <a:lstStyle/>
                    <a:p>
                      <a:r>
                        <a:rPr sz="1725" b="0">
                          <a:solidFill>
                            <a:srgbClr val="24384D"/>
                          </a:solidFill>
                          <a:latin typeface="Arial"/>
                          <a:ea typeface="Arial"/>
                          <a:cs typeface="Arial"/>
                        </a:rPr>
                        <a:t>Routing agreement</a:t>
                      </a:r>
                    </a:p>
                  </a:txBody>
                  <a:tcPr marL="91440" marR="91440" marT="45720" marB="45720">
                    <a:solidFill>
                      <a:srgbClr val="F0F4F7"/>
                    </a:solidFill>
                  </a:tcPr>
                </a:tc>
                <a:tc>
                  <a:txBody>
                    <a:bodyPr/>
                    <a:lstStyle/>
                    <a:p>
                      <a:r>
                        <a:rPr sz="1725" b="0">
                          <a:solidFill>
                            <a:srgbClr val="24384D"/>
                          </a:solidFill>
                          <a:latin typeface="Arial"/>
                          <a:ea typeface="Arial"/>
                          <a:cs typeface="Arial"/>
                        </a:rPr>
                        <a:t>Top expert mapped to regime using a validation-fitted permutation.</a:t>
                      </a:r>
                    </a:p>
                  </a:txBody>
                  <a:tcPr marL="91440" marR="91440" marT="45720" marB="45720">
                    <a:solidFill>
                      <a:srgbClr val="F0F4F7"/>
                    </a:solidFill>
                  </a:tcPr>
                </a:tc>
              </a:tr>
              <a:tr h="635000">
                <a:tc>
                  <a:txBody>
                    <a:bodyPr/>
                    <a:lstStyle/>
                    <a:p>
                      <a:r>
                        <a:rPr sz="1725" b="0">
                          <a:solidFill>
                            <a:srgbClr val="24384D"/>
                          </a:solidFill>
                          <a:latin typeface="Arial"/>
                          <a:ea typeface="Arial"/>
                          <a:cs typeface="Arial"/>
                        </a:rPr>
                        <a:t>Recovery</a:t>
                      </a:r>
                    </a:p>
                  </a:txBody>
                  <a:tcPr marL="91440" marR="91440" marT="45720" marB="45720">
                    <a:solidFill>
                      <a:srgbClr val="FFFFFF"/>
                    </a:solidFill>
                  </a:tcPr>
                </a:tc>
                <a:tc>
                  <a:txBody>
                    <a:bodyPr/>
                    <a:lstStyle/>
                    <a:p>
                      <a:r>
                        <a:rPr sz="1725" b="0">
                          <a:solidFill>
                            <a:srgbClr val="24384D"/>
                          </a:solidFill>
                          <a:latin typeface="Arial"/>
                          <a:ea typeface="Arial"/>
                          <a:cs typeface="Arial"/>
                        </a:rPr>
                        <a:t>First run of 3 sufficiently low-error predictions before the next switch.</a:t>
                      </a:r>
                    </a:p>
                  </a:txBody>
                  <a:tcPr marL="91440" marR="91440" marT="45720" marB="45720">
                    <a:solidFill>
                      <a:srgbClr val="FFFFFF"/>
                    </a:solidFill>
                  </a:tcPr>
                </a:tc>
              </a:tr>
              <a:tr h="635000">
                <a:tc>
                  <a:txBody>
                    <a:bodyPr/>
                    <a:lstStyle/>
                    <a:p>
                      <a:r>
                        <a:rPr sz="1725" b="0">
                          <a:solidFill>
                            <a:srgbClr val="24384D"/>
                          </a:solidFill>
                          <a:latin typeface="Arial"/>
                          <a:ea typeface="Arial"/>
                          <a:cs typeface="Arial"/>
                        </a:rPr>
                        <a:t>Rollout MSE</a:t>
                      </a:r>
                    </a:p>
                  </a:txBody>
                  <a:tcPr marL="91440" marR="91440" marT="45720" marB="45720">
                    <a:solidFill>
                      <a:srgbClr val="F0F4F7"/>
                    </a:solidFill>
                  </a:tcPr>
                </a:tc>
                <a:tc>
                  <a:txBody>
                    <a:bodyPr/>
                    <a:lstStyle/>
                    <a:p>
                      <a:r>
                        <a:rPr sz="1725" b="0">
                          <a:solidFill>
                            <a:srgbClr val="24384D"/>
                          </a:solidFill>
                          <a:latin typeface="Arial"/>
                          <a:ea typeface="Arial"/>
                          <a:cs typeface="Arial"/>
                        </a:rPr>
                        <a:t>Recursive predictions at horizons 1–32 without future observed states.</a:t>
                      </a:r>
                    </a:p>
                  </a:txBody>
                  <a:tcPr marL="91440" marR="91440" marT="45720" marB="45720">
                    <a:solidFill>
                      <a:srgbClr val="F0F4F7"/>
                    </a:solidFill>
                  </a:tcPr>
                </a:tc>
              </a:tr>
            </a:tbl>
          </a:graphicData>
        </a:graphic>
      </p:graphicFrame>
    </p:spTree>
    <p:extLst>
      <p:ext uri="{BB962C8B-B14F-4D97-AF65-F5344CB8AC3E}">
        <p14:creationId xmlns:p14="http://schemas.microsoft.com/office/powerpoint/2010/main" val="163582854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CC6C6A2-1FDA-42C8-A38A-D46CBE758C4A}"/>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C3AE2729-2721-431C-A39F-DB4802827B9C}"/>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Original MLP error favors dense controls</a:t>
            </a:r>
          </a:p>
        </p:txBody>
      </p:sp>
      <p:sp>
        <p:nvSpPr>
          <p:cNvPr id="3" name="">
            <a:extLst xmlns:a="http://schemas.openxmlformats.org/drawingml/2006/main">
              <a:ext uri="{FF2B5EF4-FFF2-40B4-BE49-F238E27FC236}">
                <a16:creationId xmlns:a16="http://schemas.microsoft.com/office/drawing/2014/main" id="{43DA3E75-41BB-425D-A7D3-3304D6333561}"/>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40FA9AB4-193B-42A1-B67D-3E3C34D13A84}"/>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26</a:t>
            </a:r>
          </a:p>
        </p:txBody>
      </p:sp>
      <p:graphicFrame>
        <p:nvGraphicFramePr>
          <p:cNvPr id="5" name="Chart">
            <a:extLst xmlns:a="http://schemas.openxmlformats.org/drawingml/2006/main">
              <a:ext uri="{FF2B5EF4-FFF2-40B4-BE49-F238E27FC236}">
                <a16:creationId xmlns:a16="http://schemas.microsoft.com/office/drawing/2014/main" id="{106FCFAA-8C06-4DF0-B705-969DBF2FEEEB}"/>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bffb2462a87f4d90"/>
          </a:graphicData>
        </a:graphic>
      </p:graphicFrame>
      <p:sp>
        <p:nvSpPr>
          <p:cNvPr id="6" name="">
            <a:extLst xmlns:a="http://schemas.openxmlformats.org/drawingml/2006/main">
              <a:ext uri="{FF2B5EF4-FFF2-40B4-BE49-F238E27FC236}">
                <a16:creationId xmlns:a16="http://schemas.microsoft.com/office/drawing/2014/main" id="{2D1A82A9-002C-43B2-B5F0-F6840478075E}"/>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Learned MoE: 0.011466 MSE. Dense active: 0.011131. Dense total: 0.011068.</a:t>
            </a:r>
          </a:p>
        </p:txBody>
      </p:sp>
    </p:spTree>
    <p:extLst>
      <p:ext uri="{BB962C8B-B14F-4D97-AF65-F5344CB8AC3E}">
        <p14:creationId xmlns:p14="http://schemas.microsoft.com/office/powerpoint/2010/main" val="59896871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387EEE-BDEC-4933-86FC-A6323A0A4426}"/>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F21DC0BC-5DE8-4143-8E39-3D90CDD2F6B8}"/>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The MoE disadvantage repeats across seeds</a:t>
            </a:r>
          </a:p>
        </p:txBody>
      </p:sp>
      <p:sp>
        <p:nvSpPr>
          <p:cNvPr id="3" name="">
            <a:extLst xmlns:a="http://schemas.openxmlformats.org/drawingml/2006/main">
              <a:ext uri="{FF2B5EF4-FFF2-40B4-BE49-F238E27FC236}">
                <a16:creationId xmlns:a16="http://schemas.microsoft.com/office/drawing/2014/main" id="{11079BC6-C003-4447-B7B9-32A1CE8630D5}"/>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AC44B74B-79DA-4C37-B3B4-269A22F4FF00}"/>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27</a:t>
            </a:r>
          </a:p>
        </p:txBody>
      </p:sp>
      <p:graphicFrame>
        <p:nvGraphicFramePr>
          <p:cNvPr id="5" name="Chart">
            <a:extLst xmlns:a="http://schemas.openxmlformats.org/drawingml/2006/main">
              <a:ext uri="{FF2B5EF4-FFF2-40B4-BE49-F238E27FC236}">
                <a16:creationId xmlns:a16="http://schemas.microsoft.com/office/drawing/2014/main" id="{336E6C23-CAB7-4990-B00D-783EE42302F4}"/>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b1ee5226fc494b07"/>
          </a:graphicData>
        </a:graphic>
      </p:graphicFrame>
      <p:sp>
        <p:nvSpPr>
          <p:cNvPr id="6" name="">
            <a:extLst xmlns:a="http://schemas.openxmlformats.org/drawingml/2006/main">
              <a:ext uri="{FF2B5EF4-FFF2-40B4-BE49-F238E27FC236}">
                <a16:creationId xmlns:a16="http://schemas.microsoft.com/office/drawing/2014/main" id="{8E11EA96-CA90-4522-A53C-90F292654D7B}"/>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MoE wins in 0 of 3 seeds. Average paired relative error is +3.03% vs dense active and +3.61% vs dense total.</a:t>
            </a:r>
          </a:p>
        </p:txBody>
      </p:sp>
    </p:spTree>
    <p:extLst>
      <p:ext uri="{BB962C8B-B14F-4D97-AF65-F5344CB8AC3E}">
        <p14:creationId xmlns:p14="http://schemas.microsoft.com/office/powerpoint/2010/main" val="30936694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DF75B3-52CB-4A1D-A379-02DBC4DAEA45}"/>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4F318598-C83B-45D5-A9FF-C668B7E2E5BD}"/>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Validation learning curves</a:t>
            </a:r>
          </a:p>
        </p:txBody>
      </p:sp>
      <p:sp>
        <p:nvSpPr>
          <p:cNvPr id="3" name="">
            <a:extLst xmlns:a="http://schemas.openxmlformats.org/drawingml/2006/main">
              <a:ext uri="{FF2B5EF4-FFF2-40B4-BE49-F238E27FC236}">
                <a16:creationId xmlns:a16="http://schemas.microsoft.com/office/drawing/2014/main" id="{A6C13592-A7F6-40A1-A789-21B877874872}"/>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756CAFDA-EAD8-4953-90B9-47BD139C329F}"/>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28</a:t>
            </a:r>
          </a:p>
        </p:txBody>
      </p:sp>
      <p:graphicFrame>
        <p:nvGraphicFramePr>
          <p:cNvPr id="5" name="Chart">
            <a:extLst xmlns:a="http://schemas.openxmlformats.org/drawingml/2006/main">
              <a:ext uri="{FF2B5EF4-FFF2-40B4-BE49-F238E27FC236}">
                <a16:creationId xmlns:a16="http://schemas.microsoft.com/office/drawing/2014/main" id="{7DBC31A2-3B9C-4835-AF04-2E73BC222669}"/>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9baeed32d6694a72"/>
          </a:graphicData>
        </a:graphic>
      </p:graphicFrame>
      <p:sp>
        <p:nvSpPr>
          <p:cNvPr id="6" name="">
            <a:extLst xmlns:a="http://schemas.openxmlformats.org/drawingml/2006/main">
              <a:ext uri="{FF2B5EF4-FFF2-40B4-BE49-F238E27FC236}">
                <a16:creationId xmlns:a16="http://schemas.microsoft.com/office/drawing/2014/main" id="{884269A8-EE1A-4143-919D-3F7EDE68E0C9}"/>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Seed 7 shown. Most checkpoints occur late in the 40-epoch budget.</a:t>
            </a:r>
          </a:p>
        </p:txBody>
      </p:sp>
    </p:spTree>
    <p:extLst>
      <p:ext uri="{BB962C8B-B14F-4D97-AF65-F5344CB8AC3E}">
        <p14:creationId xmlns:p14="http://schemas.microsoft.com/office/powerpoint/2010/main" val="66980356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8C6400-E8B2-4068-B9E5-332FA93631C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CC6D47F9-8FDA-4D22-82A8-43F0C867763A}"/>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Errors rise sharply at regime switches</a:t>
            </a:r>
          </a:p>
        </p:txBody>
      </p:sp>
      <p:sp>
        <p:nvSpPr>
          <p:cNvPr id="3" name="">
            <a:extLst xmlns:a="http://schemas.openxmlformats.org/drawingml/2006/main">
              <a:ext uri="{FF2B5EF4-FFF2-40B4-BE49-F238E27FC236}">
                <a16:creationId xmlns:a16="http://schemas.microsoft.com/office/drawing/2014/main" id="{F8027897-49C8-4E8A-AA28-DDD8A8D45BF3}"/>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11B3B5C6-2BBF-4046-8D6A-B1EA85F9E75F}"/>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29</a:t>
            </a:r>
          </a:p>
        </p:txBody>
      </p:sp>
      <p:graphicFrame>
        <p:nvGraphicFramePr>
          <p:cNvPr id="5" name="Chart">
            <a:extLst xmlns:a="http://schemas.openxmlformats.org/drawingml/2006/main">
              <a:ext uri="{FF2B5EF4-FFF2-40B4-BE49-F238E27FC236}">
                <a16:creationId xmlns:a16="http://schemas.microsoft.com/office/drawing/2014/main" id="{2201F6AD-0886-4190-B83D-6C5B4447CB98}"/>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bdaee13f258e40be"/>
          </a:graphicData>
        </a:graphic>
      </p:graphicFrame>
      <p:sp>
        <p:nvSpPr>
          <p:cNvPr id="6" name="">
            <a:extLst xmlns:a="http://schemas.openxmlformats.org/drawingml/2006/main">
              <a:ext uri="{FF2B5EF4-FFF2-40B4-BE49-F238E27FC236}">
                <a16:creationId xmlns:a16="http://schemas.microsoft.com/office/drawing/2014/main" id="{DD995613-41FD-4736-9826-A60EB6A06159}"/>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Ordinary models incur about 0.07 MSE at the switch. The oracle remains near the noise level.</a:t>
            </a:r>
          </a:p>
        </p:txBody>
      </p:sp>
    </p:spTree>
    <p:extLst>
      <p:ext uri="{BB962C8B-B14F-4D97-AF65-F5344CB8AC3E}">
        <p14:creationId xmlns:p14="http://schemas.microsoft.com/office/powerpoint/2010/main" val="126384102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DC85DA-446E-4329-8E8E-EDC18CF9E3BE}"/>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33FA7FCE-459C-4D95-9351-688F00302FA3}"/>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Recovery needs both delay and coverage</a:t>
            </a:r>
          </a:p>
        </p:txBody>
      </p:sp>
      <p:sp>
        <p:nvSpPr>
          <p:cNvPr id="3" name="">
            <a:extLst xmlns:a="http://schemas.openxmlformats.org/drawingml/2006/main">
              <a:ext uri="{FF2B5EF4-FFF2-40B4-BE49-F238E27FC236}">
                <a16:creationId xmlns:a16="http://schemas.microsoft.com/office/drawing/2014/main" id="{9DF441F1-DA1C-4107-BF3A-EC5C0F1E70CE}"/>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392CBF58-A14E-4FCF-9533-831D47D17822}"/>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30</a:t>
            </a:r>
          </a:p>
        </p:txBody>
      </p:sp>
      <p:graphicFrame>
        <p:nvGraphicFramePr>
          <p:cNvPr id="5" name="">
            <a:extLst xmlns:a="http://schemas.openxmlformats.org/drawingml/2006/main">
              <a:ext uri="{FF2B5EF4-FFF2-40B4-BE49-F238E27FC236}">
                <a16:creationId xmlns:a16="http://schemas.microsoft.com/office/drawing/2014/main" id="{B4DBEE58-FEFE-4923-BD68-52DF1E58BF73}"/>
              </a:ext>
            </a:extLst>
          </p:cNvPr>
          <p:cNvGraphicFramePr/>
          <p:nvPr/>
        </p:nvGraphicFramePr>
        <p:xfrm>
          <a:off xmlns:a="http://schemas.openxmlformats.org/drawingml/2006/main" x="571500" y="1762125"/>
          <a:ext xmlns:a="http://schemas.openxmlformats.org/drawingml/2006/main" cx="11049000" cy="3524250"/>
        </p:xfrm>
        <a:graphic xmlns:a="http://schemas.openxmlformats.org/drawingml/2006/main">
          <a:graphicData uri="http://schemas.openxmlformats.org/drawingml/2006/table">
            <a:tbl>
              <a:tblPr/>
              <a:tblGrid>
                <a:gridCol w="3905250"/>
                <a:gridCol w="3429000"/>
                <a:gridCol w="3714750"/>
              </a:tblGrid>
              <a:tr h="587375">
                <a:tc>
                  <a:txBody>
                    <a:bodyPr/>
                    <a:lstStyle/>
                    <a:p>
                      <a:r>
                        <a:rPr sz="1725" b="1">
                          <a:solidFill>
                            <a:srgbClr val="FFFFFF"/>
                          </a:solidFill>
                          <a:latin typeface="Arial"/>
                          <a:ea typeface="Arial"/>
                          <a:cs typeface="Arial"/>
                        </a:rPr>
                        <a:t>Family</a:t>
                      </a:r>
                    </a:p>
                  </a:txBody>
                  <a:tcPr marL="91440" marR="91440" marT="45720" marB="45720">
                    <a:solidFill>
                      <a:srgbClr val="152B45"/>
                    </a:solidFill>
                  </a:tcPr>
                </a:tc>
                <a:tc>
                  <a:txBody>
                    <a:bodyPr/>
                    <a:lstStyle/>
                    <a:p>
                      <a:r>
                        <a:rPr sz="1725" b="1">
                          <a:solidFill>
                            <a:srgbClr val="FFFFFF"/>
                          </a:solidFill>
                          <a:latin typeface="Arial"/>
                          <a:ea typeface="Arial"/>
                          <a:cs typeface="Arial"/>
                        </a:rPr>
                        <a:t>Recovered episodes</a:t>
                      </a:r>
                    </a:p>
                  </a:txBody>
                  <a:tcPr marL="91440" marR="91440" marT="45720" marB="45720">
                    <a:solidFill>
                      <a:srgbClr val="152B45"/>
                    </a:solidFill>
                  </a:tcPr>
                </a:tc>
                <a:tc>
                  <a:txBody>
                    <a:bodyPr/>
                    <a:lstStyle/>
                    <a:p>
                      <a:r>
                        <a:rPr sz="1725" b="1">
                          <a:solidFill>
                            <a:srgbClr val="FFFFFF"/>
                          </a:solidFill>
                          <a:latin typeface="Arial"/>
                          <a:ea typeface="Arial"/>
                          <a:cs typeface="Arial"/>
                        </a:rPr>
                        <a:t>Delay among recovered</a:t>
                      </a:r>
                    </a:p>
                  </a:txBody>
                  <a:tcPr marL="91440" marR="91440" marT="45720" marB="45720">
                    <a:solidFill>
                      <a:srgbClr val="152B45"/>
                    </a:solidFill>
                  </a:tcPr>
                </a:tc>
              </a:tr>
              <a:tr h="587375">
                <a:tc>
                  <a:txBody>
                    <a:bodyPr/>
                    <a:lstStyle/>
                    <a:p>
                      <a:r>
                        <a:rPr sz="1725" b="0">
                          <a:solidFill>
                            <a:srgbClr val="24384D"/>
                          </a:solidFill>
                          <a:latin typeface="Arial"/>
                          <a:ea typeface="Arial"/>
                          <a:cs typeface="Arial"/>
                        </a:rPr>
                        <a:t>Dense active</a:t>
                      </a:r>
                    </a:p>
                  </a:txBody>
                  <a:tcPr marL="91440" marR="91440" marT="45720" marB="45720">
                    <a:solidFill>
                      <a:srgbClr val="F0F4F7"/>
                    </a:solidFill>
                  </a:tcPr>
                </a:tc>
                <a:tc>
                  <a:txBody>
                    <a:bodyPr/>
                    <a:lstStyle/>
                    <a:p>
                      <a:r>
                        <a:rPr sz="1725" b="0">
                          <a:solidFill>
                            <a:srgbClr val="24384D"/>
                          </a:solidFill>
                          <a:latin typeface="Arial"/>
                          <a:ea typeface="Arial"/>
                          <a:cs typeface="Arial"/>
                        </a:rPr>
                        <a:t>76.4%</a:t>
                      </a:r>
                    </a:p>
                  </a:txBody>
                  <a:tcPr marL="91440" marR="91440" marT="45720" marB="45720">
                    <a:solidFill>
                      <a:srgbClr val="F0F4F7"/>
                    </a:solidFill>
                  </a:tcPr>
                </a:tc>
                <a:tc>
                  <a:txBody>
                    <a:bodyPr/>
                    <a:lstStyle/>
                    <a:p>
                      <a:r>
                        <a:rPr sz="1725" b="0">
                          <a:solidFill>
                            <a:srgbClr val="24384D"/>
                          </a:solidFill>
                          <a:latin typeface="Arial"/>
                          <a:ea typeface="Arial"/>
                          <a:cs typeface="Arial"/>
                        </a:rPr>
                        <a:t>2.65 steps</a:t>
                      </a:r>
                    </a:p>
                  </a:txBody>
                  <a:tcPr marL="91440" marR="91440" marT="45720" marB="45720">
                    <a:solidFill>
                      <a:srgbClr val="F0F4F7"/>
                    </a:solidFill>
                  </a:tcPr>
                </a:tc>
              </a:tr>
              <a:tr h="587375">
                <a:tc>
                  <a:txBody>
                    <a:bodyPr/>
                    <a:lstStyle/>
                    <a:p>
                      <a:r>
                        <a:rPr sz="1725" b="0">
                          <a:solidFill>
                            <a:srgbClr val="24384D"/>
                          </a:solidFill>
                          <a:latin typeface="Arial"/>
                          <a:ea typeface="Arial"/>
                          <a:cs typeface="Arial"/>
                        </a:rPr>
                        <a:t>Dense total</a:t>
                      </a:r>
                    </a:p>
                  </a:txBody>
                  <a:tcPr marL="91440" marR="91440" marT="45720" marB="45720">
                    <a:solidFill>
                      <a:srgbClr val="FFFFFF"/>
                    </a:solidFill>
                  </a:tcPr>
                </a:tc>
                <a:tc>
                  <a:txBody>
                    <a:bodyPr/>
                    <a:lstStyle/>
                    <a:p>
                      <a:r>
                        <a:rPr sz="1725" b="0">
                          <a:solidFill>
                            <a:srgbClr val="24384D"/>
                          </a:solidFill>
                          <a:latin typeface="Arial"/>
                          <a:ea typeface="Arial"/>
                          <a:cs typeface="Arial"/>
                        </a:rPr>
                        <a:t>76.2%</a:t>
                      </a:r>
                    </a:p>
                  </a:txBody>
                  <a:tcPr marL="91440" marR="91440" marT="45720" marB="45720">
                    <a:solidFill>
                      <a:srgbClr val="FFFFFF"/>
                    </a:solidFill>
                  </a:tcPr>
                </a:tc>
                <a:tc>
                  <a:txBody>
                    <a:bodyPr/>
                    <a:lstStyle/>
                    <a:p>
                      <a:r>
                        <a:rPr sz="1725" b="0">
                          <a:solidFill>
                            <a:srgbClr val="24384D"/>
                          </a:solidFill>
                          <a:latin typeface="Arial"/>
                          <a:ea typeface="Arial"/>
                          <a:cs typeface="Arial"/>
                        </a:rPr>
                        <a:t>2.65 steps</a:t>
                      </a:r>
                    </a:p>
                  </a:txBody>
                  <a:tcPr marL="91440" marR="91440" marT="45720" marB="45720">
                    <a:solidFill>
                      <a:srgbClr val="FFFFFF"/>
                    </a:solidFill>
                  </a:tcPr>
                </a:tc>
              </a:tr>
              <a:tr h="587375">
                <a:tc>
                  <a:txBody>
                    <a:bodyPr/>
                    <a:lstStyle/>
                    <a:p>
                      <a:r>
                        <a:rPr sz="1725" b="0">
                          <a:solidFill>
                            <a:srgbClr val="24384D"/>
                          </a:solidFill>
                          <a:latin typeface="Arial"/>
                          <a:ea typeface="Arial"/>
                          <a:cs typeface="Arial"/>
                        </a:rPr>
                        <a:t>Learned MoE</a:t>
                      </a:r>
                    </a:p>
                  </a:txBody>
                  <a:tcPr marL="91440" marR="91440" marT="45720" marB="45720">
                    <a:solidFill>
                      <a:srgbClr val="F0F4F7"/>
                    </a:solidFill>
                  </a:tcPr>
                </a:tc>
                <a:tc>
                  <a:txBody>
                    <a:bodyPr/>
                    <a:lstStyle/>
                    <a:p>
                      <a:r>
                        <a:rPr sz="1725" b="0">
                          <a:solidFill>
                            <a:srgbClr val="24384D"/>
                          </a:solidFill>
                          <a:latin typeface="Arial"/>
                          <a:ea typeface="Arial"/>
                          <a:cs typeface="Arial"/>
                        </a:rPr>
                        <a:t>76.2%</a:t>
                      </a:r>
                    </a:p>
                  </a:txBody>
                  <a:tcPr marL="91440" marR="91440" marT="45720" marB="45720">
                    <a:solidFill>
                      <a:srgbClr val="F0F4F7"/>
                    </a:solidFill>
                  </a:tcPr>
                </a:tc>
                <a:tc>
                  <a:txBody>
                    <a:bodyPr/>
                    <a:lstStyle/>
                    <a:p>
                      <a:r>
                        <a:rPr sz="1725" b="0">
                          <a:solidFill>
                            <a:srgbClr val="24384D"/>
                          </a:solidFill>
                          <a:latin typeface="Arial"/>
                          <a:ea typeface="Arial"/>
                          <a:cs typeface="Arial"/>
                        </a:rPr>
                        <a:t>2.92 steps</a:t>
                      </a:r>
                    </a:p>
                  </a:txBody>
                  <a:tcPr marL="91440" marR="91440" marT="45720" marB="45720">
                    <a:solidFill>
                      <a:srgbClr val="F0F4F7"/>
                    </a:solidFill>
                  </a:tcPr>
                </a:tc>
              </a:tr>
              <a:tr h="587375">
                <a:tc>
                  <a:txBody>
                    <a:bodyPr/>
                    <a:lstStyle/>
                    <a:p>
                      <a:r>
                        <a:rPr sz="1725" b="0">
                          <a:solidFill>
                            <a:srgbClr val="24384D"/>
                          </a:solidFill>
                          <a:latin typeface="Arial"/>
                          <a:ea typeface="Arial"/>
                          <a:cs typeface="Arial"/>
                        </a:rPr>
                        <a:t>Random routing</a:t>
                      </a:r>
                    </a:p>
                  </a:txBody>
                  <a:tcPr marL="91440" marR="91440" marT="45720" marB="45720">
                    <a:solidFill>
                      <a:srgbClr val="FFFFFF"/>
                    </a:solidFill>
                  </a:tcPr>
                </a:tc>
                <a:tc>
                  <a:txBody>
                    <a:bodyPr/>
                    <a:lstStyle/>
                    <a:p>
                      <a:r>
                        <a:rPr sz="1725" b="0">
                          <a:solidFill>
                            <a:srgbClr val="24384D"/>
                          </a:solidFill>
                          <a:latin typeface="Arial"/>
                          <a:ea typeface="Arial"/>
                          <a:cs typeface="Arial"/>
                        </a:rPr>
                        <a:t>75.6%</a:t>
                      </a:r>
                    </a:p>
                  </a:txBody>
                  <a:tcPr marL="91440" marR="91440" marT="45720" marB="45720">
                    <a:solidFill>
                      <a:srgbClr val="FFFFFF"/>
                    </a:solidFill>
                  </a:tcPr>
                </a:tc>
                <a:tc>
                  <a:txBody>
                    <a:bodyPr/>
                    <a:lstStyle/>
                    <a:p>
                      <a:r>
                        <a:rPr sz="1725" b="0">
                          <a:solidFill>
                            <a:srgbClr val="24384D"/>
                          </a:solidFill>
                          <a:latin typeface="Arial"/>
                          <a:ea typeface="Arial"/>
                          <a:cs typeface="Arial"/>
                        </a:rPr>
                        <a:t>2.94 steps</a:t>
                      </a:r>
                    </a:p>
                  </a:txBody>
                  <a:tcPr marL="91440" marR="91440" marT="45720" marB="45720">
                    <a:solidFill>
                      <a:srgbClr val="FFFFFF"/>
                    </a:solidFill>
                  </a:tcPr>
                </a:tc>
              </a:tr>
              <a:tr h="587375">
                <a:tc>
                  <a:txBody>
                    <a:bodyPr/>
                    <a:lstStyle/>
                    <a:p>
                      <a:r>
                        <a:rPr sz="1725" b="0">
                          <a:solidFill>
                            <a:srgbClr val="24384D"/>
                          </a:solidFill>
                          <a:latin typeface="Arial"/>
                          <a:ea typeface="Arial"/>
                          <a:cs typeface="Arial"/>
                        </a:rPr>
                        <a:t>Oracle</a:t>
                      </a:r>
                    </a:p>
                  </a:txBody>
                  <a:tcPr marL="91440" marR="91440" marT="45720" marB="45720">
                    <a:solidFill>
                      <a:srgbClr val="F0F4F7"/>
                    </a:solidFill>
                  </a:tcPr>
                </a:tc>
                <a:tc>
                  <a:txBody>
                    <a:bodyPr/>
                    <a:lstStyle/>
                    <a:p>
                      <a:r>
                        <a:rPr sz="1725" b="0">
                          <a:solidFill>
                            <a:srgbClr val="24384D"/>
                          </a:solidFill>
                          <a:latin typeface="Arial"/>
                          <a:ea typeface="Arial"/>
                          <a:cs typeface="Arial"/>
                        </a:rPr>
                        <a:t>81.6%</a:t>
                      </a:r>
                    </a:p>
                  </a:txBody>
                  <a:tcPr marL="91440" marR="91440" marT="45720" marB="45720">
                    <a:solidFill>
                      <a:srgbClr val="F0F4F7"/>
                    </a:solidFill>
                  </a:tcPr>
                </a:tc>
                <a:tc>
                  <a:txBody>
                    <a:bodyPr/>
                    <a:lstStyle/>
                    <a:p>
                      <a:r>
                        <a:rPr sz="1725" b="0">
                          <a:solidFill>
                            <a:srgbClr val="24384D"/>
                          </a:solidFill>
                          <a:latin typeface="Arial"/>
                          <a:ea typeface="Arial"/>
                          <a:cs typeface="Arial"/>
                        </a:rPr>
                        <a:t>1.48 steps</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8F9D3A05-EA3F-440B-B7A8-A5FF40FE99A2}"/>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Learned MoE recovers in 76.2% of episodes, with a conditional mean delay of 2.92 steps.</a:t>
            </a:r>
          </a:p>
        </p:txBody>
      </p:sp>
    </p:spTree>
    <p:extLst>
      <p:ext uri="{BB962C8B-B14F-4D97-AF65-F5344CB8AC3E}">
        <p14:creationId xmlns:p14="http://schemas.microsoft.com/office/powerpoint/2010/main" val="15612615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CD1999-46FA-44A0-86F1-4182B6456574}"/>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1F9428F6-ECD9-435A-AE50-2CFD15604937}"/>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Expert use is distributed across all three routes</a:t>
            </a:r>
          </a:p>
        </p:txBody>
      </p:sp>
      <p:sp>
        <p:nvSpPr>
          <p:cNvPr id="3" name="">
            <a:extLst xmlns:a="http://schemas.openxmlformats.org/drawingml/2006/main">
              <a:ext uri="{FF2B5EF4-FFF2-40B4-BE49-F238E27FC236}">
                <a16:creationId xmlns:a16="http://schemas.microsoft.com/office/drawing/2014/main" id="{2883F5B4-50A7-4884-92BA-E6048E3DF0CF}"/>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F2AAA66B-E8EF-4764-A507-B50C93D8C5B7}"/>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31</a:t>
            </a:r>
          </a:p>
        </p:txBody>
      </p:sp>
      <p:graphicFrame>
        <p:nvGraphicFramePr>
          <p:cNvPr id="5" name="Chart">
            <a:extLst xmlns:a="http://schemas.openxmlformats.org/drawingml/2006/main">
              <a:ext uri="{FF2B5EF4-FFF2-40B4-BE49-F238E27FC236}">
                <a16:creationId xmlns:a16="http://schemas.microsoft.com/office/drawing/2014/main" id="{6444E69C-D730-46AB-B61E-52904ACFFAE9}"/>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e55614be32e14b17"/>
          </a:graphicData>
        </a:graphic>
      </p:graphicFrame>
      <p:sp>
        <p:nvSpPr>
          <p:cNvPr id="6" name="">
            <a:extLst xmlns:a="http://schemas.openxmlformats.org/drawingml/2006/main">
              <a:ext uri="{FF2B5EF4-FFF2-40B4-BE49-F238E27FC236}">
                <a16:creationId xmlns:a16="http://schemas.microsoft.com/office/drawing/2014/main" id="{3585E7B7-326A-439E-A4BE-E913D330B5C9}"/>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Seed 7 learned routing uses experts in proportions 42.1%, 26.8% and 31.1%.</a:t>
            </a:r>
          </a:p>
        </p:txBody>
      </p:sp>
    </p:spTree>
    <p:extLst>
      <p:ext uri="{BB962C8B-B14F-4D97-AF65-F5344CB8AC3E}">
        <p14:creationId xmlns:p14="http://schemas.microsoft.com/office/powerpoint/2010/main" val="98415128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922AD4-2E6E-4A46-AB5D-882292B6B129}"/>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2CC72303-B1EA-47A4-BD5F-206CCCC4FA1D}"/>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Routing only partly aligns with the regimes</a:t>
            </a:r>
          </a:p>
        </p:txBody>
      </p:sp>
      <p:sp>
        <p:nvSpPr>
          <p:cNvPr id="3" name="">
            <a:extLst xmlns:a="http://schemas.openxmlformats.org/drawingml/2006/main">
              <a:ext uri="{FF2B5EF4-FFF2-40B4-BE49-F238E27FC236}">
                <a16:creationId xmlns:a16="http://schemas.microsoft.com/office/drawing/2014/main" id="{68B13C4B-133E-4975-8A6A-37D79AE867CF}"/>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530823EC-2B57-431A-B99B-116435C01ECD}"/>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32</a:t>
            </a:r>
          </a:p>
        </p:txBody>
      </p:sp>
      <p:graphicFrame>
        <p:nvGraphicFramePr>
          <p:cNvPr id="5" name="">
            <a:extLst xmlns:a="http://schemas.openxmlformats.org/drawingml/2006/main">
              <a:ext uri="{FF2B5EF4-FFF2-40B4-BE49-F238E27FC236}">
                <a16:creationId xmlns:a16="http://schemas.microsoft.com/office/drawing/2014/main" id="{D778CD98-C43D-4CBC-A1E2-5C32A4235B64}"/>
              </a:ext>
            </a:extLst>
          </p:cNvPr>
          <p:cNvGraphicFramePr/>
          <p:nvPr/>
        </p:nvGraphicFramePr>
        <p:xfrm>
          <a:off xmlns:a="http://schemas.openxmlformats.org/drawingml/2006/main" x="571500" y="1809750"/>
          <a:ext xmlns:a="http://schemas.openxmlformats.org/drawingml/2006/main" cx="11049000" cy="2571750"/>
        </p:xfrm>
        <a:graphic xmlns:a="http://schemas.openxmlformats.org/drawingml/2006/main">
          <a:graphicData uri="http://schemas.openxmlformats.org/drawingml/2006/table">
            <a:tbl>
              <a:tblPr/>
              <a:tblGrid>
                <a:gridCol w="3048000"/>
                <a:gridCol w="2667000"/>
                <a:gridCol w="2667000"/>
                <a:gridCol w="2667000"/>
              </a:tblGrid>
              <a:tr h="642938">
                <a:tc>
                  <a:txBody>
                    <a:bodyPr/>
                    <a:lstStyle/>
                    <a:p>
                      <a:r>
                        <a:rPr sz="1725" b="1">
                          <a:solidFill>
                            <a:srgbClr val="FFFFFF"/>
                          </a:solidFill>
                          <a:latin typeface="Arial"/>
                          <a:ea typeface="Arial"/>
                          <a:cs typeface="Arial"/>
                        </a:rPr>
                        <a:t>True regime</a:t>
                      </a:r>
                    </a:p>
                  </a:txBody>
                  <a:tcPr marL="91440" marR="91440" marT="45720" marB="45720">
                    <a:solidFill>
                      <a:srgbClr val="152B45"/>
                    </a:solidFill>
                  </a:tcPr>
                </a:tc>
                <a:tc>
                  <a:txBody>
                    <a:bodyPr/>
                    <a:lstStyle/>
                    <a:p>
                      <a:r>
                        <a:rPr sz="1725" b="1">
                          <a:solidFill>
                            <a:srgbClr val="FFFFFF"/>
                          </a:solidFill>
                          <a:latin typeface="Arial"/>
                          <a:ea typeface="Arial"/>
                          <a:cs typeface="Arial"/>
                        </a:rPr>
                        <a:t>Top expert 0</a:t>
                      </a:r>
                    </a:p>
                  </a:txBody>
                  <a:tcPr marL="91440" marR="91440" marT="45720" marB="45720">
                    <a:solidFill>
                      <a:srgbClr val="152B45"/>
                    </a:solidFill>
                  </a:tcPr>
                </a:tc>
                <a:tc>
                  <a:txBody>
                    <a:bodyPr/>
                    <a:lstStyle/>
                    <a:p>
                      <a:r>
                        <a:rPr sz="1725" b="1">
                          <a:solidFill>
                            <a:srgbClr val="FFFFFF"/>
                          </a:solidFill>
                          <a:latin typeface="Arial"/>
                          <a:ea typeface="Arial"/>
                          <a:cs typeface="Arial"/>
                        </a:rPr>
                        <a:t>Top expert 1</a:t>
                      </a:r>
                    </a:p>
                  </a:txBody>
                  <a:tcPr marL="91440" marR="91440" marT="45720" marB="45720">
                    <a:solidFill>
                      <a:srgbClr val="152B45"/>
                    </a:solidFill>
                  </a:tcPr>
                </a:tc>
                <a:tc>
                  <a:txBody>
                    <a:bodyPr/>
                    <a:lstStyle/>
                    <a:p>
                      <a:r>
                        <a:rPr sz="1725" b="1">
                          <a:solidFill>
                            <a:srgbClr val="FFFFFF"/>
                          </a:solidFill>
                          <a:latin typeface="Arial"/>
                          <a:ea typeface="Arial"/>
                          <a:cs typeface="Arial"/>
                        </a:rPr>
                        <a:t>Top expert 2</a:t>
                      </a:r>
                    </a:p>
                  </a:txBody>
                  <a:tcPr marL="91440" marR="91440" marT="45720" marB="45720">
                    <a:solidFill>
                      <a:srgbClr val="152B45"/>
                    </a:solidFill>
                  </a:tcPr>
                </a:tc>
              </a:tr>
              <a:tr h="642938">
                <a:tc>
                  <a:txBody>
                    <a:bodyPr/>
                    <a:lstStyle/>
                    <a:p>
                      <a:r>
                        <a:rPr sz="1725" b="0">
                          <a:solidFill>
                            <a:srgbClr val="24384D"/>
                          </a:solidFill>
                          <a:latin typeface="Arial"/>
                          <a:ea typeface="Arial"/>
                          <a:cs typeface="Arial"/>
                        </a:rPr>
                        <a:t>Regime 0</a:t>
                      </a:r>
                    </a:p>
                  </a:txBody>
                  <a:tcPr marL="91440" marR="91440" marT="45720" marB="45720">
                    <a:solidFill>
                      <a:srgbClr val="F0F4F7"/>
                    </a:solidFill>
                  </a:tcPr>
                </a:tc>
                <a:tc>
                  <a:txBody>
                    <a:bodyPr/>
                    <a:lstStyle/>
                    <a:p>
                      <a:r>
                        <a:rPr sz="1725" b="0">
                          <a:solidFill>
                            <a:srgbClr val="24384D"/>
                          </a:solidFill>
                          <a:latin typeface="Arial"/>
                          <a:ea typeface="Arial"/>
                          <a:cs typeface="Arial"/>
                        </a:rPr>
                        <a:t>2211</a:t>
                      </a:r>
                    </a:p>
                  </a:txBody>
                  <a:tcPr marL="91440" marR="91440" marT="45720" marB="45720">
                    <a:solidFill>
                      <a:srgbClr val="F0F4F7"/>
                    </a:solidFill>
                  </a:tcPr>
                </a:tc>
                <a:tc>
                  <a:txBody>
                    <a:bodyPr/>
                    <a:lstStyle/>
                    <a:p>
                      <a:r>
                        <a:rPr sz="1725" b="0">
                          <a:solidFill>
                            <a:srgbClr val="24384D"/>
                          </a:solidFill>
                          <a:latin typeface="Arial"/>
                          <a:ea typeface="Arial"/>
                          <a:cs typeface="Arial"/>
                        </a:rPr>
                        <a:t>384</a:t>
                      </a:r>
                    </a:p>
                  </a:txBody>
                  <a:tcPr marL="91440" marR="91440" marT="45720" marB="45720">
                    <a:solidFill>
                      <a:srgbClr val="F0F4F7"/>
                    </a:solidFill>
                  </a:tcPr>
                </a:tc>
                <a:tc>
                  <a:txBody>
                    <a:bodyPr/>
                    <a:lstStyle/>
                    <a:p>
                      <a:r>
                        <a:rPr sz="1725" b="0">
                          <a:solidFill>
                            <a:srgbClr val="24384D"/>
                          </a:solidFill>
                          <a:latin typeface="Arial"/>
                          <a:ea typeface="Arial"/>
                          <a:cs typeface="Arial"/>
                        </a:rPr>
                        <a:t>1254</a:t>
                      </a:r>
                    </a:p>
                  </a:txBody>
                  <a:tcPr marL="91440" marR="91440" marT="45720" marB="45720">
                    <a:solidFill>
                      <a:srgbClr val="F0F4F7"/>
                    </a:solidFill>
                  </a:tcPr>
                </a:tc>
              </a:tr>
              <a:tr h="642938">
                <a:tc>
                  <a:txBody>
                    <a:bodyPr/>
                    <a:lstStyle/>
                    <a:p>
                      <a:r>
                        <a:rPr sz="1725" b="0">
                          <a:solidFill>
                            <a:srgbClr val="24384D"/>
                          </a:solidFill>
                          <a:latin typeface="Arial"/>
                          <a:ea typeface="Arial"/>
                          <a:cs typeface="Arial"/>
                        </a:rPr>
                        <a:t>Regime 1</a:t>
                      </a:r>
                    </a:p>
                  </a:txBody>
                  <a:tcPr marL="91440" marR="91440" marT="45720" marB="45720">
                    <a:solidFill>
                      <a:srgbClr val="FFFFFF"/>
                    </a:solidFill>
                  </a:tcPr>
                </a:tc>
                <a:tc>
                  <a:txBody>
                    <a:bodyPr/>
                    <a:lstStyle/>
                    <a:p>
                      <a:r>
                        <a:rPr sz="1725" b="0">
                          <a:solidFill>
                            <a:srgbClr val="24384D"/>
                          </a:solidFill>
                          <a:latin typeface="Arial"/>
                          <a:ea typeface="Arial"/>
                          <a:cs typeface="Arial"/>
                        </a:rPr>
                        <a:t>1343</a:t>
                      </a:r>
                    </a:p>
                  </a:txBody>
                  <a:tcPr marL="91440" marR="91440" marT="45720" marB="45720">
                    <a:solidFill>
                      <a:srgbClr val="FFFFFF"/>
                    </a:solidFill>
                  </a:tcPr>
                </a:tc>
                <a:tc>
                  <a:txBody>
                    <a:bodyPr/>
                    <a:lstStyle/>
                    <a:p>
                      <a:r>
                        <a:rPr sz="1725" b="0">
                          <a:solidFill>
                            <a:srgbClr val="24384D"/>
                          </a:solidFill>
                          <a:latin typeface="Arial"/>
                          <a:ea typeface="Arial"/>
                          <a:cs typeface="Arial"/>
                        </a:rPr>
                        <a:t>732</a:t>
                      </a:r>
                    </a:p>
                  </a:txBody>
                  <a:tcPr marL="91440" marR="91440" marT="45720" marB="45720">
                    <a:solidFill>
                      <a:srgbClr val="FFFFFF"/>
                    </a:solidFill>
                  </a:tcPr>
                </a:tc>
                <a:tc>
                  <a:txBody>
                    <a:bodyPr/>
                    <a:lstStyle/>
                    <a:p>
                      <a:r>
                        <a:rPr sz="1725" b="0">
                          <a:solidFill>
                            <a:srgbClr val="24384D"/>
                          </a:solidFill>
                          <a:latin typeface="Arial"/>
                          <a:ea typeface="Arial"/>
                          <a:cs typeface="Arial"/>
                        </a:rPr>
                        <a:t>1562</a:t>
                      </a:r>
                    </a:p>
                  </a:txBody>
                  <a:tcPr marL="91440" marR="91440" marT="45720" marB="45720">
                    <a:solidFill>
                      <a:srgbClr val="FFFFFF"/>
                    </a:solidFill>
                  </a:tcPr>
                </a:tc>
              </a:tr>
              <a:tr h="642938">
                <a:tc>
                  <a:txBody>
                    <a:bodyPr/>
                    <a:lstStyle/>
                    <a:p>
                      <a:r>
                        <a:rPr sz="1725" b="0">
                          <a:solidFill>
                            <a:srgbClr val="24384D"/>
                          </a:solidFill>
                          <a:latin typeface="Arial"/>
                          <a:ea typeface="Arial"/>
                          <a:cs typeface="Arial"/>
                        </a:rPr>
                        <a:t>Regime 2</a:t>
                      </a:r>
                    </a:p>
                  </a:txBody>
                  <a:tcPr marL="91440" marR="91440" marT="45720" marB="45720">
                    <a:solidFill>
                      <a:srgbClr val="F0F4F7"/>
                    </a:solidFill>
                  </a:tcPr>
                </a:tc>
                <a:tc>
                  <a:txBody>
                    <a:bodyPr/>
                    <a:lstStyle/>
                    <a:p>
                      <a:r>
                        <a:rPr sz="1725" b="0">
                          <a:solidFill>
                            <a:srgbClr val="24384D"/>
                          </a:solidFill>
                          <a:latin typeface="Arial"/>
                          <a:ea typeface="Arial"/>
                          <a:cs typeface="Arial"/>
                        </a:rPr>
                        <a:t>2571</a:t>
                      </a:r>
                    </a:p>
                  </a:txBody>
                  <a:tcPr marL="91440" marR="91440" marT="45720" marB="45720">
                    <a:solidFill>
                      <a:srgbClr val="F0F4F7"/>
                    </a:solidFill>
                  </a:tcPr>
                </a:tc>
                <a:tc>
                  <a:txBody>
                    <a:bodyPr/>
                    <a:lstStyle/>
                    <a:p>
                      <a:r>
                        <a:rPr sz="1725" b="0">
                          <a:solidFill>
                            <a:srgbClr val="24384D"/>
                          </a:solidFill>
                          <a:latin typeface="Arial"/>
                          <a:ea typeface="Arial"/>
                          <a:cs typeface="Arial"/>
                        </a:rPr>
                        <a:t>1652</a:t>
                      </a:r>
                    </a:p>
                  </a:txBody>
                  <a:tcPr marL="91440" marR="91440" marT="45720" marB="45720">
                    <a:solidFill>
                      <a:srgbClr val="F0F4F7"/>
                    </a:solidFill>
                  </a:tcPr>
                </a:tc>
                <a:tc>
                  <a:txBody>
                    <a:bodyPr/>
                    <a:lstStyle/>
                    <a:p>
                      <a:r>
                        <a:rPr sz="1725" b="0">
                          <a:solidFill>
                            <a:srgbClr val="24384D"/>
                          </a:solidFill>
                          <a:latin typeface="Arial"/>
                          <a:ea typeface="Arial"/>
                          <a:cs typeface="Arial"/>
                        </a:rPr>
                        <a:t>131</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0912CFB7-348F-4898-BCC6-612A9316953C}"/>
              </a:ext>
            </a:extLst>
          </p:cNvPr>
          <p:cNvSpPr>
            <a:spLocks xmlns:a="http://schemas.openxmlformats.org/drawingml/2006/main" noGrp="1"/>
          </p:cNvSpPr>
          <p:nvPr/>
        </p:nvSpPr>
        <p:spPr>
          <a:xfrm xmlns:a="http://schemas.openxmlformats.org/drawingml/2006/main">
            <a:off x="619125" y="47625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52B45"/>
                </a:solidFill>
                <a:latin typeface="Arial"/>
                <a:ea typeface="Arial"/>
                <a:cs typeface="Arial"/>
              </a:defRPr>
            </a:defPPr>
          </a:lstStyle>
          <a:p xmlns:a="http://schemas.openxmlformats.org/drawingml/2006/main">
            <a:pPr>
              <a:buNone/>
              <a:defRPr sz="1950" b="1">
                <a:solidFill>
                  <a:srgbClr val="152B45"/>
                </a:solidFill>
                <a:latin typeface="Arial"/>
                <a:ea typeface="Arial"/>
                <a:cs typeface="Arial"/>
              </a:defRPr>
            </a:pPr>
            <a:r>
              <a:rPr sz="1950" b="1">
                <a:solidFill>
                  <a:srgbClr val="152B45"/>
                </a:solidFill>
                <a:latin typeface="Arial"/>
                <a:ea typeface="Arial"/>
                <a:cs typeface="Arial"/>
              </a:rPr>
              <a:t>Mean test agreement after validation-based label matching</a:t>
            </a:r>
          </a:p>
        </p:txBody>
      </p:sp>
      <p:sp>
        <p:nvSpPr>
          <p:cNvPr id="7" name="">
            <a:extLst xmlns:a="http://schemas.openxmlformats.org/drawingml/2006/main">
              <a:ext uri="{FF2B5EF4-FFF2-40B4-BE49-F238E27FC236}">
                <a16:creationId xmlns:a16="http://schemas.microsoft.com/office/drawing/2014/main" id="{BA03B809-C984-4696-9666-F07BCBAEDE47}"/>
              </a:ext>
            </a:extLst>
          </p:cNvPr>
          <p:cNvSpPr>
            <a:spLocks xmlns:a="http://schemas.openxmlformats.org/drawingml/2006/main" noGrp="1"/>
          </p:cNvSpPr>
          <p:nvPr/>
        </p:nvSpPr>
        <p:spPr>
          <a:xfrm xmlns:a="http://schemas.openxmlformats.org/drawingml/2006/main">
            <a:off x="619125" y="52673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E8B"/>
                </a:solidFill>
                <a:latin typeface="Arial"/>
                <a:ea typeface="Arial"/>
                <a:cs typeface="Arial"/>
              </a:defRPr>
            </a:defPPr>
          </a:lstStyle>
          <a:p xmlns:a="http://schemas.openxmlformats.org/drawingml/2006/main">
            <a:pPr>
              <a:buNone/>
              <a:defRPr sz="2175" b="1">
                <a:solidFill>
                  <a:srgbClr val="087E8B"/>
                </a:solidFill>
                <a:latin typeface="Arial"/>
                <a:ea typeface="Arial"/>
                <a:cs typeface="Arial"/>
              </a:defRPr>
            </a:pPr>
            <a:r>
              <a:rPr sz="2175" b="1">
                <a:solidFill>
                  <a:srgbClr val="087E8B"/>
                </a:solidFill>
                <a:latin typeface="Arial"/>
                <a:ea typeface="Arial"/>
                <a:cs typeface="Arial"/>
              </a:rPr>
              <a:t>Learned router 51.4%     Random router 35.5%     Oracle 100%</a:t>
            </a:r>
          </a:p>
        </p:txBody>
      </p:sp>
    </p:spTree>
    <p:extLst>
      <p:ext uri="{BB962C8B-B14F-4D97-AF65-F5344CB8AC3E}">
        <p14:creationId xmlns:p14="http://schemas.microsoft.com/office/powerpoint/2010/main" val="105819701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59E1DC-9232-4236-8748-2DEB0704ECAD}"/>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67DE4820-94B3-4BF2-994D-B18D73BDAE90}"/>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Recursive forecasts accumulate error</a:t>
            </a:r>
          </a:p>
        </p:txBody>
      </p:sp>
      <p:sp>
        <p:nvSpPr>
          <p:cNvPr id="3" name="">
            <a:extLst xmlns:a="http://schemas.openxmlformats.org/drawingml/2006/main">
              <a:ext uri="{FF2B5EF4-FFF2-40B4-BE49-F238E27FC236}">
                <a16:creationId xmlns:a16="http://schemas.microsoft.com/office/drawing/2014/main" id="{91A616B3-EDC9-4A55-980D-5DD9580FB864}"/>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BEA753F1-003C-4F5A-98CD-8C6232883235}"/>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33</a:t>
            </a:r>
          </a:p>
        </p:txBody>
      </p:sp>
      <p:graphicFrame>
        <p:nvGraphicFramePr>
          <p:cNvPr id="5" name="Chart">
            <a:extLst xmlns:a="http://schemas.openxmlformats.org/drawingml/2006/main">
              <a:ext uri="{FF2B5EF4-FFF2-40B4-BE49-F238E27FC236}">
                <a16:creationId xmlns:a16="http://schemas.microsoft.com/office/drawing/2014/main" id="{AF9B3256-AB1A-4151-BAE6-2F9DB9D87DB3}"/>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91961564eba94dfa"/>
          </a:graphicData>
        </a:graphic>
      </p:graphicFrame>
      <p:sp>
        <p:nvSpPr>
          <p:cNvPr id="6" name="">
            <a:extLst xmlns:a="http://schemas.openxmlformats.org/drawingml/2006/main">
              <a:ext uri="{FF2B5EF4-FFF2-40B4-BE49-F238E27FC236}">
                <a16:creationId xmlns:a16="http://schemas.microsoft.com/office/drawing/2014/main" id="{9EBF3A8B-9AA6-4190-ABB7-EF7E62FA81D3}"/>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The oracle has the lowest mean over 32 horizons, but the highest error at horizon 32.</a:t>
            </a:r>
          </a:p>
        </p:txBody>
      </p:sp>
    </p:spTree>
    <p:extLst>
      <p:ext uri="{BB962C8B-B14F-4D97-AF65-F5344CB8AC3E}">
        <p14:creationId xmlns:p14="http://schemas.microsoft.com/office/powerpoint/2010/main" val="95349746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FC67E7-9148-4E96-A31A-463559351616}"/>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E34694A3-FF02-4613-9228-160D7EACBE99}"/>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Rollout averages conceal late-horizon behavior</a:t>
            </a:r>
          </a:p>
        </p:txBody>
      </p:sp>
      <p:sp>
        <p:nvSpPr>
          <p:cNvPr id="3" name="">
            <a:extLst xmlns:a="http://schemas.openxmlformats.org/drawingml/2006/main">
              <a:ext uri="{FF2B5EF4-FFF2-40B4-BE49-F238E27FC236}">
                <a16:creationId xmlns:a16="http://schemas.microsoft.com/office/drawing/2014/main" id="{BB3A57BD-DDD9-4E60-A000-DE5D4557A4AF}"/>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14949557-1582-4122-A6AA-D29E25CC8F2C}"/>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34</a:t>
            </a:r>
          </a:p>
        </p:txBody>
      </p:sp>
      <p:graphicFrame>
        <p:nvGraphicFramePr>
          <p:cNvPr id="5" name="">
            <a:extLst xmlns:a="http://schemas.openxmlformats.org/drawingml/2006/main">
              <a:ext uri="{FF2B5EF4-FFF2-40B4-BE49-F238E27FC236}">
                <a16:creationId xmlns:a16="http://schemas.microsoft.com/office/drawing/2014/main" id="{C4E823D5-4920-4BF1-B9AF-32C91EC982D2}"/>
              </a:ext>
            </a:extLst>
          </p:cNvPr>
          <p:cNvGraphicFramePr/>
          <p:nvPr/>
        </p:nvGraphicFramePr>
        <p:xfrm>
          <a:off xmlns:a="http://schemas.openxmlformats.org/drawingml/2006/main" x="571500" y="1762125"/>
          <a:ext xmlns:a="http://schemas.openxmlformats.org/drawingml/2006/main" cx="11049000" cy="3524250"/>
        </p:xfrm>
        <a:graphic xmlns:a="http://schemas.openxmlformats.org/drawingml/2006/main">
          <a:graphicData uri="http://schemas.openxmlformats.org/drawingml/2006/table">
            <a:tbl>
              <a:tblPr/>
              <a:tblGrid>
                <a:gridCol w="3905250"/>
                <a:gridCol w="3571875"/>
                <a:gridCol w="3571875"/>
              </a:tblGrid>
              <a:tr h="587375">
                <a:tc>
                  <a:txBody>
                    <a:bodyPr/>
                    <a:lstStyle/>
                    <a:p>
                      <a:r>
                        <a:rPr sz="1725" b="1">
                          <a:solidFill>
                            <a:srgbClr val="FFFFFF"/>
                          </a:solidFill>
                          <a:latin typeface="Arial"/>
                          <a:ea typeface="Arial"/>
                          <a:cs typeface="Arial"/>
                        </a:rPr>
                        <a:t>Family</a:t>
                      </a:r>
                    </a:p>
                  </a:txBody>
                  <a:tcPr marL="91440" marR="91440" marT="45720" marB="45720">
                    <a:solidFill>
                      <a:srgbClr val="152B45"/>
                    </a:solidFill>
                  </a:tcPr>
                </a:tc>
                <a:tc>
                  <a:txBody>
                    <a:bodyPr/>
                    <a:lstStyle/>
                    <a:p>
                      <a:r>
                        <a:rPr sz="1725" b="1">
                          <a:solidFill>
                            <a:srgbClr val="FFFFFF"/>
                          </a:solidFill>
                          <a:latin typeface="Arial"/>
                          <a:ea typeface="Arial"/>
                          <a:cs typeface="Arial"/>
                        </a:rPr>
                        <a:t>Mean of horizons 1–32</a:t>
                      </a:r>
                    </a:p>
                  </a:txBody>
                  <a:tcPr marL="91440" marR="91440" marT="45720" marB="45720">
                    <a:solidFill>
                      <a:srgbClr val="152B45"/>
                    </a:solidFill>
                  </a:tcPr>
                </a:tc>
                <a:tc>
                  <a:txBody>
                    <a:bodyPr/>
                    <a:lstStyle/>
                    <a:p>
                      <a:r>
                        <a:rPr sz="1725" b="1">
                          <a:solidFill>
                            <a:srgbClr val="FFFFFF"/>
                          </a:solidFill>
                          <a:latin typeface="Arial"/>
                          <a:ea typeface="Arial"/>
                          <a:cs typeface="Arial"/>
                        </a:rPr>
                        <a:t>Horizon 32</a:t>
                      </a:r>
                    </a:p>
                  </a:txBody>
                  <a:tcPr marL="91440" marR="91440" marT="45720" marB="45720">
                    <a:solidFill>
                      <a:srgbClr val="152B45"/>
                    </a:solidFill>
                  </a:tcPr>
                </a:tc>
              </a:tr>
              <a:tr h="587375">
                <a:tc>
                  <a:txBody>
                    <a:bodyPr/>
                    <a:lstStyle/>
                    <a:p>
                      <a:r>
                        <a:rPr sz="1725" b="0">
                          <a:solidFill>
                            <a:srgbClr val="24384D"/>
                          </a:solidFill>
                          <a:latin typeface="Arial"/>
                          <a:ea typeface="Arial"/>
                          <a:cs typeface="Arial"/>
                        </a:rPr>
                        <a:t>Dense active</a:t>
                      </a:r>
                    </a:p>
                  </a:txBody>
                  <a:tcPr marL="91440" marR="91440" marT="45720" marB="45720">
                    <a:solidFill>
                      <a:srgbClr val="F0F4F7"/>
                    </a:solidFill>
                  </a:tcPr>
                </a:tc>
                <a:tc>
                  <a:txBody>
                    <a:bodyPr/>
                    <a:lstStyle/>
                    <a:p>
                      <a:r>
                        <a:rPr sz="1725" b="0">
                          <a:solidFill>
                            <a:srgbClr val="24384D"/>
                          </a:solidFill>
                          <a:latin typeface="Arial"/>
                          <a:ea typeface="Arial"/>
                          <a:cs typeface="Arial"/>
                        </a:rPr>
                        <a:t>0.05735</a:t>
                      </a:r>
                    </a:p>
                  </a:txBody>
                  <a:tcPr marL="91440" marR="91440" marT="45720" marB="45720">
                    <a:solidFill>
                      <a:srgbClr val="F0F4F7"/>
                    </a:solidFill>
                  </a:tcPr>
                </a:tc>
                <a:tc>
                  <a:txBody>
                    <a:bodyPr/>
                    <a:lstStyle/>
                    <a:p>
                      <a:r>
                        <a:rPr sz="1725" b="0">
                          <a:solidFill>
                            <a:srgbClr val="24384D"/>
                          </a:solidFill>
                          <a:latin typeface="Arial"/>
                          <a:ea typeface="Arial"/>
                          <a:cs typeface="Arial"/>
                        </a:rPr>
                        <a:t>0.06457</a:t>
                      </a:r>
                    </a:p>
                  </a:txBody>
                  <a:tcPr marL="91440" marR="91440" marT="45720" marB="45720">
                    <a:solidFill>
                      <a:srgbClr val="F0F4F7"/>
                    </a:solidFill>
                  </a:tcPr>
                </a:tc>
              </a:tr>
              <a:tr h="587375">
                <a:tc>
                  <a:txBody>
                    <a:bodyPr/>
                    <a:lstStyle/>
                    <a:p>
                      <a:r>
                        <a:rPr sz="1725" b="0">
                          <a:solidFill>
                            <a:srgbClr val="24384D"/>
                          </a:solidFill>
                          <a:latin typeface="Arial"/>
                          <a:ea typeface="Arial"/>
                          <a:cs typeface="Arial"/>
                        </a:rPr>
                        <a:t>Dense total</a:t>
                      </a:r>
                    </a:p>
                  </a:txBody>
                  <a:tcPr marL="91440" marR="91440" marT="45720" marB="45720">
                    <a:solidFill>
                      <a:srgbClr val="FFFFFF"/>
                    </a:solidFill>
                  </a:tcPr>
                </a:tc>
                <a:tc>
                  <a:txBody>
                    <a:bodyPr/>
                    <a:lstStyle/>
                    <a:p>
                      <a:r>
                        <a:rPr sz="1725" b="0">
                          <a:solidFill>
                            <a:srgbClr val="24384D"/>
                          </a:solidFill>
                          <a:latin typeface="Arial"/>
                          <a:ea typeface="Arial"/>
                          <a:cs typeface="Arial"/>
                        </a:rPr>
                        <a:t>0.05711</a:t>
                      </a:r>
                    </a:p>
                  </a:txBody>
                  <a:tcPr marL="91440" marR="91440" marT="45720" marB="45720">
                    <a:solidFill>
                      <a:srgbClr val="FFFFFF"/>
                    </a:solidFill>
                  </a:tcPr>
                </a:tc>
                <a:tc>
                  <a:txBody>
                    <a:bodyPr/>
                    <a:lstStyle/>
                    <a:p>
                      <a:r>
                        <a:rPr sz="1725" b="0">
                          <a:solidFill>
                            <a:srgbClr val="24384D"/>
                          </a:solidFill>
                          <a:latin typeface="Arial"/>
                          <a:ea typeface="Arial"/>
                          <a:cs typeface="Arial"/>
                        </a:rPr>
                        <a:t>0.06463</a:t>
                      </a:r>
                    </a:p>
                  </a:txBody>
                  <a:tcPr marL="91440" marR="91440" marT="45720" marB="45720">
                    <a:solidFill>
                      <a:srgbClr val="FFFFFF"/>
                    </a:solidFill>
                  </a:tcPr>
                </a:tc>
              </a:tr>
              <a:tr h="587375">
                <a:tc>
                  <a:txBody>
                    <a:bodyPr/>
                    <a:lstStyle/>
                    <a:p>
                      <a:r>
                        <a:rPr sz="1725" b="0">
                          <a:solidFill>
                            <a:srgbClr val="24384D"/>
                          </a:solidFill>
                          <a:latin typeface="Arial"/>
                          <a:ea typeface="Arial"/>
                          <a:cs typeface="Arial"/>
                        </a:rPr>
                        <a:t>Learned MoE</a:t>
                      </a:r>
                    </a:p>
                  </a:txBody>
                  <a:tcPr marL="91440" marR="91440" marT="45720" marB="45720">
                    <a:solidFill>
                      <a:srgbClr val="F0F4F7"/>
                    </a:solidFill>
                  </a:tcPr>
                </a:tc>
                <a:tc>
                  <a:txBody>
                    <a:bodyPr/>
                    <a:lstStyle/>
                    <a:p>
                      <a:r>
                        <a:rPr sz="1725" b="0">
                          <a:solidFill>
                            <a:srgbClr val="24384D"/>
                          </a:solidFill>
                          <a:latin typeface="Arial"/>
                          <a:ea typeface="Arial"/>
                          <a:cs typeface="Arial"/>
                        </a:rPr>
                        <a:t>0.05757</a:t>
                      </a:r>
                    </a:p>
                  </a:txBody>
                  <a:tcPr marL="91440" marR="91440" marT="45720" marB="45720">
                    <a:solidFill>
                      <a:srgbClr val="F0F4F7"/>
                    </a:solidFill>
                  </a:tcPr>
                </a:tc>
                <a:tc>
                  <a:txBody>
                    <a:bodyPr/>
                    <a:lstStyle/>
                    <a:p>
                      <a:r>
                        <a:rPr sz="1725" b="0">
                          <a:solidFill>
                            <a:srgbClr val="24384D"/>
                          </a:solidFill>
                          <a:latin typeface="Arial"/>
                          <a:ea typeface="Arial"/>
                          <a:cs typeface="Arial"/>
                        </a:rPr>
                        <a:t>0.06408</a:t>
                      </a:r>
                    </a:p>
                  </a:txBody>
                  <a:tcPr marL="91440" marR="91440" marT="45720" marB="45720">
                    <a:solidFill>
                      <a:srgbClr val="F0F4F7"/>
                    </a:solidFill>
                  </a:tcPr>
                </a:tc>
              </a:tr>
              <a:tr h="587375">
                <a:tc>
                  <a:txBody>
                    <a:bodyPr/>
                    <a:lstStyle/>
                    <a:p>
                      <a:r>
                        <a:rPr sz="1725" b="0">
                          <a:solidFill>
                            <a:srgbClr val="24384D"/>
                          </a:solidFill>
                          <a:latin typeface="Arial"/>
                          <a:ea typeface="Arial"/>
                          <a:cs typeface="Arial"/>
                        </a:rPr>
                        <a:t>Random routing</a:t>
                      </a:r>
                    </a:p>
                  </a:txBody>
                  <a:tcPr marL="91440" marR="91440" marT="45720" marB="45720">
                    <a:solidFill>
                      <a:srgbClr val="FFFFFF"/>
                    </a:solidFill>
                  </a:tcPr>
                </a:tc>
                <a:tc>
                  <a:txBody>
                    <a:bodyPr/>
                    <a:lstStyle/>
                    <a:p>
                      <a:r>
                        <a:rPr sz="1725" b="0">
                          <a:solidFill>
                            <a:srgbClr val="24384D"/>
                          </a:solidFill>
                          <a:latin typeface="Arial"/>
                          <a:ea typeface="Arial"/>
                          <a:cs typeface="Arial"/>
                        </a:rPr>
                        <a:t>0.05714</a:t>
                      </a:r>
                    </a:p>
                  </a:txBody>
                  <a:tcPr marL="91440" marR="91440" marT="45720" marB="45720">
                    <a:solidFill>
                      <a:srgbClr val="FFFFFF"/>
                    </a:solidFill>
                  </a:tcPr>
                </a:tc>
                <a:tc>
                  <a:txBody>
                    <a:bodyPr/>
                    <a:lstStyle/>
                    <a:p>
                      <a:r>
                        <a:rPr sz="1725" b="0">
                          <a:solidFill>
                            <a:srgbClr val="24384D"/>
                          </a:solidFill>
                          <a:latin typeface="Arial"/>
                          <a:ea typeface="Arial"/>
                          <a:cs typeface="Arial"/>
                        </a:rPr>
                        <a:t>0.06284</a:t>
                      </a:r>
                    </a:p>
                  </a:txBody>
                  <a:tcPr marL="91440" marR="91440" marT="45720" marB="45720">
                    <a:solidFill>
                      <a:srgbClr val="FFFFFF"/>
                    </a:solidFill>
                  </a:tcPr>
                </a:tc>
              </a:tr>
              <a:tr h="587375">
                <a:tc>
                  <a:txBody>
                    <a:bodyPr/>
                    <a:lstStyle/>
                    <a:p>
                      <a:r>
                        <a:rPr sz="1725" b="0">
                          <a:solidFill>
                            <a:srgbClr val="24384D"/>
                          </a:solidFill>
                          <a:latin typeface="Arial"/>
                          <a:ea typeface="Arial"/>
                          <a:cs typeface="Arial"/>
                        </a:rPr>
                        <a:t>Oracle</a:t>
                      </a:r>
                    </a:p>
                  </a:txBody>
                  <a:tcPr marL="91440" marR="91440" marT="45720" marB="45720">
                    <a:solidFill>
                      <a:srgbClr val="F0F4F7"/>
                    </a:solidFill>
                  </a:tcPr>
                </a:tc>
                <a:tc>
                  <a:txBody>
                    <a:bodyPr/>
                    <a:lstStyle/>
                    <a:p>
                      <a:r>
                        <a:rPr sz="1725" b="0">
                          <a:solidFill>
                            <a:srgbClr val="24384D"/>
                          </a:solidFill>
                          <a:latin typeface="Arial"/>
                          <a:ea typeface="Arial"/>
                          <a:cs typeface="Arial"/>
                        </a:rPr>
                        <a:t>0.05405</a:t>
                      </a:r>
                    </a:p>
                  </a:txBody>
                  <a:tcPr marL="91440" marR="91440" marT="45720" marB="45720">
                    <a:solidFill>
                      <a:srgbClr val="F0F4F7"/>
                    </a:solidFill>
                  </a:tcPr>
                </a:tc>
                <a:tc>
                  <a:txBody>
                    <a:bodyPr/>
                    <a:lstStyle/>
                    <a:p>
                      <a:r>
                        <a:rPr sz="1725" b="0">
                          <a:solidFill>
                            <a:srgbClr val="24384D"/>
                          </a:solidFill>
                          <a:latin typeface="Arial"/>
                          <a:ea typeface="Arial"/>
                          <a:cs typeface="Arial"/>
                        </a:rPr>
                        <a:t>0.07765</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3E81946E-A495-4649-9FE4-A429DF2E4692}"/>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The oracle’s final-step MSE is 0.07765, despite a lower overall horizon mean of 0.05405.</a:t>
            </a:r>
          </a:p>
        </p:txBody>
      </p:sp>
    </p:spTree>
    <p:extLst>
      <p:ext uri="{BB962C8B-B14F-4D97-AF65-F5344CB8AC3E}">
        <p14:creationId xmlns:p14="http://schemas.microsoft.com/office/powerpoint/2010/main" val="66719545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D15604-027F-4B8F-8CD2-4CA87F1D0F4E}"/>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ATTENTION RESULTS</a:t>
            </a:r>
          </a:p>
        </p:txBody>
      </p:sp>
      <p:sp>
        <p:nvSpPr>
          <p:cNvPr id="2" name="">
            <a:extLst xmlns:a="http://schemas.openxmlformats.org/drawingml/2006/main">
              <a:ext uri="{FF2B5EF4-FFF2-40B4-BE49-F238E27FC236}">
                <a16:creationId xmlns:a16="http://schemas.microsoft.com/office/drawing/2014/main" id="{D364657C-B75A-4654-B4CE-358037C6C5B0}"/>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Routing improves over the standard backbone</a:t>
            </a:r>
          </a:p>
        </p:txBody>
      </p:sp>
      <p:sp>
        <p:nvSpPr>
          <p:cNvPr id="3" name="">
            <a:extLst xmlns:a="http://schemas.openxmlformats.org/drawingml/2006/main">
              <a:ext uri="{FF2B5EF4-FFF2-40B4-BE49-F238E27FC236}">
                <a16:creationId xmlns:a16="http://schemas.microsoft.com/office/drawing/2014/main" id="{3B0B9050-9542-44BB-8A54-ECD155C9CCFB}"/>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C9E26458-FC78-4CB1-BF3E-B6B03A104D58}"/>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35</a:t>
            </a:r>
          </a:p>
        </p:txBody>
      </p:sp>
      <p:graphicFrame>
        <p:nvGraphicFramePr>
          <p:cNvPr id="5" name="Chart">
            <a:extLst xmlns:a="http://schemas.openxmlformats.org/drawingml/2006/main">
              <a:ext uri="{FF2B5EF4-FFF2-40B4-BE49-F238E27FC236}">
                <a16:creationId xmlns:a16="http://schemas.microsoft.com/office/drawing/2014/main" id="{87D89FBF-D326-4C4E-BAD5-0DE444D5926E}"/>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b1651d668e19448a"/>
          </a:graphicData>
        </a:graphic>
      </p:graphicFrame>
      <p:sp>
        <p:nvSpPr>
          <p:cNvPr id="6" name="">
            <a:extLst xmlns:a="http://schemas.openxmlformats.org/drawingml/2006/main">
              <a:ext uri="{FF2B5EF4-FFF2-40B4-BE49-F238E27FC236}">
                <a16:creationId xmlns:a16="http://schemas.microsoft.com/office/drawing/2014/main" id="{A0142D21-AFB8-480A-9E17-2379EA8E0AB3}"/>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MoH improves by 2.07% versus standard attention. FFN-MoE has a lower mean error than MoH.</a:t>
            </a:r>
          </a:p>
        </p:txBody>
      </p:sp>
    </p:spTree>
    <p:extLst>
      <p:ext uri="{BB962C8B-B14F-4D97-AF65-F5344CB8AC3E}">
        <p14:creationId xmlns:p14="http://schemas.microsoft.com/office/powerpoint/2010/main" val="83369509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02C539-4449-4DB4-BEE1-A819DAF24A44}"/>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ATTENTION RESULTS</a:t>
            </a:r>
          </a:p>
        </p:txBody>
      </p:sp>
      <p:sp>
        <p:nvSpPr>
          <p:cNvPr id="2" name="">
            <a:extLst xmlns:a="http://schemas.openxmlformats.org/drawingml/2006/main">
              <a:ext uri="{FF2B5EF4-FFF2-40B4-BE49-F238E27FC236}">
                <a16:creationId xmlns:a16="http://schemas.microsoft.com/office/drawing/2014/main" id="{2EB9897C-422E-43E9-B96B-D21D0FD0636E}"/>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Capacity and frozen-gate controls narrow the gain</a:t>
            </a:r>
          </a:p>
        </p:txBody>
      </p:sp>
      <p:sp>
        <p:nvSpPr>
          <p:cNvPr id="3" name="">
            <a:extLst xmlns:a="http://schemas.openxmlformats.org/drawingml/2006/main">
              <a:ext uri="{FF2B5EF4-FFF2-40B4-BE49-F238E27FC236}">
                <a16:creationId xmlns:a16="http://schemas.microsoft.com/office/drawing/2014/main" id="{60553F56-5FDD-4753-BC30-982B1AAEC373}"/>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B0825D67-A3B7-46F5-A7F2-5037050C6B9C}"/>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36</a:t>
            </a:r>
          </a:p>
        </p:txBody>
      </p:sp>
      <p:graphicFrame>
        <p:nvGraphicFramePr>
          <p:cNvPr id="5" name="">
            <a:extLst xmlns:a="http://schemas.openxmlformats.org/drawingml/2006/main">
              <a:ext uri="{FF2B5EF4-FFF2-40B4-BE49-F238E27FC236}">
                <a16:creationId xmlns:a16="http://schemas.microsoft.com/office/drawing/2014/main" id="{E1A17571-8EA9-44B8-BC30-E77804CD0079}"/>
              </a:ext>
            </a:extLst>
          </p:cNvPr>
          <p:cNvGraphicFramePr/>
          <p:nvPr/>
        </p:nvGraphicFramePr>
        <p:xfrm>
          <a:off xmlns:a="http://schemas.openxmlformats.org/drawingml/2006/main" x="571500" y="1762125"/>
          <a:ext xmlns:a="http://schemas.openxmlformats.org/drawingml/2006/main" cx="11049000" cy="3524250"/>
        </p:xfrm>
        <a:graphic xmlns:a="http://schemas.openxmlformats.org/drawingml/2006/main">
          <a:graphicData uri="http://schemas.openxmlformats.org/drawingml/2006/table">
            <a:tbl>
              <a:tblPr/>
              <a:tblGrid>
                <a:gridCol w="2333625"/>
                <a:gridCol w="3571875"/>
                <a:gridCol w="3048000"/>
                <a:gridCol w="2095500"/>
              </a:tblGrid>
              <a:tr h="587375">
                <a:tc>
                  <a:txBody>
                    <a:bodyPr/>
                    <a:lstStyle/>
                    <a:p>
                      <a:r>
                        <a:rPr sz="1875" b="1">
                          <a:solidFill>
                            <a:srgbClr val="FFFFFF"/>
                          </a:solidFill>
                          <a:latin typeface="Arial"/>
                          <a:ea typeface="Arial"/>
                          <a:cs typeface="Arial"/>
                        </a:rPr>
                        <a:t>Model</a:t>
                      </a:r>
                    </a:p>
                  </a:txBody>
                  <a:tcPr marL="91440" marR="91440" marT="45720" marB="45720">
                    <a:solidFill>
                      <a:srgbClr val="152B45"/>
                    </a:solidFill>
                  </a:tcPr>
                </a:tc>
                <a:tc>
                  <a:txBody>
                    <a:bodyPr/>
                    <a:lstStyle/>
                    <a:p>
                      <a:r>
                        <a:rPr sz="1875" b="1">
                          <a:solidFill>
                            <a:srgbClr val="FFFFFF"/>
                          </a:solidFill>
                          <a:latin typeface="Arial"/>
                          <a:ea typeface="Arial"/>
                          <a:cs typeface="Arial"/>
                        </a:rPr>
                        <a:t>Comparator</a:t>
                      </a:r>
                    </a:p>
                  </a:txBody>
                  <a:tcPr marL="91440" marR="91440" marT="45720" marB="45720">
                    <a:solidFill>
                      <a:srgbClr val="152B45"/>
                    </a:solidFill>
                  </a:tcPr>
                </a:tc>
                <a:tc>
                  <a:txBody>
                    <a:bodyPr/>
                    <a:lstStyle/>
                    <a:p>
                      <a:r>
                        <a:rPr sz="1875" b="1">
                          <a:solidFill>
                            <a:srgbClr val="FFFFFF"/>
                          </a:solidFill>
                          <a:latin typeface="Arial"/>
                          <a:ea typeface="Arial"/>
                          <a:cs typeface="Arial"/>
                        </a:rPr>
                        <a:t>Relative change</a:t>
                      </a:r>
                    </a:p>
                  </a:txBody>
                  <a:tcPr marL="91440" marR="91440" marT="45720" marB="45720">
                    <a:solidFill>
                      <a:srgbClr val="152B45"/>
                    </a:solidFill>
                  </a:tcPr>
                </a:tc>
                <a:tc>
                  <a:txBody>
                    <a:bodyPr/>
                    <a:lstStyle/>
                    <a:p>
                      <a:r>
                        <a:rPr sz="1875" b="1">
                          <a:solidFill>
                            <a:srgbClr val="FFFFFF"/>
                          </a:solidFill>
                          <a:latin typeface="Arial"/>
                          <a:ea typeface="Arial"/>
                          <a:cs typeface="Arial"/>
                        </a:rPr>
                        <a:t>Wins</a:t>
                      </a:r>
                    </a:p>
                  </a:txBody>
                  <a:tcPr marL="91440" marR="91440" marT="45720" marB="45720">
                    <a:solidFill>
                      <a:srgbClr val="152B45"/>
                    </a:solidFill>
                  </a:tcPr>
                </a:tc>
              </a:tr>
              <a:tr h="587375">
                <a:tc>
                  <a:txBody>
                    <a:bodyPr/>
                    <a:lstStyle/>
                    <a:p>
                      <a:r>
                        <a:rPr sz="1875" b="0">
                          <a:solidFill>
                            <a:srgbClr val="24384D"/>
                          </a:solidFill>
                          <a:latin typeface="Arial"/>
                          <a:ea typeface="Arial"/>
                          <a:cs typeface="Arial"/>
                        </a:rPr>
                        <a:t>MoH</a:t>
                      </a:r>
                    </a:p>
                  </a:txBody>
                  <a:tcPr marL="91440" marR="91440" marT="45720" marB="45720">
                    <a:solidFill>
                      <a:srgbClr val="F0F4F7"/>
                    </a:solidFill>
                  </a:tcPr>
                </a:tc>
                <a:tc>
                  <a:txBody>
                    <a:bodyPr/>
                    <a:lstStyle/>
                    <a:p>
                      <a:r>
                        <a:rPr sz="1875" b="0">
                          <a:solidFill>
                            <a:srgbClr val="24384D"/>
                          </a:solidFill>
                          <a:latin typeface="Arial"/>
                          <a:ea typeface="Arial"/>
                          <a:cs typeface="Arial"/>
                        </a:rPr>
                        <a:t>Standard</a:t>
                      </a:r>
                    </a:p>
                  </a:txBody>
                  <a:tcPr marL="91440" marR="91440" marT="45720" marB="45720">
                    <a:solidFill>
                      <a:srgbClr val="F0F4F7"/>
                    </a:solidFill>
                  </a:tcPr>
                </a:tc>
                <a:tc>
                  <a:txBody>
                    <a:bodyPr/>
                    <a:lstStyle/>
                    <a:p>
                      <a:r>
                        <a:rPr sz="1875" b="0">
                          <a:solidFill>
                            <a:srgbClr val="24384D"/>
                          </a:solidFill>
                          <a:latin typeface="Arial"/>
                          <a:ea typeface="Arial"/>
                          <a:cs typeface="Arial"/>
                        </a:rPr>
                        <a:t>-2.07%</a:t>
                      </a:r>
                    </a:p>
                  </a:txBody>
                  <a:tcPr marL="91440" marR="91440" marT="45720" marB="45720">
                    <a:solidFill>
                      <a:srgbClr val="F0F4F7"/>
                    </a:solidFill>
                  </a:tcPr>
                </a:tc>
                <a:tc>
                  <a:txBody>
                    <a:bodyPr/>
                    <a:lstStyle/>
                    <a:p>
                      <a:r>
                        <a:rPr sz="1875" b="0">
                          <a:solidFill>
                            <a:srgbClr val="24384D"/>
                          </a:solidFill>
                          <a:latin typeface="Arial"/>
                          <a:ea typeface="Arial"/>
                          <a:cs typeface="Arial"/>
                        </a:rPr>
                        <a:t>3/3</a:t>
                      </a:r>
                    </a:p>
                  </a:txBody>
                  <a:tcPr marL="91440" marR="91440" marT="45720" marB="45720">
                    <a:solidFill>
                      <a:srgbClr val="F0F4F7"/>
                    </a:solidFill>
                  </a:tcPr>
                </a:tc>
              </a:tr>
              <a:tr h="587375">
                <a:tc>
                  <a:txBody>
                    <a:bodyPr/>
                    <a:lstStyle/>
                    <a:p>
                      <a:r>
                        <a:rPr sz="1875" b="0">
                          <a:solidFill>
                            <a:srgbClr val="24384D"/>
                          </a:solidFill>
                          <a:latin typeface="Arial"/>
                          <a:ea typeface="Arial"/>
                          <a:cs typeface="Arial"/>
                        </a:rPr>
                        <a:t>MoH</a:t>
                      </a:r>
                    </a:p>
                  </a:txBody>
                  <a:tcPr marL="91440" marR="91440" marT="45720" marB="45720">
                    <a:solidFill>
                      <a:srgbClr val="FFFFFF"/>
                    </a:solidFill>
                  </a:tcPr>
                </a:tc>
                <a:tc>
                  <a:txBody>
                    <a:bodyPr/>
                    <a:lstStyle/>
                    <a:p>
                      <a:r>
                        <a:rPr sz="1875" b="0">
                          <a:solidFill>
                            <a:srgbClr val="24384D"/>
                          </a:solidFill>
                          <a:latin typeface="Arial"/>
                          <a:ea typeface="Arial"/>
                          <a:cs typeface="Arial"/>
                        </a:rPr>
                        <a:t>Dense capacity</a:t>
                      </a:r>
                    </a:p>
                  </a:txBody>
                  <a:tcPr marL="91440" marR="91440" marT="45720" marB="45720">
                    <a:solidFill>
                      <a:srgbClr val="FFFFFF"/>
                    </a:solidFill>
                  </a:tcPr>
                </a:tc>
                <a:tc>
                  <a:txBody>
                    <a:bodyPr/>
                    <a:lstStyle/>
                    <a:p>
                      <a:r>
                        <a:rPr sz="1875" b="0">
                          <a:solidFill>
                            <a:srgbClr val="24384D"/>
                          </a:solidFill>
                          <a:latin typeface="Arial"/>
                          <a:ea typeface="Arial"/>
                          <a:cs typeface="Arial"/>
                        </a:rPr>
                        <a:t>-0.25%</a:t>
                      </a:r>
                    </a:p>
                  </a:txBody>
                  <a:tcPr marL="91440" marR="91440" marT="45720" marB="45720">
                    <a:solidFill>
                      <a:srgbClr val="FFFFFF"/>
                    </a:solidFill>
                  </a:tcPr>
                </a:tc>
                <a:tc>
                  <a:txBody>
                    <a:bodyPr/>
                    <a:lstStyle/>
                    <a:p>
                      <a:r>
                        <a:rPr sz="1875" b="0">
                          <a:solidFill>
                            <a:srgbClr val="24384D"/>
                          </a:solidFill>
                          <a:latin typeface="Arial"/>
                          <a:ea typeface="Arial"/>
                          <a:cs typeface="Arial"/>
                        </a:rPr>
                        <a:t>2/3</a:t>
                      </a:r>
                    </a:p>
                  </a:txBody>
                  <a:tcPr marL="91440" marR="91440" marT="45720" marB="45720">
                    <a:solidFill>
                      <a:srgbClr val="FFFFFF"/>
                    </a:solidFill>
                  </a:tcPr>
                </a:tc>
              </a:tr>
              <a:tr h="587375">
                <a:tc>
                  <a:txBody>
                    <a:bodyPr/>
                    <a:lstStyle/>
                    <a:p>
                      <a:r>
                        <a:rPr sz="1875" b="0">
                          <a:solidFill>
                            <a:srgbClr val="24384D"/>
                          </a:solidFill>
                          <a:latin typeface="Arial"/>
                          <a:ea typeface="Arial"/>
                          <a:cs typeface="Arial"/>
                        </a:rPr>
                        <a:t>MoH</a:t>
                      </a:r>
                    </a:p>
                  </a:txBody>
                  <a:tcPr marL="91440" marR="91440" marT="45720" marB="45720">
                    <a:solidFill>
                      <a:srgbClr val="F0F4F7"/>
                    </a:solidFill>
                  </a:tcPr>
                </a:tc>
                <a:tc>
                  <a:txBody>
                    <a:bodyPr/>
                    <a:lstStyle/>
                    <a:p>
                      <a:r>
                        <a:rPr sz="1875" b="0">
                          <a:solidFill>
                            <a:srgbClr val="24384D"/>
                          </a:solidFill>
                          <a:latin typeface="Arial"/>
                          <a:ea typeface="Arial"/>
                          <a:cs typeface="Arial"/>
                        </a:rPr>
                        <a:t>Frozen gate</a:t>
                      </a:r>
                    </a:p>
                  </a:txBody>
                  <a:tcPr marL="91440" marR="91440" marT="45720" marB="45720">
                    <a:solidFill>
                      <a:srgbClr val="F0F4F7"/>
                    </a:solidFill>
                  </a:tcPr>
                </a:tc>
                <a:tc>
                  <a:txBody>
                    <a:bodyPr/>
                    <a:lstStyle/>
                    <a:p>
                      <a:r>
                        <a:rPr sz="1875" b="0">
                          <a:solidFill>
                            <a:srgbClr val="24384D"/>
                          </a:solidFill>
                          <a:latin typeface="Arial"/>
                          <a:ea typeface="Arial"/>
                          <a:cs typeface="Arial"/>
                        </a:rPr>
                        <a:t>0.16%</a:t>
                      </a:r>
                    </a:p>
                  </a:txBody>
                  <a:tcPr marL="91440" marR="91440" marT="45720" marB="45720">
                    <a:solidFill>
                      <a:srgbClr val="F0F4F7"/>
                    </a:solidFill>
                  </a:tcPr>
                </a:tc>
                <a:tc>
                  <a:txBody>
                    <a:bodyPr/>
                    <a:lstStyle/>
                    <a:p>
                      <a:r>
                        <a:rPr sz="1875" b="0">
                          <a:solidFill>
                            <a:srgbClr val="24384D"/>
                          </a:solidFill>
                          <a:latin typeface="Arial"/>
                          <a:ea typeface="Arial"/>
                          <a:cs typeface="Arial"/>
                        </a:rPr>
                        <a:t>1/3</a:t>
                      </a:r>
                    </a:p>
                  </a:txBody>
                  <a:tcPr marL="91440" marR="91440" marT="45720" marB="45720">
                    <a:solidFill>
                      <a:srgbClr val="F0F4F7"/>
                    </a:solidFill>
                  </a:tcPr>
                </a:tc>
              </a:tr>
              <a:tr h="587375">
                <a:tc>
                  <a:txBody>
                    <a:bodyPr/>
                    <a:lstStyle/>
                    <a:p>
                      <a:r>
                        <a:rPr sz="1875" b="0">
                          <a:solidFill>
                            <a:srgbClr val="24384D"/>
                          </a:solidFill>
                          <a:latin typeface="Arial"/>
                          <a:ea typeface="Arial"/>
                          <a:cs typeface="Arial"/>
                        </a:rPr>
                        <a:t>FFN-MoE</a:t>
                      </a:r>
                    </a:p>
                  </a:txBody>
                  <a:tcPr marL="91440" marR="91440" marT="45720" marB="45720">
                    <a:solidFill>
                      <a:srgbClr val="FFFFFF"/>
                    </a:solidFill>
                  </a:tcPr>
                </a:tc>
                <a:tc>
                  <a:txBody>
                    <a:bodyPr/>
                    <a:lstStyle/>
                    <a:p>
                      <a:r>
                        <a:rPr sz="1875" b="0">
                          <a:solidFill>
                            <a:srgbClr val="24384D"/>
                          </a:solidFill>
                          <a:latin typeface="Arial"/>
                          <a:ea typeface="Arial"/>
                          <a:cs typeface="Arial"/>
                        </a:rPr>
                        <a:t>Dense capacity</a:t>
                      </a:r>
                    </a:p>
                  </a:txBody>
                  <a:tcPr marL="91440" marR="91440" marT="45720" marB="45720">
                    <a:solidFill>
                      <a:srgbClr val="FFFFFF"/>
                    </a:solidFill>
                  </a:tcPr>
                </a:tc>
                <a:tc>
                  <a:txBody>
                    <a:bodyPr/>
                    <a:lstStyle/>
                    <a:p>
                      <a:r>
                        <a:rPr sz="1875" b="0">
                          <a:solidFill>
                            <a:srgbClr val="24384D"/>
                          </a:solidFill>
                          <a:latin typeface="Arial"/>
                          <a:ea typeface="Arial"/>
                          <a:cs typeface="Arial"/>
                        </a:rPr>
                        <a:t>-0.17%</a:t>
                      </a:r>
                    </a:p>
                  </a:txBody>
                  <a:tcPr marL="91440" marR="91440" marT="45720" marB="45720">
                    <a:solidFill>
                      <a:srgbClr val="FFFFFF"/>
                    </a:solidFill>
                  </a:tcPr>
                </a:tc>
                <a:tc>
                  <a:txBody>
                    <a:bodyPr/>
                    <a:lstStyle/>
                    <a:p>
                      <a:r>
                        <a:rPr sz="1875" b="0">
                          <a:solidFill>
                            <a:srgbClr val="24384D"/>
                          </a:solidFill>
                          <a:latin typeface="Arial"/>
                          <a:ea typeface="Arial"/>
                          <a:cs typeface="Arial"/>
                        </a:rPr>
                        <a:t>2/3</a:t>
                      </a:r>
                    </a:p>
                  </a:txBody>
                  <a:tcPr marL="91440" marR="91440" marT="45720" marB="45720">
                    <a:solidFill>
                      <a:srgbClr val="FFFFFF"/>
                    </a:solidFill>
                  </a:tcPr>
                </a:tc>
              </a:tr>
              <a:tr h="587375">
                <a:tc>
                  <a:txBody>
                    <a:bodyPr/>
                    <a:lstStyle/>
                    <a:p>
                      <a:r>
                        <a:rPr sz="1875" b="0">
                          <a:solidFill>
                            <a:srgbClr val="24384D"/>
                          </a:solidFill>
                          <a:latin typeface="Arial"/>
                          <a:ea typeface="Arial"/>
                          <a:cs typeface="Arial"/>
                        </a:rPr>
                        <a:t>Both</a:t>
                      </a:r>
                    </a:p>
                  </a:txBody>
                  <a:tcPr marL="91440" marR="91440" marT="45720" marB="45720">
                    <a:solidFill>
                      <a:srgbClr val="F0F4F7"/>
                    </a:solidFill>
                  </a:tcPr>
                </a:tc>
                <a:tc>
                  <a:txBody>
                    <a:bodyPr/>
                    <a:lstStyle/>
                    <a:p>
                      <a:r>
                        <a:rPr sz="1875" b="0">
                          <a:solidFill>
                            <a:srgbClr val="24384D"/>
                          </a:solidFill>
                          <a:latin typeface="Arial"/>
                          <a:ea typeface="Arial"/>
                          <a:cs typeface="Arial"/>
                        </a:rPr>
                        <a:t>FFN-MoE</a:t>
                      </a:r>
                    </a:p>
                  </a:txBody>
                  <a:tcPr marL="91440" marR="91440" marT="45720" marB="45720">
                    <a:solidFill>
                      <a:srgbClr val="F0F4F7"/>
                    </a:solidFill>
                  </a:tcPr>
                </a:tc>
                <a:tc>
                  <a:txBody>
                    <a:bodyPr/>
                    <a:lstStyle/>
                    <a:p>
                      <a:r>
                        <a:rPr sz="1875" b="0">
                          <a:solidFill>
                            <a:srgbClr val="24384D"/>
                          </a:solidFill>
                          <a:latin typeface="Arial"/>
                          <a:ea typeface="Arial"/>
                          <a:cs typeface="Arial"/>
                        </a:rPr>
                        <a:t>-0.51%</a:t>
                      </a:r>
                    </a:p>
                  </a:txBody>
                  <a:tcPr marL="91440" marR="91440" marT="45720" marB="45720">
                    <a:solidFill>
                      <a:srgbClr val="F0F4F7"/>
                    </a:solidFill>
                  </a:tcPr>
                </a:tc>
                <a:tc>
                  <a:txBody>
                    <a:bodyPr/>
                    <a:lstStyle/>
                    <a:p>
                      <a:r>
                        <a:rPr sz="1875" b="0">
                          <a:solidFill>
                            <a:srgbClr val="24384D"/>
                          </a:solidFill>
                          <a:latin typeface="Arial"/>
                          <a:ea typeface="Arial"/>
                          <a:cs typeface="Arial"/>
                        </a:rPr>
                        <a:t>1/3</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54C17261-B8E9-4FF4-B548-A6CAE5A1AFC0}"/>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Learned MoH does not outperform its frozen-gate control on average.</a:t>
            </a:r>
          </a:p>
        </p:txBody>
      </p:sp>
    </p:spTree>
    <p:extLst>
      <p:ext uri="{BB962C8B-B14F-4D97-AF65-F5344CB8AC3E}">
        <p14:creationId xmlns:p14="http://schemas.microsoft.com/office/powerpoint/2010/main" val="27602894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9F3ACF-FDEF-41DF-ACB9-C2261C6160E8}"/>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ATTENTION RESULTS</a:t>
            </a:r>
          </a:p>
        </p:txBody>
      </p:sp>
      <p:sp>
        <p:nvSpPr>
          <p:cNvPr id="2" name="">
            <a:extLst xmlns:a="http://schemas.openxmlformats.org/drawingml/2006/main">
              <a:ext uri="{FF2B5EF4-FFF2-40B4-BE49-F238E27FC236}">
                <a16:creationId xmlns:a16="http://schemas.microsoft.com/office/drawing/2014/main" id="{927BA883-3716-4E96-87E6-3BD48FE9A57D}"/>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Paired seed differences expose reversals</a:t>
            </a:r>
          </a:p>
        </p:txBody>
      </p:sp>
      <p:sp>
        <p:nvSpPr>
          <p:cNvPr id="3" name="">
            <a:extLst xmlns:a="http://schemas.openxmlformats.org/drawingml/2006/main">
              <a:ext uri="{FF2B5EF4-FFF2-40B4-BE49-F238E27FC236}">
                <a16:creationId xmlns:a16="http://schemas.microsoft.com/office/drawing/2014/main" id="{E51ACA71-7778-4572-897A-4E876CD18B64}"/>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29B36D52-41AA-4C39-AB44-2F0F70D72DED}"/>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37</a:t>
            </a:r>
          </a:p>
        </p:txBody>
      </p:sp>
      <p:graphicFrame>
        <p:nvGraphicFramePr>
          <p:cNvPr id="5" name="Chart">
            <a:extLst xmlns:a="http://schemas.openxmlformats.org/drawingml/2006/main">
              <a:ext uri="{FF2B5EF4-FFF2-40B4-BE49-F238E27FC236}">
                <a16:creationId xmlns:a16="http://schemas.microsoft.com/office/drawing/2014/main" id="{E8A4AEBB-7188-467D-88B9-76541A75A8F6}"/>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a33b431d424b4c11"/>
          </a:graphicData>
        </a:graphic>
      </p:graphicFrame>
      <p:sp>
        <p:nvSpPr>
          <p:cNvPr id="6" name="">
            <a:extLst xmlns:a="http://schemas.openxmlformats.org/drawingml/2006/main">
              <a:ext uri="{FF2B5EF4-FFF2-40B4-BE49-F238E27FC236}">
                <a16:creationId xmlns:a16="http://schemas.microsoft.com/office/drawing/2014/main" id="{5D107723-2F41-4335-A952-3746893F5A72}"/>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Negative values favor the routed model. Three seeds describe variation without establishing significance.</a:t>
            </a:r>
          </a:p>
        </p:txBody>
      </p:sp>
    </p:spTree>
    <p:extLst>
      <p:ext uri="{BB962C8B-B14F-4D97-AF65-F5344CB8AC3E}">
        <p14:creationId xmlns:p14="http://schemas.microsoft.com/office/powerpoint/2010/main" val="210963986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7C3F96-7DD5-49A5-88CB-C5F1877B3FD8}"/>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ATTENTION RESULTS</a:t>
            </a:r>
          </a:p>
        </p:txBody>
      </p:sp>
      <p:sp>
        <p:nvSpPr>
          <p:cNvPr id="2" name="">
            <a:extLst xmlns:a="http://schemas.openxmlformats.org/drawingml/2006/main">
              <a:ext uri="{FF2B5EF4-FFF2-40B4-BE49-F238E27FC236}">
                <a16:creationId xmlns:a16="http://schemas.microsoft.com/office/drawing/2014/main" id="{1CB9DB85-3171-4A44-93D0-06CF148561A1}"/>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Learning continues near the budget boundary</a:t>
            </a:r>
          </a:p>
        </p:txBody>
      </p:sp>
      <p:sp>
        <p:nvSpPr>
          <p:cNvPr id="3" name="">
            <a:extLst xmlns:a="http://schemas.openxmlformats.org/drawingml/2006/main">
              <a:ext uri="{FF2B5EF4-FFF2-40B4-BE49-F238E27FC236}">
                <a16:creationId xmlns:a16="http://schemas.microsoft.com/office/drawing/2014/main" id="{01422F3B-01BB-4F66-95B1-287A54171C45}"/>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4C309AB1-24AB-4AEA-9770-59316AF5602C}"/>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38</a:t>
            </a:r>
          </a:p>
        </p:txBody>
      </p:sp>
      <p:graphicFrame>
        <p:nvGraphicFramePr>
          <p:cNvPr id="5" name="Chart">
            <a:extLst xmlns:a="http://schemas.openxmlformats.org/drawingml/2006/main">
              <a:ext uri="{FF2B5EF4-FFF2-40B4-BE49-F238E27FC236}">
                <a16:creationId xmlns:a16="http://schemas.microsoft.com/office/drawing/2014/main" id="{801F9743-E13E-4E75-9D8D-FF0827509D36}"/>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7db47fedc5644d6d"/>
          </a:graphicData>
        </a:graphic>
      </p:graphicFrame>
      <p:sp>
        <p:nvSpPr>
          <p:cNvPr id="6" name="">
            <a:extLst xmlns:a="http://schemas.openxmlformats.org/drawingml/2006/main">
              <a:ext uri="{FF2B5EF4-FFF2-40B4-BE49-F238E27FC236}">
                <a16:creationId xmlns:a16="http://schemas.microsoft.com/office/drawing/2014/main" id="{337BA648-71A6-4E8D-81F2-AFFD5AC3C640}"/>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35 of 39 checkpoints were selected in epochs 38–40. Longer training remains an open sensitivity.</a:t>
            </a:r>
          </a:p>
        </p:txBody>
      </p:sp>
    </p:spTree>
    <p:extLst>
      <p:ext uri="{BB962C8B-B14F-4D97-AF65-F5344CB8AC3E}">
        <p14:creationId xmlns:p14="http://schemas.microsoft.com/office/powerpoint/2010/main" val="198700907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AAD316-484D-4618-954E-35A71F5885CE}"/>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ATTENTION RESULTS</a:t>
            </a:r>
          </a:p>
        </p:txBody>
      </p:sp>
      <p:sp>
        <p:nvSpPr>
          <p:cNvPr id="2" name="">
            <a:extLst xmlns:a="http://schemas.openxmlformats.org/drawingml/2006/main">
              <a:ext uri="{FF2B5EF4-FFF2-40B4-BE49-F238E27FC236}">
                <a16:creationId xmlns:a16="http://schemas.microsoft.com/office/drawing/2014/main" id="{94835673-217D-4A99-A32B-E428F87F2A5E}"/>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Switch-time errors remain similar</a:t>
            </a:r>
          </a:p>
        </p:txBody>
      </p:sp>
      <p:sp>
        <p:nvSpPr>
          <p:cNvPr id="3" name="">
            <a:extLst xmlns:a="http://schemas.openxmlformats.org/drawingml/2006/main">
              <a:ext uri="{FF2B5EF4-FFF2-40B4-BE49-F238E27FC236}">
                <a16:creationId xmlns:a16="http://schemas.microsoft.com/office/drawing/2014/main" id="{7677F95A-567E-41D9-A9C0-62162F8E0854}"/>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54A7A068-258D-4DD6-98A9-BE53E1538295}"/>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39</a:t>
            </a:r>
          </a:p>
        </p:txBody>
      </p:sp>
      <p:graphicFrame>
        <p:nvGraphicFramePr>
          <p:cNvPr id="5" name="Chart">
            <a:extLst xmlns:a="http://schemas.openxmlformats.org/drawingml/2006/main">
              <a:ext uri="{FF2B5EF4-FFF2-40B4-BE49-F238E27FC236}">
                <a16:creationId xmlns:a16="http://schemas.microsoft.com/office/drawing/2014/main" id="{4DE4D6F0-D2C3-4EC8-B083-8BAB97918AE6}"/>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ae0927ba53834bcb"/>
          </a:graphicData>
        </a:graphic>
      </p:graphicFrame>
      <p:sp>
        <p:nvSpPr>
          <p:cNvPr id="6" name="">
            <a:extLst xmlns:a="http://schemas.openxmlformats.org/drawingml/2006/main">
              <a:ext uri="{FF2B5EF4-FFF2-40B4-BE49-F238E27FC236}">
                <a16:creationId xmlns:a16="http://schemas.microsoft.com/office/drawing/2014/main" id="{A6720338-EFB0-4042-A534-6269B23A07FF}"/>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Switch MSE: dense 0.069948, MoH 0.070824. MoH does not improve every metric.</a:t>
            </a:r>
          </a:p>
        </p:txBody>
      </p:sp>
    </p:spTree>
    <p:extLst>
      <p:ext uri="{BB962C8B-B14F-4D97-AF65-F5344CB8AC3E}">
        <p14:creationId xmlns:p14="http://schemas.microsoft.com/office/powerpoint/2010/main" val="169506198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7E1C2F-6823-4B3A-9FCC-B22170B8915A}"/>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ATTENTION RESULTS</a:t>
            </a:r>
          </a:p>
        </p:txBody>
      </p:sp>
      <p:sp>
        <p:nvSpPr>
          <p:cNvPr id="2" name="">
            <a:extLst xmlns:a="http://schemas.openxmlformats.org/drawingml/2006/main">
              <a:ext uri="{FF2B5EF4-FFF2-40B4-BE49-F238E27FC236}">
                <a16:creationId xmlns:a16="http://schemas.microsoft.com/office/drawing/2014/main" id="{71E5DAC0-0E00-43A2-8F59-030EEFF9FCC2}"/>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MoH lowers recursive forecast error</a:t>
            </a:r>
          </a:p>
        </p:txBody>
      </p:sp>
      <p:sp>
        <p:nvSpPr>
          <p:cNvPr id="3" name="">
            <a:extLst xmlns:a="http://schemas.openxmlformats.org/drawingml/2006/main">
              <a:ext uri="{FF2B5EF4-FFF2-40B4-BE49-F238E27FC236}">
                <a16:creationId xmlns:a16="http://schemas.microsoft.com/office/drawing/2014/main" id="{B0802F2F-585E-4613-9ECF-7ABFCBAAAE48}"/>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EF33CD39-6711-4CC0-B76D-2649BC3317A9}"/>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40</a:t>
            </a:r>
          </a:p>
        </p:txBody>
      </p:sp>
      <p:graphicFrame>
        <p:nvGraphicFramePr>
          <p:cNvPr id="5" name="Chart">
            <a:extLst xmlns:a="http://schemas.openxmlformats.org/drawingml/2006/main">
              <a:ext uri="{FF2B5EF4-FFF2-40B4-BE49-F238E27FC236}">
                <a16:creationId xmlns:a16="http://schemas.microsoft.com/office/drawing/2014/main" id="{5248FEF4-672E-4AA4-AC5F-042959B1041B}"/>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3554c845266a4e91"/>
          </a:graphicData>
        </a:graphic>
      </p:graphicFrame>
      <p:sp>
        <p:nvSpPr>
          <p:cNvPr id="6" name="">
            <a:extLst xmlns:a="http://schemas.openxmlformats.org/drawingml/2006/main">
              <a:ext uri="{FF2B5EF4-FFF2-40B4-BE49-F238E27FC236}">
                <a16:creationId xmlns:a16="http://schemas.microsoft.com/office/drawing/2014/main" id="{B6815F22-05FF-48AC-A537-2D471323231F}"/>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Mean horizon error is 0.050773 for MoH versus 0.052693 for standard attention.</a:t>
            </a:r>
          </a:p>
        </p:txBody>
      </p:sp>
    </p:spTree>
    <p:extLst>
      <p:ext uri="{BB962C8B-B14F-4D97-AF65-F5344CB8AC3E}">
        <p14:creationId xmlns:p14="http://schemas.microsoft.com/office/powerpoint/2010/main" val="72929188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68D3AB-EBDD-426C-8528-6F3D7D9CBDE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ATTENTION DIAGNOSTICS</a:t>
            </a:r>
          </a:p>
        </p:txBody>
      </p:sp>
      <p:sp>
        <p:nvSpPr>
          <p:cNvPr id="2" name="">
            <a:extLst xmlns:a="http://schemas.openxmlformats.org/drawingml/2006/main">
              <a:ext uri="{FF2B5EF4-FFF2-40B4-BE49-F238E27FC236}">
                <a16:creationId xmlns:a16="http://schemas.microsoft.com/office/drawing/2014/main" id="{726AF5D2-BDC1-4D28-84BD-6A5BFC675F11}"/>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Learned and frozen gates use all routed heads</a:t>
            </a:r>
          </a:p>
        </p:txBody>
      </p:sp>
      <p:sp>
        <p:nvSpPr>
          <p:cNvPr id="3" name="">
            <a:extLst xmlns:a="http://schemas.openxmlformats.org/drawingml/2006/main">
              <a:ext uri="{FF2B5EF4-FFF2-40B4-BE49-F238E27FC236}">
                <a16:creationId xmlns:a16="http://schemas.microsoft.com/office/drawing/2014/main" id="{986B6CA3-C0E1-46EB-BB8D-D72D9A6EE7B7}"/>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5D77874B-4B8D-465A-AA5B-D39DB78D012A}"/>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41</a:t>
            </a:r>
          </a:p>
        </p:txBody>
      </p:sp>
      <p:graphicFrame>
        <p:nvGraphicFramePr>
          <p:cNvPr id="5" name="Chart">
            <a:extLst xmlns:a="http://schemas.openxmlformats.org/drawingml/2006/main">
              <a:ext uri="{FF2B5EF4-FFF2-40B4-BE49-F238E27FC236}">
                <a16:creationId xmlns:a16="http://schemas.microsoft.com/office/drawing/2014/main" id="{18C9A219-58FC-402C-B7A0-A3D3498EEEF9}"/>
              </a:ext>
            </a:extLst>
          </p:cNvPr>
          <p:cNvGraphicFramePr/>
          <p:nvPr/>
        </p:nvGraphicFramePr>
        <p:xfrm>
          <a:off xmlns:a="http://schemas.openxmlformats.org/drawingml/2006/main" x="619125" y="171450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2a696be11d504cb3"/>
          </a:graphicData>
        </a:graphic>
      </p:graphicFrame>
      <p:sp>
        <p:nvSpPr>
          <p:cNvPr id="6" name="">
            <a:extLst xmlns:a="http://schemas.openxmlformats.org/drawingml/2006/main">
              <a:ext uri="{FF2B5EF4-FFF2-40B4-BE49-F238E27FC236}">
                <a16:creationId xmlns:a16="http://schemas.microsoft.com/office/drawing/2014/main" id="{1884A134-5CCE-427A-B8DA-E376C8A91EAD}"/>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The frozen gate also varies with input. Its upstream representations still learn.</a:t>
            </a:r>
          </a:p>
        </p:txBody>
      </p:sp>
    </p:spTree>
    <p:extLst>
      <p:ext uri="{BB962C8B-B14F-4D97-AF65-F5344CB8AC3E}">
        <p14:creationId xmlns:p14="http://schemas.microsoft.com/office/powerpoint/2010/main" val="184269728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0DF707-BDA1-4166-A9C6-471EC7C6F1F7}"/>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ATTENTION DIAGNOSTICS</a:t>
            </a:r>
          </a:p>
        </p:txBody>
      </p:sp>
      <p:sp>
        <p:nvSpPr>
          <p:cNvPr id="2" name="">
            <a:extLst xmlns:a="http://schemas.openxmlformats.org/drawingml/2006/main">
              <a:ext uri="{FF2B5EF4-FFF2-40B4-BE49-F238E27FC236}">
                <a16:creationId xmlns:a16="http://schemas.microsoft.com/office/drawing/2014/main" id="{184A07FE-6437-4F95-BC04-329E2D8335A5}"/>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Heads favor recent observed transitions</a:t>
            </a:r>
          </a:p>
        </p:txBody>
      </p:sp>
      <p:sp>
        <p:nvSpPr>
          <p:cNvPr id="3" name="">
            <a:extLst xmlns:a="http://schemas.openxmlformats.org/drawingml/2006/main">
              <a:ext uri="{FF2B5EF4-FFF2-40B4-BE49-F238E27FC236}">
                <a16:creationId xmlns:a16="http://schemas.microsoft.com/office/drawing/2014/main" id="{3B609AB7-5C35-450D-807B-74B81A065729}"/>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6AD76E5E-73DB-495B-8463-9D9F59C6DD26}"/>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42</a:t>
            </a:r>
          </a:p>
        </p:txBody>
      </p:sp>
      <p:graphicFrame>
        <p:nvGraphicFramePr>
          <p:cNvPr id="5" name="">
            <a:extLst xmlns:a="http://schemas.openxmlformats.org/drawingml/2006/main">
              <a:ext uri="{FF2B5EF4-FFF2-40B4-BE49-F238E27FC236}">
                <a16:creationId xmlns:a16="http://schemas.microsoft.com/office/drawing/2014/main" id="{9E187D28-D342-46B5-A104-8C6568B8EA88}"/>
              </a:ext>
            </a:extLst>
          </p:cNvPr>
          <p:cNvGraphicFramePr/>
          <p:nvPr/>
        </p:nvGraphicFramePr>
        <p:xfrm>
          <a:off xmlns:a="http://schemas.openxmlformats.org/drawingml/2006/main" x="571500" y="1952625"/>
          <a:ext xmlns:a="http://schemas.openxmlformats.org/drawingml/2006/main" cx="11049000" cy="2857500"/>
        </p:xfrm>
        <a:graphic xmlns:a="http://schemas.openxmlformats.org/drawingml/2006/main">
          <a:graphicData uri="http://schemas.openxmlformats.org/drawingml/2006/table">
            <a:tbl>
              <a:tblPr/>
              <a:tblGrid>
                <a:gridCol w="2286000"/>
                <a:gridCol w="1095375"/>
                <a:gridCol w="1095375"/>
                <a:gridCol w="1095375"/>
                <a:gridCol w="1095375"/>
                <a:gridCol w="1095375"/>
                <a:gridCol w="1095375"/>
                <a:gridCol w="1095375"/>
                <a:gridCol w="1095375"/>
              </a:tblGrid>
              <a:tr h="571500">
                <a:tc>
                  <a:txBody>
                    <a:bodyPr/>
                    <a:lstStyle/>
                    <a:p>
                      <a:r>
                        <a:rPr sz="1725" b="1">
                          <a:solidFill>
                            <a:srgbClr val="FFFFFF"/>
                          </a:solidFill>
                          <a:latin typeface="Arial"/>
                          <a:ea typeface="Arial"/>
                          <a:cs typeface="Arial"/>
                        </a:rPr>
                        <a:t>Head</a:t>
                      </a:r>
                    </a:p>
                  </a:txBody>
                  <a:tcPr marL="91440" marR="91440" marT="45720" marB="45720">
                    <a:solidFill>
                      <a:srgbClr val="152B45"/>
                    </a:solidFill>
                  </a:tcPr>
                </a:tc>
                <a:tc>
                  <a:txBody>
                    <a:bodyPr/>
                    <a:lstStyle/>
                    <a:p>
                      <a:r>
                        <a:rPr sz="1725" b="1">
                          <a:solidFill>
                            <a:srgbClr val="FFFFFF"/>
                          </a:solidFill>
                          <a:latin typeface="Arial"/>
                          <a:ea typeface="Arial"/>
                          <a:cs typeface="Arial"/>
                        </a:rPr>
                        <a:t>0</a:t>
                      </a:r>
                    </a:p>
                  </a:txBody>
                  <a:tcPr marL="91440" marR="91440" marT="45720" marB="45720">
                    <a:solidFill>
                      <a:srgbClr val="152B45"/>
                    </a:solidFill>
                  </a:tcPr>
                </a:tc>
                <a:tc>
                  <a:txBody>
                    <a:bodyPr/>
                    <a:lstStyle/>
                    <a:p>
                      <a:r>
                        <a:rPr sz="1725" b="1">
                          <a:solidFill>
                            <a:srgbClr val="FFFFFF"/>
                          </a:solidFill>
                          <a:latin typeface="Arial"/>
                          <a:ea typeface="Arial"/>
                          <a:cs typeface="Arial"/>
                        </a:rPr>
                        <a:t>1</a:t>
                      </a:r>
                    </a:p>
                  </a:txBody>
                  <a:tcPr marL="91440" marR="91440" marT="45720" marB="45720">
                    <a:solidFill>
                      <a:srgbClr val="152B45"/>
                    </a:solidFill>
                  </a:tcPr>
                </a:tc>
                <a:tc>
                  <a:txBody>
                    <a:bodyPr/>
                    <a:lstStyle/>
                    <a:p>
                      <a:r>
                        <a:rPr sz="1725" b="1">
                          <a:solidFill>
                            <a:srgbClr val="FFFFFF"/>
                          </a:solidFill>
                          <a:latin typeface="Arial"/>
                          <a:ea typeface="Arial"/>
                          <a:cs typeface="Arial"/>
                        </a:rPr>
                        <a:t>2</a:t>
                      </a:r>
                    </a:p>
                  </a:txBody>
                  <a:tcPr marL="91440" marR="91440" marT="45720" marB="45720">
                    <a:solidFill>
                      <a:srgbClr val="152B45"/>
                    </a:solidFill>
                  </a:tcPr>
                </a:tc>
                <a:tc>
                  <a:txBody>
                    <a:bodyPr/>
                    <a:lstStyle/>
                    <a:p>
                      <a:r>
                        <a:rPr sz="1725" b="1">
                          <a:solidFill>
                            <a:srgbClr val="FFFFFF"/>
                          </a:solidFill>
                          <a:latin typeface="Arial"/>
                          <a:ea typeface="Arial"/>
                          <a:cs typeface="Arial"/>
                        </a:rPr>
                        <a:t>3</a:t>
                      </a:r>
                    </a:p>
                  </a:txBody>
                  <a:tcPr marL="91440" marR="91440" marT="45720" marB="45720">
                    <a:solidFill>
                      <a:srgbClr val="152B45"/>
                    </a:solidFill>
                  </a:tcPr>
                </a:tc>
                <a:tc>
                  <a:txBody>
                    <a:bodyPr/>
                    <a:lstStyle/>
                    <a:p>
                      <a:r>
                        <a:rPr sz="1725" b="1">
                          <a:solidFill>
                            <a:srgbClr val="FFFFFF"/>
                          </a:solidFill>
                          <a:latin typeface="Arial"/>
                          <a:ea typeface="Arial"/>
                          <a:cs typeface="Arial"/>
                        </a:rPr>
                        <a:t>4</a:t>
                      </a:r>
                    </a:p>
                  </a:txBody>
                  <a:tcPr marL="91440" marR="91440" marT="45720" marB="45720">
                    <a:solidFill>
                      <a:srgbClr val="152B45"/>
                    </a:solidFill>
                  </a:tcPr>
                </a:tc>
                <a:tc>
                  <a:txBody>
                    <a:bodyPr/>
                    <a:lstStyle/>
                    <a:p>
                      <a:r>
                        <a:rPr sz="1725" b="1">
                          <a:solidFill>
                            <a:srgbClr val="FFFFFF"/>
                          </a:solidFill>
                          <a:latin typeface="Arial"/>
                          <a:ea typeface="Arial"/>
                          <a:cs typeface="Arial"/>
                        </a:rPr>
                        <a:t>5</a:t>
                      </a:r>
                    </a:p>
                  </a:txBody>
                  <a:tcPr marL="91440" marR="91440" marT="45720" marB="45720">
                    <a:solidFill>
                      <a:srgbClr val="152B45"/>
                    </a:solidFill>
                  </a:tcPr>
                </a:tc>
                <a:tc>
                  <a:txBody>
                    <a:bodyPr/>
                    <a:lstStyle/>
                    <a:p>
                      <a:r>
                        <a:rPr sz="1725" b="1">
                          <a:solidFill>
                            <a:srgbClr val="FFFFFF"/>
                          </a:solidFill>
                          <a:latin typeface="Arial"/>
                          <a:ea typeface="Arial"/>
                          <a:cs typeface="Arial"/>
                        </a:rPr>
                        <a:t>6</a:t>
                      </a:r>
                    </a:p>
                  </a:txBody>
                  <a:tcPr marL="91440" marR="91440" marT="45720" marB="45720">
                    <a:solidFill>
                      <a:srgbClr val="152B45"/>
                    </a:solidFill>
                  </a:tcPr>
                </a:tc>
                <a:tc>
                  <a:txBody>
                    <a:bodyPr/>
                    <a:lstStyle/>
                    <a:p>
                      <a:r>
                        <a:rPr sz="1725" b="1">
                          <a:solidFill>
                            <a:srgbClr val="FFFFFF"/>
                          </a:solidFill>
                          <a:latin typeface="Arial"/>
                          <a:ea typeface="Arial"/>
                          <a:cs typeface="Arial"/>
                        </a:rPr>
                        <a:t>7</a:t>
                      </a:r>
                    </a:p>
                  </a:txBody>
                  <a:tcPr marL="91440" marR="91440" marT="45720" marB="45720">
                    <a:solidFill>
                      <a:srgbClr val="152B45"/>
                    </a:solidFill>
                  </a:tcPr>
                </a:tc>
              </a:tr>
              <a:tr h="571500">
                <a:tc>
                  <a:txBody>
                    <a:bodyPr/>
                    <a:lstStyle/>
                    <a:p>
                      <a:r>
                        <a:rPr sz="1725" b="0">
                          <a:solidFill>
                            <a:srgbClr val="24384D"/>
                          </a:solidFill>
                          <a:latin typeface="Arial"/>
                          <a:ea typeface="Arial"/>
                          <a:cs typeface="Arial"/>
                        </a:rPr>
                        <a:t>Shared</a:t>
                      </a:r>
                    </a:p>
                  </a:txBody>
                  <a:tcPr marL="91440" marR="91440" marT="45720" marB="45720">
                    <a:solidFill>
                      <a:srgbClr val="F0F4F7"/>
                    </a:solidFill>
                  </a:tcPr>
                </a:tc>
                <a:tc>
                  <a:txBody>
                    <a:bodyPr/>
                    <a:lstStyle/>
                    <a:p>
                      <a:r>
                        <a:rPr sz="1725" b="0">
                          <a:solidFill>
                            <a:srgbClr val="24384D"/>
                          </a:solidFill>
                          <a:latin typeface="Arial"/>
                          <a:ea typeface="Arial"/>
                          <a:cs typeface="Arial"/>
                        </a:rPr>
                        <a:t>0.00</a:t>
                      </a:r>
                    </a:p>
                  </a:txBody>
                  <a:tcPr marL="91440" marR="91440" marT="45720" marB="45720">
                    <a:solidFill>
                      <a:srgbClr val="F0F4F7"/>
                    </a:solidFill>
                  </a:tcPr>
                </a:tc>
                <a:tc>
                  <a:txBody>
                    <a:bodyPr/>
                    <a:lstStyle/>
                    <a:p>
                      <a:r>
                        <a:rPr sz="1725" b="0">
                          <a:solidFill>
                            <a:srgbClr val="24384D"/>
                          </a:solidFill>
                          <a:latin typeface="Arial"/>
                          <a:ea typeface="Arial"/>
                          <a:cs typeface="Arial"/>
                        </a:rPr>
                        <a:t>0.01</a:t>
                      </a:r>
                    </a:p>
                  </a:txBody>
                  <a:tcPr marL="91440" marR="91440" marT="45720" marB="45720">
                    <a:solidFill>
                      <a:srgbClr val="F0F4F7"/>
                    </a:solidFill>
                  </a:tcPr>
                </a:tc>
                <a:tc>
                  <a:txBody>
                    <a:bodyPr/>
                    <a:lstStyle/>
                    <a:p>
                      <a:r>
                        <a:rPr sz="1725" b="0">
                          <a:solidFill>
                            <a:srgbClr val="24384D"/>
                          </a:solidFill>
                          <a:latin typeface="Arial"/>
                          <a:ea typeface="Arial"/>
                          <a:cs typeface="Arial"/>
                        </a:rPr>
                        <a:t>0.01</a:t>
                      </a:r>
                    </a:p>
                  </a:txBody>
                  <a:tcPr marL="91440" marR="91440" marT="45720" marB="45720">
                    <a:solidFill>
                      <a:srgbClr val="F0F4F7"/>
                    </a:solidFill>
                  </a:tcPr>
                </a:tc>
                <a:tc>
                  <a:txBody>
                    <a:bodyPr/>
                    <a:lstStyle/>
                    <a:p>
                      <a:r>
                        <a:rPr sz="1725" b="0">
                          <a:solidFill>
                            <a:srgbClr val="24384D"/>
                          </a:solidFill>
                          <a:latin typeface="Arial"/>
                          <a:ea typeface="Arial"/>
                          <a:cs typeface="Arial"/>
                        </a:rPr>
                        <a:t>0.01</a:t>
                      </a:r>
                    </a:p>
                  </a:txBody>
                  <a:tcPr marL="91440" marR="91440" marT="45720" marB="45720">
                    <a:solidFill>
                      <a:srgbClr val="F0F4F7"/>
                    </a:solidFill>
                  </a:tcPr>
                </a:tc>
                <a:tc>
                  <a:txBody>
                    <a:bodyPr/>
                    <a:lstStyle/>
                    <a:p>
                      <a:r>
                        <a:rPr sz="1725" b="0">
                          <a:solidFill>
                            <a:srgbClr val="24384D"/>
                          </a:solidFill>
                          <a:latin typeface="Arial"/>
                          <a:ea typeface="Arial"/>
                          <a:cs typeface="Arial"/>
                        </a:rPr>
                        <a:t>0.04</a:t>
                      </a:r>
                    </a:p>
                  </a:txBody>
                  <a:tcPr marL="91440" marR="91440" marT="45720" marB="45720">
                    <a:solidFill>
                      <a:srgbClr val="F0F4F7"/>
                    </a:solidFill>
                  </a:tcPr>
                </a:tc>
                <a:tc>
                  <a:txBody>
                    <a:bodyPr/>
                    <a:lstStyle/>
                    <a:p>
                      <a:r>
                        <a:rPr sz="1725" b="0">
                          <a:solidFill>
                            <a:srgbClr val="24384D"/>
                          </a:solidFill>
                          <a:latin typeface="Arial"/>
                          <a:ea typeface="Arial"/>
                          <a:cs typeface="Arial"/>
                        </a:rPr>
                        <a:t>0.09</a:t>
                      </a:r>
                    </a:p>
                  </a:txBody>
                  <a:tcPr marL="91440" marR="91440" marT="45720" marB="45720">
                    <a:solidFill>
                      <a:srgbClr val="F0F4F7"/>
                    </a:solidFill>
                  </a:tcPr>
                </a:tc>
                <a:tc>
                  <a:txBody>
                    <a:bodyPr/>
                    <a:lstStyle/>
                    <a:p>
                      <a:r>
                        <a:rPr sz="1725" b="0">
                          <a:solidFill>
                            <a:srgbClr val="24384D"/>
                          </a:solidFill>
                          <a:latin typeface="Arial"/>
                          <a:ea typeface="Arial"/>
                          <a:cs typeface="Arial"/>
                        </a:rPr>
                        <a:t>0.73</a:t>
                      </a:r>
                    </a:p>
                  </a:txBody>
                  <a:tcPr marL="91440" marR="91440" marT="45720" marB="45720">
                    <a:solidFill>
                      <a:srgbClr val="F0F4F7"/>
                    </a:solidFill>
                  </a:tcPr>
                </a:tc>
                <a:tc>
                  <a:txBody>
                    <a:bodyPr/>
                    <a:lstStyle/>
                    <a:p>
                      <a:r>
                        <a:rPr sz="1725" b="0">
                          <a:solidFill>
                            <a:srgbClr val="24384D"/>
                          </a:solidFill>
                          <a:latin typeface="Arial"/>
                          <a:ea typeface="Arial"/>
                          <a:cs typeface="Arial"/>
                        </a:rPr>
                        <a:t>0.13</a:t>
                      </a:r>
                    </a:p>
                  </a:txBody>
                  <a:tcPr marL="91440" marR="91440" marT="45720" marB="45720">
                    <a:solidFill>
                      <a:srgbClr val="F0F4F7"/>
                    </a:solidFill>
                  </a:tcPr>
                </a:tc>
              </a:tr>
              <a:tr h="571500">
                <a:tc>
                  <a:txBody>
                    <a:bodyPr/>
                    <a:lstStyle/>
                    <a:p>
                      <a:r>
                        <a:rPr sz="1725" b="0">
                          <a:solidFill>
                            <a:srgbClr val="24384D"/>
                          </a:solidFill>
                          <a:latin typeface="Arial"/>
                          <a:ea typeface="Arial"/>
                          <a:cs typeface="Arial"/>
                        </a:rPr>
                        <a:t>Routed 1</a:t>
                      </a:r>
                    </a:p>
                  </a:txBody>
                  <a:tcPr marL="91440" marR="91440" marT="45720" marB="45720">
                    <a:solidFill>
                      <a:srgbClr val="FFFFFF"/>
                    </a:solidFill>
                  </a:tcPr>
                </a:tc>
                <a:tc>
                  <a:txBody>
                    <a:bodyPr/>
                    <a:lstStyle/>
                    <a:p>
                      <a:r>
                        <a:rPr sz="1725" b="0">
                          <a:solidFill>
                            <a:srgbClr val="24384D"/>
                          </a:solidFill>
                          <a:latin typeface="Arial"/>
                          <a:ea typeface="Arial"/>
                          <a:cs typeface="Arial"/>
                        </a:rPr>
                        <a:t>0.02</a:t>
                      </a:r>
                    </a:p>
                  </a:txBody>
                  <a:tcPr marL="91440" marR="91440" marT="45720" marB="45720">
                    <a:solidFill>
                      <a:srgbClr val="FFFFFF"/>
                    </a:solidFill>
                  </a:tcPr>
                </a:tc>
                <a:tc>
                  <a:txBody>
                    <a:bodyPr/>
                    <a:lstStyle/>
                    <a:p>
                      <a:r>
                        <a:rPr sz="1725" b="0">
                          <a:solidFill>
                            <a:srgbClr val="24384D"/>
                          </a:solidFill>
                          <a:latin typeface="Arial"/>
                          <a:ea typeface="Arial"/>
                          <a:cs typeface="Arial"/>
                        </a:rPr>
                        <a:t>0.09</a:t>
                      </a:r>
                    </a:p>
                  </a:txBody>
                  <a:tcPr marL="91440" marR="91440" marT="45720" marB="45720">
                    <a:solidFill>
                      <a:srgbClr val="FFFFFF"/>
                    </a:solidFill>
                  </a:tcPr>
                </a:tc>
                <a:tc>
                  <a:txBody>
                    <a:bodyPr/>
                    <a:lstStyle/>
                    <a:p>
                      <a:r>
                        <a:rPr sz="1725" b="0">
                          <a:solidFill>
                            <a:srgbClr val="24384D"/>
                          </a:solidFill>
                          <a:latin typeface="Arial"/>
                          <a:ea typeface="Arial"/>
                          <a:cs typeface="Arial"/>
                        </a:rPr>
                        <a:t>0.06</a:t>
                      </a:r>
                    </a:p>
                  </a:txBody>
                  <a:tcPr marL="91440" marR="91440" marT="45720" marB="45720">
                    <a:solidFill>
                      <a:srgbClr val="FFFFFF"/>
                    </a:solidFill>
                  </a:tcPr>
                </a:tc>
                <a:tc>
                  <a:txBody>
                    <a:bodyPr/>
                    <a:lstStyle/>
                    <a:p>
                      <a:r>
                        <a:rPr sz="1725" b="0">
                          <a:solidFill>
                            <a:srgbClr val="24384D"/>
                          </a:solidFill>
                          <a:latin typeface="Arial"/>
                          <a:ea typeface="Arial"/>
                          <a:cs typeface="Arial"/>
                        </a:rPr>
                        <a:t>0.05</a:t>
                      </a:r>
                    </a:p>
                  </a:txBody>
                  <a:tcPr marL="91440" marR="91440" marT="45720" marB="45720">
                    <a:solidFill>
                      <a:srgbClr val="FFFFFF"/>
                    </a:solidFill>
                  </a:tcPr>
                </a:tc>
                <a:tc>
                  <a:txBody>
                    <a:bodyPr/>
                    <a:lstStyle/>
                    <a:p>
                      <a:r>
                        <a:rPr sz="1725" b="0">
                          <a:solidFill>
                            <a:srgbClr val="24384D"/>
                          </a:solidFill>
                          <a:latin typeface="Arial"/>
                          <a:ea typeface="Arial"/>
                          <a:cs typeface="Arial"/>
                        </a:rPr>
                        <a:t>0.09</a:t>
                      </a:r>
                    </a:p>
                  </a:txBody>
                  <a:tcPr marL="91440" marR="91440" marT="45720" marB="45720">
                    <a:solidFill>
                      <a:srgbClr val="FFFFFF"/>
                    </a:solidFill>
                  </a:tcPr>
                </a:tc>
                <a:tc>
                  <a:txBody>
                    <a:bodyPr/>
                    <a:lstStyle/>
                    <a:p>
                      <a:r>
                        <a:rPr sz="1725" b="0">
                          <a:solidFill>
                            <a:srgbClr val="24384D"/>
                          </a:solidFill>
                          <a:latin typeface="Arial"/>
                          <a:ea typeface="Arial"/>
                          <a:cs typeface="Arial"/>
                        </a:rPr>
                        <a:t>0.06</a:t>
                      </a:r>
                    </a:p>
                  </a:txBody>
                  <a:tcPr marL="91440" marR="91440" marT="45720" marB="45720">
                    <a:solidFill>
                      <a:srgbClr val="FFFFFF"/>
                    </a:solidFill>
                  </a:tcPr>
                </a:tc>
                <a:tc>
                  <a:txBody>
                    <a:bodyPr/>
                    <a:lstStyle/>
                    <a:p>
                      <a:r>
                        <a:rPr sz="1725" b="0">
                          <a:solidFill>
                            <a:srgbClr val="24384D"/>
                          </a:solidFill>
                          <a:latin typeface="Arial"/>
                          <a:ea typeface="Arial"/>
                          <a:cs typeface="Arial"/>
                        </a:rPr>
                        <a:t>0.44</a:t>
                      </a:r>
                    </a:p>
                  </a:txBody>
                  <a:tcPr marL="91440" marR="91440" marT="45720" marB="45720">
                    <a:solidFill>
                      <a:srgbClr val="FFFFFF"/>
                    </a:solidFill>
                  </a:tcPr>
                </a:tc>
                <a:tc>
                  <a:txBody>
                    <a:bodyPr/>
                    <a:lstStyle/>
                    <a:p>
                      <a:r>
                        <a:rPr sz="1725" b="0">
                          <a:solidFill>
                            <a:srgbClr val="24384D"/>
                          </a:solidFill>
                          <a:latin typeface="Arial"/>
                          <a:ea typeface="Arial"/>
                          <a:cs typeface="Arial"/>
                        </a:rPr>
                        <a:t>0.20</a:t>
                      </a:r>
                    </a:p>
                  </a:txBody>
                  <a:tcPr marL="91440" marR="91440" marT="45720" marB="45720">
                    <a:solidFill>
                      <a:srgbClr val="FFFFFF"/>
                    </a:solidFill>
                  </a:tcPr>
                </a:tc>
              </a:tr>
              <a:tr h="571500">
                <a:tc>
                  <a:txBody>
                    <a:bodyPr/>
                    <a:lstStyle/>
                    <a:p>
                      <a:r>
                        <a:rPr sz="1725" b="0">
                          <a:solidFill>
                            <a:srgbClr val="24384D"/>
                          </a:solidFill>
                          <a:latin typeface="Arial"/>
                          <a:ea typeface="Arial"/>
                          <a:cs typeface="Arial"/>
                        </a:rPr>
                        <a:t>Routed 2</a:t>
                      </a:r>
                    </a:p>
                  </a:txBody>
                  <a:tcPr marL="91440" marR="91440" marT="45720" marB="45720">
                    <a:solidFill>
                      <a:srgbClr val="F0F4F7"/>
                    </a:solidFill>
                  </a:tcPr>
                </a:tc>
                <a:tc>
                  <a:txBody>
                    <a:bodyPr/>
                    <a:lstStyle/>
                    <a:p>
                      <a:r>
                        <a:rPr sz="1725" b="0">
                          <a:solidFill>
                            <a:srgbClr val="24384D"/>
                          </a:solidFill>
                          <a:latin typeface="Arial"/>
                          <a:ea typeface="Arial"/>
                          <a:cs typeface="Arial"/>
                        </a:rPr>
                        <a:t>0.01</a:t>
                      </a:r>
                    </a:p>
                  </a:txBody>
                  <a:tcPr marL="91440" marR="91440" marT="45720" marB="45720">
                    <a:solidFill>
                      <a:srgbClr val="F0F4F7"/>
                    </a:solidFill>
                  </a:tcPr>
                </a:tc>
                <a:tc>
                  <a:txBody>
                    <a:bodyPr/>
                    <a:lstStyle/>
                    <a:p>
                      <a:r>
                        <a:rPr sz="1725" b="0">
                          <a:solidFill>
                            <a:srgbClr val="24384D"/>
                          </a:solidFill>
                          <a:latin typeface="Arial"/>
                          <a:ea typeface="Arial"/>
                          <a:cs typeface="Arial"/>
                        </a:rPr>
                        <a:t>0.02</a:t>
                      </a:r>
                    </a:p>
                  </a:txBody>
                  <a:tcPr marL="91440" marR="91440" marT="45720" marB="45720">
                    <a:solidFill>
                      <a:srgbClr val="F0F4F7"/>
                    </a:solidFill>
                  </a:tcPr>
                </a:tc>
                <a:tc>
                  <a:txBody>
                    <a:bodyPr/>
                    <a:lstStyle/>
                    <a:p>
                      <a:r>
                        <a:rPr sz="1725" b="0">
                          <a:solidFill>
                            <a:srgbClr val="24384D"/>
                          </a:solidFill>
                          <a:latin typeface="Arial"/>
                          <a:ea typeface="Arial"/>
                          <a:cs typeface="Arial"/>
                        </a:rPr>
                        <a:t>0.03</a:t>
                      </a:r>
                    </a:p>
                  </a:txBody>
                  <a:tcPr marL="91440" marR="91440" marT="45720" marB="45720">
                    <a:solidFill>
                      <a:srgbClr val="F0F4F7"/>
                    </a:solidFill>
                  </a:tcPr>
                </a:tc>
                <a:tc>
                  <a:txBody>
                    <a:bodyPr/>
                    <a:lstStyle/>
                    <a:p>
                      <a:r>
                        <a:rPr sz="1725" b="0">
                          <a:solidFill>
                            <a:srgbClr val="24384D"/>
                          </a:solidFill>
                          <a:latin typeface="Arial"/>
                          <a:ea typeface="Arial"/>
                          <a:cs typeface="Arial"/>
                        </a:rPr>
                        <a:t>0.04</a:t>
                      </a:r>
                    </a:p>
                  </a:txBody>
                  <a:tcPr marL="91440" marR="91440" marT="45720" marB="45720">
                    <a:solidFill>
                      <a:srgbClr val="F0F4F7"/>
                    </a:solidFill>
                  </a:tcPr>
                </a:tc>
                <a:tc>
                  <a:txBody>
                    <a:bodyPr/>
                    <a:lstStyle/>
                    <a:p>
                      <a:r>
                        <a:rPr sz="1725" b="0">
                          <a:solidFill>
                            <a:srgbClr val="24384D"/>
                          </a:solidFill>
                          <a:latin typeface="Arial"/>
                          <a:ea typeface="Arial"/>
                          <a:cs typeface="Arial"/>
                        </a:rPr>
                        <a:t>0.07</a:t>
                      </a:r>
                    </a:p>
                  </a:txBody>
                  <a:tcPr marL="91440" marR="91440" marT="45720" marB="45720">
                    <a:solidFill>
                      <a:srgbClr val="F0F4F7"/>
                    </a:solidFill>
                  </a:tcPr>
                </a:tc>
                <a:tc>
                  <a:txBody>
                    <a:bodyPr/>
                    <a:lstStyle/>
                    <a:p>
                      <a:r>
                        <a:rPr sz="1725" b="0">
                          <a:solidFill>
                            <a:srgbClr val="24384D"/>
                          </a:solidFill>
                          <a:latin typeface="Arial"/>
                          <a:ea typeface="Arial"/>
                          <a:cs typeface="Arial"/>
                        </a:rPr>
                        <a:t>0.09</a:t>
                      </a:r>
                    </a:p>
                  </a:txBody>
                  <a:tcPr marL="91440" marR="91440" marT="45720" marB="45720">
                    <a:solidFill>
                      <a:srgbClr val="F0F4F7"/>
                    </a:solidFill>
                  </a:tcPr>
                </a:tc>
                <a:tc>
                  <a:txBody>
                    <a:bodyPr/>
                    <a:lstStyle/>
                    <a:p>
                      <a:r>
                        <a:rPr sz="1725" b="0">
                          <a:solidFill>
                            <a:srgbClr val="24384D"/>
                          </a:solidFill>
                          <a:latin typeface="Arial"/>
                          <a:ea typeface="Arial"/>
                          <a:cs typeface="Arial"/>
                        </a:rPr>
                        <a:t>0.56</a:t>
                      </a:r>
                    </a:p>
                  </a:txBody>
                  <a:tcPr marL="91440" marR="91440" marT="45720" marB="45720">
                    <a:solidFill>
                      <a:srgbClr val="F0F4F7"/>
                    </a:solidFill>
                  </a:tcPr>
                </a:tc>
                <a:tc>
                  <a:txBody>
                    <a:bodyPr/>
                    <a:lstStyle/>
                    <a:p>
                      <a:r>
                        <a:rPr sz="1725" b="0">
                          <a:solidFill>
                            <a:srgbClr val="24384D"/>
                          </a:solidFill>
                          <a:latin typeface="Arial"/>
                          <a:ea typeface="Arial"/>
                          <a:cs typeface="Arial"/>
                        </a:rPr>
                        <a:t>0.18</a:t>
                      </a:r>
                    </a:p>
                  </a:txBody>
                  <a:tcPr marL="91440" marR="91440" marT="45720" marB="45720">
                    <a:solidFill>
                      <a:srgbClr val="F0F4F7"/>
                    </a:solidFill>
                  </a:tcPr>
                </a:tc>
              </a:tr>
              <a:tr h="571500">
                <a:tc>
                  <a:txBody>
                    <a:bodyPr/>
                    <a:lstStyle/>
                    <a:p>
                      <a:r>
                        <a:rPr sz="1725" b="0">
                          <a:solidFill>
                            <a:srgbClr val="24384D"/>
                          </a:solidFill>
                          <a:latin typeface="Arial"/>
                          <a:ea typeface="Arial"/>
                          <a:cs typeface="Arial"/>
                        </a:rPr>
                        <a:t>Routed 3</a:t>
                      </a:r>
                    </a:p>
                  </a:txBody>
                  <a:tcPr marL="91440" marR="91440" marT="45720" marB="45720">
                    <a:solidFill>
                      <a:srgbClr val="FFFFFF"/>
                    </a:solidFill>
                  </a:tcPr>
                </a:tc>
                <a:tc>
                  <a:txBody>
                    <a:bodyPr/>
                    <a:lstStyle/>
                    <a:p>
                      <a:r>
                        <a:rPr sz="1725" b="0">
                          <a:solidFill>
                            <a:srgbClr val="24384D"/>
                          </a:solidFill>
                          <a:latin typeface="Arial"/>
                          <a:ea typeface="Arial"/>
                          <a:cs typeface="Arial"/>
                        </a:rPr>
                        <a:t>0.04</a:t>
                      </a:r>
                    </a:p>
                  </a:txBody>
                  <a:tcPr marL="91440" marR="91440" marT="45720" marB="45720">
                    <a:solidFill>
                      <a:srgbClr val="FFFFFF"/>
                    </a:solidFill>
                  </a:tcPr>
                </a:tc>
                <a:tc>
                  <a:txBody>
                    <a:bodyPr/>
                    <a:lstStyle/>
                    <a:p>
                      <a:r>
                        <a:rPr sz="1725" b="0">
                          <a:solidFill>
                            <a:srgbClr val="24384D"/>
                          </a:solidFill>
                          <a:latin typeface="Arial"/>
                          <a:ea typeface="Arial"/>
                          <a:cs typeface="Arial"/>
                        </a:rPr>
                        <a:t>0.04</a:t>
                      </a:r>
                    </a:p>
                  </a:txBody>
                  <a:tcPr marL="91440" marR="91440" marT="45720" marB="45720">
                    <a:solidFill>
                      <a:srgbClr val="FFFFFF"/>
                    </a:solidFill>
                  </a:tcPr>
                </a:tc>
                <a:tc>
                  <a:txBody>
                    <a:bodyPr/>
                    <a:lstStyle/>
                    <a:p>
                      <a:r>
                        <a:rPr sz="1725" b="0">
                          <a:solidFill>
                            <a:srgbClr val="24384D"/>
                          </a:solidFill>
                          <a:latin typeface="Arial"/>
                          <a:ea typeface="Arial"/>
                          <a:cs typeface="Arial"/>
                        </a:rPr>
                        <a:t>0.06</a:t>
                      </a:r>
                    </a:p>
                  </a:txBody>
                  <a:tcPr marL="91440" marR="91440" marT="45720" marB="45720">
                    <a:solidFill>
                      <a:srgbClr val="FFFFFF"/>
                    </a:solidFill>
                  </a:tcPr>
                </a:tc>
                <a:tc>
                  <a:txBody>
                    <a:bodyPr/>
                    <a:lstStyle/>
                    <a:p>
                      <a:r>
                        <a:rPr sz="1725" b="0">
                          <a:solidFill>
                            <a:srgbClr val="24384D"/>
                          </a:solidFill>
                          <a:latin typeface="Arial"/>
                          <a:ea typeface="Arial"/>
                          <a:cs typeface="Arial"/>
                        </a:rPr>
                        <a:t>0.16</a:t>
                      </a:r>
                    </a:p>
                  </a:txBody>
                  <a:tcPr marL="91440" marR="91440" marT="45720" marB="45720">
                    <a:solidFill>
                      <a:srgbClr val="FFFFFF"/>
                    </a:solidFill>
                  </a:tcPr>
                </a:tc>
                <a:tc>
                  <a:txBody>
                    <a:bodyPr/>
                    <a:lstStyle/>
                    <a:p>
                      <a:r>
                        <a:rPr sz="1725" b="0">
                          <a:solidFill>
                            <a:srgbClr val="24384D"/>
                          </a:solidFill>
                          <a:latin typeface="Arial"/>
                          <a:ea typeface="Arial"/>
                          <a:cs typeface="Arial"/>
                        </a:rPr>
                        <a:t>0.19</a:t>
                      </a:r>
                    </a:p>
                  </a:txBody>
                  <a:tcPr marL="91440" marR="91440" marT="45720" marB="45720">
                    <a:solidFill>
                      <a:srgbClr val="FFFFFF"/>
                    </a:solidFill>
                  </a:tcPr>
                </a:tc>
                <a:tc>
                  <a:txBody>
                    <a:bodyPr/>
                    <a:lstStyle/>
                    <a:p>
                      <a:r>
                        <a:rPr sz="1725" b="0">
                          <a:solidFill>
                            <a:srgbClr val="24384D"/>
                          </a:solidFill>
                          <a:latin typeface="Arial"/>
                          <a:ea typeface="Arial"/>
                          <a:cs typeface="Arial"/>
                        </a:rPr>
                        <a:t>0.12</a:t>
                      </a:r>
                    </a:p>
                  </a:txBody>
                  <a:tcPr marL="91440" marR="91440" marT="45720" marB="45720">
                    <a:solidFill>
                      <a:srgbClr val="FFFFFF"/>
                    </a:solidFill>
                  </a:tcPr>
                </a:tc>
                <a:tc>
                  <a:txBody>
                    <a:bodyPr/>
                    <a:lstStyle/>
                    <a:p>
                      <a:r>
                        <a:rPr sz="1725" b="0">
                          <a:solidFill>
                            <a:srgbClr val="24384D"/>
                          </a:solidFill>
                          <a:latin typeface="Arial"/>
                          <a:ea typeface="Arial"/>
                          <a:cs typeface="Arial"/>
                        </a:rPr>
                        <a:t>0.15</a:t>
                      </a:r>
                    </a:p>
                  </a:txBody>
                  <a:tcPr marL="91440" marR="91440" marT="45720" marB="45720">
                    <a:solidFill>
                      <a:srgbClr val="FFFFFF"/>
                    </a:solidFill>
                  </a:tcPr>
                </a:tc>
                <a:tc>
                  <a:txBody>
                    <a:bodyPr/>
                    <a:lstStyle/>
                    <a:p>
                      <a:r>
                        <a:rPr sz="1725" b="0">
                          <a:solidFill>
                            <a:srgbClr val="24384D"/>
                          </a:solidFill>
                          <a:latin typeface="Arial"/>
                          <a:ea typeface="Arial"/>
                          <a:cs typeface="Arial"/>
                        </a:rPr>
                        <a:t>0.24</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6D79CC2-21E0-45B0-8571-73D61A11C9A0}"/>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History position 6 often receives high attention. Ungated averages do not establish causal importance.</a:t>
            </a:r>
          </a:p>
        </p:txBody>
      </p:sp>
    </p:spTree>
    <p:extLst>
      <p:ext uri="{BB962C8B-B14F-4D97-AF65-F5344CB8AC3E}">
        <p14:creationId xmlns:p14="http://schemas.microsoft.com/office/powerpoint/2010/main" val="48689144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213B09-3148-43FF-9660-38704671CEE0}"/>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ATTENTION DIAGNOSTICS</a:t>
            </a:r>
          </a:p>
        </p:txBody>
      </p:sp>
      <p:sp>
        <p:nvSpPr>
          <p:cNvPr id="2" name="">
            <a:extLst xmlns:a="http://schemas.openxmlformats.org/drawingml/2006/main">
              <a:ext uri="{FF2B5EF4-FFF2-40B4-BE49-F238E27FC236}">
                <a16:creationId xmlns:a16="http://schemas.microsoft.com/office/drawing/2014/main" id="{D4857C1C-901D-489E-A3B4-FB1289D34E43}"/>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Head identities do not cleanly recover regimes</a:t>
            </a:r>
          </a:p>
        </p:txBody>
      </p:sp>
      <p:sp>
        <p:nvSpPr>
          <p:cNvPr id="3" name="">
            <a:extLst xmlns:a="http://schemas.openxmlformats.org/drawingml/2006/main">
              <a:ext uri="{FF2B5EF4-FFF2-40B4-BE49-F238E27FC236}">
                <a16:creationId xmlns:a16="http://schemas.microsoft.com/office/drawing/2014/main" id="{157E164E-FD78-4D5C-9F85-BACA21F99039}"/>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B5130288-D71C-48E4-8558-B183D3150DD5}"/>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43</a:t>
            </a:r>
          </a:p>
        </p:txBody>
      </p:sp>
      <p:graphicFrame>
        <p:nvGraphicFramePr>
          <p:cNvPr id="5" name="">
            <a:extLst xmlns:a="http://schemas.openxmlformats.org/drawingml/2006/main">
              <a:ext uri="{FF2B5EF4-FFF2-40B4-BE49-F238E27FC236}">
                <a16:creationId xmlns:a16="http://schemas.microsoft.com/office/drawing/2014/main" id="{5BDE796F-3A7E-4253-998B-99A587CA2142}"/>
              </a:ext>
            </a:extLst>
          </p:cNvPr>
          <p:cNvGraphicFramePr/>
          <p:nvPr/>
        </p:nvGraphicFramePr>
        <p:xfrm>
          <a:off xmlns:a="http://schemas.openxmlformats.org/drawingml/2006/main" x="571500" y="1905000"/>
          <a:ext xmlns:a="http://schemas.openxmlformats.org/drawingml/2006/main" cx="11049000" cy="2714625"/>
        </p:xfrm>
        <a:graphic xmlns:a="http://schemas.openxmlformats.org/drawingml/2006/main">
          <a:graphicData uri="http://schemas.openxmlformats.org/drawingml/2006/table">
            <a:tbl>
              <a:tblPr/>
              <a:tblGrid>
                <a:gridCol w="3048000"/>
                <a:gridCol w="2667000"/>
                <a:gridCol w="2667000"/>
                <a:gridCol w="2667000"/>
              </a:tblGrid>
              <a:tr h="678656">
                <a:tc>
                  <a:txBody>
                    <a:bodyPr/>
                    <a:lstStyle/>
                    <a:p>
                      <a:r>
                        <a:rPr sz="1950" b="1">
                          <a:solidFill>
                            <a:srgbClr val="FFFFFF"/>
                          </a:solidFill>
                          <a:latin typeface="Arial"/>
                          <a:ea typeface="Arial"/>
                          <a:cs typeface="Arial"/>
                        </a:rPr>
                        <a:t>True regime</a:t>
                      </a:r>
                    </a:p>
                  </a:txBody>
                  <a:tcPr marL="91440" marR="91440" marT="45720" marB="45720">
                    <a:solidFill>
                      <a:srgbClr val="152B45"/>
                    </a:solidFill>
                  </a:tcPr>
                </a:tc>
                <a:tc>
                  <a:txBody>
                    <a:bodyPr/>
                    <a:lstStyle/>
                    <a:p>
                      <a:r>
                        <a:rPr sz="1950" b="1">
                          <a:solidFill>
                            <a:srgbClr val="FFFFFF"/>
                          </a:solidFill>
                          <a:latin typeface="Arial"/>
                          <a:ea typeface="Arial"/>
                          <a:cs typeface="Arial"/>
                        </a:rPr>
                        <a:t>Routed 1</a:t>
                      </a:r>
                    </a:p>
                  </a:txBody>
                  <a:tcPr marL="91440" marR="91440" marT="45720" marB="45720">
                    <a:solidFill>
                      <a:srgbClr val="152B45"/>
                    </a:solidFill>
                  </a:tcPr>
                </a:tc>
                <a:tc>
                  <a:txBody>
                    <a:bodyPr/>
                    <a:lstStyle/>
                    <a:p>
                      <a:r>
                        <a:rPr sz="1950" b="1">
                          <a:solidFill>
                            <a:srgbClr val="FFFFFF"/>
                          </a:solidFill>
                          <a:latin typeface="Arial"/>
                          <a:ea typeface="Arial"/>
                          <a:cs typeface="Arial"/>
                        </a:rPr>
                        <a:t>Routed 2</a:t>
                      </a:r>
                    </a:p>
                  </a:txBody>
                  <a:tcPr marL="91440" marR="91440" marT="45720" marB="45720">
                    <a:solidFill>
                      <a:srgbClr val="152B45"/>
                    </a:solidFill>
                  </a:tcPr>
                </a:tc>
                <a:tc>
                  <a:txBody>
                    <a:bodyPr/>
                    <a:lstStyle/>
                    <a:p>
                      <a:r>
                        <a:rPr sz="1950" b="1">
                          <a:solidFill>
                            <a:srgbClr val="FFFFFF"/>
                          </a:solidFill>
                          <a:latin typeface="Arial"/>
                          <a:ea typeface="Arial"/>
                          <a:cs typeface="Arial"/>
                        </a:rPr>
                        <a:t>Routed 3</a:t>
                      </a:r>
                    </a:p>
                  </a:txBody>
                  <a:tcPr marL="91440" marR="91440" marT="45720" marB="45720">
                    <a:solidFill>
                      <a:srgbClr val="152B45"/>
                    </a:solidFill>
                  </a:tcPr>
                </a:tc>
              </a:tr>
              <a:tr h="678656">
                <a:tc>
                  <a:txBody>
                    <a:bodyPr/>
                    <a:lstStyle/>
                    <a:p>
                      <a:r>
                        <a:rPr sz="1950" b="0">
                          <a:solidFill>
                            <a:srgbClr val="24384D"/>
                          </a:solidFill>
                          <a:latin typeface="Arial"/>
                          <a:ea typeface="Arial"/>
                          <a:cs typeface="Arial"/>
                        </a:rPr>
                        <a:t>Regime 0</a:t>
                      </a:r>
                    </a:p>
                  </a:txBody>
                  <a:tcPr marL="91440" marR="91440" marT="45720" marB="45720">
                    <a:solidFill>
                      <a:srgbClr val="F0F4F7"/>
                    </a:solidFill>
                  </a:tcPr>
                </a:tc>
                <a:tc>
                  <a:txBody>
                    <a:bodyPr/>
                    <a:lstStyle/>
                    <a:p>
                      <a:r>
                        <a:rPr sz="1950" b="0">
                          <a:solidFill>
                            <a:srgbClr val="24384D"/>
                          </a:solidFill>
                          <a:latin typeface="Arial"/>
                          <a:ea typeface="Arial"/>
                          <a:cs typeface="Arial"/>
                        </a:rPr>
                        <a:t>1102</a:t>
                      </a:r>
                    </a:p>
                  </a:txBody>
                  <a:tcPr marL="91440" marR="91440" marT="45720" marB="45720">
                    <a:solidFill>
                      <a:srgbClr val="F0F4F7"/>
                    </a:solidFill>
                  </a:tcPr>
                </a:tc>
                <a:tc>
                  <a:txBody>
                    <a:bodyPr/>
                    <a:lstStyle/>
                    <a:p>
                      <a:r>
                        <a:rPr sz="1950" b="0">
                          <a:solidFill>
                            <a:srgbClr val="24384D"/>
                          </a:solidFill>
                          <a:latin typeface="Arial"/>
                          <a:ea typeface="Arial"/>
                          <a:cs typeface="Arial"/>
                        </a:rPr>
                        <a:t>1389</a:t>
                      </a:r>
                    </a:p>
                  </a:txBody>
                  <a:tcPr marL="91440" marR="91440" marT="45720" marB="45720">
                    <a:solidFill>
                      <a:srgbClr val="F0F4F7"/>
                    </a:solidFill>
                  </a:tcPr>
                </a:tc>
                <a:tc>
                  <a:txBody>
                    <a:bodyPr/>
                    <a:lstStyle/>
                    <a:p>
                      <a:r>
                        <a:rPr sz="1950" b="0">
                          <a:solidFill>
                            <a:srgbClr val="24384D"/>
                          </a:solidFill>
                          <a:latin typeface="Arial"/>
                          <a:ea typeface="Arial"/>
                          <a:cs typeface="Arial"/>
                        </a:rPr>
                        <a:t>1358</a:t>
                      </a:r>
                    </a:p>
                  </a:txBody>
                  <a:tcPr marL="91440" marR="91440" marT="45720" marB="45720">
                    <a:solidFill>
                      <a:srgbClr val="F0F4F7"/>
                    </a:solidFill>
                  </a:tcPr>
                </a:tc>
              </a:tr>
              <a:tr h="678656">
                <a:tc>
                  <a:txBody>
                    <a:bodyPr/>
                    <a:lstStyle/>
                    <a:p>
                      <a:r>
                        <a:rPr sz="1950" b="0">
                          <a:solidFill>
                            <a:srgbClr val="24384D"/>
                          </a:solidFill>
                          <a:latin typeface="Arial"/>
                          <a:ea typeface="Arial"/>
                          <a:cs typeface="Arial"/>
                        </a:rPr>
                        <a:t>Regime 1</a:t>
                      </a:r>
                    </a:p>
                  </a:txBody>
                  <a:tcPr marL="91440" marR="91440" marT="45720" marB="45720">
                    <a:solidFill>
                      <a:srgbClr val="FFFFFF"/>
                    </a:solidFill>
                  </a:tcPr>
                </a:tc>
                <a:tc>
                  <a:txBody>
                    <a:bodyPr/>
                    <a:lstStyle/>
                    <a:p>
                      <a:r>
                        <a:rPr sz="1950" b="0">
                          <a:solidFill>
                            <a:srgbClr val="24384D"/>
                          </a:solidFill>
                          <a:latin typeface="Arial"/>
                          <a:ea typeface="Arial"/>
                          <a:cs typeface="Arial"/>
                        </a:rPr>
                        <a:t>1292</a:t>
                      </a:r>
                    </a:p>
                  </a:txBody>
                  <a:tcPr marL="91440" marR="91440" marT="45720" marB="45720">
                    <a:solidFill>
                      <a:srgbClr val="FFFFFF"/>
                    </a:solidFill>
                  </a:tcPr>
                </a:tc>
                <a:tc>
                  <a:txBody>
                    <a:bodyPr/>
                    <a:lstStyle/>
                    <a:p>
                      <a:r>
                        <a:rPr sz="1950" b="0">
                          <a:solidFill>
                            <a:srgbClr val="24384D"/>
                          </a:solidFill>
                          <a:latin typeface="Arial"/>
                          <a:ea typeface="Arial"/>
                          <a:cs typeface="Arial"/>
                        </a:rPr>
                        <a:t>1496</a:t>
                      </a:r>
                    </a:p>
                  </a:txBody>
                  <a:tcPr marL="91440" marR="91440" marT="45720" marB="45720">
                    <a:solidFill>
                      <a:srgbClr val="FFFFFF"/>
                    </a:solidFill>
                  </a:tcPr>
                </a:tc>
                <a:tc>
                  <a:txBody>
                    <a:bodyPr/>
                    <a:lstStyle/>
                    <a:p>
                      <a:r>
                        <a:rPr sz="1950" b="0">
                          <a:solidFill>
                            <a:srgbClr val="24384D"/>
                          </a:solidFill>
                          <a:latin typeface="Arial"/>
                          <a:ea typeface="Arial"/>
                          <a:cs typeface="Arial"/>
                        </a:rPr>
                        <a:t>849</a:t>
                      </a:r>
                    </a:p>
                  </a:txBody>
                  <a:tcPr marL="91440" marR="91440" marT="45720" marB="45720">
                    <a:solidFill>
                      <a:srgbClr val="FFFFFF"/>
                    </a:solidFill>
                  </a:tcPr>
                </a:tc>
              </a:tr>
              <a:tr h="678656">
                <a:tc>
                  <a:txBody>
                    <a:bodyPr/>
                    <a:lstStyle/>
                    <a:p>
                      <a:r>
                        <a:rPr sz="1950" b="0">
                          <a:solidFill>
                            <a:srgbClr val="24384D"/>
                          </a:solidFill>
                          <a:latin typeface="Arial"/>
                          <a:ea typeface="Arial"/>
                          <a:cs typeface="Arial"/>
                        </a:rPr>
                        <a:t>Regime 2</a:t>
                      </a:r>
                    </a:p>
                  </a:txBody>
                  <a:tcPr marL="91440" marR="91440" marT="45720" marB="45720">
                    <a:solidFill>
                      <a:srgbClr val="F0F4F7"/>
                    </a:solidFill>
                  </a:tcPr>
                </a:tc>
                <a:tc>
                  <a:txBody>
                    <a:bodyPr/>
                    <a:lstStyle/>
                    <a:p>
                      <a:r>
                        <a:rPr sz="1950" b="0">
                          <a:solidFill>
                            <a:srgbClr val="24384D"/>
                          </a:solidFill>
                          <a:latin typeface="Arial"/>
                          <a:ea typeface="Arial"/>
                          <a:cs typeface="Arial"/>
                        </a:rPr>
                        <a:t>1243</a:t>
                      </a:r>
                    </a:p>
                  </a:txBody>
                  <a:tcPr marL="91440" marR="91440" marT="45720" marB="45720">
                    <a:solidFill>
                      <a:srgbClr val="F0F4F7"/>
                    </a:solidFill>
                  </a:tcPr>
                </a:tc>
                <a:tc>
                  <a:txBody>
                    <a:bodyPr/>
                    <a:lstStyle/>
                    <a:p>
                      <a:r>
                        <a:rPr sz="1950" b="0">
                          <a:solidFill>
                            <a:srgbClr val="24384D"/>
                          </a:solidFill>
                          <a:latin typeface="Arial"/>
                          <a:ea typeface="Arial"/>
                          <a:cs typeface="Arial"/>
                        </a:rPr>
                        <a:t>1320</a:t>
                      </a:r>
                    </a:p>
                  </a:txBody>
                  <a:tcPr marL="91440" marR="91440" marT="45720" marB="45720">
                    <a:solidFill>
                      <a:srgbClr val="F0F4F7"/>
                    </a:solidFill>
                  </a:tcPr>
                </a:tc>
                <a:tc>
                  <a:txBody>
                    <a:bodyPr/>
                    <a:lstStyle/>
                    <a:p>
                      <a:r>
                        <a:rPr sz="1950" b="0">
                          <a:solidFill>
                            <a:srgbClr val="24384D"/>
                          </a:solidFill>
                          <a:latin typeface="Arial"/>
                          <a:ea typeface="Arial"/>
                          <a:cs typeface="Arial"/>
                        </a:rPr>
                        <a:t>1791</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49A9B223-DF6C-49DE-AEA6-590B6551A91E}"/>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Regime association is a diagnostic. These counts do not demonstrate learned dynamical primitives.</a:t>
            </a:r>
          </a:p>
        </p:txBody>
      </p:sp>
    </p:spTree>
    <p:extLst>
      <p:ext uri="{BB962C8B-B14F-4D97-AF65-F5344CB8AC3E}">
        <p14:creationId xmlns:p14="http://schemas.microsoft.com/office/powerpoint/2010/main" val="64917188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E1461E-23AE-49B1-A7DC-55BAB2B60038}"/>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C4A3D98A-1B0C-44AE-96CF-E72652398257}"/>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What the complete comparison establishes</a:t>
            </a:r>
          </a:p>
        </p:txBody>
      </p:sp>
      <p:sp>
        <p:nvSpPr>
          <p:cNvPr id="3" name="">
            <a:extLst xmlns:a="http://schemas.openxmlformats.org/drawingml/2006/main">
              <a:ext uri="{FF2B5EF4-FFF2-40B4-BE49-F238E27FC236}">
                <a16:creationId xmlns:a16="http://schemas.microsoft.com/office/drawing/2014/main" id="{86FA5242-2AC5-4B14-AEFF-1F261F2301E4}"/>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87333B69-8962-4F4F-AC5E-4FFF45AACF36}"/>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44</a:t>
            </a:r>
          </a:p>
        </p:txBody>
      </p:sp>
      <p:sp>
        <p:nvSpPr>
          <p:cNvPr id="5" name="">
            <a:extLst xmlns:a="http://schemas.openxmlformats.org/drawingml/2006/main">
              <a:ext uri="{FF2B5EF4-FFF2-40B4-BE49-F238E27FC236}">
                <a16:creationId xmlns:a16="http://schemas.microsoft.com/office/drawing/2014/main" id="{C9C2CD1F-656C-434F-83BB-8A9B54F73365}"/>
              </a:ext>
            </a:extLst>
          </p:cNvPr>
          <p:cNvSpPr>
            <a:spLocks xmlns:a="http://schemas.openxmlformats.org/drawingml/2006/main" noGrp="1"/>
          </p:cNvSpPr>
          <p:nvPr/>
        </p:nvSpPr>
        <p:spPr>
          <a:xfrm xmlns:a="http://schemas.openxmlformats.org/drawingml/2006/main">
            <a:off x="571500" y="1762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Original MLP mixture</a:t>
            </a:r>
          </a:p>
        </p:txBody>
      </p:sp>
      <p:sp>
        <p:nvSpPr>
          <p:cNvPr id="6" name="">
            <a:extLst xmlns:a="http://schemas.openxmlformats.org/drawingml/2006/main">
              <a:ext uri="{FF2B5EF4-FFF2-40B4-BE49-F238E27FC236}">
                <a16:creationId xmlns:a16="http://schemas.microsoft.com/office/drawing/2014/main" id="{2CDF044A-DAFA-4A4A-9471-A13991263733}"/>
              </a:ext>
            </a:extLst>
          </p:cNvPr>
          <p:cNvSpPr>
            <a:spLocks xmlns:a="http://schemas.openxmlformats.org/drawingml/2006/main" noGrp="1"/>
          </p:cNvSpPr>
          <p:nvPr/>
        </p:nvSpPr>
        <p:spPr>
          <a:xfrm xmlns:a="http://schemas.openxmlformats.org/drawingml/2006/main">
            <a:off x="571500" y="2162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The flattened-history MoE remains worse than both dense MLP controls in all three seeds.</a:t>
            </a:r>
          </a:p>
        </p:txBody>
      </p:sp>
      <p:sp>
        <p:nvSpPr>
          <p:cNvPr id="7" name="">
            <a:extLst xmlns:a="http://schemas.openxmlformats.org/drawingml/2006/main">
              <a:ext uri="{FF2B5EF4-FFF2-40B4-BE49-F238E27FC236}">
                <a16:creationId xmlns:a16="http://schemas.microsoft.com/office/drawing/2014/main" id="{FFFD43B6-A64A-45B6-BBB0-CC3E953B96CA}"/>
              </a:ext>
            </a:extLst>
          </p:cNvPr>
          <p:cNvSpPr>
            <a:spLocks xmlns:a="http://schemas.openxmlformats.org/drawingml/2006/main" noGrp="1"/>
          </p:cNvSpPr>
          <p:nvPr/>
        </p:nvSpPr>
        <p:spPr>
          <a:xfrm xmlns:a="http://schemas.openxmlformats.org/drawingml/2006/main">
            <a:off x="571500" y="30956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Attention-head routing</a:t>
            </a:r>
          </a:p>
        </p:txBody>
      </p:sp>
      <p:sp>
        <p:nvSpPr>
          <p:cNvPr id="8" name="">
            <a:extLst xmlns:a="http://schemas.openxmlformats.org/drawingml/2006/main">
              <a:ext uri="{FF2B5EF4-FFF2-40B4-BE49-F238E27FC236}">
                <a16:creationId xmlns:a16="http://schemas.microsoft.com/office/drawing/2014/main" id="{9779DD65-1453-4626-8CBA-47B85C2488DF}"/>
              </a:ext>
            </a:extLst>
          </p:cNvPr>
          <p:cNvSpPr>
            <a:spLocks xmlns:a="http://schemas.openxmlformats.org/drawingml/2006/main" noGrp="1"/>
          </p:cNvSpPr>
          <p:nvPr/>
        </p:nvSpPr>
        <p:spPr>
          <a:xfrm xmlns:a="http://schemas.openxmlformats.org/drawingml/2006/main">
            <a:off x="571500" y="34956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MoH improves over standard attention, but its dense capacity control nearly matches it and its frozen gate slightly beats it.</a:t>
            </a:r>
          </a:p>
        </p:txBody>
      </p:sp>
      <p:sp>
        <p:nvSpPr>
          <p:cNvPr id="9" name="">
            <a:extLst xmlns:a="http://schemas.openxmlformats.org/drawingml/2006/main">
              <a:ext uri="{FF2B5EF4-FFF2-40B4-BE49-F238E27FC236}">
                <a16:creationId xmlns:a16="http://schemas.microsoft.com/office/drawing/2014/main" id="{D18A3F08-0605-483D-9038-DC90D5DDABBB}"/>
              </a:ext>
            </a:extLst>
          </p:cNvPr>
          <p:cNvSpPr>
            <a:spLocks xmlns:a="http://schemas.openxmlformats.org/drawingml/2006/main" noGrp="1"/>
          </p:cNvSpPr>
          <p:nvPr/>
        </p:nvSpPr>
        <p:spPr>
          <a:xfrm xmlns:a="http://schemas.openxmlformats.org/drawingml/2006/main">
            <a:off x="571500" y="4429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Attention versus FFN routing</a:t>
            </a:r>
          </a:p>
        </p:txBody>
      </p:sp>
      <p:sp>
        <p:nvSpPr>
          <p:cNvPr id="10" name="">
            <a:extLst xmlns:a="http://schemas.openxmlformats.org/drawingml/2006/main">
              <a:ext uri="{FF2B5EF4-FFF2-40B4-BE49-F238E27FC236}">
                <a16:creationId xmlns:a16="http://schemas.microsoft.com/office/drawing/2014/main" id="{10151E1F-DD0D-4EBB-B149-10480D9BD334}"/>
              </a:ext>
            </a:extLst>
          </p:cNvPr>
          <p:cNvSpPr>
            <a:spLocks xmlns:a="http://schemas.openxmlformats.org/drawingml/2006/main" noGrp="1"/>
          </p:cNvSpPr>
          <p:nvPr/>
        </p:nvSpPr>
        <p:spPr>
          <a:xfrm xmlns:a="http://schemas.openxmlformats.org/drawingml/2006/main">
            <a:off x="571500" y="48291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Transformer FFN-MoE has lower mean one-step error than MoH. The study does not establish attention routing as superior.</a:t>
            </a:r>
          </a:p>
        </p:txBody>
      </p:sp>
    </p:spTree>
    <p:extLst>
      <p:ext uri="{BB962C8B-B14F-4D97-AF65-F5344CB8AC3E}">
        <p14:creationId xmlns:p14="http://schemas.microsoft.com/office/powerpoint/2010/main" val="2128613570"/>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64B2B3-AC6E-49EF-B074-EECE1AA6FE9D}"/>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DISCUSSION</a:t>
            </a:r>
          </a:p>
        </p:txBody>
      </p:sp>
      <p:sp>
        <p:nvSpPr>
          <p:cNvPr id="2" name="">
            <a:extLst xmlns:a="http://schemas.openxmlformats.org/drawingml/2006/main">
              <a:ext uri="{FF2B5EF4-FFF2-40B4-BE49-F238E27FC236}">
                <a16:creationId xmlns:a16="http://schemas.microsoft.com/office/drawing/2014/main" id="{9270D1AE-5F20-4039-93AE-92FA1FD839AA}"/>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Limits and next experiments</a:t>
            </a:r>
          </a:p>
        </p:txBody>
      </p:sp>
      <p:sp>
        <p:nvSpPr>
          <p:cNvPr id="3" name="">
            <a:extLst xmlns:a="http://schemas.openxmlformats.org/drawingml/2006/main">
              <a:ext uri="{FF2B5EF4-FFF2-40B4-BE49-F238E27FC236}">
                <a16:creationId xmlns:a16="http://schemas.microsoft.com/office/drawing/2014/main" id="{A4E5B286-8A10-4B14-90BA-1135034DD2DB}"/>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6F4A3886-25B8-48F1-8520-2BA7F755176B}"/>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45</a:t>
            </a:r>
          </a:p>
        </p:txBody>
      </p:sp>
      <p:graphicFrame>
        <p:nvGraphicFramePr>
          <p:cNvPr id="5" name="">
            <a:extLst xmlns:a="http://schemas.openxmlformats.org/drawingml/2006/main">
              <a:ext uri="{FF2B5EF4-FFF2-40B4-BE49-F238E27FC236}">
                <a16:creationId xmlns:a16="http://schemas.microsoft.com/office/drawing/2014/main" id="{D09BC853-1358-4E74-B5DE-59CA63C9AF00}"/>
              </a:ext>
            </a:extLst>
          </p:cNvPr>
          <p:cNvGraphicFramePr/>
          <p:nvPr/>
        </p:nvGraphicFramePr>
        <p:xfrm>
          <a:off xmlns:a="http://schemas.openxmlformats.org/drawingml/2006/main" x="571500" y="1714500"/>
          <a:ext xmlns:a="http://schemas.openxmlformats.org/drawingml/2006/main" cx="11049000" cy="3714750"/>
        </p:xfrm>
        <a:graphic xmlns:a="http://schemas.openxmlformats.org/drawingml/2006/main">
          <a:graphicData uri="http://schemas.openxmlformats.org/drawingml/2006/table">
            <a:tbl>
              <a:tblPr/>
              <a:tblGrid>
                <a:gridCol w="4476750"/>
                <a:gridCol w="6572250"/>
              </a:tblGrid>
              <a:tr h="619125">
                <a:tc>
                  <a:txBody>
                    <a:bodyPr/>
                    <a:lstStyle/>
                    <a:p>
                      <a:r>
                        <a:rPr sz="1725" b="1">
                          <a:solidFill>
                            <a:srgbClr val="FFFFFF"/>
                          </a:solidFill>
                          <a:latin typeface="Arial"/>
                          <a:ea typeface="Arial"/>
                          <a:cs typeface="Arial"/>
                        </a:rPr>
                        <a:t>Current limitation</a:t>
                      </a:r>
                    </a:p>
                  </a:txBody>
                  <a:tcPr marL="91440" marR="91440" marT="45720" marB="45720">
                    <a:solidFill>
                      <a:srgbClr val="152B45"/>
                    </a:solidFill>
                  </a:tcPr>
                </a:tc>
                <a:tc>
                  <a:txBody>
                    <a:bodyPr/>
                    <a:lstStyle/>
                    <a:p>
                      <a:r>
                        <a:rPr sz="1725" b="1">
                          <a:solidFill>
                            <a:srgbClr val="FFFFFF"/>
                          </a:solidFill>
                          <a:latin typeface="Arial"/>
                          <a:ea typeface="Arial"/>
                          <a:cs typeface="Arial"/>
                        </a:rPr>
                        <a:t>Useful next comparison</a:t>
                      </a:r>
                    </a:p>
                  </a:txBody>
                  <a:tcPr marL="91440" marR="91440" marT="45720" marB="45720">
                    <a:solidFill>
                      <a:srgbClr val="152B45"/>
                    </a:solidFill>
                  </a:tcPr>
                </a:tc>
              </a:tr>
              <a:tr h="619125">
                <a:tc>
                  <a:txBody>
                    <a:bodyPr/>
                    <a:lstStyle/>
                    <a:p>
                      <a:r>
                        <a:rPr sz="1725" b="0">
                          <a:solidFill>
                            <a:srgbClr val="24384D"/>
                          </a:solidFill>
                          <a:latin typeface="Arial"/>
                          <a:ea typeface="Arial"/>
                          <a:cs typeface="Arial"/>
                        </a:rPr>
                        <a:t>One generator and three seeds</a:t>
                      </a:r>
                    </a:p>
                  </a:txBody>
                  <a:tcPr marL="91440" marR="91440" marT="45720" marB="45720">
                    <a:solidFill>
                      <a:srgbClr val="F0F4F7"/>
                    </a:solidFill>
                  </a:tcPr>
                </a:tc>
                <a:tc>
                  <a:txBody>
                    <a:bodyPr/>
                    <a:lstStyle/>
                    <a:p>
                      <a:r>
                        <a:rPr sz="1725" b="0">
                          <a:solidFill>
                            <a:srgbClr val="24384D"/>
                          </a:solidFill>
                          <a:latin typeface="Arial"/>
                          <a:ea typeface="Arial"/>
                          <a:cs typeface="Arial"/>
                        </a:rPr>
                        <a:t>More seeds, switching rates and noise levels.</a:t>
                      </a:r>
                    </a:p>
                  </a:txBody>
                  <a:tcPr marL="91440" marR="91440" marT="45720" marB="45720">
                    <a:solidFill>
                      <a:srgbClr val="F0F4F7"/>
                    </a:solidFill>
                  </a:tcPr>
                </a:tc>
              </a:tr>
              <a:tr h="619125">
                <a:tc>
                  <a:txBody>
                    <a:bodyPr/>
                    <a:lstStyle/>
                    <a:p>
                      <a:r>
                        <a:rPr sz="1725" b="0">
                          <a:solidFill>
                            <a:srgbClr val="24384D"/>
                          </a:solidFill>
                          <a:latin typeface="Arial"/>
                          <a:ea typeface="Arial"/>
                          <a:cs typeface="Arial"/>
                        </a:rPr>
                        <a:t>Fixed 8-step input history</a:t>
                      </a:r>
                    </a:p>
                  </a:txBody>
                  <a:tcPr marL="91440" marR="91440" marT="45720" marB="45720">
                    <a:solidFill>
                      <a:srgbClr val="FFFFFF"/>
                    </a:solidFill>
                  </a:tcPr>
                </a:tc>
                <a:tc>
                  <a:txBody>
                    <a:bodyPr/>
                    <a:lstStyle/>
                    <a:p>
                      <a:r>
                        <a:rPr sz="1725" b="0">
                          <a:solidFill>
                            <a:srgbClr val="24384D"/>
                          </a:solidFill>
                          <a:latin typeface="Arial"/>
                          <a:ea typeface="Arial"/>
                          <a:cs typeface="Arial"/>
                        </a:rPr>
                        <a:t>Longer context and a recurrent baseline.</a:t>
                      </a:r>
                    </a:p>
                  </a:txBody>
                  <a:tcPr marL="91440" marR="91440" marT="45720" marB="45720">
                    <a:solidFill>
                      <a:srgbClr val="FFFFFF"/>
                    </a:solidFill>
                  </a:tcPr>
                </a:tc>
              </a:tr>
              <a:tr h="619125">
                <a:tc>
                  <a:txBody>
                    <a:bodyPr/>
                    <a:lstStyle/>
                    <a:p>
                      <a:r>
                        <a:rPr sz="1725" b="0">
                          <a:solidFill>
                            <a:srgbClr val="24384D"/>
                          </a:solidFill>
                          <a:latin typeface="Arial"/>
                          <a:ea typeface="Arial"/>
                          <a:cs typeface="Arial"/>
                        </a:rPr>
                        <a:t>One training budget</a:t>
                      </a:r>
                    </a:p>
                  </a:txBody>
                  <a:tcPr marL="91440" marR="91440" marT="45720" marB="45720">
                    <a:solidFill>
                      <a:srgbClr val="F0F4F7"/>
                    </a:solidFill>
                  </a:tcPr>
                </a:tc>
                <a:tc>
                  <a:txBody>
                    <a:bodyPr/>
                    <a:lstStyle/>
                    <a:p>
                      <a:r>
                        <a:rPr sz="1725" b="0">
                          <a:solidFill>
                            <a:srgbClr val="24384D"/>
                          </a:solidFill>
                          <a:latin typeface="Arial"/>
                          <a:ea typeface="Arial"/>
                          <a:cs typeface="Arial"/>
                        </a:rPr>
                        <a:t>Longer training and validation-only tuning.</a:t>
                      </a:r>
                    </a:p>
                  </a:txBody>
                  <a:tcPr marL="91440" marR="91440" marT="45720" marB="45720">
                    <a:solidFill>
                      <a:srgbClr val="F0F4F7"/>
                    </a:solidFill>
                  </a:tcPr>
                </a:tc>
              </a:tr>
              <a:tr h="619125">
                <a:tc>
                  <a:txBody>
                    <a:bodyPr/>
                    <a:lstStyle/>
                    <a:p>
                      <a:r>
                        <a:rPr sz="1725" b="0">
                          <a:solidFill>
                            <a:srgbClr val="24384D"/>
                          </a:solidFill>
                          <a:latin typeface="Arial"/>
                          <a:ea typeface="Arial"/>
                          <a:cs typeface="Arial"/>
                        </a:rPr>
                        <a:t>Parameter counts as compute proxies</a:t>
                      </a:r>
                    </a:p>
                  </a:txBody>
                  <a:tcPr marL="91440" marR="91440" marT="45720" marB="45720">
                    <a:solidFill>
                      <a:srgbClr val="FFFFFF"/>
                    </a:solidFill>
                  </a:tcPr>
                </a:tc>
                <a:tc>
                  <a:txBody>
                    <a:bodyPr/>
                    <a:lstStyle/>
                    <a:p>
                      <a:r>
                        <a:rPr sz="1725" b="0">
                          <a:solidFill>
                            <a:srgbClr val="24384D"/>
                          </a:solidFill>
                          <a:latin typeface="Arial"/>
                          <a:ea typeface="Arial"/>
                          <a:cs typeface="Arial"/>
                        </a:rPr>
                        <a:t>Measured runtime and operation counts.</a:t>
                      </a:r>
                    </a:p>
                  </a:txBody>
                  <a:tcPr marL="91440" marR="91440" marT="45720" marB="45720">
                    <a:solidFill>
                      <a:srgbClr val="FFFFFF"/>
                    </a:solidFill>
                  </a:tcPr>
                </a:tc>
              </a:tr>
              <a:tr h="619125">
                <a:tc>
                  <a:txBody>
                    <a:bodyPr/>
                    <a:lstStyle/>
                    <a:p>
                      <a:r>
                        <a:rPr sz="1725" b="0">
                          <a:solidFill>
                            <a:srgbClr val="24384D"/>
                          </a:solidFill>
                          <a:latin typeface="Arial"/>
                          <a:ea typeface="Arial"/>
                          <a:cs typeface="Arial"/>
                        </a:rPr>
                        <a:t>Route correlation only</a:t>
                      </a:r>
                    </a:p>
                  </a:txBody>
                  <a:tcPr marL="91440" marR="91440" marT="45720" marB="45720">
                    <a:solidFill>
                      <a:srgbClr val="F0F4F7"/>
                    </a:solidFill>
                  </a:tcPr>
                </a:tc>
                <a:tc>
                  <a:txBody>
                    <a:bodyPr/>
                    <a:lstStyle/>
                    <a:p>
                      <a:r>
                        <a:rPr sz="1725" b="0">
                          <a:solidFill>
                            <a:srgbClr val="24384D"/>
                          </a:solidFill>
                          <a:latin typeface="Arial"/>
                          <a:ea typeface="Arial"/>
                          <a:cs typeface="Arial"/>
                        </a:rPr>
                        <a:t>Inspect expert predictions before causal interventions.</a:t>
                      </a:r>
                    </a:p>
                  </a:txBody>
                  <a:tcPr marL="91440" marR="91440" marT="45720" marB="45720">
                    <a:solidFill>
                      <a:srgbClr val="F0F4F7"/>
                    </a:solidFill>
                  </a:tcPr>
                </a:tc>
              </a:tr>
            </a:tbl>
          </a:graphicData>
        </a:graphic>
      </p:graphicFrame>
      <p:sp>
        <p:nvSpPr>
          <p:cNvPr id="6" name="">
            <a:extLst xmlns:a="http://schemas.openxmlformats.org/drawingml/2006/main">
              <a:ext uri="{FF2B5EF4-FFF2-40B4-BE49-F238E27FC236}">
                <a16:creationId xmlns:a16="http://schemas.microsoft.com/office/drawing/2014/main" id="{30B2D4C6-B129-4212-BC1A-283BE5F7D6C8}"/>
              </a:ext>
            </a:extLst>
          </p:cNvPr>
          <p:cNvSpPr>
            <a:spLocks xmlns:a="http://schemas.openxmlformats.org/drawingml/2006/main" noGrp="1"/>
          </p:cNvSpPr>
          <p:nvPr/>
        </p:nvSpPr>
        <p:spPr>
          <a:xfrm xmlns:a="http://schemas.openxmlformats.org/drawingml/2006/main">
            <a:off x="619125" y="58102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87E8B"/>
                </a:solidFill>
                <a:latin typeface="Arial"/>
                <a:ea typeface="Arial"/>
                <a:cs typeface="Arial"/>
              </a:defRPr>
            </a:defPPr>
          </a:lstStyle>
          <a:p xmlns:a="http://schemas.openxmlformats.org/drawingml/2006/main">
            <a:pPr>
              <a:buNone/>
              <a:defRPr sz="1725" b="1">
                <a:solidFill>
                  <a:srgbClr val="087E8B"/>
                </a:solidFill>
                <a:latin typeface="Arial"/>
                <a:ea typeface="Arial"/>
                <a:cs typeface="Arial"/>
              </a:defRPr>
            </a:pPr>
            <a:r>
              <a:rPr sz="1725" b="1">
                <a:solidFill>
                  <a:srgbClr val="087E8B"/>
                </a:solidFill>
                <a:latin typeface="Arial"/>
                <a:ea typeface="Arial"/>
                <a:cs typeface="Arial"/>
              </a:rPr>
              <a:t>Version 1 intentionally excludes SAE and DAS. Performance and reproducibility come first.</a:t>
            </a:r>
          </a:p>
        </p:txBody>
      </p:sp>
    </p:spTree>
    <p:extLst>
      <p:ext uri="{BB962C8B-B14F-4D97-AF65-F5344CB8AC3E}">
        <p14:creationId xmlns:p14="http://schemas.microsoft.com/office/powerpoint/2010/main" val="121798429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7ACE96-8ADA-4494-BCC0-911BFB177D8D}"/>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IMPLEMENTATION</a:t>
            </a:r>
          </a:p>
        </p:txBody>
      </p:sp>
      <p:sp>
        <p:nvSpPr>
          <p:cNvPr id="2" name="">
            <a:extLst xmlns:a="http://schemas.openxmlformats.org/drawingml/2006/main">
              <a:ext uri="{FF2B5EF4-FFF2-40B4-BE49-F238E27FC236}">
                <a16:creationId xmlns:a16="http://schemas.microsoft.com/office/drawing/2014/main" id="{B7DC853E-187E-4359-9521-EBF4C2BC4C64}"/>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Original notebook workflow, 00–07</a:t>
            </a:r>
          </a:p>
        </p:txBody>
      </p:sp>
      <p:sp>
        <p:nvSpPr>
          <p:cNvPr id="3" name="">
            <a:extLst xmlns:a="http://schemas.openxmlformats.org/drawingml/2006/main">
              <a:ext uri="{FF2B5EF4-FFF2-40B4-BE49-F238E27FC236}">
                <a16:creationId xmlns:a16="http://schemas.microsoft.com/office/drawing/2014/main" id="{B97139C6-D25A-4F96-A325-581827DAB495}"/>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35CDEA59-0CBB-4893-A2AE-1A95A0412DE7}"/>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46</a:t>
            </a:r>
          </a:p>
        </p:txBody>
      </p:sp>
      <p:graphicFrame>
        <p:nvGraphicFramePr>
          <p:cNvPr id="5" name="">
            <a:extLst xmlns:a="http://schemas.openxmlformats.org/drawingml/2006/main">
              <a:ext uri="{FF2B5EF4-FFF2-40B4-BE49-F238E27FC236}">
                <a16:creationId xmlns:a16="http://schemas.microsoft.com/office/drawing/2014/main" id="{D96D48D0-0006-4617-8FD0-90E15A47D452}"/>
              </a:ext>
            </a:extLst>
          </p:cNvPr>
          <p:cNvGraphicFramePr/>
          <p:nvPr/>
        </p:nvGraphicFramePr>
        <p:xfrm>
          <a:off xmlns:a="http://schemas.openxmlformats.org/drawingml/2006/main" x="571500" y="1714500"/>
          <a:ext xmlns:a="http://schemas.openxmlformats.org/drawingml/2006/main" cx="11049000" cy="3905250"/>
        </p:xfrm>
        <a:graphic xmlns:a="http://schemas.openxmlformats.org/drawingml/2006/main">
          <a:graphicData uri="http://schemas.openxmlformats.org/drawingml/2006/table">
            <a:tbl>
              <a:tblPr/>
              <a:tblGrid>
                <a:gridCol w="3714750"/>
                <a:gridCol w="7334250"/>
              </a:tblGrid>
              <a:tr h="557893">
                <a:tc>
                  <a:txBody>
                    <a:bodyPr/>
                    <a:lstStyle/>
                    <a:p>
                      <a:r>
                        <a:rPr sz="1650" b="1">
                          <a:solidFill>
                            <a:srgbClr val="FFFFFF"/>
                          </a:solidFill>
                          <a:latin typeface="Arial"/>
                          <a:ea typeface="Arial"/>
                          <a:cs typeface="Arial"/>
                        </a:rPr>
                        <a:t>Notebook</a:t>
                      </a:r>
                    </a:p>
                  </a:txBody>
                  <a:tcPr marL="91440" marR="91440" marT="45720" marB="45720">
                    <a:solidFill>
                      <a:srgbClr val="152B45"/>
                    </a:solidFill>
                  </a:tcPr>
                </a:tc>
                <a:tc>
                  <a:txBody>
                    <a:bodyPr/>
                    <a:lstStyle/>
                    <a:p>
                      <a:r>
                        <a:rPr sz="1650" b="1">
                          <a:solidFill>
                            <a:srgbClr val="FFFFFF"/>
                          </a:solidFill>
                          <a:latin typeface="Arial"/>
                          <a:ea typeface="Arial"/>
                          <a:cs typeface="Arial"/>
                        </a:rPr>
                        <a:t>What the user can run and inspect</a:t>
                      </a:r>
                    </a:p>
                  </a:txBody>
                  <a:tcPr marL="91440" marR="91440" marT="45720" marB="45720">
                    <a:solidFill>
                      <a:srgbClr val="152B45"/>
                    </a:solidFill>
                  </a:tcPr>
                </a:tc>
              </a:tr>
              <a:tr h="557893">
                <a:tc>
                  <a:txBody>
                    <a:bodyPr/>
                    <a:lstStyle/>
                    <a:p>
                      <a:r>
                        <a:rPr sz="1650" b="0">
                          <a:solidFill>
                            <a:srgbClr val="24384D"/>
                          </a:solidFill>
                          <a:latin typeface="Arial"/>
                          <a:ea typeface="Arial"/>
                          <a:cs typeface="Arial"/>
                        </a:rPr>
                        <a:t>00 Environment check</a:t>
                      </a:r>
                    </a:p>
                  </a:txBody>
                  <a:tcPr marL="91440" marR="91440" marT="45720" marB="45720">
                    <a:solidFill>
                      <a:srgbClr val="F0F4F7"/>
                    </a:solidFill>
                  </a:tcPr>
                </a:tc>
                <a:tc>
                  <a:txBody>
                    <a:bodyPr/>
                    <a:lstStyle/>
                    <a:p>
                      <a:r>
                        <a:rPr sz="1650" b="0">
                          <a:solidFill>
                            <a:srgbClr val="24384D"/>
                          </a:solidFill>
                          <a:latin typeface="Arial"/>
                          <a:ea typeface="Arial"/>
                          <a:cs typeface="Arial"/>
                        </a:rPr>
                        <a:t>Paths, dependencies, configuration and runtime.</a:t>
                      </a:r>
                    </a:p>
                  </a:txBody>
                  <a:tcPr marL="91440" marR="91440" marT="45720" marB="45720">
                    <a:solidFill>
                      <a:srgbClr val="F0F4F7"/>
                    </a:solidFill>
                  </a:tcPr>
                </a:tc>
              </a:tr>
              <a:tr h="557893">
                <a:tc>
                  <a:txBody>
                    <a:bodyPr/>
                    <a:lstStyle/>
                    <a:p>
                      <a:r>
                        <a:rPr sz="1650" b="0">
                          <a:solidFill>
                            <a:srgbClr val="24384D"/>
                          </a:solidFill>
                          <a:latin typeface="Arial"/>
                          <a:ea typeface="Arial"/>
                          <a:cs typeface="Arial"/>
                        </a:rPr>
                        <a:t>01 Generate switching data</a:t>
                      </a:r>
                    </a:p>
                  </a:txBody>
                  <a:tcPr marL="91440" marR="91440" marT="45720" marB="45720">
                    <a:solidFill>
                      <a:srgbClr val="FFFFFF"/>
                    </a:solidFill>
                  </a:tcPr>
                </a:tc>
                <a:tc>
                  <a:txBody>
                    <a:bodyPr/>
                    <a:lstStyle/>
                    <a:p>
                      <a:r>
                        <a:rPr sz="1650" b="0">
                          <a:solidFill>
                            <a:srgbClr val="24384D"/>
                          </a:solidFill>
                          <a:latin typeface="Arial"/>
                          <a:ea typeface="Arial"/>
                          <a:cs typeface="Arial"/>
                        </a:rPr>
                        <a:t>Generate or validate versioned data caches.</a:t>
                      </a:r>
                    </a:p>
                  </a:txBody>
                  <a:tcPr marL="91440" marR="91440" marT="45720" marB="45720">
                    <a:solidFill>
                      <a:srgbClr val="FFFFFF"/>
                    </a:solidFill>
                  </a:tcPr>
                </a:tc>
              </a:tr>
              <a:tr h="557893">
                <a:tc>
                  <a:txBody>
                    <a:bodyPr/>
                    <a:lstStyle/>
                    <a:p>
                      <a:r>
                        <a:rPr sz="1650" b="0">
                          <a:solidFill>
                            <a:srgbClr val="24384D"/>
                          </a:solidFill>
                          <a:latin typeface="Arial"/>
                          <a:ea typeface="Arial"/>
                          <a:cs typeface="Arial"/>
                        </a:rPr>
                        <a:t>02 Inspect and visualize data</a:t>
                      </a:r>
                    </a:p>
                  </a:txBody>
                  <a:tcPr marL="91440" marR="91440" marT="45720" marB="45720">
                    <a:solidFill>
                      <a:srgbClr val="F0F4F7"/>
                    </a:solidFill>
                  </a:tcPr>
                </a:tc>
                <a:tc>
                  <a:txBody>
                    <a:bodyPr/>
                    <a:lstStyle/>
                    <a:p>
                      <a:r>
                        <a:rPr sz="1650" b="0">
                          <a:solidFill>
                            <a:srgbClr val="24384D"/>
                          </a:solidFill>
                          <a:latin typeface="Arial"/>
                          <a:ea typeface="Arial"/>
                          <a:cs typeface="Arial"/>
                        </a:rPr>
                        <a:t>State trajectories, regimes and generator properties.</a:t>
                      </a:r>
                    </a:p>
                  </a:txBody>
                  <a:tcPr marL="91440" marR="91440" marT="45720" marB="45720">
                    <a:solidFill>
                      <a:srgbClr val="F0F4F7"/>
                    </a:solidFill>
                  </a:tcPr>
                </a:tc>
              </a:tr>
              <a:tr h="557893">
                <a:tc>
                  <a:txBody>
                    <a:bodyPr/>
                    <a:lstStyle/>
                    <a:p>
                      <a:r>
                        <a:rPr sz="1650" b="0">
                          <a:solidFill>
                            <a:srgbClr val="24384D"/>
                          </a:solidFill>
                          <a:latin typeface="Arial"/>
                          <a:ea typeface="Arial"/>
                          <a:cs typeface="Arial"/>
                        </a:rPr>
                        <a:t>03 Train dense baselines</a:t>
                      </a:r>
                    </a:p>
                  </a:txBody>
                  <a:tcPr marL="91440" marR="91440" marT="45720" marB="45720">
                    <a:solidFill>
                      <a:srgbClr val="FFFFFF"/>
                    </a:solidFill>
                  </a:tcPr>
                </a:tc>
                <a:tc>
                  <a:txBody>
                    <a:bodyPr/>
                    <a:lstStyle/>
                    <a:p>
                      <a:r>
                        <a:rPr sz="1650" b="0">
                          <a:solidFill>
                            <a:srgbClr val="24384D"/>
                          </a:solidFill>
                          <a:latin typeface="Arial"/>
                          <a:ea typeface="Arial"/>
                          <a:cs typeface="Arial"/>
                        </a:rPr>
                        <a:t>Train dense active and dense total controls.</a:t>
                      </a:r>
                    </a:p>
                  </a:txBody>
                  <a:tcPr marL="91440" marR="91440" marT="45720" marB="45720">
                    <a:solidFill>
                      <a:srgbClr val="FFFFFF"/>
                    </a:solidFill>
                  </a:tcPr>
                </a:tc>
              </a:tr>
              <a:tr h="557893">
                <a:tc>
                  <a:txBody>
                    <a:bodyPr/>
                    <a:lstStyle/>
                    <a:p>
                      <a:r>
                        <a:rPr sz="1650" b="0">
                          <a:solidFill>
                            <a:srgbClr val="24384D"/>
                          </a:solidFill>
                          <a:latin typeface="Arial"/>
                          <a:ea typeface="Arial"/>
                          <a:cs typeface="Arial"/>
                        </a:rPr>
                        <a:t>04 Train small MoE</a:t>
                      </a:r>
                    </a:p>
                  </a:txBody>
                  <a:tcPr marL="91440" marR="91440" marT="45720" marB="45720">
                    <a:solidFill>
                      <a:srgbClr val="F0F4F7"/>
                    </a:solidFill>
                  </a:tcPr>
                </a:tc>
                <a:tc>
                  <a:txBody>
                    <a:bodyPr/>
                    <a:lstStyle/>
                    <a:p>
                      <a:r>
                        <a:rPr sz="1650" b="0">
                          <a:solidFill>
                            <a:srgbClr val="24384D"/>
                          </a:solidFill>
                          <a:latin typeface="Arial"/>
                          <a:ea typeface="Arial"/>
                          <a:cs typeface="Arial"/>
                        </a:rPr>
                        <a:t>Train learned, random and oracle routing families.</a:t>
                      </a:r>
                    </a:p>
                  </a:txBody>
                  <a:tcPr marL="91440" marR="91440" marT="45720" marB="45720">
                    <a:solidFill>
                      <a:srgbClr val="F0F4F7"/>
                    </a:solidFill>
                  </a:tcPr>
                </a:tc>
              </a:tr>
              <a:tr h="557893">
                <a:tc>
                  <a:txBody>
                    <a:bodyPr/>
                    <a:lstStyle/>
                    <a:p>
                      <a:r>
                        <a:rPr sz="1650" b="0">
                          <a:solidFill>
                            <a:srgbClr val="24384D"/>
                          </a:solidFill>
                          <a:latin typeface="Arial"/>
                          <a:ea typeface="Arial"/>
                          <a:cs typeface="Arial"/>
                        </a:rPr>
                        <a:t>05–07 Analysis</a:t>
                      </a:r>
                    </a:p>
                  </a:txBody>
                  <a:tcPr marL="91440" marR="91440" marT="45720" marB="45720">
                    <a:solidFill>
                      <a:srgbClr val="FFFFFF"/>
                    </a:solidFill>
                  </a:tcPr>
                </a:tc>
                <a:tc>
                  <a:txBody>
                    <a:bodyPr/>
                    <a:lstStyle/>
                    <a:p>
                      <a:r>
                        <a:rPr sz="1650" b="0">
                          <a:solidFill>
                            <a:srgbClr val="24384D"/>
                          </a:solidFill>
                          <a:latin typeface="Arial"/>
                          <a:ea typeface="Arial"/>
                          <a:cs typeface="Arial"/>
                        </a:rPr>
                        <a:t>Compare performance, inspect routing and test rollouts.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7440942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105AA9-5CAE-42F0-860C-E8A11BBC875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C27B78BA-1AD6-492E-BA06-E0DFAA836944}"/>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Configuration and data functions</a:t>
            </a:r>
          </a:p>
        </p:txBody>
      </p:sp>
      <p:sp>
        <p:nvSpPr>
          <p:cNvPr id="3" name="">
            <a:extLst xmlns:a="http://schemas.openxmlformats.org/drawingml/2006/main">
              <a:ext uri="{FF2B5EF4-FFF2-40B4-BE49-F238E27FC236}">
                <a16:creationId xmlns:a16="http://schemas.microsoft.com/office/drawing/2014/main" id="{BDB5B0E0-3700-4D97-A1C0-B68A8A5CAB4F}"/>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FC38D899-2CB9-4B26-94E0-2EB2D0594F14}"/>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47</a:t>
            </a:r>
          </a:p>
        </p:txBody>
      </p:sp>
      <p:graphicFrame>
        <p:nvGraphicFramePr>
          <p:cNvPr id="5" name="">
            <a:extLst xmlns:a="http://schemas.openxmlformats.org/drawingml/2006/main">
              <a:ext uri="{FF2B5EF4-FFF2-40B4-BE49-F238E27FC236}">
                <a16:creationId xmlns:a16="http://schemas.microsoft.com/office/drawing/2014/main" id="{113AC8FA-A1A8-40C3-B5C8-EBAAC25B601E}"/>
              </a:ext>
            </a:extLst>
          </p:cNvPr>
          <p:cNvGraphicFramePr/>
          <p:nvPr/>
        </p:nvGraphicFramePr>
        <p:xfrm>
          <a:off xmlns:a="http://schemas.openxmlformats.org/drawingml/2006/main" x="571500" y="1695450"/>
          <a:ext xmlns:a="http://schemas.openxmlformats.org/drawingml/2006/main" cx="11049000" cy="4143375"/>
        </p:xfrm>
        <a:graphic xmlns:a="http://schemas.openxmlformats.org/drawingml/2006/main">
          <a:graphicData uri="http://schemas.openxmlformats.org/drawingml/2006/table">
            <a:tbl>
              <a:tblPr/>
              <a:tblGrid>
                <a:gridCol w="4191000"/>
                <a:gridCol w="6858000"/>
              </a:tblGrid>
              <a:tr h="591911">
                <a:tc>
                  <a:txBody>
                    <a:bodyPr/>
                    <a:lstStyle/>
                    <a:p>
                      <a:r>
                        <a:rPr sz="1650" b="1">
                          <a:solidFill>
                            <a:srgbClr val="FFFFFF"/>
                          </a:solidFill>
                          <a:latin typeface="Arial"/>
                          <a:ea typeface="Arial"/>
                          <a:cs typeface="Arial"/>
                        </a:rPr>
                        <a:t>Function or method</a:t>
                      </a:r>
                    </a:p>
                  </a:txBody>
                  <a:tcPr marL="91440" marR="91440" marT="45720" marB="45720">
                    <a:solidFill>
                      <a:srgbClr val="152B45"/>
                    </a:solidFill>
                  </a:tcPr>
                </a:tc>
                <a:tc>
                  <a:txBody>
                    <a:bodyPr/>
                    <a:lstStyle/>
                    <a:p>
                      <a:r>
                        <a:rPr sz="1650" b="1">
                          <a:solidFill>
                            <a:srgbClr val="FFFFFF"/>
                          </a:solidFill>
                          <a:latin typeface="Arial"/>
                          <a:ea typeface="Arial"/>
                          <a:cs typeface="Arial"/>
                        </a:rPr>
                        <a:t>Responsibility</a:t>
                      </a:r>
                    </a:p>
                  </a:txBody>
                  <a:tcPr marL="91440" marR="91440" marT="45720" marB="45720">
                    <a:solidFill>
                      <a:srgbClr val="152B45"/>
                    </a:solidFill>
                  </a:tcPr>
                </a:tc>
              </a:tr>
              <a:tr h="591911">
                <a:tc>
                  <a:txBody>
                    <a:bodyPr/>
                    <a:lstStyle/>
                    <a:p>
                      <a:r>
                        <a:rPr sz="1650" b="0">
                          <a:solidFill>
                            <a:srgbClr val="24384D"/>
                          </a:solidFill>
                          <a:latin typeface="Arial"/>
                          <a:ea typeface="Arial"/>
                          <a:cs typeface="Arial"/>
                        </a:rPr>
                        <a:t>config.fingerprint</a:t>
                      </a:r>
                    </a:p>
                  </a:txBody>
                  <a:tcPr marL="91440" marR="91440" marT="45720" marB="45720">
                    <a:solidFill>
                      <a:srgbClr val="F0F4F7"/>
                    </a:solidFill>
                  </a:tcPr>
                </a:tc>
                <a:tc>
                  <a:txBody>
                    <a:bodyPr/>
                    <a:lstStyle/>
                    <a:p>
                      <a:r>
                        <a:rPr sz="1650" b="0">
                          <a:solidFill>
                            <a:srgbClr val="24384D"/>
                          </a:solidFill>
                          <a:latin typeface="Arial"/>
                          <a:ea typeface="Arial"/>
                          <a:cs typeface="Arial"/>
                        </a:rPr>
                        <a:t>Build a deterministic short hash of a configuration object.</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config.load_config</a:t>
                      </a:r>
                    </a:p>
                  </a:txBody>
                  <a:tcPr marL="91440" marR="91440" marT="45720" marB="45720">
                    <a:solidFill>
                      <a:srgbClr val="FFFFFF"/>
                    </a:solidFill>
                  </a:tcPr>
                </a:tc>
                <a:tc>
                  <a:txBody>
                    <a:bodyPr/>
                    <a:lstStyle/>
                    <a:p>
                      <a:r>
                        <a:rPr sz="1650" b="0">
                          <a:solidFill>
                            <a:srgbClr val="24384D"/>
                          </a:solidFill>
                          <a:latin typeface="Arial"/>
                          <a:ea typeface="Arial"/>
                          <a:cs typeface="Arial"/>
                        </a:rPr>
                        <a:t>Read a preset and resolve code/data locations.</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config.run_dir / checkpoint_dir</a:t>
                      </a:r>
                    </a:p>
                  </a:txBody>
                  <a:tcPr marL="91440" marR="91440" marT="45720" marB="45720">
                    <a:solidFill>
                      <a:srgbClr val="F0F4F7"/>
                    </a:solidFill>
                  </a:tcPr>
                </a:tc>
                <a:tc>
                  <a:txBody>
                    <a:bodyPr/>
                    <a:lstStyle/>
                    <a:p>
                      <a:r>
                        <a:rPr sz="1650" b="0">
                          <a:solidFill>
                            <a:srgbClr val="24384D"/>
                          </a:solidFill>
                          <a:latin typeface="Arial"/>
                          <a:ea typeface="Arial"/>
                          <a:cs typeface="Arial"/>
                        </a:rPr>
                        <a:t>Resolve and create result/checkpoint directories.</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dynamics.transition_matrices</a:t>
                      </a:r>
                    </a:p>
                  </a:txBody>
                  <a:tcPr marL="91440" marR="91440" marT="45720" marB="45720">
                    <a:solidFill>
                      <a:srgbClr val="FFFFFF"/>
                    </a:solidFill>
                  </a:tcPr>
                </a:tc>
                <a:tc>
                  <a:txBody>
                    <a:bodyPr/>
                    <a:lstStyle/>
                    <a:p>
                      <a:r>
                        <a:rPr sz="1650" b="0">
                          <a:solidFill>
                            <a:srgbClr val="24384D"/>
                          </a:solidFill>
                          <a:latin typeface="Arial"/>
                          <a:ea typeface="Arial"/>
                          <a:cs typeface="Arial"/>
                        </a:rPr>
                        <a:t>Construct the three stable 4 × 4 matrices.</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dynamics.generate_sequences</a:t>
                      </a:r>
                    </a:p>
                  </a:txBody>
                  <a:tcPr marL="91440" marR="91440" marT="45720" marB="45720">
                    <a:solidFill>
                      <a:srgbClr val="F0F4F7"/>
                    </a:solidFill>
                  </a:tcPr>
                </a:tc>
                <a:tc>
                  <a:txBody>
                    <a:bodyPr/>
                    <a:lstStyle/>
                    <a:p>
                      <a:r>
                        <a:rPr sz="1650" b="0">
                          <a:solidFill>
                            <a:srgbClr val="24384D"/>
                          </a:solidFill>
                          <a:latin typeface="Arial"/>
                          <a:ea typeface="Arial"/>
                          <a:cs typeface="Arial"/>
                        </a:rPr>
                        <a:t>Simulate Markov regimes, noise and burn-in.</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data.dataset_path</a:t>
                      </a:r>
                    </a:p>
                  </a:txBody>
                  <a:tcPr marL="91440" marR="91440" marT="45720" marB="45720">
                    <a:solidFill>
                      <a:srgbClr val="FFFFFF"/>
                    </a:solidFill>
                  </a:tcPr>
                </a:tc>
                <a:tc>
                  <a:txBody>
                    <a:bodyPr/>
                    <a:lstStyle/>
                    <a:p>
                      <a:r>
                        <a:rPr sz="1650" b="0">
                          <a:solidFill>
                            <a:srgbClr val="24384D"/>
                          </a:solidFill>
                          <a:latin typeface="Arial"/>
                          <a:ea typeface="Arial"/>
                          <a:cs typeface="Arial"/>
                        </a:rPr>
                        <a:t>Select a cache from data version, settings and seed.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8956885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DBC956-A5AF-45F6-9E47-2ECDD603B64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2755228A-07F1-4259-97AC-8F7CB2CF2E5D}"/>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Data loading and window construction</a:t>
            </a:r>
          </a:p>
        </p:txBody>
      </p:sp>
      <p:sp>
        <p:nvSpPr>
          <p:cNvPr id="3" name="">
            <a:extLst xmlns:a="http://schemas.openxmlformats.org/drawingml/2006/main">
              <a:ext uri="{FF2B5EF4-FFF2-40B4-BE49-F238E27FC236}">
                <a16:creationId xmlns:a16="http://schemas.microsoft.com/office/drawing/2014/main" id="{4A025A1C-4BAD-49F9-91EE-4F94E1F19098}"/>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536DCD5F-32C8-45FE-B17A-965C6962892E}"/>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48</a:t>
            </a:r>
          </a:p>
        </p:txBody>
      </p:sp>
      <p:graphicFrame>
        <p:nvGraphicFramePr>
          <p:cNvPr id="5" name="">
            <a:extLst xmlns:a="http://schemas.openxmlformats.org/drawingml/2006/main">
              <a:ext uri="{FF2B5EF4-FFF2-40B4-BE49-F238E27FC236}">
                <a16:creationId xmlns:a16="http://schemas.microsoft.com/office/drawing/2014/main" id="{EC47B65B-54CA-4E8D-8950-BF2CA764BC30}"/>
              </a:ext>
            </a:extLst>
          </p:cNvPr>
          <p:cNvGraphicFramePr/>
          <p:nvPr/>
        </p:nvGraphicFramePr>
        <p:xfrm>
          <a:off xmlns:a="http://schemas.openxmlformats.org/drawingml/2006/main" x="571500" y="1695450"/>
          <a:ext xmlns:a="http://schemas.openxmlformats.org/drawingml/2006/main" cx="11049000" cy="4143375"/>
        </p:xfrm>
        <a:graphic xmlns:a="http://schemas.openxmlformats.org/drawingml/2006/main">
          <a:graphicData uri="http://schemas.openxmlformats.org/drawingml/2006/table">
            <a:tbl>
              <a:tblPr/>
              <a:tblGrid>
                <a:gridCol w="4191000"/>
                <a:gridCol w="6858000"/>
              </a:tblGrid>
              <a:tr h="828675">
                <a:tc>
                  <a:txBody>
                    <a:bodyPr/>
                    <a:lstStyle/>
                    <a:p>
                      <a:r>
                        <a:rPr sz="1650" b="1">
                          <a:solidFill>
                            <a:srgbClr val="FFFFFF"/>
                          </a:solidFill>
                          <a:latin typeface="Arial"/>
                          <a:ea typeface="Arial"/>
                          <a:cs typeface="Arial"/>
                        </a:rPr>
                        <a:t>Function or method</a:t>
                      </a:r>
                    </a:p>
                  </a:txBody>
                  <a:tcPr marL="91440" marR="91440" marT="45720" marB="45720">
                    <a:solidFill>
                      <a:srgbClr val="152B45"/>
                    </a:solidFill>
                  </a:tcPr>
                </a:tc>
                <a:tc>
                  <a:txBody>
                    <a:bodyPr/>
                    <a:lstStyle/>
                    <a:p>
                      <a:r>
                        <a:rPr sz="1650" b="1">
                          <a:solidFill>
                            <a:srgbClr val="FFFFFF"/>
                          </a:solidFill>
                          <a:latin typeface="Arial"/>
                          <a:ea typeface="Arial"/>
                          <a:cs typeface="Arial"/>
                        </a:rPr>
                        <a:t>Responsibility</a:t>
                      </a:r>
                    </a:p>
                  </a:txBody>
                  <a:tcPr marL="91440" marR="91440" marT="45720" marB="45720">
                    <a:solidFill>
                      <a:srgbClr val="152B45"/>
                    </a:solidFill>
                  </a:tcPr>
                </a:tc>
              </a:tr>
              <a:tr h="828675">
                <a:tc>
                  <a:txBody>
                    <a:bodyPr/>
                    <a:lstStyle/>
                    <a:p>
                      <a:r>
                        <a:rPr sz="1650" b="0">
                          <a:solidFill>
                            <a:srgbClr val="24384D"/>
                          </a:solidFill>
                          <a:latin typeface="Arial"/>
                          <a:ea typeface="Arial"/>
                          <a:cs typeface="Arial"/>
                        </a:rPr>
                        <a:t>data.ensure_data</a:t>
                      </a:r>
                    </a:p>
                  </a:txBody>
                  <a:tcPr marL="91440" marR="91440" marT="45720" marB="45720">
                    <a:solidFill>
                      <a:srgbClr val="F0F4F7"/>
                    </a:solidFill>
                  </a:tcPr>
                </a:tc>
                <a:tc>
                  <a:txBody>
                    <a:bodyPr/>
                    <a:lstStyle/>
                    <a:p>
                      <a:r>
                        <a:rPr sz="1650" b="0">
                          <a:solidFill>
                            <a:srgbClr val="24384D"/>
                          </a:solidFill>
                          <a:latin typeface="Arial"/>
                          <a:ea typeface="Arial"/>
                          <a:cs typeface="Arial"/>
                        </a:rPr>
                        <a:t>Generate split archives and metadata, or verify cached SHA-256 checksums.</a:t>
                      </a:r>
                    </a:p>
                  </a:txBody>
                  <a:tcPr marL="91440" marR="91440" marT="45720" marB="45720">
                    <a:solidFill>
                      <a:srgbClr val="F0F4F7"/>
                    </a:solidFill>
                  </a:tcPr>
                </a:tc>
              </a:tr>
              <a:tr h="828675">
                <a:tc>
                  <a:txBody>
                    <a:bodyPr/>
                    <a:lstStyle/>
                    <a:p>
                      <a:r>
                        <a:rPr sz="1650" b="0">
                          <a:solidFill>
                            <a:srgbClr val="24384D"/>
                          </a:solidFill>
                          <a:latin typeface="Arial"/>
                          <a:ea typeface="Arial"/>
                          <a:cs typeface="Arial"/>
                        </a:rPr>
                        <a:t>data.load_data</a:t>
                      </a:r>
                    </a:p>
                  </a:txBody>
                  <a:tcPr marL="91440" marR="91440" marT="45720" marB="45720">
                    <a:solidFill>
                      <a:srgbClr val="FFFFFF"/>
                    </a:solidFill>
                  </a:tcPr>
                </a:tc>
                <a:tc>
                  <a:txBody>
                    <a:bodyPr/>
                    <a:lstStyle/>
                    <a:p>
                      <a:r>
                        <a:rPr sz="1650" b="0">
                          <a:solidFill>
                            <a:srgbClr val="24384D"/>
                          </a:solidFill>
                          <a:latin typeface="Arial"/>
                          <a:ea typeface="Arial"/>
                          <a:cs typeface="Arial"/>
                        </a:rPr>
                        <a:t>Load states/regimes and compute training-only normalization.</a:t>
                      </a:r>
                    </a:p>
                  </a:txBody>
                  <a:tcPr marL="91440" marR="91440" marT="45720" marB="45720">
                    <a:solidFill>
                      <a:srgbClr val="FFFFFF"/>
                    </a:solidFill>
                  </a:tcPr>
                </a:tc>
              </a:tr>
              <a:tr h="828675">
                <a:tc>
                  <a:txBody>
                    <a:bodyPr/>
                    <a:lstStyle/>
                    <a:p>
                      <a:r>
                        <a:rPr sz="1650" b="0">
                          <a:solidFill>
                            <a:srgbClr val="24384D"/>
                          </a:solidFill>
                          <a:latin typeface="Arial"/>
                          <a:ea typeface="Arial"/>
                          <a:cs typeface="Arial"/>
                        </a:rPr>
                        <a:t>data.windows</a:t>
                      </a:r>
                    </a:p>
                  </a:txBody>
                  <a:tcPr marL="91440" marR="91440" marT="45720" marB="45720">
                    <a:solidFill>
                      <a:srgbClr val="F0F4F7"/>
                    </a:solidFill>
                  </a:tcPr>
                </a:tc>
                <a:tc>
                  <a:txBody>
                    <a:bodyPr/>
                    <a:lstStyle/>
                    <a:p>
                      <a:r>
                        <a:rPr sz="1650" b="0">
                          <a:solidFill>
                            <a:srgbClr val="24384D"/>
                          </a:solidFill>
                          <a:latin typeface="Arial"/>
                          <a:ea typeface="Arial"/>
                          <a:cs typeface="Arial"/>
                        </a:rPr>
                        <a:t>Build flattened causal histories, next-state targets and regime labels.</a:t>
                      </a:r>
                    </a:p>
                  </a:txBody>
                  <a:tcPr marL="91440" marR="91440" marT="45720" marB="45720">
                    <a:solidFill>
                      <a:srgbClr val="F0F4F7"/>
                    </a:solidFill>
                  </a:tcPr>
                </a:tc>
              </a:tr>
              <a:tr h="828675">
                <a:tc>
                  <a:txBody>
                    <a:bodyPr/>
                    <a:lstStyle/>
                    <a:p>
                      <a:r>
                        <a:rPr sz="1650" b="0">
                          <a:solidFill>
                            <a:srgbClr val="24384D"/>
                          </a:solidFill>
                          <a:latin typeface="Arial"/>
                          <a:ea typeface="Arial"/>
                          <a:cs typeface="Arial"/>
                        </a:rPr>
                        <a:t>data.regime_ages</a:t>
                      </a:r>
                    </a:p>
                  </a:txBody>
                  <a:tcPr marL="91440" marR="91440" marT="45720" marB="45720">
                    <a:solidFill>
                      <a:srgbClr val="FFFFFF"/>
                    </a:solidFill>
                  </a:tcPr>
                </a:tc>
                <a:tc>
                  <a:txBody>
                    <a:bodyPr/>
                    <a:lstStyle/>
                    <a:p>
                      <a:r>
                        <a:rPr sz="1650" b="0">
                          <a:solidFill>
                            <a:srgbClr val="24384D"/>
                          </a:solidFill>
                          <a:latin typeface="Arial"/>
                          <a:ea typeface="Arial"/>
                          <a:cs typeface="Arial"/>
                        </a:rPr>
                        <a:t>Count transitions since each sequence’s most recent regime change.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2981845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2FCA80-51F9-4057-B3AE-65D426BD9BE2}"/>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CDD3F338-42E6-4615-B4E2-135D5DE02D79}"/>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Model and router functions</a:t>
            </a:r>
          </a:p>
        </p:txBody>
      </p:sp>
      <p:sp>
        <p:nvSpPr>
          <p:cNvPr id="3" name="">
            <a:extLst xmlns:a="http://schemas.openxmlformats.org/drawingml/2006/main">
              <a:ext uri="{FF2B5EF4-FFF2-40B4-BE49-F238E27FC236}">
                <a16:creationId xmlns:a16="http://schemas.microsoft.com/office/drawing/2014/main" id="{B7F0A888-5F6F-49A9-B590-1E194163FE67}"/>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47D20CF4-1283-45EC-B73A-DE89B0D5F8E3}"/>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49</a:t>
            </a:r>
          </a:p>
        </p:txBody>
      </p:sp>
      <p:graphicFrame>
        <p:nvGraphicFramePr>
          <p:cNvPr id="5" name="">
            <a:extLst xmlns:a="http://schemas.openxmlformats.org/drawingml/2006/main">
              <a:ext uri="{FF2B5EF4-FFF2-40B4-BE49-F238E27FC236}">
                <a16:creationId xmlns:a16="http://schemas.microsoft.com/office/drawing/2014/main" id="{2CA81B94-4B90-4644-A53A-4358FB78EAA6}"/>
              </a:ext>
            </a:extLst>
          </p:cNvPr>
          <p:cNvGraphicFramePr/>
          <p:nvPr/>
        </p:nvGraphicFramePr>
        <p:xfrm>
          <a:off xmlns:a="http://schemas.openxmlformats.org/drawingml/2006/main" x="571500" y="1695450"/>
          <a:ext xmlns:a="http://schemas.openxmlformats.org/drawingml/2006/main" cx="11049000" cy="4143375"/>
        </p:xfrm>
        <a:graphic xmlns:a="http://schemas.openxmlformats.org/drawingml/2006/main">
          <a:graphicData uri="http://schemas.openxmlformats.org/drawingml/2006/table">
            <a:tbl>
              <a:tblPr/>
              <a:tblGrid>
                <a:gridCol w="4191000"/>
                <a:gridCol w="6858000"/>
              </a:tblGrid>
              <a:tr h="591911">
                <a:tc>
                  <a:txBody>
                    <a:bodyPr/>
                    <a:lstStyle/>
                    <a:p>
                      <a:r>
                        <a:rPr sz="1650" b="1">
                          <a:solidFill>
                            <a:srgbClr val="FFFFFF"/>
                          </a:solidFill>
                          <a:latin typeface="Arial"/>
                          <a:ea typeface="Arial"/>
                          <a:cs typeface="Arial"/>
                        </a:rPr>
                        <a:t>Function or method</a:t>
                      </a:r>
                    </a:p>
                  </a:txBody>
                  <a:tcPr marL="91440" marR="91440" marT="45720" marB="45720">
                    <a:solidFill>
                      <a:srgbClr val="152B45"/>
                    </a:solidFill>
                  </a:tcPr>
                </a:tc>
                <a:tc>
                  <a:txBody>
                    <a:bodyPr/>
                    <a:lstStyle/>
                    <a:p>
                      <a:r>
                        <a:rPr sz="1650" b="1">
                          <a:solidFill>
                            <a:srgbClr val="FFFFFF"/>
                          </a:solidFill>
                          <a:latin typeface="Arial"/>
                          <a:ea typeface="Arial"/>
                          <a:cs typeface="Arial"/>
                        </a:rPr>
                        <a:t>Responsibility</a:t>
                      </a:r>
                    </a:p>
                  </a:txBody>
                  <a:tcPr marL="91440" marR="91440" marT="45720" marB="45720">
                    <a:solidFill>
                      <a:srgbClr val="152B45"/>
                    </a:solidFill>
                  </a:tcPr>
                </a:tc>
              </a:tr>
              <a:tr h="591911">
                <a:tc>
                  <a:txBody>
                    <a:bodyPr/>
                    <a:lstStyle/>
                    <a:p>
                      <a:r>
                        <a:rPr sz="1650" b="0">
                          <a:solidFill>
                            <a:srgbClr val="24384D"/>
                          </a:solidFill>
                          <a:latin typeface="Arial"/>
                          <a:ea typeface="Arial"/>
                          <a:cs typeface="Arial"/>
                        </a:rPr>
                        <a:t>models.mlp / nparameters</a:t>
                      </a:r>
                    </a:p>
                  </a:txBody>
                  <a:tcPr marL="91440" marR="91440" marT="45720" marB="45720">
                    <a:solidFill>
                      <a:srgbClr val="F0F4F7"/>
                    </a:solidFill>
                  </a:tcPr>
                </a:tc>
                <a:tc>
                  <a:txBody>
                    <a:bodyPr/>
                    <a:lstStyle/>
                    <a:p>
                      <a:r>
                        <a:rPr sz="1650" b="0">
                          <a:solidFill>
                            <a:srgbClr val="24384D"/>
                          </a:solidFill>
                          <a:latin typeface="Arial"/>
                          <a:ea typeface="Arial"/>
                          <a:cs typeface="Arial"/>
                        </a:rPr>
                        <a:t>Build tanh MLPs and count their parameters.</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Dense.__init__ / forward / capacity</a:t>
                      </a:r>
                    </a:p>
                  </a:txBody>
                  <a:tcPr marL="91440" marR="91440" marT="45720" marB="45720">
                    <a:solidFill>
                      <a:srgbClr val="FFFFFF"/>
                    </a:solidFill>
                  </a:tcPr>
                </a:tc>
                <a:tc>
                  <a:txBody>
                    <a:bodyPr/>
                    <a:lstStyle/>
                    <a:p>
                      <a:r>
                        <a:rPr sz="1650" b="0">
                          <a:solidFill>
                            <a:srgbClr val="24384D"/>
                          </a:solidFill>
                          <a:latin typeface="Arial"/>
                          <a:ea typeface="Arial"/>
                          <a:cs typeface="Arial"/>
                        </a:rPr>
                        <a:t>Construct a baseline, predict and report parameter counts.</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Router.__init__ / forward</a:t>
                      </a:r>
                    </a:p>
                  </a:txBody>
                  <a:tcPr marL="91440" marR="91440" marT="45720" marB="45720">
                    <a:solidFill>
                      <a:srgbClr val="F0F4F7"/>
                    </a:solidFill>
                  </a:tcPr>
                </a:tc>
                <a:tc>
                  <a:txBody>
                    <a:bodyPr/>
                    <a:lstStyle/>
                    <a:p>
                      <a:r>
                        <a:rPr sz="1650" b="0">
                          <a:solidFill>
                            <a:srgbClr val="24384D"/>
                          </a:solidFill>
                          <a:latin typeface="Arial"/>
                          <a:ea typeface="Arial"/>
                          <a:cs typeface="Arial"/>
                        </a:rPr>
                        <a:t>Construct learned or frozen routing and produce softmax probabilities.</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routers.sparse_gates</a:t>
                      </a:r>
                    </a:p>
                  </a:txBody>
                  <a:tcPr marL="91440" marR="91440" marT="45720" marB="45720">
                    <a:solidFill>
                      <a:srgbClr val="FFFFFF"/>
                    </a:solidFill>
                  </a:tcPr>
                </a:tc>
                <a:tc>
                  <a:txBody>
                    <a:bodyPr/>
                    <a:lstStyle/>
                    <a:p>
                      <a:r>
                        <a:rPr sz="1650" b="0">
                          <a:solidFill>
                            <a:srgbClr val="24384D"/>
                          </a:solidFill>
                          <a:latin typeface="Arial"/>
                          <a:ea typeface="Arial"/>
                          <a:cs typeface="Arial"/>
                        </a:rPr>
                        <a:t>Select top-k experts and normalize retained gate weights.</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MoE.__init__ / forward / capacity</a:t>
                      </a:r>
                    </a:p>
                  </a:txBody>
                  <a:tcPr marL="91440" marR="91440" marT="45720" marB="45720">
                    <a:solidFill>
                      <a:srgbClr val="F0F4F7"/>
                    </a:solidFill>
                  </a:tcPr>
                </a:tc>
                <a:tc>
                  <a:txBody>
                    <a:bodyPr/>
                    <a:lstStyle/>
                    <a:p>
                      <a:r>
                        <a:rPr sz="1650" b="0">
                          <a:solidFill>
                            <a:srgbClr val="24384D"/>
                          </a:solidFill>
                          <a:latin typeface="Arial"/>
                          <a:ea typeface="Arial"/>
                          <a:cs typeface="Arial"/>
                        </a:rPr>
                        <a:t>Construct experts, dispatch selected rows and report capacity.</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models.build_model</a:t>
                      </a:r>
                    </a:p>
                  </a:txBody>
                  <a:tcPr marL="91440" marR="91440" marT="45720" marB="45720">
                    <a:solidFill>
                      <a:srgbClr val="FFFFFF"/>
                    </a:solidFill>
                  </a:tcPr>
                </a:tc>
                <a:tc>
                  <a:txBody>
                    <a:bodyPr/>
                    <a:lstStyle/>
                    <a:p>
                      <a:r>
                        <a:rPr sz="1650" b="0">
                          <a:solidFill>
                            <a:srgbClr val="24384D"/>
                          </a:solidFill>
                          <a:latin typeface="Arial"/>
                          <a:ea typeface="Arial"/>
                          <a:cs typeface="Arial"/>
                        </a:rPr>
                        <a:t>Create the requested family using the configuration.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6276510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E4DD9F-D209-4552-8BC4-C89FA5DCBBF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38B07300-2BCD-49BB-BC22-D6B5944D8325}"/>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Training and inference functions</a:t>
            </a:r>
          </a:p>
        </p:txBody>
      </p:sp>
      <p:sp>
        <p:nvSpPr>
          <p:cNvPr id="3" name="">
            <a:extLst xmlns:a="http://schemas.openxmlformats.org/drawingml/2006/main">
              <a:ext uri="{FF2B5EF4-FFF2-40B4-BE49-F238E27FC236}">
                <a16:creationId xmlns:a16="http://schemas.microsoft.com/office/drawing/2014/main" id="{433AC772-113B-45A7-B3F3-04A77C7014C0}"/>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103D3B58-5568-4399-B6CE-B6F1E84D745C}"/>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50</a:t>
            </a:r>
          </a:p>
        </p:txBody>
      </p:sp>
      <p:graphicFrame>
        <p:nvGraphicFramePr>
          <p:cNvPr id="5" name="">
            <a:extLst xmlns:a="http://schemas.openxmlformats.org/drawingml/2006/main">
              <a:ext uri="{FF2B5EF4-FFF2-40B4-BE49-F238E27FC236}">
                <a16:creationId xmlns:a16="http://schemas.microsoft.com/office/drawing/2014/main" id="{5A833E70-00F7-4705-BB62-CBCA29E58189}"/>
              </a:ext>
            </a:extLst>
          </p:cNvPr>
          <p:cNvGraphicFramePr/>
          <p:nvPr/>
        </p:nvGraphicFramePr>
        <p:xfrm>
          <a:off xmlns:a="http://schemas.openxmlformats.org/drawingml/2006/main" x="571500" y="1695450"/>
          <a:ext xmlns:a="http://schemas.openxmlformats.org/drawingml/2006/main" cx="11049000" cy="4143375"/>
        </p:xfrm>
        <a:graphic xmlns:a="http://schemas.openxmlformats.org/drawingml/2006/main">
          <a:graphicData uri="http://schemas.openxmlformats.org/drawingml/2006/table">
            <a:tbl>
              <a:tblPr/>
              <a:tblGrid>
                <a:gridCol w="4191000"/>
                <a:gridCol w="6858000"/>
              </a:tblGrid>
              <a:tr h="828675">
                <a:tc>
                  <a:txBody>
                    <a:bodyPr/>
                    <a:lstStyle/>
                    <a:p>
                      <a:r>
                        <a:rPr sz="1650" b="1">
                          <a:solidFill>
                            <a:srgbClr val="FFFFFF"/>
                          </a:solidFill>
                          <a:latin typeface="Arial"/>
                          <a:ea typeface="Arial"/>
                          <a:cs typeface="Arial"/>
                        </a:rPr>
                        <a:t>Function or method</a:t>
                      </a:r>
                    </a:p>
                  </a:txBody>
                  <a:tcPr marL="91440" marR="91440" marT="45720" marB="45720">
                    <a:solidFill>
                      <a:srgbClr val="152B45"/>
                    </a:solidFill>
                  </a:tcPr>
                </a:tc>
                <a:tc>
                  <a:txBody>
                    <a:bodyPr/>
                    <a:lstStyle/>
                    <a:p>
                      <a:r>
                        <a:rPr sz="1650" b="1">
                          <a:solidFill>
                            <a:srgbClr val="FFFFFF"/>
                          </a:solidFill>
                          <a:latin typeface="Arial"/>
                          <a:ea typeface="Arial"/>
                          <a:cs typeface="Arial"/>
                        </a:rPr>
                        <a:t>Responsibility</a:t>
                      </a:r>
                    </a:p>
                  </a:txBody>
                  <a:tcPr marL="91440" marR="91440" marT="45720" marB="45720">
                    <a:solidFill>
                      <a:srgbClr val="152B45"/>
                    </a:solidFill>
                  </a:tcPr>
                </a:tc>
              </a:tr>
              <a:tr h="828675">
                <a:tc>
                  <a:txBody>
                    <a:bodyPr/>
                    <a:lstStyle/>
                    <a:p>
                      <a:r>
                        <a:rPr sz="1650" b="0">
                          <a:solidFill>
                            <a:srgbClr val="24384D"/>
                          </a:solidFill>
                          <a:latin typeface="Arial"/>
                          <a:ea typeface="Arial"/>
                          <a:cs typeface="Arial"/>
                        </a:rPr>
                        <a:t>training.seed_everything</a:t>
                      </a:r>
                    </a:p>
                  </a:txBody>
                  <a:tcPr marL="91440" marR="91440" marT="45720" marB="45720">
                    <a:solidFill>
                      <a:srgbClr val="F0F4F7"/>
                    </a:solidFill>
                  </a:tcPr>
                </a:tc>
                <a:tc>
                  <a:txBody>
                    <a:bodyPr/>
                    <a:lstStyle/>
                    <a:p>
                      <a:r>
                        <a:rPr sz="1650" b="0">
                          <a:solidFill>
                            <a:srgbClr val="24384D"/>
                          </a:solidFill>
                          <a:latin typeface="Arial"/>
                          <a:ea typeface="Arial"/>
                          <a:cs typeface="Arial"/>
                        </a:rPr>
                        <a:t>Set Python, NumPy and PyTorch random seeds.</a:t>
                      </a:r>
                    </a:p>
                  </a:txBody>
                  <a:tcPr marL="91440" marR="91440" marT="45720" marB="45720">
                    <a:solidFill>
                      <a:srgbClr val="F0F4F7"/>
                    </a:solidFill>
                  </a:tcPr>
                </a:tc>
              </a:tr>
              <a:tr h="828675">
                <a:tc>
                  <a:txBody>
                    <a:bodyPr/>
                    <a:lstStyle/>
                    <a:p>
                      <a:r>
                        <a:rPr sz="1650" b="0">
                          <a:solidFill>
                            <a:srgbClr val="24384D"/>
                          </a:solidFill>
                          <a:latin typeface="Arial"/>
                          <a:ea typeface="Arial"/>
                          <a:cs typeface="Arial"/>
                        </a:rPr>
                        <a:t>training.fit</a:t>
                      </a:r>
                    </a:p>
                  </a:txBody>
                  <a:tcPr marL="91440" marR="91440" marT="45720" marB="45720">
                    <a:solidFill>
                      <a:srgbClr val="FFFFFF"/>
                    </a:solidFill>
                  </a:tcPr>
                </a:tc>
                <a:tc>
                  <a:txBody>
                    <a:bodyPr/>
                    <a:lstStyle/>
                    <a:p>
                      <a:r>
                        <a:rPr sz="1650" b="0">
                          <a:solidFill>
                            <a:srgbClr val="24384D"/>
                          </a:solidFill>
                          <a:latin typeface="Arial"/>
                          <a:ea typeface="Arial"/>
                          <a:cs typeface="Arial"/>
                        </a:rPr>
                        <a:t>Train, clip gradients, evaluate validation MSE and restore the best state.</a:t>
                      </a:r>
                    </a:p>
                  </a:txBody>
                  <a:tcPr marL="91440" marR="91440" marT="45720" marB="45720">
                    <a:solidFill>
                      <a:srgbClr val="FFFFFF"/>
                    </a:solidFill>
                  </a:tcPr>
                </a:tc>
              </a:tr>
              <a:tr h="828675">
                <a:tc>
                  <a:txBody>
                    <a:bodyPr/>
                    <a:lstStyle/>
                    <a:p>
                      <a:r>
                        <a:rPr sz="1650" b="0">
                          <a:solidFill>
                            <a:srgbClr val="24384D"/>
                          </a:solidFill>
                          <a:latin typeface="Arial"/>
                          <a:ea typeface="Arial"/>
                          <a:cs typeface="Arial"/>
                        </a:rPr>
                        <a:t>evaluation.predict</a:t>
                      </a:r>
                    </a:p>
                  </a:txBody>
                  <a:tcPr marL="91440" marR="91440" marT="45720" marB="45720">
                    <a:solidFill>
                      <a:srgbClr val="F0F4F7"/>
                    </a:solidFill>
                  </a:tcPr>
                </a:tc>
                <a:tc>
                  <a:txBody>
                    <a:bodyPr/>
                    <a:lstStyle/>
                    <a:p>
                      <a:r>
                        <a:rPr sz="1650" b="0">
                          <a:solidFill>
                            <a:srgbClr val="24384D"/>
                          </a:solidFill>
                          <a:latin typeface="Arial"/>
                          <a:ea typeface="Arial"/>
                          <a:cs typeface="Arial"/>
                        </a:rPr>
                        <a:t>Run batched inference and restore original state units.</a:t>
                      </a:r>
                    </a:p>
                  </a:txBody>
                  <a:tcPr marL="91440" marR="91440" marT="45720" marB="45720">
                    <a:solidFill>
                      <a:srgbClr val="F0F4F7"/>
                    </a:solidFill>
                  </a:tcPr>
                </a:tc>
              </a:tr>
              <a:tr h="828675">
                <a:tc>
                  <a:txBody>
                    <a:bodyPr/>
                    <a:lstStyle/>
                    <a:p>
                      <a:r>
                        <a:rPr sz="1650" b="0">
                          <a:solidFill>
                            <a:srgbClr val="24384D"/>
                          </a:solidFill>
                          <a:latin typeface="Arial"/>
                          <a:ea typeface="Arial"/>
                          <a:cs typeface="Arial"/>
                        </a:rPr>
                        <a:t>evaluation.evaluate</a:t>
                      </a:r>
                    </a:p>
                  </a:txBody>
                  <a:tcPr marL="91440" marR="91440" marT="45720" marB="45720">
                    <a:solidFill>
                      <a:srgbClr val="FFFFFF"/>
                    </a:solidFill>
                  </a:tcPr>
                </a:tc>
                <a:tc>
                  <a:txBody>
                    <a:bodyPr/>
                    <a:lstStyle/>
                    <a:p>
                      <a:r>
                        <a:rPr sz="1650" b="0">
                          <a:solidFill>
                            <a:srgbClr val="24384D"/>
                          </a:solidFill>
                          <a:latin typeface="Arial"/>
                          <a:ea typeface="Arial"/>
                          <a:cs typeface="Arial"/>
                        </a:rPr>
                        <a:t>Collect scalar metrics and diagnostic arrays for one model.</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94461228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C247A0-AC13-4F6C-8310-87402240BE25}"/>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15052898-D5C2-416A-B4EC-3C00FC92F4B8}"/>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Diagnostic evaluation functions</a:t>
            </a:r>
          </a:p>
        </p:txBody>
      </p:sp>
      <p:sp>
        <p:nvSpPr>
          <p:cNvPr id="3" name="">
            <a:extLst xmlns:a="http://schemas.openxmlformats.org/drawingml/2006/main">
              <a:ext uri="{FF2B5EF4-FFF2-40B4-BE49-F238E27FC236}">
                <a16:creationId xmlns:a16="http://schemas.microsoft.com/office/drawing/2014/main" id="{AE64E51A-3B29-41C1-B5E5-6164F1AF6ACA}"/>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41AB09AF-E867-4733-BB31-58E303BED69F}"/>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51</a:t>
            </a:r>
          </a:p>
        </p:txBody>
      </p:sp>
      <p:graphicFrame>
        <p:nvGraphicFramePr>
          <p:cNvPr id="5" name="">
            <a:extLst xmlns:a="http://schemas.openxmlformats.org/drawingml/2006/main">
              <a:ext uri="{FF2B5EF4-FFF2-40B4-BE49-F238E27FC236}">
                <a16:creationId xmlns:a16="http://schemas.microsoft.com/office/drawing/2014/main" id="{FECB56CC-826A-41C1-8EE9-F184C5CE1481}"/>
              </a:ext>
            </a:extLst>
          </p:cNvPr>
          <p:cNvGraphicFramePr/>
          <p:nvPr/>
        </p:nvGraphicFramePr>
        <p:xfrm>
          <a:off xmlns:a="http://schemas.openxmlformats.org/drawingml/2006/main" x="571500" y="1695450"/>
          <a:ext xmlns:a="http://schemas.openxmlformats.org/drawingml/2006/main" cx="11049000" cy="4143375"/>
        </p:xfrm>
        <a:graphic xmlns:a="http://schemas.openxmlformats.org/drawingml/2006/main">
          <a:graphicData uri="http://schemas.openxmlformats.org/drawingml/2006/table">
            <a:tbl>
              <a:tblPr/>
              <a:tblGrid>
                <a:gridCol w="4191000"/>
                <a:gridCol w="6858000"/>
              </a:tblGrid>
              <a:tr h="828675">
                <a:tc>
                  <a:txBody>
                    <a:bodyPr/>
                    <a:lstStyle/>
                    <a:p>
                      <a:r>
                        <a:rPr sz="1650" b="1">
                          <a:solidFill>
                            <a:srgbClr val="FFFFFF"/>
                          </a:solidFill>
                          <a:latin typeface="Arial"/>
                          <a:ea typeface="Arial"/>
                          <a:cs typeface="Arial"/>
                        </a:rPr>
                        <a:t>Function or method</a:t>
                      </a:r>
                    </a:p>
                  </a:txBody>
                  <a:tcPr marL="91440" marR="91440" marT="45720" marB="45720">
                    <a:solidFill>
                      <a:srgbClr val="152B45"/>
                    </a:solidFill>
                  </a:tcPr>
                </a:tc>
                <a:tc>
                  <a:txBody>
                    <a:bodyPr/>
                    <a:lstStyle/>
                    <a:p>
                      <a:r>
                        <a:rPr sz="1650" b="1">
                          <a:solidFill>
                            <a:srgbClr val="FFFFFF"/>
                          </a:solidFill>
                          <a:latin typeface="Arial"/>
                          <a:ea typeface="Arial"/>
                          <a:cs typeface="Arial"/>
                        </a:rPr>
                        <a:t>Responsibility</a:t>
                      </a:r>
                    </a:p>
                  </a:txBody>
                  <a:tcPr marL="91440" marR="91440" marT="45720" marB="45720">
                    <a:solidFill>
                      <a:srgbClr val="152B45"/>
                    </a:solidFill>
                  </a:tcPr>
                </a:tc>
              </a:tr>
              <a:tr h="828675">
                <a:tc>
                  <a:txBody>
                    <a:bodyPr/>
                    <a:lstStyle/>
                    <a:p>
                      <a:r>
                        <a:rPr sz="1650" b="0">
                          <a:solidFill>
                            <a:srgbClr val="24384D"/>
                          </a:solidFill>
                          <a:latin typeface="Arial"/>
                          <a:ea typeface="Arial"/>
                          <a:cs typeface="Arial"/>
                        </a:rPr>
                        <a:t>evaluation.switch_recovery</a:t>
                      </a:r>
                    </a:p>
                  </a:txBody>
                  <a:tcPr marL="91440" marR="91440" marT="45720" marB="45720">
                    <a:solidFill>
                      <a:srgbClr val="F0F4F7"/>
                    </a:solidFill>
                  </a:tcPr>
                </a:tc>
                <a:tc>
                  <a:txBody>
                    <a:bodyPr/>
                    <a:lstStyle/>
                    <a:p>
                      <a:r>
                        <a:rPr sz="1650" b="0">
                          <a:solidFill>
                            <a:srgbClr val="24384D"/>
                          </a:solidFill>
                          <a:latin typeface="Arial"/>
                          <a:ea typeface="Arial"/>
                          <a:cs typeface="Arial"/>
                        </a:rPr>
                        <a:t>Find qualifying low-error runs inside actual switch episodes.</a:t>
                      </a:r>
                    </a:p>
                  </a:txBody>
                  <a:tcPr marL="91440" marR="91440" marT="45720" marB="45720">
                    <a:solidFill>
                      <a:srgbClr val="F0F4F7"/>
                    </a:solidFill>
                  </a:tcPr>
                </a:tc>
              </a:tr>
              <a:tr h="828675">
                <a:tc>
                  <a:txBody>
                    <a:bodyPr/>
                    <a:lstStyle/>
                    <a:p>
                      <a:r>
                        <a:rPr sz="1650" b="0">
                          <a:solidFill>
                            <a:srgbClr val="24384D"/>
                          </a:solidFill>
                          <a:latin typeface="Arial"/>
                          <a:ea typeface="Arial"/>
                          <a:cs typeface="Arial"/>
                        </a:rPr>
                        <a:t>evaluation.event_aligned</a:t>
                      </a:r>
                    </a:p>
                  </a:txBody>
                  <a:tcPr marL="91440" marR="91440" marT="45720" marB="45720">
                    <a:solidFill>
                      <a:srgbClr val="FFFFFF"/>
                    </a:solidFill>
                  </a:tcPr>
                </a:tc>
                <a:tc>
                  <a:txBody>
                    <a:bodyPr/>
                    <a:lstStyle/>
                    <a:p>
                      <a:r>
                        <a:rPr sz="1650" b="0">
                          <a:solidFill>
                            <a:srgbClr val="24384D"/>
                          </a:solidFill>
                          <a:latin typeface="Arial"/>
                          <a:ea typeface="Arial"/>
                          <a:cs typeface="Arial"/>
                        </a:rPr>
                        <a:t>Average error by lag after switches and retain sample counts.</a:t>
                      </a:r>
                    </a:p>
                  </a:txBody>
                  <a:tcPr marL="91440" marR="91440" marT="45720" marB="45720">
                    <a:solidFill>
                      <a:srgbClr val="FFFFFF"/>
                    </a:solidFill>
                  </a:tcPr>
                </a:tc>
              </a:tr>
              <a:tr h="828675">
                <a:tc>
                  <a:txBody>
                    <a:bodyPr/>
                    <a:lstStyle/>
                    <a:p>
                      <a:r>
                        <a:rPr sz="1650" b="0">
                          <a:solidFill>
                            <a:srgbClr val="24384D"/>
                          </a:solidFill>
                          <a:latin typeface="Arial"/>
                          <a:ea typeface="Arial"/>
                          <a:cs typeface="Arial"/>
                        </a:rPr>
                        <a:t>evaluation.routing_statistics</a:t>
                      </a:r>
                    </a:p>
                  </a:txBody>
                  <a:tcPr marL="91440" marR="91440" marT="45720" marB="45720">
                    <a:solidFill>
                      <a:srgbClr val="F0F4F7"/>
                    </a:solidFill>
                  </a:tcPr>
                </a:tc>
                <a:tc>
                  <a:txBody>
                    <a:bodyPr/>
                    <a:lstStyle/>
                    <a:p>
                      <a:r>
                        <a:rPr sz="1650" b="0">
                          <a:solidFill>
                            <a:srgbClr val="24384D"/>
                          </a:solidFill>
                          <a:latin typeface="Arial"/>
                          <a:ea typeface="Arial"/>
                          <a:cs typeface="Arial"/>
                        </a:rPr>
                        <a:t>Fit validation route labels, score test agreement, tabulate utilization.</a:t>
                      </a:r>
                    </a:p>
                  </a:txBody>
                  <a:tcPr marL="91440" marR="91440" marT="45720" marB="45720">
                    <a:solidFill>
                      <a:srgbClr val="F0F4F7"/>
                    </a:solidFill>
                  </a:tcPr>
                </a:tc>
              </a:tr>
              <a:tr h="828675">
                <a:tc>
                  <a:txBody>
                    <a:bodyPr/>
                    <a:lstStyle/>
                    <a:p>
                      <a:r>
                        <a:rPr sz="1650" b="0">
                          <a:solidFill>
                            <a:srgbClr val="24384D"/>
                          </a:solidFill>
                          <a:latin typeface="Arial"/>
                          <a:ea typeface="Arial"/>
                          <a:cs typeface="Arial"/>
                        </a:rPr>
                        <a:t>evaluation.rollout</a:t>
                      </a:r>
                    </a:p>
                  </a:txBody>
                  <a:tcPr marL="91440" marR="91440" marT="45720" marB="45720">
                    <a:solidFill>
                      <a:srgbClr val="FFFFFF"/>
                    </a:solidFill>
                  </a:tcPr>
                </a:tc>
                <a:tc>
                  <a:txBody>
                    <a:bodyPr/>
                    <a:lstStyle/>
                    <a:p>
                      <a:r>
                        <a:rPr sz="1650" b="0">
                          <a:solidFill>
                            <a:srgbClr val="24384D"/>
                          </a:solidFill>
                          <a:latin typeface="Arial"/>
                          <a:ea typeface="Arial"/>
                          <a:cs typeface="Arial"/>
                        </a:rPr>
                        <a:t>Feed predictions back into history for recursive forecasts.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46888320"/>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C4BA2F-BED0-46CF-8AEF-16C3B93378B0}"/>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F4CF423C-78A2-4577-B2BC-138294BC4CF8}"/>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Experiment orchestration and plotting</a:t>
            </a:r>
          </a:p>
        </p:txBody>
      </p:sp>
      <p:sp>
        <p:nvSpPr>
          <p:cNvPr id="3" name="">
            <a:extLst xmlns:a="http://schemas.openxmlformats.org/drawingml/2006/main">
              <a:ext uri="{FF2B5EF4-FFF2-40B4-BE49-F238E27FC236}">
                <a16:creationId xmlns:a16="http://schemas.microsoft.com/office/drawing/2014/main" id="{126BE095-87CF-4223-9BF4-397432B771AD}"/>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E41CC68A-5CC6-4451-A595-A37CD01073B7}"/>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52</a:t>
            </a:r>
          </a:p>
        </p:txBody>
      </p:sp>
      <p:graphicFrame>
        <p:nvGraphicFramePr>
          <p:cNvPr id="5" name="">
            <a:extLst xmlns:a="http://schemas.openxmlformats.org/drawingml/2006/main">
              <a:ext uri="{FF2B5EF4-FFF2-40B4-BE49-F238E27FC236}">
                <a16:creationId xmlns:a16="http://schemas.microsoft.com/office/drawing/2014/main" id="{BF56E733-691B-4BB1-9453-B68FEA1AE5FA}"/>
              </a:ext>
            </a:extLst>
          </p:cNvPr>
          <p:cNvGraphicFramePr/>
          <p:nvPr/>
        </p:nvGraphicFramePr>
        <p:xfrm>
          <a:off xmlns:a="http://schemas.openxmlformats.org/drawingml/2006/main" x="571500" y="1695450"/>
          <a:ext xmlns:a="http://schemas.openxmlformats.org/drawingml/2006/main" cx="11049000" cy="4143375"/>
        </p:xfrm>
        <a:graphic xmlns:a="http://schemas.openxmlformats.org/drawingml/2006/main">
          <a:graphicData uri="http://schemas.openxmlformats.org/drawingml/2006/table">
            <a:tbl>
              <a:tblPr/>
              <a:tblGrid>
                <a:gridCol w="4191000"/>
                <a:gridCol w="6858000"/>
              </a:tblGrid>
              <a:tr h="591911">
                <a:tc>
                  <a:txBody>
                    <a:bodyPr/>
                    <a:lstStyle/>
                    <a:p>
                      <a:r>
                        <a:rPr sz="1650" b="1">
                          <a:solidFill>
                            <a:srgbClr val="FFFFFF"/>
                          </a:solidFill>
                          <a:latin typeface="Arial"/>
                          <a:ea typeface="Arial"/>
                          <a:cs typeface="Arial"/>
                        </a:rPr>
                        <a:t>Function or method</a:t>
                      </a:r>
                    </a:p>
                  </a:txBody>
                  <a:tcPr marL="91440" marR="91440" marT="45720" marB="45720">
                    <a:solidFill>
                      <a:srgbClr val="152B45"/>
                    </a:solidFill>
                  </a:tcPr>
                </a:tc>
                <a:tc>
                  <a:txBody>
                    <a:bodyPr/>
                    <a:lstStyle/>
                    <a:p>
                      <a:r>
                        <a:rPr sz="1650" b="1">
                          <a:solidFill>
                            <a:srgbClr val="FFFFFF"/>
                          </a:solidFill>
                          <a:latin typeface="Arial"/>
                          <a:ea typeface="Arial"/>
                          <a:cs typeface="Arial"/>
                        </a:rPr>
                        <a:t>Responsibility</a:t>
                      </a:r>
                    </a:p>
                  </a:txBody>
                  <a:tcPr marL="91440" marR="91440" marT="45720" marB="45720">
                    <a:solidFill>
                      <a:srgbClr val="152B45"/>
                    </a:solidFill>
                  </a:tcPr>
                </a:tc>
              </a:tr>
              <a:tr h="591911">
                <a:tc>
                  <a:txBody>
                    <a:bodyPr/>
                    <a:lstStyle/>
                    <a:p>
                      <a:r>
                        <a:rPr sz="1650" b="0">
                          <a:solidFill>
                            <a:srgbClr val="24384D"/>
                          </a:solidFill>
                          <a:latin typeface="Arial"/>
                          <a:ea typeface="Arial"/>
                          <a:cs typeface="Arial"/>
                        </a:rPr>
                        <a:t>experiment.run_models</a:t>
                      </a:r>
                    </a:p>
                  </a:txBody>
                  <a:tcPr marL="91440" marR="91440" marT="45720" marB="45720">
                    <a:solidFill>
                      <a:srgbClr val="F0F4F7"/>
                    </a:solidFill>
                  </a:tcPr>
                </a:tc>
                <a:tc>
                  <a:txBody>
                    <a:bodyPr/>
                    <a:lstStyle/>
                    <a:p>
                      <a:r>
                        <a:rPr sz="1650" b="0">
                          <a:solidFill>
                            <a:srgbClr val="24384D"/>
                          </a:solidFill>
                          <a:latin typeface="Arial"/>
                          <a:ea typeface="Arial"/>
                          <a:cs typeface="Arial"/>
                        </a:rPr>
                        <a:t>Run each family/seed and save configuration, manifest and outputs.</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experiment.source_hashes</a:t>
                      </a:r>
                    </a:p>
                  </a:txBody>
                  <a:tcPr marL="91440" marR="91440" marT="45720" marB="45720">
                    <a:solidFill>
                      <a:srgbClr val="FFFFFF"/>
                    </a:solidFill>
                  </a:tcPr>
                </a:tc>
                <a:tc>
                  <a:txBody>
                    <a:bodyPr/>
                    <a:lstStyle/>
                    <a:p>
                      <a:r>
                        <a:rPr sz="1650" b="0">
                          <a:solidFill>
                            <a:srgbClr val="24384D"/>
                          </a:solidFill>
                          <a:latin typeface="Arial"/>
                          <a:ea typeface="Arial"/>
                          <a:cs typeface="Arial"/>
                        </a:rPr>
                        <a:t>Compute SHA-256 for package source files.</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experiment.load_metrics</a:t>
                      </a:r>
                    </a:p>
                  </a:txBody>
                  <a:tcPr marL="91440" marR="91440" marT="45720" marB="45720">
                    <a:solidFill>
                      <a:srgbClr val="F0F4F7"/>
                    </a:solidFill>
                  </a:tcPr>
                </a:tc>
                <a:tc>
                  <a:txBody>
                    <a:bodyPr/>
                    <a:lstStyle/>
                    <a:p>
                      <a:r>
                        <a:rPr sz="1650" b="0">
                          <a:solidFill>
                            <a:srgbClr val="24384D"/>
                          </a:solidFill>
                          <a:latin typeface="Arial"/>
                          <a:ea typeface="Arial"/>
                          <a:cs typeface="Arial"/>
                        </a:rPr>
                        <a:t>Collect available per-model JSON records.</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experiment.load_diagnostics</a:t>
                      </a:r>
                    </a:p>
                  </a:txBody>
                  <a:tcPr marL="91440" marR="91440" marT="45720" marB="45720">
                    <a:solidFill>
                      <a:srgbClr val="FFFFFF"/>
                    </a:solidFill>
                  </a:tcPr>
                </a:tc>
                <a:tc>
                  <a:txBody>
                    <a:bodyPr/>
                    <a:lstStyle/>
                    <a:p>
                      <a:r>
                        <a:rPr sz="1650" b="0">
                          <a:solidFill>
                            <a:srgbClr val="24384D"/>
                          </a:solidFill>
                          <a:latin typeface="Arial"/>
                          <a:ea typeface="Arial"/>
                          <a:cs typeface="Arial"/>
                        </a:rPr>
                        <a:t>Load NPZ diagnostic arrays.</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experiment.load_checkpoint</a:t>
                      </a:r>
                    </a:p>
                  </a:txBody>
                  <a:tcPr marL="91440" marR="91440" marT="45720" marB="45720">
                    <a:solidFill>
                      <a:srgbClr val="F0F4F7"/>
                    </a:solidFill>
                  </a:tcPr>
                </a:tc>
                <a:tc>
                  <a:txBody>
                    <a:bodyPr/>
                    <a:lstStyle/>
                    <a:p>
                      <a:r>
                        <a:rPr sz="1650" b="0">
                          <a:solidFill>
                            <a:srgbClr val="24384D"/>
                          </a:solidFill>
                          <a:latin typeface="Arial"/>
                          <a:ea typeface="Arial"/>
                          <a:cs typeface="Arial"/>
                        </a:rPr>
                        <a:t>Reconstruct a model and its stored normalization.</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plotting.style / save_figure</a:t>
                      </a:r>
                    </a:p>
                  </a:txBody>
                  <a:tcPr marL="91440" marR="91440" marT="45720" marB="45720">
                    <a:solidFill>
                      <a:srgbClr val="FFFFFF"/>
                    </a:solidFill>
                  </a:tcPr>
                </a:tc>
                <a:tc>
                  <a:txBody>
                    <a:bodyPr/>
                    <a:lstStyle/>
                    <a:p>
                      <a:r>
                        <a:rPr sz="1650" b="0">
                          <a:solidFill>
                            <a:srgbClr val="24384D"/>
                          </a:solidFill>
                          <a:latin typeface="Arial"/>
                          <a:ea typeface="Arial"/>
                          <a:cs typeface="Arial"/>
                        </a:rPr>
                        <a:t>Apply plot styling and write figures to the run directory.</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806307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21721E-7BE6-4DF7-8790-167D6B2199F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03FE60CF-C92D-4A22-A45A-CCFFEFBCF50C}"/>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Scripts, tests and reproducibility</a:t>
            </a:r>
          </a:p>
        </p:txBody>
      </p:sp>
      <p:sp>
        <p:nvSpPr>
          <p:cNvPr id="3" name="">
            <a:extLst xmlns:a="http://schemas.openxmlformats.org/drawingml/2006/main">
              <a:ext uri="{FF2B5EF4-FFF2-40B4-BE49-F238E27FC236}">
                <a16:creationId xmlns:a16="http://schemas.microsoft.com/office/drawing/2014/main" id="{1638592C-68C2-47CB-AA01-711542975E60}"/>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9703C8D3-013F-4B7A-B087-622667F67422}"/>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53</a:t>
            </a:r>
          </a:p>
        </p:txBody>
      </p:sp>
      <p:graphicFrame>
        <p:nvGraphicFramePr>
          <p:cNvPr id="5" name="">
            <a:extLst xmlns:a="http://schemas.openxmlformats.org/drawingml/2006/main">
              <a:ext uri="{FF2B5EF4-FFF2-40B4-BE49-F238E27FC236}">
                <a16:creationId xmlns:a16="http://schemas.microsoft.com/office/drawing/2014/main" id="{63EFE9B2-BB65-42CF-B6F4-11F5A8FE1451}"/>
              </a:ext>
            </a:extLst>
          </p:cNvPr>
          <p:cNvGraphicFramePr/>
          <p:nvPr/>
        </p:nvGraphicFramePr>
        <p:xfrm>
          <a:off xmlns:a="http://schemas.openxmlformats.org/drawingml/2006/main" x="571500" y="1695450"/>
          <a:ext xmlns:a="http://schemas.openxmlformats.org/drawingml/2006/main" cx="11049000" cy="4143375"/>
        </p:xfrm>
        <a:graphic xmlns:a="http://schemas.openxmlformats.org/drawingml/2006/main">
          <a:graphicData uri="http://schemas.openxmlformats.org/drawingml/2006/table">
            <a:tbl>
              <a:tblPr/>
              <a:tblGrid>
                <a:gridCol w="4191000"/>
                <a:gridCol w="6858000"/>
              </a:tblGrid>
              <a:tr h="591911">
                <a:tc>
                  <a:txBody>
                    <a:bodyPr/>
                    <a:lstStyle/>
                    <a:p>
                      <a:r>
                        <a:rPr sz="1650" b="1">
                          <a:solidFill>
                            <a:srgbClr val="FFFFFF"/>
                          </a:solidFill>
                          <a:latin typeface="Arial"/>
                          <a:ea typeface="Arial"/>
                          <a:cs typeface="Arial"/>
                        </a:rPr>
                        <a:t>Function or method</a:t>
                      </a:r>
                    </a:p>
                  </a:txBody>
                  <a:tcPr marL="91440" marR="91440" marT="45720" marB="45720">
                    <a:solidFill>
                      <a:srgbClr val="152B45"/>
                    </a:solidFill>
                  </a:tcPr>
                </a:tc>
                <a:tc>
                  <a:txBody>
                    <a:bodyPr/>
                    <a:lstStyle/>
                    <a:p>
                      <a:r>
                        <a:rPr sz="1650" b="1">
                          <a:solidFill>
                            <a:srgbClr val="FFFFFF"/>
                          </a:solidFill>
                          <a:latin typeface="Arial"/>
                          <a:ea typeface="Arial"/>
                          <a:cs typeface="Arial"/>
                        </a:rPr>
                        <a:t>Responsibility</a:t>
                      </a:r>
                    </a:p>
                  </a:txBody>
                  <a:tcPr marL="91440" marR="91440" marT="45720" marB="45720">
                    <a:solidFill>
                      <a:srgbClr val="152B45"/>
                    </a:solidFill>
                  </a:tcPr>
                </a:tc>
              </a:tr>
              <a:tr h="591911">
                <a:tc>
                  <a:txBody>
                    <a:bodyPr/>
                    <a:lstStyle/>
                    <a:p>
                      <a:r>
                        <a:rPr sz="1650" b="0">
                          <a:solidFill>
                            <a:srgbClr val="24384D"/>
                          </a:solidFill>
                          <a:latin typeface="Arial"/>
                          <a:ea typeface="Arial"/>
                          <a:cs typeface="Arial"/>
                        </a:rPr>
                        <a:t>scripts/build_notebooks.py</a:t>
                      </a:r>
                    </a:p>
                  </a:txBody>
                  <a:tcPr marL="91440" marR="91440" marT="45720" marB="45720">
                    <a:solidFill>
                      <a:srgbClr val="F0F4F7"/>
                    </a:solidFill>
                  </a:tcPr>
                </a:tc>
                <a:tc>
                  <a:txBody>
                    <a:bodyPr/>
                    <a:lstStyle/>
                    <a:p>
                      <a:r>
                        <a:rPr sz="1650" b="0">
                          <a:solidFill>
                            <a:srgbClr val="24384D"/>
                          </a:solidFill>
                          <a:latin typeface="Arial"/>
                          <a:ea typeface="Arial"/>
                          <a:cs typeface="Arial"/>
                        </a:rPr>
                        <a:t>Generate the eight numbered notebook documents.</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scripts/execute_notebooks.py</a:t>
                      </a:r>
                    </a:p>
                  </a:txBody>
                  <a:tcPr marL="91440" marR="91440" marT="45720" marB="45720">
                    <a:solidFill>
                      <a:srgbClr val="FFFFFF"/>
                    </a:solidFill>
                  </a:tcPr>
                </a:tc>
                <a:tc>
                  <a:txBody>
                    <a:bodyPr/>
                    <a:lstStyle/>
                    <a:p>
                      <a:r>
                        <a:rPr sz="1650" b="0">
                          <a:solidFill>
                            <a:srgbClr val="24384D"/>
                          </a:solidFill>
                          <a:latin typeface="Arial"/>
                          <a:ea typeface="Arial"/>
                          <a:cs typeface="Arial"/>
                        </a:rPr>
                        <a:t>Execute the notebook workflow for a chosen preset.</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scripts/run_experiment.py</a:t>
                      </a:r>
                    </a:p>
                  </a:txBody>
                  <a:tcPr marL="91440" marR="91440" marT="45720" marB="45720">
                    <a:solidFill>
                      <a:srgbClr val="F0F4F7"/>
                    </a:solidFill>
                  </a:tcPr>
                </a:tc>
                <a:tc>
                  <a:txBody>
                    <a:bodyPr/>
                    <a:lstStyle/>
                    <a:p>
                      <a:r>
                        <a:rPr sz="1650" b="0">
                          <a:solidFill>
                            <a:srgbClr val="24384D"/>
                          </a:solidFill>
                          <a:latin typeface="Arial"/>
                          <a:ea typeface="Arial"/>
                          <a:cs typeface="Arial"/>
                        </a:rPr>
                        <a:t>Run model training from the command line.</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scripts/summarize_results.py</a:t>
                      </a:r>
                    </a:p>
                  </a:txBody>
                  <a:tcPr marL="91440" marR="91440" marT="45720" marB="45720">
                    <a:solidFill>
                      <a:srgbClr val="FFFFFF"/>
                    </a:solidFill>
                  </a:tcPr>
                </a:tc>
                <a:tc>
                  <a:txBody>
                    <a:bodyPr/>
                    <a:lstStyle/>
                    <a:p>
                      <a:r>
                        <a:rPr sz="1650" b="0">
                          <a:solidFill>
                            <a:srgbClr val="24384D"/>
                          </a:solidFill>
                          <a:latin typeface="Arial"/>
                          <a:ea typeface="Arial"/>
                          <a:cs typeface="Arial"/>
                        </a:rPr>
                        <a:t>Recompute and write the experiment summary log.</a:t>
                      </a:r>
                    </a:p>
                  </a:txBody>
                  <a:tcPr marL="91440" marR="91440" marT="45720" marB="45720">
                    <a:solidFill>
                      <a:srgbClr val="FFFFFF"/>
                    </a:solidFill>
                  </a:tcPr>
                </a:tc>
              </a:tr>
              <a:tr h="591911">
                <a:tc>
                  <a:txBody>
                    <a:bodyPr/>
                    <a:lstStyle/>
                    <a:p>
                      <a:r>
                        <a:rPr sz="1650" b="0">
                          <a:solidFill>
                            <a:srgbClr val="24384D"/>
                          </a:solidFill>
                          <a:latin typeface="Arial"/>
                          <a:ea typeface="Arial"/>
                          <a:cs typeface="Arial"/>
                        </a:rPr>
                        <a:t>scripts/start_jupyter.ps1</a:t>
                      </a:r>
                    </a:p>
                  </a:txBody>
                  <a:tcPr marL="91440" marR="91440" marT="45720" marB="45720">
                    <a:solidFill>
                      <a:srgbClr val="F0F4F7"/>
                    </a:solidFill>
                  </a:tcPr>
                </a:tc>
                <a:tc>
                  <a:txBody>
                    <a:bodyPr/>
                    <a:lstStyle/>
                    <a:p>
                      <a:r>
                        <a:rPr sz="1650" b="0">
                          <a:solidFill>
                            <a:srgbClr val="24384D"/>
                          </a:solidFill>
                          <a:latin typeface="Arial"/>
                          <a:ea typeface="Arial"/>
                          <a:cs typeface="Arial"/>
                        </a:rPr>
                        <a:t>Start a project-local Jupyter session.</a:t>
                      </a:r>
                    </a:p>
                  </a:txBody>
                  <a:tcPr marL="91440" marR="91440" marT="45720" marB="45720">
                    <a:solidFill>
                      <a:srgbClr val="F0F4F7"/>
                    </a:solidFill>
                  </a:tcPr>
                </a:tc>
              </a:tr>
              <a:tr h="591911">
                <a:tc>
                  <a:txBody>
                    <a:bodyPr/>
                    <a:lstStyle/>
                    <a:p>
                      <a:r>
                        <a:rPr sz="1650" b="0">
                          <a:solidFill>
                            <a:srgbClr val="24384D"/>
                          </a:solidFill>
                          <a:latin typeface="Arial"/>
                          <a:ea typeface="Arial"/>
                          <a:cs typeface="Arial"/>
                        </a:rPr>
                        <a:t>tests</a:t>
                      </a:r>
                    </a:p>
                  </a:txBody>
                  <a:tcPr marL="91440" marR="91440" marT="45720" marB="45720">
                    <a:solidFill>
                      <a:srgbClr val="FFFFFF"/>
                    </a:solidFill>
                  </a:tcPr>
                </a:tc>
                <a:tc>
                  <a:txBody>
                    <a:bodyPr/>
                    <a:lstStyle/>
                    <a:p>
                      <a:r>
                        <a:rPr sz="1650" b="0">
                          <a:solidFill>
                            <a:srgbClr val="24384D"/>
                          </a:solidFill>
                          <a:latin typeface="Arial"/>
                          <a:ea typeface="Arial"/>
                          <a:cs typeface="Arial"/>
                        </a:rPr>
                        <a:t>Check dynamics, leakage boundaries, routing and evaluation behavior.</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52898068"/>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335378-6105-43E3-B5CE-DB5B8528187D}"/>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FUNCTION REFERENCE</a:t>
            </a:r>
          </a:p>
        </p:txBody>
      </p:sp>
      <p:sp>
        <p:nvSpPr>
          <p:cNvPr id="2" name="">
            <a:extLst xmlns:a="http://schemas.openxmlformats.org/drawingml/2006/main">
              <a:ext uri="{FF2B5EF4-FFF2-40B4-BE49-F238E27FC236}">
                <a16:creationId xmlns:a16="http://schemas.microsoft.com/office/drawing/2014/main" id="{887F40E4-FFC0-4FAB-9679-844FC8231886}"/>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Attention implementation reference</a:t>
            </a:r>
          </a:p>
        </p:txBody>
      </p:sp>
      <p:sp>
        <p:nvSpPr>
          <p:cNvPr id="3" name="">
            <a:extLst xmlns:a="http://schemas.openxmlformats.org/drawingml/2006/main">
              <a:ext uri="{FF2B5EF4-FFF2-40B4-BE49-F238E27FC236}">
                <a16:creationId xmlns:a16="http://schemas.microsoft.com/office/drawing/2014/main" id="{1402843A-0E5F-49BF-94C2-DD8AA16860A7}"/>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41DD32E1-990F-42F3-BF73-3018F1BD9408}"/>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54</a:t>
            </a:r>
          </a:p>
        </p:txBody>
      </p:sp>
      <p:graphicFrame>
        <p:nvGraphicFramePr>
          <p:cNvPr id="5" name="">
            <a:extLst xmlns:a="http://schemas.openxmlformats.org/drawingml/2006/main">
              <a:ext uri="{FF2B5EF4-FFF2-40B4-BE49-F238E27FC236}">
                <a16:creationId xmlns:a16="http://schemas.microsoft.com/office/drawing/2014/main" id="{5B773BFE-D888-47E3-88D5-1BA3C7096352}"/>
              </a:ext>
            </a:extLst>
          </p:cNvPr>
          <p:cNvGraphicFramePr/>
          <p:nvPr/>
        </p:nvGraphicFramePr>
        <p:xfrm>
          <a:off xmlns:a="http://schemas.openxmlformats.org/drawingml/2006/main" x="571500" y="1762125"/>
          <a:ext xmlns:a="http://schemas.openxmlformats.org/drawingml/2006/main" cx="11049000" cy="3905250"/>
        </p:xfrm>
        <a:graphic xmlns:a="http://schemas.openxmlformats.org/drawingml/2006/main">
          <a:graphicData uri="http://schemas.openxmlformats.org/drawingml/2006/table">
            <a:tbl>
              <a:tblPr/>
              <a:tblGrid>
                <a:gridCol w="4476750"/>
                <a:gridCol w="6572250"/>
              </a:tblGrid>
              <a:tr h="650875">
                <a:tc>
                  <a:txBody>
                    <a:bodyPr/>
                    <a:lstStyle/>
                    <a:p>
                      <a:r>
                        <a:rPr sz="1725" b="1">
                          <a:solidFill>
                            <a:srgbClr val="FFFFFF"/>
                          </a:solidFill>
                          <a:latin typeface="Arial"/>
                          <a:ea typeface="Arial"/>
                          <a:cs typeface="Arial"/>
                        </a:rPr>
                        <a:t>Function or class</a:t>
                      </a:r>
                    </a:p>
                  </a:txBody>
                  <a:tcPr marL="91440" marR="91440" marT="45720" marB="45720">
                    <a:solidFill>
                      <a:srgbClr val="152B45"/>
                    </a:solidFill>
                  </a:tcPr>
                </a:tc>
                <a:tc>
                  <a:txBody>
                    <a:bodyPr/>
                    <a:lstStyle/>
                    <a:p>
                      <a:r>
                        <a:rPr sz="1725" b="1">
                          <a:solidFill>
                            <a:srgbClr val="FFFFFF"/>
                          </a:solidFill>
                          <a:latin typeface="Arial"/>
                          <a:ea typeface="Arial"/>
                          <a:cs typeface="Arial"/>
                        </a:rPr>
                        <a:t>Responsibility</a:t>
                      </a:r>
                    </a:p>
                  </a:txBody>
                  <a:tcPr marL="91440" marR="91440" marT="45720" marB="45720">
                    <a:solidFill>
                      <a:srgbClr val="152B45"/>
                    </a:solidFill>
                  </a:tcPr>
                </a:tc>
              </a:tr>
              <a:tr h="650875">
                <a:tc>
                  <a:txBody>
                    <a:bodyPr/>
                    <a:lstStyle/>
                    <a:p>
                      <a:r>
                        <a:rPr sz="1725" b="0">
                          <a:solidFill>
                            <a:srgbClr val="24384D"/>
                          </a:solidFill>
                          <a:latin typeface="Arial"/>
                          <a:ea typeface="Arial"/>
                          <a:cs typeface="Arial"/>
                        </a:rPr>
                        <a:t>HeadAttention.gates / forward</a:t>
                      </a:r>
                    </a:p>
                  </a:txBody>
                  <a:tcPr marL="91440" marR="91440" marT="45720" marB="45720">
                    <a:solidFill>
                      <a:srgbClr val="F0F4F7"/>
                    </a:solidFill>
                  </a:tcPr>
                </a:tc>
                <a:tc>
                  <a:txBody>
                    <a:bodyPr/>
                    <a:lstStyle/>
                    <a:p>
                      <a:r>
                        <a:rPr sz="1725" b="0">
                          <a:solidFill>
                            <a:srgbClr val="24384D"/>
                          </a:solidFill>
                          <a:latin typeface="Arial"/>
                          <a:ea typeface="Arial"/>
                          <a:cs typeface="Arial"/>
                        </a:rPr>
                        <a:t>Token head weights, causal attention and output sum</a:t>
                      </a:r>
                    </a:p>
                  </a:txBody>
                  <a:tcPr marL="91440" marR="91440" marT="45720" marB="45720">
                    <a:solidFill>
                      <a:srgbClr val="F0F4F7"/>
                    </a:solidFill>
                  </a:tcPr>
                </a:tc>
              </a:tr>
              <a:tr h="650875">
                <a:tc>
                  <a:txBody>
                    <a:bodyPr/>
                    <a:lstStyle/>
                    <a:p>
                      <a:r>
                        <a:rPr sz="1725" b="0">
                          <a:solidFill>
                            <a:srgbClr val="24384D"/>
                          </a:solidFill>
                          <a:latin typeface="Arial"/>
                          <a:ea typeface="Arial"/>
                          <a:cs typeface="Arial"/>
                        </a:rPr>
                        <a:t>TokenFFN.forward</a:t>
                      </a:r>
                    </a:p>
                  </a:txBody>
                  <a:tcPr marL="91440" marR="91440" marT="45720" marB="45720">
                    <a:solidFill>
                      <a:srgbClr val="FFFFFF"/>
                    </a:solidFill>
                  </a:tcPr>
                </a:tc>
                <a:tc>
                  <a:txBody>
                    <a:bodyPr/>
                    <a:lstStyle/>
                    <a:p>
                      <a:r>
                        <a:rPr sz="1725" b="0">
                          <a:solidFill>
                            <a:srgbClr val="24384D"/>
                          </a:solidFill>
                          <a:latin typeface="Arial"/>
                          <a:ea typeface="Arial"/>
                          <a:cs typeface="Arial"/>
                        </a:rPr>
                        <a:t>Dense FFN or selected expert-row dispatch</a:t>
                      </a:r>
                    </a:p>
                  </a:txBody>
                  <a:tcPr marL="91440" marR="91440" marT="45720" marB="45720">
                    <a:solidFill>
                      <a:srgbClr val="FFFFFF"/>
                    </a:solidFill>
                  </a:tcPr>
                </a:tc>
              </a:tr>
              <a:tr h="650875">
                <a:tc>
                  <a:txBody>
                    <a:bodyPr/>
                    <a:lstStyle/>
                    <a:p>
                      <a:r>
                        <a:rPr sz="1725" b="0">
                          <a:solidFill>
                            <a:srgbClr val="24384D"/>
                          </a:solidFill>
                          <a:latin typeface="Arial"/>
                          <a:ea typeface="Arial"/>
                          <a:cs typeface="Arial"/>
                        </a:rPr>
                        <a:t>TransformerBlock.forward</a:t>
                      </a:r>
                    </a:p>
                  </a:txBody>
                  <a:tcPr marL="91440" marR="91440" marT="45720" marB="45720">
                    <a:solidFill>
                      <a:srgbClr val="F0F4F7"/>
                    </a:solidFill>
                  </a:tcPr>
                </a:tc>
                <a:tc>
                  <a:txBody>
                    <a:bodyPr/>
                    <a:lstStyle/>
                    <a:p>
                      <a:r>
                        <a:rPr sz="1725" b="0">
                          <a:solidFill>
                            <a:srgbClr val="24384D"/>
                          </a:solidFill>
                          <a:latin typeface="Arial"/>
                          <a:ea typeface="Arial"/>
                          <a:cs typeface="Arial"/>
                        </a:rPr>
                        <a:t>Pre-norm attention and FFN residual updates</a:t>
                      </a:r>
                    </a:p>
                  </a:txBody>
                  <a:tcPr marL="91440" marR="91440" marT="45720" marB="45720">
                    <a:solidFill>
                      <a:srgbClr val="F0F4F7"/>
                    </a:solidFill>
                  </a:tcPr>
                </a:tc>
              </a:tr>
              <a:tr h="650875">
                <a:tc>
                  <a:txBody>
                    <a:bodyPr/>
                    <a:lstStyle/>
                    <a:p>
                      <a:r>
                        <a:rPr sz="1725" b="0">
                          <a:solidFill>
                            <a:srgbClr val="24384D"/>
                          </a:solidFill>
                          <a:latin typeface="Arial"/>
                          <a:ea typeface="Arial"/>
                          <a:cs typeface="Arial"/>
                        </a:rPr>
                        <a:t>AttentionPredictor</a:t>
                      </a:r>
                    </a:p>
                  </a:txBody>
                  <a:tcPr marL="91440" marR="91440" marT="45720" marB="45720">
                    <a:solidFill>
                      <a:srgbClr val="FFFFFF"/>
                    </a:solidFill>
                  </a:tcPr>
                </a:tc>
                <a:tc>
                  <a:txBody>
                    <a:bodyPr/>
                    <a:lstStyle/>
                    <a:p>
                      <a:r>
                        <a:rPr sz="1725" b="0">
                          <a:solidFill>
                            <a:srgbClr val="24384D"/>
                          </a:solidFill>
                          <a:latin typeface="Arial"/>
                          <a:ea typeface="Arial"/>
                          <a:cs typeface="Arial"/>
                        </a:rPr>
                        <a:t>Embedding, paired initialization, readout and capacity</a:t>
                      </a:r>
                    </a:p>
                  </a:txBody>
                  <a:tcPr marL="91440" marR="91440" marT="45720" marB="45720">
                    <a:solidFill>
                      <a:srgbClr val="FFFFFF"/>
                    </a:solidFill>
                  </a:tcPr>
                </a:tc>
              </a:tr>
              <a:tr h="650875">
                <a:tc>
                  <a:txBody>
                    <a:bodyPr/>
                    <a:lstStyle/>
                    <a:p>
                      <a:r>
                        <a:rPr sz="1725" b="0">
                          <a:solidFill>
                            <a:srgbClr val="24384D"/>
                          </a:solidFill>
                          <a:latin typeface="Arial"/>
                          <a:ea typeface="Arial"/>
                          <a:cs typeface="Arial"/>
                        </a:rPr>
                        <a:t>collect_attention / evaluate_attention</a:t>
                      </a:r>
                    </a:p>
                  </a:txBody>
                  <a:tcPr marL="91440" marR="91440" marT="45720" marB="45720">
                    <a:solidFill>
                      <a:srgbClr val="F0F4F7"/>
                    </a:solidFill>
                  </a:tcPr>
                </a:tc>
                <a:tc>
                  <a:txBody>
                    <a:bodyPr/>
                    <a:lstStyle/>
                    <a:p>
                      <a:r>
                        <a:rPr sz="1725" b="0">
                          <a:solidFill>
                            <a:srgbClr val="24384D"/>
                          </a:solidFill>
                          <a:latin typeface="Arial"/>
                          <a:ea typeface="Arial"/>
                          <a:cs typeface="Arial"/>
                        </a:rPr>
                        <a:t>Batched diagnostics and validation-mapped agreements</a:t>
                      </a:r>
                    </a:p>
                  </a:txBody>
                  <a:tcPr marL="91440" marR="91440" marT="45720" marB="45720">
                    <a:solidFill>
                      <a:srgbClr val="F0F4F7"/>
                    </a:solidFill>
                  </a:tcPr>
                </a:tc>
              </a:tr>
            </a:tbl>
          </a:graphicData>
        </a:graphic>
      </p:graphicFrame>
    </p:spTree>
    <p:extLst>
      <p:ext uri="{BB962C8B-B14F-4D97-AF65-F5344CB8AC3E}">
        <p14:creationId xmlns:p14="http://schemas.microsoft.com/office/powerpoint/2010/main" val="29571284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83CEB6F-137D-4847-9815-4926E1D31DAC}"/>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defRPr sz="1275" b="1">
                <a:solidFill>
                  <a:srgbClr val="B67818"/>
                </a:solidFill>
                <a:latin typeface="Arial"/>
                <a:ea typeface="Arial"/>
                <a:cs typeface="Arial"/>
              </a:defRPr>
            </a:pPr>
            <a:r>
              <a:rPr sz="1275" b="1">
                <a:solidFill>
                  <a:srgbClr val="B67818"/>
                </a:solidFill>
                <a:latin typeface="Arial"/>
                <a:ea typeface="Arial"/>
                <a:cs typeface="Arial"/>
              </a:rPr>
              <a:t>IMPLEMENTATION</a:t>
            </a:r>
          </a:p>
        </p:txBody>
      </p:sp>
      <p:sp>
        <p:nvSpPr>
          <p:cNvPr id="2" name="">
            <a:extLst xmlns:a="http://schemas.openxmlformats.org/drawingml/2006/main">
              <a:ext uri="{FF2B5EF4-FFF2-40B4-BE49-F238E27FC236}">
                <a16:creationId xmlns:a16="http://schemas.microsoft.com/office/drawing/2014/main" id="{CCD7A7EA-9368-47ED-A888-DB8F51F0E00C}"/>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defRPr sz="3150" b="1">
                <a:solidFill>
                  <a:srgbClr val="152B45"/>
                </a:solidFill>
                <a:latin typeface="Arial"/>
                <a:ea typeface="Arial"/>
                <a:cs typeface="Arial"/>
              </a:defRPr>
            </a:pPr>
            <a:r>
              <a:rPr sz="3150" b="1">
                <a:solidFill>
                  <a:srgbClr val="152B45"/>
                </a:solidFill>
                <a:latin typeface="Arial"/>
                <a:ea typeface="Arial"/>
                <a:cs typeface="Arial"/>
              </a:rPr>
              <a:t>Attention notebooks and reproducibility</a:t>
            </a:r>
          </a:p>
        </p:txBody>
      </p:sp>
      <p:sp>
        <p:nvSpPr>
          <p:cNvPr id="3" name="">
            <a:extLst xmlns:a="http://schemas.openxmlformats.org/drawingml/2006/main">
              <a:ext uri="{FF2B5EF4-FFF2-40B4-BE49-F238E27FC236}">
                <a16:creationId xmlns:a16="http://schemas.microsoft.com/office/drawing/2014/main" id="{82E6BF05-6839-4729-A9F8-7F7EB64ABF8D}"/>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9AA2C981-6857-4659-9A35-667366FD437A}"/>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defRPr sz="1275" b="0">
                <a:solidFill>
                  <a:srgbClr val="607083"/>
                </a:solidFill>
                <a:latin typeface="Arial"/>
                <a:ea typeface="Arial"/>
                <a:cs typeface="Arial"/>
              </a:defRPr>
            </a:pPr>
            <a:r>
              <a:rPr sz="1275" b="0">
                <a:solidFill>
                  <a:srgbClr val="607083"/>
                </a:solidFill>
                <a:latin typeface="Arial"/>
                <a:ea typeface="Arial"/>
                <a:cs typeface="Arial"/>
              </a:rPr>
              <a:t>55</a:t>
            </a:r>
          </a:p>
        </p:txBody>
      </p:sp>
      <p:graphicFrame>
        <p:nvGraphicFramePr>
          <p:cNvPr id="5" name="">
            <a:extLst xmlns:a="http://schemas.openxmlformats.org/drawingml/2006/main">
              <a:ext uri="{FF2B5EF4-FFF2-40B4-BE49-F238E27FC236}">
                <a16:creationId xmlns:a16="http://schemas.microsoft.com/office/drawing/2014/main" id="{1CD31359-BF18-4DF0-82A2-7DA428A3EC39}"/>
              </a:ext>
            </a:extLst>
          </p:cNvPr>
          <p:cNvGraphicFramePr/>
          <p:nvPr/>
        </p:nvGraphicFramePr>
        <p:xfrm>
          <a:off xmlns:a="http://schemas.openxmlformats.org/drawingml/2006/main" x="571500" y="1762125"/>
          <a:ext xmlns:a="http://schemas.openxmlformats.org/drawingml/2006/main" cx="11049000" cy="3905250"/>
        </p:xfrm>
        <a:graphic xmlns:a="http://schemas.openxmlformats.org/drawingml/2006/main">
          <a:graphicData uri="http://schemas.openxmlformats.org/drawingml/2006/table">
            <a:tbl>
              <a:tblPr/>
              <a:tblGrid>
                <a:gridCol w="4857750"/>
                <a:gridCol w="6191250"/>
              </a:tblGrid>
              <a:tr h="650875">
                <a:tc>
                  <a:txBody>
                    <a:bodyPr/>
                    <a:lstStyle/>
                    <a:p>
                      <a:r>
                        <a:rPr sz="1650" b="1">
                          <a:solidFill>
                            <a:srgbClr val="FFFFFF"/>
                          </a:solidFill>
                          <a:latin typeface="Arial"/>
                          <a:ea typeface="Arial"/>
                          <a:cs typeface="Arial"/>
                        </a:rPr>
                        <a:t>Entry point</a:t>
                      </a:r>
                    </a:p>
                  </a:txBody>
                  <a:tcPr marL="91440" marR="91440" marT="45720" marB="45720">
                    <a:solidFill>
                      <a:srgbClr val="152B45"/>
                    </a:solidFill>
                  </a:tcPr>
                </a:tc>
                <a:tc>
                  <a:txBody>
                    <a:bodyPr/>
                    <a:lstStyle/>
                    <a:p>
                      <a:r>
                        <a:rPr sz="1650" b="1">
                          <a:solidFill>
                            <a:srgbClr val="FFFFFF"/>
                          </a:solidFill>
                          <a:latin typeface="Arial"/>
                          <a:ea typeface="Arial"/>
                          <a:cs typeface="Arial"/>
                        </a:rPr>
                        <a:t>Workflow</a:t>
                      </a:r>
                    </a:p>
                  </a:txBody>
                  <a:tcPr marL="91440" marR="91440" marT="45720" marB="45720">
                    <a:solidFill>
                      <a:srgbClr val="152B45"/>
                    </a:solidFill>
                  </a:tcPr>
                </a:tc>
              </a:tr>
              <a:tr h="650875">
                <a:tc>
                  <a:txBody>
                    <a:bodyPr/>
                    <a:lstStyle/>
                    <a:p>
                      <a:r>
                        <a:rPr sz="1650" b="0">
                          <a:solidFill>
                            <a:srgbClr val="24384D"/>
                          </a:solidFill>
                          <a:latin typeface="Arial"/>
                          <a:ea typeface="Arial"/>
                          <a:cs typeface="Arial"/>
                        </a:rPr>
                        <a:t>08_train_attention_comparison</a:t>
                      </a:r>
                    </a:p>
                  </a:txBody>
                  <a:tcPr marL="91440" marR="91440" marT="45720" marB="45720">
                    <a:solidFill>
                      <a:srgbClr val="F0F4F7"/>
                    </a:solidFill>
                  </a:tcPr>
                </a:tc>
                <a:tc>
                  <a:txBody>
                    <a:bodyPr/>
                    <a:lstStyle/>
                    <a:p>
                      <a:r>
                        <a:rPr sz="1650" b="0">
                          <a:solidFill>
                            <a:srgbClr val="24384D"/>
                          </a:solidFill>
                          <a:latin typeface="Arial"/>
                          <a:ea typeface="Arial"/>
                          <a:cs typeface="Arial"/>
                        </a:rPr>
                        <a:t>Inspect architecture, train all families or reuse verified cache</a:t>
                      </a:r>
                    </a:p>
                  </a:txBody>
                  <a:tcPr marL="91440" marR="91440" marT="45720" marB="45720">
                    <a:solidFill>
                      <a:srgbClr val="F0F4F7"/>
                    </a:solidFill>
                  </a:tcPr>
                </a:tc>
              </a:tr>
              <a:tr h="650875">
                <a:tc>
                  <a:txBody>
                    <a:bodyPr/>
                    <a:lstStyle/>
                    <a:p>
                      <a:r>
                        <a:rPr sz="1650" b="0">
                          <a:solidFill>
                            <a:srgbClr val="24384D"/>
                          </a:solidFill>
                          <a:latin typeface="Arial"/>
                          <a:ea typeface="Arial"/>
                          <a:cs typeface="Arial"/>
                        </a:rPr>
                        <a:t>09_compare_attention_and_ffn</a:t>
                      </a:r>
                    </a:p>
                  </a:txBody>
                  <a:tcPr marL="91440" marR="91440" marT="45720" marB="45720">
                    <a:solidFill>
                      <a:srgbClr val="FFFFFF"/>
                    </a:solidFill>
                  </a:tcPr>
                </a:tc>
                <a:tc>
                  <a:txBody>
                    <a:bodyPr/>
                    <a:lstStyle/>
                    <a:p>
                      <a:r>
                        <a:rPr sz="1650" b="0">
                          <a:solidFill>
                            <a:srgbClr val="24384D"/>
                          </a:solidFill>
                          <a:latin typeface="Arial"/>
                          <a:ea typeface="Arial"/>
                          <a:cs typeface="Arial"/>
                        </a:rPr>
                        <a:t>Paired controls, switching behavior and rollouts</a:t>
                      </a:r>
                    </a:p>
                  </a:txBody>
                  <a:tcPr marL="91440" marR="91440" marT="45720" marB="45720">
                    <a:solidFill>
                      <a:srgbClr val="FFFFFF"/>
                    </a:solidFill>
                  </a:tcPr>
                </a:tc>
              </a:tr>
              <a:tr h="650875">
                <a:tc>
                  <a:txBody>
                    <a:bodyPr/>
                    <a:lstStyle/>
                    <a:p>
                      <a:r>
                        <a:rPr sz="1650" b="0">
                          <a:solidFill>
                            <a:srgbClr val="24384D"/>
                          </a:solidFill>
                          <a:latin typeface="Arial"/>
                          <a:ea typeface="Arial"/>
                          <a:cs typeface="Arial"/>
                        </a:rPr>
                        <a:t>10_inspect_attention_routing</a:t>
                      </a:r>
                    </a:p>
                  </a:txBody>
                  <a:tcPr marL="91440" marR="91440" marT="45720" marB="45720">
                    <a:solidFill>
                      <a:srgbClr val="F0F4F7"/>
                    </a:solidFill>
                  </a:tcPr>
                </a:tc>
                <a:tc>
                  <a:txBody>
                    <a:bodyPr/>
                    <a:lstStyle/>
                    <a:p>
                      <a:r>
                        <a:rPr sz="1650" b="0">
                          <a:solidFill>
                            <a:srgbClr val="24384D"/>
                          </a:solidFill>
                          <a:latin typeface="Arial"/>
                          <a:ea typeface="Arial"/>
                          <a:cs typeface="Arial"/>
                        </a:rPr>
                        <a:t>Head usage, temporal attention and regime diagnostics</a:t>
                      </a:r>
                    </a:p>
                  </a:txBody>
                  <a:tcPr marL="91440" marR="91440" marT="45720" marB="45720">
                    <a:solidFill>
                      <a:srgbClr val="F0F4F7"/>
                    </a:solidFill>
                  </a:tcPr>
                </a:tc>
              </a:tr>
              <a:tr h="650875">
                <a:tc>
                  <a:txBody>
                    <a:bodyPr/>
                    <a:lstStyle/>
                    <a:p>
                      <a:r>
                        <a:rPr sz="1650" b="0">
                          <a:solidFill>
                            <a:srgbClr val="24384D"/>
                          </a:solidFill>
                          <a:latin typeface="Arial"/>
                          <a:ea typeface="Arial"/>
                          <a:cs typeface="Arial"/>
                        </a:rPr>
                        <a:t>verify_provenance</a:t>
                      </a:r>
                    </a:p>
                  </a:txBody>
                  <a:tcPr marL="91440" marR="91440" marT="45720" marB="45720">
                    <a:solidFill>
                      <a:srgbClr val="FFFFFF"/>
                    </a:solidFill>
                  </a:tcPr>
                </a:tc>
                <a:tc>
                  <a:txBody>
                    <a:bodyPr/>
                    <a:lstStyle/>
                    <a:p>
                      <a:r>
                        <a:rPr sz="1650" b="0">
                          <a:solidFill>
                            <a:srgbClr val="24384D"/>
                          </a:solidFill>
                          <a:latin typeface="Arial"/>
                          <a:ea typeface="Arial"/>
                          <a:cs typeface="Arial"/>
                        </a:rPr>
                        <a:t>Reject incomplete or stale per-family source hashes</a:t>
                      </a:r>
                    </a:p>
                  </a:txBody>
                  <a:tcPr marL="91440" marR="91440" marT="45720" marB="45720">
                    <a:solidFill>
                      <a:srgbClr val="FFFFFF"/>
                    </a:solidFill>
                  </a:tcPr>
                </a:tc>
              </a:tr>
              <a:tr h="650875">
                <a:tc>
                  <a:txBody>
                    <a:bodyPr/>
                    <a:lstStyle/>
                    <a:p>
                      <a:r>
                        <a:rPr sz="1650" b="0">
                          <a:solidFill>
                            <a:srgbClr val="24384D"/>
                          </a:solidFill>
                          <a:latin typeface="Arial"/>
                          <a:ea typeface="Arial"/>
                          <a:cs typeface="Arial"/>
                        </a:rPr>
                        <a:t>verify_attention_run.py</a:t>
                      </a:r>
                    </a:p>
                  </a:txBody>
                  <a:tcPr marL="91440" marR="91440" marT="45720" marB="45720">
                    <a:solidFill>
                      <a:srgbClr val="F0F4F7"/>
                    </a:solidFill>
                  </a:tcPr>
                </a:tc>
                <a:tc>
                  <a:txBody>
                    <a:bodyPr/>
                    <a:lstStyle/>
                    <a:p>
                      <a:r>
                        <a:rPr sz="1650" b="0">
                          <a:solidFill>
                            <a:srgbClr val="24384D"/>
                          </a:solidFill>
                          <a:latin typeface="Arial"/>
                          <a:ea typeface="Arial"/>
                          <a:cs typeface="Arial"/>
                        </a:rPr>
                        <a:t>Reload checkpoints and reconcile predictions and epochs</a:t>
                      </a:r>
                    </a:p>
                  </a:txBody>
                  <a:tcPr marL="91440" marR="91440" marT="45720" marB="45720">
                    <a:solidFill>
                      <a:srgbClr val="F0F4F7"/>
                    </a:solidFill>
                  </a:tcPr>
                </a:tc>
              </a:tr>
            </a:tbl>
          </a:graphicData>
        </a:graphic>
      </p:graphicFrame>
    </p:spTree>
    <p:extLst>
      <p:ext uri="{BB962C8B-B14F-4D97-AF65-F5344CB8AC3E}">
        <p14:creationId xmlns:p14="http://schemas.microsoft.com/office/powerpoint/2010/main" val="1004416504"/>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0B929B3-6BB8-40FC-88E6-30BDE0B0F2DF}"/>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IMPLEMENTATION</a:t>
            </a:r>
          </a:p>
        </p:txBody>
      </p:sp>
      <p:sp>
        <p:nvSpPr>
          <p:cNvPr id="2" name="">
            <a:extLst xmlns:a="http://schemas.openxmlformats.org/drawingml/2006/main">
              <a:ext uri="{FF2B5EF4-FFF2-40B4-BE49-F238E27FC236}">
                <a16:creationId xmlns:a16="http://schemas.microsoft.com/office/drawing/2014/main" id="{83514CAC-A523-4E7B-BEA2-BA76F03A7AEB}"/>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Files and evidence trail</a:t>
            </a:r>
          </a:p>
        </p:txBody>
      </p:sp>
      <p:sp>
        <p:nvSpPr>
          <p:cNvPr id="3" name="">
            <a:extLst xmlns:a="http://schemas.openxmlformats.org/drawingml/2006/main">
              <a:ext uri="{FF2B5EF4-FFF2-40B4-BE49-F238E27FC236}">
                <a16:creationId xmlns:a16="http://schemas.microsoft.com/office/drawing/2014/main" id="{A51BF8A1-DD34-4BA5-9BC6-A51220CA082E}"/>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4FA7806A-97CD-4047-86F1-80141640220C}"/>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56</a:t>
            </a:r>
          </a:p>
        </p:txBody>
      </p:sp>
      <p:sp>
        <p:nvSpPr>
          <p:cNvPr id="5" name="">
            <a:extLst xmlns:a="http://schemas.openxmlformats.org/drawingml/2006/main">
              <a:ext uri="{FF2B5EF4-FFF2-40B4-BE49-F238E27FC236}">
                <a16:creationId xmlns:a16="http://schemas.microsoft.com/office/drawing/2014/main" id="{5B4692FD-C245-43F7-87F3-4020F79A69B2}"/>
              </a:ext>
            </a:extLst>
          </p:cNvPr>
          <p:cNvSpPr>
            <a:spLocks xmlns:a="http://schemas.openxmlformats.org/drawingml/2006/main" noGrp="1"/>
          </p:cNvSpPr>
          <p:nvPr/>
        </p:nvSpPr>
        <p:spPr>
          <a:xfrm xmlns:a="http://schemas.openxmlformats.org/drawingml/2006/main">
            <a:off x="571500" y="18097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Code, notebooks and results</a:t>
            </a:r>
          </a:p>
        </p:txBody>
      </p:sp>
      <p:sp>
        <p:nvSpPr>
          <p:cNvPr id="6" name="">
            <a:extLst xmlns:a="http://schemas.openxmlformats.org/drawingml/2006/main">
              <a:ext uri="{FF2B5EF4-FFF2-40B4-BE49-F238E27FC236}">
                <a16:creationId xmlns:a16="http://schemas.microsoft.com/office/drawing/2014/main" id="{1253B82C-7608-45FA-876C-EBCA715F01A2}"/>
              </a:ext>
            </a:extLst>
          </p:cNvPr>
          <p:cNvSpPr>
            <a:spLocks xmlns:a="http://schemas.openxmlformats.org/drawingml/2006/main" noGrp="1"/>
          </p:cNvSpPr>
          <p:nvPr/>
        </p:nvSpPr>
        <p:spPr>
          <a:xfrm xmlns:a="http://schemas.openxmlformats.org/drawingml/2006/main">
            <a:off x="571500" y="22098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D:/HarunoKen/Twilight_MoE_Dynamics</a:t>
            </a:r>
          </a:p>
        </p:txBody>
      </p:sp>
      <p:sp>
        <p:nvSpPr>
          <p:cNvPr id="7" name="">
            <a:extLst xmlns:a="http://schemas.openxmlformats.org/drawingml/2006/main">
              <a:ext uri="{FF2B5EF4-FFF2-40B4-BE49-F238E27FC236}">
                <a16:creationId xmlns:a16="http://schemas.microsoft.com/office/drawing/2014/main" id="{9BB46CDD-676D-4808-A693-7774D9D02528}"/>
              </a:ext>
            </a:extLst>
          </p:cNvPr>
          <p:cNvSpPr>
            <a:spLocks xmlns:a="http://schemas.openxmlformats.org/drawingml/2006/main" noGrp="1"/>
          </p:cNvSpPr>
          <p:nvPr/>
        </p:nvSpPr>
        <p:spPr>
          <a:xfrm xmlns:a="http://schemas.openxmlformats.org/drawingml/2006/main">
            <a:off x="571500" y="30956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Generated datasets</a:t>
            </a:r>
          </a:p>
        </p:txBody>
      </p:sp>
      <p:sp>
        <p:nvSpPr>
          <p:cNvPr id="8" name="">
            <a:extLst xmlns:a="http://schemas.openxmlformats.org/drawingml/2006/main">
              <a:ext uri="{FF2B5EF4-FFF2-40B4-BE49-F238E27FC236}">
                <a16:creationId xmlns:a16="http://schemas.microsoft.com/office/drawing/2014/main" id="{6D4A0F58-876F-4E74-8C67-7DCD7D39BBEB}"/>
              </a:ext>
            </a:extLst>
          </p:cNvPr>
          <p:cNvSpPr>
            <a:spLocks xmlns:a="http://schemas.openxmlformats.org/drawingml/2006/main" noGrp="1"/>
          </p:cNvSpPr>
          <p:nvPr/>
        </p:nvSpPr>
        <p:spPr>
          <a:xfrm xmlns:a="http://schemas.openxmlformats.org/drawingml/2006/main">
            <a:off x="571500" y="34956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E:/HarunoKen/Twilight_MoE_Dynamics</a:t>
            </a:r>
          </a:p>
        </p:txBody>
      </p:sp>
      <p:sp>
        <p:nvSpPr>
          <p:cNvPr id="9" name="">
            <a:extLst xmlns:a="http://schemas.openxmlformats.org/drawingml/2006/main">
              <a:ext uri="{FF2B5EF4-FFF2-40B4-BE49-F238E27FC236}">
                <a16:creationId xmlns:a16="http://schemas.microsoft.com/office/drawing/2014/main" id="{CB31CE72-8994-4E9B-B806-B32B56D44382}"/>
              </a:ext>
            </a:extLst>
          </p:cNvPr>
          <p:cNvSpPr>
            <a:spLocks xmlns:a="http://schemas.openxmlformats.org/drawingml/2006/main" noGrp="1"/>
          </p:cNvSpPr>
          <p:nvPr/>
        </p:nvSpPr>
        <p:spPr>
          <a:xfrm xmlns:a="http://schemas.openxmlformats.org/drawingml/2006/main">
            <a:off x="571500" y="43815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2B45"/>
                </a:solidFill>
                <a:latin typeface="Arial"/>
                <a:ea typeface="Arial"/>
                <a:cs typeface="Arial"/>
              </a:defRPr>
            </a:defPPr>
          </a:lstStyle>
          <a:p xmlns:a="http://schemas.openxmlformats.org/drawingml/2006/main">
            <a:pPr>
              <a:buNone/>
              <a:defRPr sz="2025" b="1">
                <a:solidFill>
                  <a:srgbClr val="152B45"/>
                </a:solidFill>
                <a:latin typeface="Arial"/>
                <a:ea typeface="Arial"/>
                <a:cs typeface="Arial"/>
              </a:defRPr>
            </a:pPr>
            <a:r>
              <a:rPr sz="2025" b="1">
                <a:solidFill>
                  <a:srgbClr val="152B45"/>
                </a:solidFill>
                <a:latin typeface="Arial"/>
                <a:ea typeface="Arial"/>
                <a:cs typeface="Arial"/>
              </a:rPr>
              <a:t>Full result set</a:t>
            </a:r>
          </a:p>
        </p:txBody>
      </p:sp>
      <p:sp>
        <p:nvSpPr>
          <p:cNvPr id="10" name="">
            <a:extLst xmlns:a="http://schemas.openxmlformats.org/drawingml/2006/main">
              <a:ext uri="{FF2B5EF4-FFF2-40B4-BE49-F238E27FC236}">
                <a16:creationId xmlns:a16="http://schemas.microsoft.com/office/drawing/2014/main" id="{B0C67B6C-10AF-4A26-A5C5-8F8FE06C9506}"/>
              </a:ext>
            </a:extLst>
          </p:cNvPr>
          <p:cNvSpPr>
            <a:spLocks xmlns:a="http://schemas.openxmlformats.org/drawingml/2006/main" noGrp="1"/>
          </p:cNvSpPr>
          <p:nvPr/>
        </p:nvSpPr>
        <p:spPr>
          <a:xfrm xmlns:a="http://schemas.openxmlformats.org/drawingml/2006/main">
            <a:off x="571500" y="47815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84D"/>
                </a:solidFill>
                <a:latin typeface="Arial"/>
                <a:ea typeface="Arial"/>
                <a:cs typeface="Arial"/>
              </a:defRPr>
            </a:defPPr>
          </a:lstStyle>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results/metrics/attention_comparison_v1_9e64af3e67c9</a:t>
            </a:r>
          </a:p>
          <a:p xmlns:a="http://schemas.openxmlformats.org/drawingml/2006/main">
            <a:pPr>
              <a:buNone/>
              <a:defRPr sz="1875" b="0">
                <a:solidFill>
                  <a:srgbClr val="24384D"/>
                </a:solidFill>
                <a:latin typeface="Arial"/>
                <a:ea typeface="Arial"/>
                <a:cs typeface="Arial"/>
              </a:defRPr>
            </a:pPr>
            <a:r>
              <a:rPr sz="1875" b="0">
                <a:solidFill>
                  <a:srgbClr val="24384D"/>
                </a:solidFill>
                <a:latin typeface="Arial"/>
                <a:ea typeface="Arial"/>
                <a:cs typeface="Arial"/>
              </a:rPr>
              <a:t>39 runs with matching source hashes and selected checkpoints.</a:t>
            </a:r>
          </a:p>
        </p:txBody>
      </p:sp>
    </p:spTree>
    <p:extLst>
      <p:ext uri="{BB962C8B-B14F-4D97-AF65-F5344CB8AC3E}">
        <p14:creationId xmlns:p14="http://schemas.microsoft.com/office/powerpoint/2010/main" val="390394779"/>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778AA0E-A2AC-4130-97F0-E785CA113497}"/>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7CE2EA67-67B6-4F62-A9B2-2682DB7D3EA4}"/>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References 1–3</a:t>
            </a:r>
          </a:p>
        </p:txBody>
      </p:sp>
      <p:sp>
        <p:nvSpPr>
          <p:cNvPr id="3" name="">
            <a:extLst xmlns:a="http://schemas.openxmlformats.org/drawingml/2006/main">
              <a:ext uri="{FF2B5EF4-FFF2-40B4-BE49-F238E27FC236}">
                <a16:creationId xmlns:a16="http://schemas.microsoft.com/office/drawing/2014/main" id="{3F3DF36B-46C4-413F-B746-A3306A5D6976}"/>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3FEB44A1-963F-4930-9A0B-89341E893711}"/>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57</a:t>
            </a:r>
          </a:p>
        </p:txBody>
      </p:sp>
      <p:sp>
        <p:nvSpPr>
          <p:cNvPr id="5" name="">
            <a:extLst xmlns:a="http://schemas.openxmlformats.org/drawingml/2006/main">
              <a:ext uri="{FF2B5EF4-FFF2-40B4-BE49-F238E27FC236}">
                <a16:creationId xmlns:a16="http://schemas.microsoft.com/office/drawing/2014/main" id="{201A624D-12EA-4F08-A176-7445EA6836E1}"/>
              </a:ext>
            </a:extLst>
          </p:cNvPr>
          <p:cNvSpPr>
            <a:spLocks xmlns:a="http://schemas.openxmlformats.org/drawingml/2006/main" noGrp="1"/>
          </p:cNvSpPr>
          <p:nvPr/>
        </p:nvSpPr>
        <p:spPr>
          <a:xfrm xmlns:a="http://schemas.openxmlformats.org/drawingml/2006/main">
            <a:off x="571500" y="173355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67818"/>
                </a:solidFill>
                <a:latin typeface="Arial"/>
                <a:ea typeface="Arial"/>
                <a:cs typeface="Arial"/>
              </a:defRPr>
            </a:defPPr>
          </a:lstStyle>
          <a:p xmlns:a="http://schemas.openxmlformats.org/drawingml/2006/main">
            <a:pPr>
              <a:buNone/>
              <a:defRPr sz="1800" b="1">
                <a:solidFill>
                  <a:srgbClr val="B67818"/>
                </a:solidFill>
                <a:latin typeface="Arial"/>
                <a:ea typeface="Arial"/>
                <a:cs typeface="Arial"/>
              </a:defRPr>
            </a:pPr>
            <a:r>
              <a:rPr sz="1800" b="1">
                <a:solidFill>
                  <a:srgbClr val="B67818"/>
                </a:solidFill>
                <a:latin typeface="Arial"/>
                <a:ea typeface="Arial"/>
                <a:cs typeface="Arial"/>
              </a:rPr>
              <a:t>Jacobs et al. (1991)</a:t>
            </a:r>
          </a:p>
        </p:txBody>
      </p:sp>
      <p:sp>
        <p:nvSpPr>
          <p:cNvPr id="6" name="">
            <a:extLst xmlns:a="http://schemas.openxmlformats.org/drawingml/2006/main">
              <a:ext uri="{FF2B5EF4-FFF2-40B4-BE49-F238E27FC236}">
                <a16:creationId xmlns:a16="http://schemas.microsoft.com/office/drawing/2014/main" id="{499C72DB-E66E-496D-844B-FED81CE795E5}"/>
              </a:ext>
            </a:extLst>
          </p:cNvPr>
          <p:cNvSpPr>
            <a:spLocks xmlns:a="http://schemas.openxmlformats.org/drawingml/2006/main" noGrp="1"/>
          </p:cNvSpPr>
          <p:nvPr/>
        </p:nvSpPr>
        <p:spPr>
          <a:xfrm xmlns:a="http://schemas.openxmlformats.org/drawingml/2006/main">
            <a:off x="9715500" y="17335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87E8B"/>
                </a:solidFill>
                <a:latin typeface="Arial"/>
                <a:ea typeface="Arial"/>
                <a:cs typeface="Arial"/>
              </a:defRPr>
            </a:defPPr>
          </a:lstStyle>
          <a:p xmlns:a="http://schemas.openxmlformats.org/drawingml/2006/main">
            <a:pPr>
              <a:buNone/>
              <a:defRPr sz="1575" b="0">
                <a:solidFill>
                  <a:srgbClr val="087E8B"/>
                </a:solidFill>
                <a:latin typeface="Arial"/>
                <a:ea typeface="Arial"/>
                <a:cs typeface="Arial"/>
              </a:defRPr>
            </a:pPr>
            <a:r>
              <a:rPr>
                <a:hlinkClick xmlns:r="http://schemas.openxmlformats.org/officeDocument/2006/relationships" r:id="Rafdfaa92fb434d2a"/>
              </a:rPr>
              <a:t>Read paper</a:t>
            </a:r>
          </a:p>
        </p:txBody>
      </p:sp>
      <p:sp>
        <p:nvSpPr>
          <p:cNvPr id="7" name="">
            <a:extLst xmlns:a="http://schemas.openxmlformats.org/drawingml/2006/main">
              <a:ext uri="{FF2B5EF4-FFF2-40B4-BE49-F238E27FC236}">
                <a16:creationId xmlns:a16="http://schemas.microsoft.com/office/drawing/2014/main" id="{99AF87FA-C23D-4547-B29B-CE87DDF8B302}"/>
              </a:ext>
            </a:extLst>
          </p:cNvPr>
          <p:cNvSpPr>
            <a:spLocks xmlns:a="http://schemas.openxmlformats.org/drawingml/2006/main" noGrp="1"/>
          </p:cNvSpPr>
          <p:nvPr/>
        </p:nvSpPr>
        <p:spPr>
          <a:xfrm xmlns:a="http://schemas.openxmlformats.org/drawingml/2006/main">
            <a:off x="571500" y="2124075"/>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B45"/>
                </a:solidFill>
                <a:latin typeface="Arial"/>
                <a:ea typeface="Arial"/>
                <a:cs typeface="Arial"/>
              </a:defRPr>
            </a:defPPr>
          </a:lstStyle>
          <a:p xmlns:a="http://schemas.openxmlformats.org/drawingml/2006/main">
            <a:pPr>
              <a:buNone/>
              <a:defRPr sz="1950" b="0">
                <a:solidFill>
                  <a:srgbClr val="152B45"/>
                </a:solidFill>
                <a:latin typeface="Arial"/>
                <a:ea typeface="Arial"/>
                <a:cs typeface="Arial"/>
              </a:defRPr>
            </a:pPr>
            <a:r>
              <a:rPr sz="1950" b="0">
                <a:solidFill>
                  <a:srgbClr val="152B45"/>
                </a:solidFill>
                <a:latin typeface="Arial"/>
                <a:ea typeface="Arial"/>
                <a:cs typeface="Arial"/>
              </a:rPr>
              <a:t>Adaptive Mixtures of Local Experts</a:t>
            </a:r>
          </a:p>
        </p:txBody>
      </p:sp>
      <p:sp>
        <p:nvSpPr>
          <p:cNvPr id="8" name="">
            <a:extLst xmlns:a="http://schemas.openxmlformats.org/drawingml/2006/main">
              <a:ext uri="{FF2B5EF4-FFF2-40B4-BE49-F238E27FC236}">
                <a16:creationId xmlns:a16="http://schemas.microsoft.com/office/drawing/2014/main" id="{A5248141-AE72-4032-9314-1F2446613F4A}"/>
              </a:ext>
            </a:extLst>
          </p:cNvPr>
          <p:cNvSpPr>
            <a:spLocks xmlns:a="http://schemas.openxmlformats.org/drawingml/2006/main" noGrp="1"/>
          </p:cNvSpPr>
          <p:nvPr/>
        </p:nvSpPr>
        <p:spPr>
          <a:xfrm xmlns:a="http://schemas.openxmlformats.org/drawingml/2006/main">
            <a:off x="571500" y="311467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67818"/>
                </a:solidFill>
                <a:latin typeface="Arial"/>
                <a:ea typeface="Arial"/>
                <a:cs typeface="Arial"/>
              </a:defRPr>
            </a:defPPr>
          </a:lstStyle>
          <a:p xmlns:a="http://schemas.openxmlformats.org/drawingml/2006/main">
            <a:pPr>
              <a:buNone/>
              <a:defRPr sz="1800" b="1">
                <a:solidFill>
                  <a:srgbClr val="B67818"/>
                </a:solidFill>
                <a:latin typeface="Arial"/>
                <a:ea typeface="Arial"/>
                <a:cs typeface="Arial"/>
              </a:defRPr>
            </a:pPr>
            <a:r>
              <a:rPr sz="1800" b="1">
                <a:solidFill>
                  <a:srgbClr val="B67818"/>
                </a:solidFill>
                <a:latin typeface="Arial"/>
                <a:ea typeface="Arial"/>
                <a:cs typeface="Arial"/>
              </a:rPr>
              <a:t>Ghahramani &amp; Hinton (2000)</a:t>
            </a:r>
          </a:p>
        </p:txBody>
      </p:sp>
      <p:sp>
        <p:nvSpPr>
          <p:cNvPr id="9" name="">
            <a:extLst xmlns:a="http://schemas.openxmlformats.org/drawingml/2006/main">
              <a:ext uri="{FF2B5EF4-FFF2-40B4-BE49-F238E27FC236}">
                <a16:creationId xmlns:a16="http://schemas.microsoft.com/office/drawing/2014/main" id="{2EE29BC7-E2E3-4556-8F78-99D61DBBE5CE}"/>
              </a:ext>
            </a:extLst>
          </p:cNvPr>
          <p:cNvSpPr>
            <a:spLocks xmlns:a="http://schemas.openxmlformats.org/drawingml/2006/main" noGrp="1"/>
          </p:cNvSpPr>
          <p:nvPr/>
        </p:nvSpPr>
        <p:spPr>
          <a:xfrm xmlns:a="http://schemas.openxmlformats.org/drawingml/2006/main">
            <a:off x="9715500" y="311467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87E8B"/>
                </a:solidFill>
                <a:latin typeface="Arial"/>
                <a:ea typeface="Arial"/>
                <a:cs typeface="Arial"/>
              </a:defRPr>
            </a:defPPr>
          </a:lstStyle>
          <a:p xmlns:a="http://schemas.openxmlformats.org/drawingml/2006/main">
            <a:pPr>
              <a:buNone/>
              <a:defRPr sz="1575" b="0">
                <a:solidFill>
                  <a:srgbClr val="087E8B"/>
                </a:solidFill>
                <a:latin typeface="Arial"/>
                <a:ea typeface="Arial"/>
                <a:cs typeface="Arial"/>
              </a:defRPr>
            </a:pPr>
            <a:r>
              <a:rPr>
                <a:hlinkClick xmlns:r="http://schemas.openxmlformats.org/officeDocument/2006/relationships" r:id="Re38718920ba84821"/>
              </a:rPr>
              <a:t>Read paper</a:t>
            </a:r>
          </a:p>
        </p:txBody>
      </p:sp>
      <p:sp>
        <p:nvSpPr>
          <p:cNvPr id="10" name="">
            <a:extLst xmlns:a="http://schemas.openxmlformats.org/drawingml/2006/main">
              <a:ext uri="{FF2B5EF4-FFF2-40B4-BE49-F238E27FC236}">
                <a16:creationId xmlns:a16="http://schemas.microsoft.com/office/drawing/2014/main" id="{0F4382A5-73CE-4D60-A0A2-FD304950E66F}"/>
              </a:ext>
            </a:extLst>
          </p:cNvPr>
          <p:cNvSpPr>
            <a:spLocks xmlns:a="http://schemas.openxmlformats.org/drawingml/2006/main" noGrp="1"/>
          </p:cNvSpPr>
          <p:nvPr/>
        </p:nvSpPr>
        <p:spPr>
          <a:xfrm xmlns:a="http://schemas.openxmlformats.org/drawingml/2006/main">
            <a:off x="571500" y="35052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B45"/>
                </a:solidFill>
                <a:latin typeface="Arial"/>
                <a:ea typeface="Arial"/>
                <a:cs typeface="Arial"/>
              </a:defRPr>
            </a:defPPr>
          </a:lstStyle>
          <a:p xmlns:a="http://schemas.openxmlformats.org/drawingml/2006/main">
            <a:pPr>
              <a:buNone/>
              <a:defRPr sz="1950" b="0">
                <a:solidFill>
                  <a:srgbClr val="152B45"/>
                </a:solidFill>
                <a:latin typeface="Arial"/>
                <a:ea typeface="Arial"/>
                <a:cs typeface="Arial"/>
              </a:defRPr>
            </a:pPr>
            <a:r>
              <a:rPr sz="1950" b="0">
                <a:solidFill>
                  <a:srgbClr val="152B45"/>
                </a:solidFill>
                <a:latin typeface="Arial"/>
                <a:ea typeface="Arial"/>
                <a:cs typeface="Arial"/>
              </a:rPr>
              <a:t>Variational Learning for Switching State-Space Models</a:t>
            </a:r>
          </a:p>
        </p:txBody>
      </p:sp>
      <p:sp>
        <p:nvSpPr>
          <p:cNvPr id="11" name="">
            <a:extLst xmlns:a="http://schemas.openxmlformats.org/drawingml/2006/main">
              <a:ext uri="{FF2B5EF4-FFF2-40B4-BE49-F238E27FC236}">
                <a16:creationId xmlns:a16="http://schemas.microsoft.com/office/drawing/2014/main" id="{191DD3E2-C31D-42C3-AFF9-20C3DA82D073}"/>
              </a:ext>
            </a:extLst>
          </p:cNvPr>
          <p:cNvSpPr>
            <a:spLocks xmlns:a="http://schemas.openxmlformats.org/drawingml/2006/main" noGrp="1"/>
          </p:cNvSpPr>
          <p:nvPr/>
        </p:nvSpPr>
        <p:spPr>
          <a:xfrm xmlns:a="http://schemas.openxmlformats.org/drawingml/2006/main">
            <a:off x="571500" y="449580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67818"/>
                </a:solidFill>
                <a:latin typeface="Arial"/>
                <a:ea typeface="Arial"/>
                <a:cs typeface="Arial"/>
              </a:defRPr>
            </a:defPPr>
          </a:lstStyle>
          <a:p xmlns:a="http://schemas.openxmlformats.org/drawingml/2006/main">
            <a:pPr>
              <a:buNone/>
              <a:defRPr sz="1800" b="1">
                <a:solidFill>
                  <a:srgbClr val="B67818"/>
                </a:solidFill>
                <a:latin typeface="Arial"/>
                <a:ea typeface="Arial"/>
                <a:cs typeface="Arial"/>
              </a:defRPr>
            </a:pPr>
            <a:r>
              <a:rPr sz="1800" b="1">
                <a:solidFill>
                  <a:srgbClr val="B67818"/>
                </a:solidFill>
                <a:latin typeface="Arial"/>
                <a:ea typeface="Arial"/>
                <a:cs typeface="Arial"/>
              </a:rPr>
              <a:t>Namikawa &amp; Tani (2008)</a:t>
            </a:r>
          </a:p>
        </p:txBody>
      </p:sp>
      <p:sp>
        <p:nvSpPr>
          <p:cNvPr id="12" name="">
            <a:extLst xmlns:a="http://schemas.openxmlformats.org/drawingml/2006/main">
              <a:ext uri="{FF2B5EF4-FFF2-40B4-BE49-F238E27FC236}">
                <a16:creationId xmlns:a16="http://schemas.microsoft.com/office/drawing/2014/main" id="{6214FC78-7741-4C75-8486-5DC9C141B16B}"/>
              </a:ext>
            </a:extLst>
          </p:cNvPr>
          <p:cNvSpPr>
            <a:spLocks xmlns:a="http://schemas.openxmlformats.org/drawingml/2006/main" noGrp="1"/>
          </p:cNvSpPr>
          <p:nvPr/>
        </p:nvSpPr>
        <p:spPr>
          <a:xfrm xmlns:a="http://schemas.openxmlformats.org/drawingml/2006/main">
            <a:off x="9715500" y="44958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87E8B"/>
                </a:solidFill>
                <a:latin typeface="Arial"/>
                <a:ea typeface="Arial"/>
                <a:cs typeface="Arial"/>
              </a:defRPr>
            </a:defPPr>
          </a:lstStyle>
          <a:p xmlns:a="http://schemas.openxmlformats.org/drawingml/2006/main">
            <a:pPr>
              <a:buNone/>
              <a:defRPr sz="1575" b="0">
                <a:solidFill>
                  <a:srgbClr val="087E8B"/>
                </a:solidFill>
                <a:latin typeface="Arial"/>
                <a:ea typeface="Arial"/>
                <a:cs typeface="Arial"/>
              </a:defRPr>
            </a:pPr>
            <a:r>
              <a:rPr>
                <a:hlinkClick xmlns:r="http://schemas.openxmlformats.org/officeDocument/2006/relationships" r:id="R992d5303d0594451"/>
              </a:rPr>
              <a:t>Read paper</a:t>
            </a:r>
          </a:p>
        </p:txBody>
      </p:sp>
      <p:sp>
        <p:nvSpPr>
          <p:cNvPr id="13" name="">
            <a:extLst xmlns:a="http://schemas.openxmlformats.org/drawingml/2006/main">
              <a:ext uri="{FF2B5EF4-FFF2-40B4-BE49-F238E27FC236}">
                <a16:creationId xmlns:a16="http://schemas.microsoft.com/office/drawing/2014/main" id="{EBE1D393-18DE-4B90-8402-EEADF6E0D4D0}"/>
              </a:ext>
            </a:extLst>
          </p:cNvPr>
          <p:cNvSpPr>
            <a:spLocks xmlns:a="http://schemas.openxmlformats.org/drawingml/2006/main" noGrp="1"/>
          </p:cNvSpPr>
          <p:nvPr/>
        </p:nvSpPr>
        <p:spPr>
          <a:xfrm xmlns:a="http://schemas.openxmlformats.org/drawingml/2006/main">
            <a:off x="571500" y="4886325"/>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B45"/>
                </a:solidFill>
                <a:latin typeface="Arial"/>
                <a:ea typeface="Arial"/>
                <a:cs typeface="Arial"/>
              </a:defRPr>
            </a:defPPr>
          </a:lstStyle>
          <a:p xmlns:a="http://schemas.openxmlformats.org/drawingml/2006/main">
            <a:pPr>
              <a:buNone/>
              <a:defRPr sz="1950" b="0">
                <a:solidFill>
                  <a:srgbClr val="152B45"/>
                </a:solidFill>
                <a:latin typeface="Arial"/>
                <a:ea typeface="Arial"/>
                <a:cs typeface="Arial"/>
              </a:defRPr>
            </a:pPr>
            <a:r>
              <a:rPr sz="1950" b="0">
                <a:solidFill>
                  <a:srgbClr val="152B45"/>
                </a:solidFill>
                <a:latin typeface="Arial"/>
                <a:ea typeface="Arial"/>
                <a:cs typeface="Arial"/>
              </a:rPr>
              <a:t>A model for learning to segment temporal sequences, utilizing a mixture of RNN experts together with adaptive variance</a:t>
            </a:r>
          </a:p>
        </p:txBody>
      </p:sp>
    </p:spTree>
    <p:extLst>
      <p:ext uri="{BB962C8B-B14F-4D97-AF65-F5344CB8AC3E}">
        <p14:creationId xmlns:p14="http://schemas.microsoft.com/office/powerpoint/2010/main" val="1538814260"/>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20355F-F59E-4A7A-8922-57289D9DA15D}"/>
              </a:ext>
            </a:extLst>
          </p:cNvPr>
          <p:cNvSpPr>
            <a:spLocks xmlns:a="http://schemas.openxmlformats.org/drawingml/2006/main" noGrp="1"/>
          </p:cNvSpPr>
          <p:nvPr/>
        </p:nvSpPr>
        <p:spPr>
          <a:xfrm xmlns:a="http://schemas.openxmlformats.org/drawingml/2006/main">
            <a:off x="571500" y="2667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B67818"/>
                </a:solidFill>
                <a:latin typeface="Arial"/>
                <a:ea typeface="Arial"/>
                <a:cs typeface="Arial"/>
              </a:defRPr>
            </a:defPPr>
          </a:lstStyle>
          <a:p xmlns:a="http://schemas.openxmlformats.org/drawingml/2006/main">
            <a:pPr>
              <a:buNone/>
              <a:defRPr sz="1275" b="1">
                <a:solidFill>
                  <a:srgbClr val="B67818"/>
                </a:solidFill>
                <a:latin typeface="Arial"/>
                <a:ea typeface="Arial"/>
                <a:cs typeface="Arial"/>
              </a:defRPr>
            </a:pPr>
            <a:r>
              <a:rPr sz="1275" b="1">
                <a:solidFill>
                  <a:srgbClr val="B67818"/>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09F1F21B-5665-493D-A226-27476306D882}"/>
              </a:ext>
            </a:extLst>
          </p:cNvPr>
          <p:cNvSpPr>
            <a:spLocks xmlns:a="http://schemas.openxmlformats.org/drawingml/2006/main" noGrp="1"/>
          </p:cNvSpPr>
          <p:nvPr/>
        </p:nvSpPr>
        <p:spPr>
          <a:xfrm xmlns:a="http://schemas.openxmlformats.org/drawingml/2006/main">
            <a:off x="571500" y="6858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52B45"/>
                </a:solidFill>
                <a:latin typeface="Arial"/>
                <a:ea typeface="Arial"/>
                <a:cs typeface="Arial"/>
              </a:defRPr>
            </a:defPPr>
          </a:lstStyle>
          <a:p xmlns:a="http://schemas.openxmlformats.org/drawingml/2006/main">
            <a:pPr>
              <a:buNone/>
              <a:defRPr sz="3150" b="1">
                <a:solidFill>
                  <a:srgbClr val="152B45"/>
                </a:solidFill>
                <a:latin typeface="Arial"/>
                <a:ea typeface="Arial"/>
                <a:cs typeface="Arial"/>
              </a:defRPr>
            </a:pPr>
            <a:r>
              <a:rPr sz="3150" b="1">
                <a:solidFill>
                  <a:srgbClr val="152B45"/>
                </a:solidFill>
                <a:latin typeface="Arial"/>
                <a:ea typeface="Arial"/>
                <a:cs typeface="Arial"/>
              </a:rPr>
              <a:t>References 4–6</a:t>
            </a:r>
          </a:p>
        </p:txBody>
      </p:sp>
      <p:sp>
        <p:nvSpPr>
          <p:cNvPr id="3" name="">
            <a:extLst xmlns:a="http://schemas.openxmlformats.org/drawingml/2006/main">
              <a:ext uri="{FF2B5EF4-FFF2-40B4-BE49-F238E27FC236}">
                <a16:creationId xmlns:a16="http://schemas.microsoft.com/office/drawing/2014/main" id="{0338288B-C430-4713-B6DC-5A20A9377C84}"/>
              </a:ext>
            </a:extLst>
          </p:cNvPr>
          <p:cNvSpPr>
            <a:spLocks xmlns:a="http://schemas.openxmlformats.org/drawingml/2006/main" noGrp="1"/>
          </p:cNvSpPr>
          <p:nvPr/>
        </p:nvSpPr>
        <p:spPr>
          <a:xfrm xmlns:a="http://schemas.openxmlformats.org/drawingml/2006/main">
            <a:off x="571500" y="64293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083"/>
                </a:solidFill>
                <a:latin typeface="Arial"/>
                <a:ea typeface="Arial"/>
                <a:cs typeface="Arial"/>
              </a:defRPr>
            </a:defPPr>
          </a:lstStyle>
          <a:p xmlns:a="http://schemas.openxmlformats.org/drawingml/2006/main">
            <a:pPr>
              <a:buNone/>
              <a:defRPr sz="1125" b="0">
                <a:solidFill>
                  <a:srgbClr val="607083"/>
                </a:solidFill>
                <a:latin typeface="Arial"/>
                <a:ea typeface="Arial"/>
                <a:cs typeface="Arial"/>
              </a:defRPr>
            </a:pPr>
            <a:r>
              <a:rPr sz="1125" b="0">
                <a:solidFill>
                  <a:srgbClr val="607083"/>
                </a:solidFill>
                <a:latin typeface="Arial"/>
                <a:ea typeface="Arial"/>
                <a:cs typeface="Arial"/>
              </a:rPr>
              <a:t>Twilight MoE Dynamics</a:t>
            </a:r>
          </a:p>
        </p:txBody>
      </p:sp>
      <p:sp>
        <p:nvSpPr>
          <p:cNvPr id="4" name="">
            <a:extLst xmlns:a="http://schemas.openxmlformats.org/drawingml/2006/main">
              <a:ext uri="{FF2B5EF4-FFF2-40B4-BE49-F238E27FC236}">
                <a16:creationId xmlns:a16="http://schemas.microsoft.com/office/drawing/2014/main" id="{D484B9F2-FE51-4A54-8B7C-A7C0AFB520C5}"/>
              </a:ext>
            </a:extLst>
          </p:cNvPr>
          <p:cNvSpPr>
            <a:spLocks xmlns:a="http://schemas.openxmlformats.org/drawingml/2006/main" noGrp="1"/>
          </p:cNvSpPr>
          <p:nvPr/>
        </p:nvSpPr>
        <p:spPr>
          <a:xfrm xmlns:a="http://schemas.openxmlformats.org/drawingml/2006/main">
            <a:off x="11049000" y="64103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07083"/>
                </a:solidFill>
                <a:latin typeface="Arial"/>
                <a:ea typeface="Arial"/>
                <a:cs typeface="Arial"/>
              </a:defRPr>
            </a:defPPr>
          </a:lstStyle>
          <a:p xmlns:a="http://schemas.openxmlformats.org/drawingml/2006/main">
            <a:pPr>
              <a:buNone/>
              <a:defRPr sz="1275" b="0">
                <a:solidFill>
                  <a:srgbClr val="607083"/>
                </a:solidFill>
                <a:latin typeface="Arial"/>
                <a:ea typeface="Arial"/>
                <a:cs typeface="Arial"/>
              </a:defRPr>
            </a:pPr>
            <a:r>
              <a:rPr sz="1275" b="0">
                <a:solidFill>
                  <a:srgbClr val="607083"/>
                </a:solidFill>
                <a:latin typeface="Arial"/>
                <a:ea typeface="Arial"/>
                <a:cs typeface="Arial"/>
              </a:rPr>
              <a:t>58</a:t>
            </a:r>
          </a:p>
        </p:txBody>
      </p:sp>
      <p:sp>
        <p:nvSpPr>
          <p:cNvPr id="5" name="">
            <a:extLst xmlns:a="http://schemas.openxmlformats.org/drawingml/2006/main">
              <a:ext uri="{FF2B5EF4-FFF2-40B4-BE49-F238E27FC236}">
                <a16:creationId xmlns:a16="http://schemas.microsoft.com/office/drawing/2014/main" id="{5290A65F-91CA-4051-9D71-3997DF15B4E5}"/>
              </a:ext>
            </a:extLst>
          </p:cNvPr>
          <p:cNvSpPr>
            <a:spLocks xmlns:a="http://schemas.openxmlformats.org/drawingml/2006/main" noGrp="1"/>
          </p:cNvSpPr>
          <p:nvPr/>
        </p:nvSpPr>
        <p:spPr>
          <a:xfrm xmlns:a="http://schemas.openxmlformats.org/drawingml/2006/main">
            <a:off x="571500" y="173355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67818"/>
                </a:solidFill>
                <a:latin typeface="Arial"/>
                <a:ea typeface="Arial"/>
                <a:cs typeface="Arial"/>
              </a:defRPr>
            </a:defPPr>
          </a:lstStyle>
          <a:p xmlns:a="http://schemas.openxmlformats.org/drawingml/2006/main">
            <a:pPr>
              <a:buNone/>
              <a:defRPr sz="1800" b="1">
                <a:solidFill>
                  <a:srgbClr val="B67818"/>
                </a:solidFill>
                <a:latin typeface="Arial"/>
                <a:ea typeface="Arial"/>
                <a:cs typeface="Arial"/>
              </a:defRPr>
            </a:pPr>
            <a:r>
              <a:rPr sz="1800" b="1">
                <a:solidFill>
                  <a:srgbClr val="B67818"/>
                </a:solidFill>
                <a:latin typeface="Arial"/>
                <a:ea typeface="Arial"/>
                <a:cs typeface="Arial"/>
              </a:rPr>
              <a:t>Shazeer et al. (2017)</a:t>
            </a:r>
          </a:p>
        </p:txBody>
      </p:sp>
      <p:sp>
        <p:nvSpPr>
          <p:cNvPr id="6" name="">
            <a:extLst xmlns:a="http://schemas.openxmlformats.org/drawingml/2006/main">
              <a:ext uri="{FF2B5EF4-FFF2-40B4-BE49-F238E27FC236}">
                <a16:creationId xmlns:a16="http://schemas.microsoft.com/office/drawing/2014/main" id="{0157D708-AEC3-43D1-A022-0CB6C7FDBB9A}"/>
              </a:ext>
            </a:extLst>
          </p:cNvPr>
          <p:cNvSpPr>
            <a:spLocks xmlns:a="http://schemas.openxmlformats.org/drawingml/2006/main" noGrp="1"/>
          </p:cNvSpPr>
          <p:nvPr/>
        </p:nvSpPr>
        <p:spPr>
          <a:xfrm xmlns:a="http://schemas.openxmlformats.org/drawingml/2006/main">
            <a:off x="9715500" y="17335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87E8B"/>
                </a:solidFill>
                <a:latin typeface="Arial"/>
                <a:ea typeface="Arial"/>
                <a:cs typeface="Arial"/>
              </a:defRPr>
            </a:defPPr>
          </a:lstStyle>
          <a:p xmlns:a="http://schemas.openxmlformats.org/drawingml/2006/main">
            <a:pPr>
              <a:buNone/>
              <a:defRPr sz="1575" b="0">
                <a:solidFill>
                  <a:srgbClr val="087E8B"/>
                </a:solidFill>
                <a:latin typeface="Arial"/>
                <a:ea typeface="Arial"/>
                <a:cs typeface="Arial"/>
              </a:defRPr>
            </a:pPr>
            <a:r>
              <a:rPr>
                <a:hlinkClick xmlns:r="http://schemas.openxmlformats.org/officeDocument/2006/relationships" r:id="Rac9c44d8be964676"/>
              </a:rPr>
              <a:t>Read paper</a:t>
            </a:r>
          </a:p>
        </p:txBody>
      </p:sp>
      <p:sp>
        <p:nvSpPr>
          <p:cNvPr id="7" name="">
            <a:extLst xmlns:a="http://schemas.openxmlformats.org/drawingml/2006/main">
              <a:ext uri="{FF2B5EF4-FFF2-40B4-BE49-F238E27FC236}">
                <a16:creationId xmlns:a16="http://schemas.microsoft.com/office/drawing/2014/main" id="{EAD28732-FA3C-4AD6-B237-29C346C7E706}"/>
              </a:ext>
            </a:extLst>
          </p:cNvPr>
          <p:cNvSpPr>
            <a:spLocks xmlns:a="http://schemas.openxmlformats.org/drawingml/2006/main" noGrp="1"/>
          </p:cNvSpPr>
          <p:nvPr/>
        </p:nvSpPr>
        <p:spPr>
          <a:xfrm xmlns:a="http://schemas.openxmlformats.org/drawingml/2006/main">
            <a:off x="571500" y="2124075"/>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B45"/>
                </a:solidFill>
                <a:latin typeface="Arial"/>
                <a:ea typeface="Arial"/>
                <a:cs typeface="Arial"/>
              </a:defRPr>
            </a:defPPr>
          </a:lstStyle>
          <a:p xmlns:a="http://schemas.openxmlformats.org/drawingml/2006/main">
            <a:pPr>
              <a:buNone/>
              <a:defRPr sz="1950" b="0">
                <a:solidFill>
                  <a:srgbClr val="152B45"/>
                </a:solidFill>
                <a:latin typeface="Arial"/>
                <a:ea typeface="Arial"/>
                <a:cs typeface="Arial"/>
              </a:defRPr>
            </a:pPr>
            <a:r>
              <a:rPr sz="1950" b="0">
                <a:solidFill>
                  <a:srgbClr val="152B45"/>
                </a:solidFill>
                <a:latin typeface="Arial"/>
                <a:ea typeface="Arial"/>
                <a:cs typeface="Arial"/>
              </a:rPr>
              <a:t>Outrageously Large Neural Networks: The Sparsely-Gated Mixture-of-Experts Layer</a:t>
            </a:r>
          </a:p>
        </p:txBody>
      </p:sp>
      <p:sp>
        <p:nvSpPr>
          <p:cNvPr id="8" name="">
            <a:extLst xmlns:a="http://schemas.openxmlformats.org/drawingml/2006/main">
              <a:ext uri="{FF2B5EF4-FFF2-40B4-BE49-F238E27FC236}">
                <a16:creationId xmlns:a16="http://schemas.microsoft.com/office/drawing/2014/main" id="{9B979A76-32A7-4551-99DF-42778DB66A55}"/>
              </a:ext>
            </a:extLst>
          </p:cNvPr>
          <p:cNvSpPr>
            <a:spLocks xmlns:a="http://schemas.openxmlformats.org/drawingml/2006/main" noGrp="1"/>
          </p:cNvSpPr>
          <p:nvPr/>
        </p:nvSpPr>
        <p:spPr>
          <a:xfrm xmlns:a="http://schemas.openxmlformats.org/drawingml/2006/main">
            <a:off x="571500" y="311467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67818"/>
                </a:solidFill>
                <a:latin typeface="Arial"/>
                <a:ea typeface="Arial"/>
                <a:cs typeface="Arial"/>
              </a:defRPr>
            </a:defPPr>
          </a:lstStyle>
          <a:p xmlns:a="http://schemas.openxmlformats.org/drawingml/2006/main">
            <a:pPr>
              <a:buNone/>
              <a:defRPr sz="1800" b="1">
                <a:solidFill>
                  <a:srgbClr val="B67818"/>
                </a:solidFill>
                <a:latin typeface="Arial"/>
                <a:ea typeface="Arial"/>
                <a:cs typeface="Arial"/>
              </a:defRPr>
            </a:pPr>
            <a:r>
              <a:rPr sz="1800" b="1">
                <a:solidFill>
                  <a:srgbClr val="B67818"/>
                </a:solidFill>
                <a:latin typeface="Arial"/>
                <a:ea typeface="Arial"/>
                <a:cs typeface="Arial"/>
              </a:rPr>
              <a:t>Ni et al. (2024)</a:t>
            </a:r>
          </a:p>
        </p:txBody>
      </p:sp>
      <p:sp>
        <p:nvSpPr>
          <p:cNvPr id="9" name="">
            <a:extLst xmlns:a="http://schemas.openxmlformats.org/drawingml/2006/main">
              <a:ext uri="{FF2B5EF4-FFF2-40B4-BE49-F238E27FC236}">
                <a16:creationId xmlns:a16="http://schemas.microsoft.com/office/drawing/2014/main" id="{56063841-E3DB-41DE-A5BF-8E261E816BB5}"/>
              </a:ext>
            </a:extLst>
          </p:cNvPr>
          <p:cNvSpPr>
            <a:spLocks xmlns:a="http://schemas.openxmlformats.org/drawingml/2006/main" noGrp="1"/>
          </p:cNvSpPr>
          <p:nvPr/>
        </p:nvSpPr>
        <p:spPr>
          <a:xfrm xmlns:a="http://schemas.openxmlformats.org/drawingml/2006/main">
            <a:off x="9715500" y="311467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87E8B"/>
                </a:solidFill>
                <a:latin typeface="Arial"/>
                <a:ea typeface="Arial"/>
                <a:cs typeface="Arial"/>
              </a:defRPr>
            </a:defPPr>
          </a:lstStyle>
          <a:p xmlns:a="http://schemas.openxmlformats.org/drawingml/2006/main">
            <a:pPr>
              <a:buNone/>
              <a:defRPr sz="1575" b="0">
                <a:solidFill>
                  <a:srgbClr val="087E8B"/>
                </a:solidFill>
                <a:latin typeface="Arial"/>
                <a:ea typeface="Arial"/>
                <a:cs typeface="Arial"/>
              </a:defRPr>
            </a:pPr>
            <a:r>
              <a:rPr>
                <a:hlinkClick xmlns:r="http://schemas.openxmlformats.org/officeDocument/2006/relationships" r:id="R42d0766ccb4d4c14"/>
              </a:rPr>
              <a:t>Read paper</a:t>
            </a:r>
          </a:p>
        </p:txBody>
      </p:sp>
      <p:sp>
        <p:nvSpPr>
          <p:cNvPr id="10" name="">
            <a:extLst xmlns:a="http://schemas.openxmlformats.org/drawingml/2006/main">
              <a:ext uri="{FF2B5EF4-FFF2-40B4-BE49-F238E27FC236}">
                <a16:creationId xmlns:a16="http://schemas.microsoft.com/office/drawing/2014/main" id="{6DA6E3F7-C12F-4741-94E9-774A8E1CBAEB}"/>
              </a:ext>
            </a:extLst>
          </p:cNvPr>
          <p:cNvSpPr>
            <a:spLocks xmlns:a="http://schemas.openxmlformats.org/drawingml/2006/main" noGrp="1"/>
          </p:cNvSpPr>
          <p:nvPr/>
        </p:nvSpPr>
        <p:spPr>
          <a:xfrm xmlns:a="http://schemas.openxmlformats.org/drawingml/2006/main">
            <a:off x="571500" y="35052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B45"/>
                </a:solidFill>
                <a:latin typeface="Arial"/>
                <a:ea typeface="Arial"/>
                <a:cs typeface="Arial"/>
              </a:defRPr>
            </a:defPPr>
          </a:lstStyle>
          <a:p xmlns:a="http://schemas.openxmlformats.org/drawingml/2006/main">
            <a:pPr>
              <a:buNone/>
              <a:defRPr sz="1950" b="0">
                <a:solidFill>
                  <a:srgbClr val="152B45"/>
                </a:solidFill>
                <a:latin typeface="Arial"/>
                <a:ea typeface="Arial"/>
                <a:cs typeface="Arial"/>
              </a:defRPr>
            </a:pPr>
            <a:r>
              <a:rPr sz="1950" b="0">
                <a:solidFill>
                  <a:srgbClr val="152B45"/>
                </a:solidFill>
                <a:latin typeface="Arial"/>
                <a:ea typeface="Arial"/>
                <a:cs typeface="Arial"/>
              </a:rPr>
              <a:t>Mixture-of-Linear-Experts for Long-term Time Series Forecasting</a:t>
            </a:r>
          </a:p>
        </p:txBody>
      </p:sp>
      <p:sp>
        <p:nvSpPr>
          <p:cNvPr id="11" name="">
            <a:extLst xmlns:a="http://schemas.openxmlformats.org/drawingml/2006/main">
              <a:ext uri="{FF2B5EF4-FFF2-40B4-BE49-F238E27FC236}">
                <a16:creationId xmlns:a16="http://schemas.microsoft.com/office/drawing/2014/main" id="{5EF3E82B-1048-43CB-9A45-40EBE7DE51ED}"/>
              </a:ext>
            </a:extLst>
          </p:cNvPr>
          <p:cNvSpPr>
            <a:spLocks xmlns:a="http://schemas.openxmlformats.org/drawingml/2006/main" noGrp="1"/>
          </p:cNvSpPr>
          <p:nvPr/>
        </p:nvSpPr>
        <p:spPr>
          <a:xfrm xmlns:a="http://schemas.openxmlformats.org/drawingml/2006/main">
            <a:off x="571500" y="449580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67818"/>
                </a:solidFill>
                <a:latin typeface="Arial"/>
                <a:ea typeface="Arial"/>
                <a:cs typeface="Arial"/>
              </a:defRPr>
            </a:defPPr>
          </a:lstStyle>
          <a:p xmlns:a="http://schemas.openxmlformats.org/drawingml/2006/main">
            <a:pPr>
              <a:buNone/>
              <a:defRPr sz="1800" b="1">
                <a:solidFill>
                  <a:srgbClr val="B67818"/>
                </a:solidFill>
                <a:latin typeface="Arial"/>
                <a:ea typeface="Arial"/>
                <a:cs typeface="Arial"/>
              </a:defRPr>
            </a:pPr>
            <a:r>
              <a:rPr sz="1800" b="1">
                <a:solidFill>
                  <a:srgbClr val="B67818"/>
                </a:solidFill>
                <a:latin typeface="Arial"/>
                <a:ea typeface="Arial"/>
                <a:cs typeface="Arial"/>
              </a:rPr>
              <a:t>Shi et al. (2025)</a:t>
            </a:r>
          </a:p>
        </p:txBody>
      </p:sp>
      <p:sp>
        <p:nvSpPr>
          <p:cNvPr id="12" name="">
            <a:extLst xmlns:a="http://schemas.openxmlformats.org/drawingml/2006/main">
              <a:ext uri="{FF2B5EF4-FFF2-40B4-BE49-F238E27FC236}">
                <a16:creationId xmlns:a16="http://schemas.microsoft.com/office/drawing/2014/main" id="{DCF1DC3B-8B26-4838-A99E-C447A7859218}"/>
              </a:ext>
            </a:extLst>
          </p:cNvPr>
          <p:cNvSpPr>
            <a:spLocks xmlns:a="http://schemas.openxmlformats.org/drawingml/2006/main" noGrp="1"/>
          </p:cNvSpPr>
          <p:nvPr/>
        </p:nvSpPr>
        <p:spPr>
          <a:xfrm xmlns:a="http://schemas.openxmlformats.org/drawingml/2006/main">
            <a:off x="9715500" y="44958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87E8B"/>
                </a:solidFill>
                <a:latin typeface="Arial"/>
                <a:ea typeface="Arial"/>
                <a:cs typeface="Arial"/>
              </a:defRPr>
            </a:defPPr>
          </a:lstStyle>
          <a:p xmlns:a="http://schemas.openxmlformats.org/drawingml/2006/main">
            <a:pPr>
              <a:buNone/>
              <a:defRPr sz="1575" b="0">
                <a:solidFill>
                  <a:srgbClr val="087E8B"/>
                </a:solidFill>
                <a:latin typeface="Arial"/>
                <a:ea typeface="Arial"/>
                <a:cs typeface="Arial"/>
              </a:defRPr>
            </a:pPr>
            <a:r>
              <a:rPr>
                <a:hlinkClick xmlns:r="http://schemas.openxmlformats.org/officeDocument/2006/relationships" r:id="R338189f5efbb404f"/>
              </a:rPr>
              <a:t>Read paper</a:t>
            </a:r>
          </a:p>
        </p:txBody>
      </p:sp>
      <p:sp>
        <p:nvSpPr>
          <p:cNvPr id="13" name="">
            <a:extLst xmlns:a="http://schemas.openxmlformats.org/drawingml/2006/main">
              <a:ext uri="{FF2B5EF4-FFF2-40B4-BE49-F238E27FC236}">
                <a16:creationId xmlns:a16="http://schemas.microsoft.com/office/drawing/2014/main" id="{EA6D61A4-4DE4-46E8-914F-75AD9B29F4A2}"/>
              </a:ext>
            </a:extLst>
          </p:cNvPr>
          <p:cNvSpPr>
            <a:spLocks xmlns:a="http://schemas.openxmlformats.org/drawingml/2006/main" noGrp="1"/>
          </p:cNvSpPr>
          <p:nvPr/>
        </p:nvSpPr>
        <p:spPr>
          <a:xfrm xmlns:a="http://schemas.openxmlformats.org/drawingml/2006/main">
            <a:off x="571500" y="4886325"/>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B45"/>
                </a:solidFill>
                <a:latin typeface="Arial"/>
                <a:ea typeface="Arial"/>
                <a:cs typeface="Arial"/>
              </a:defRPr>
            </a:defPPr>
          </a:lstStyle>
          <a:p xmlns:a="http://schemas.openxmlformats.org/drawingml/2006/main">
            <a:pPr>
              <a:buNone/>
              <a:defRPr sz="1950" b="0">
                <a:solidFill>
                  <a:srgbClr val="152B45"/>
                </a:solidFill>
                <a:latin typeface="Arial"/>
                <a:ea typeface="Arial"/>
                <a:cs typeface="Arial"/>
              </a:defRPr>
            </a:pPr>
            <a:r>
              <a:rPr sz="1950" b="0">
                <a:solidFill>
                  <a:srgbClr val="152B45"/>
                </a:solidFill>
                <a:latin typeface="Arial"/>
                <a:ea typeface="Arial"/>
                <a:cs typeface="Arial"/>
              </a:rPr>
              <a:t>Time-MoE: Billion-Scale Time Series Foundation Models with Mixture of Experts</a:t>
            </a:r>
          </a:p>
        </p:txBody>
      </p:sp>
    </p:spTree>
    <p:extLst>
      <p:ext uri="{BB962C8B-B14F-4D97-AF65-F5344CB8AC3E}">
        <p14:creationId xmlns:p14="http://schemas.microsoft.com/office/powerpoint/2010/main" val="6884510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2026-10-09T14:15:55.5740000Z</dcterms:created>
  <dcterms:modified xsi:type="dcterms:W3CDTF">2026-10-09T14:15:55.5740000Z</dcterms:modified>
</coreProperties>
</file>