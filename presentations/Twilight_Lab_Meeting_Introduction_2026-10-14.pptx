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6f2b53aefc4e8d" /><Relationship Type="http://schemas.openxmlformats.org/officeDocument/2006/relationships/extended-properties" Target="/docProps/app.xml" Id="Rbe6dff18308c408e" /><Relationship Type="http://schemas.openxmlformats.org/officeDocument/2006/relationships/officeDocument" Target="/ppt/presentation.xml" Id="R93f6efa8f4e24c6d" /></Relationships>
</file>

<file path=ppt/presentation.xml><?xml version="1.0" encoding="utf-8"?>
<p:presentation xmlns:p="http://schemas.openxmlformats.org/presentationml/2006/main">
  <p:sldMasterIdLst>
    <p:sldMasterId xmlns:r="http://schemas.openxmlformats.org/officeDocument/2006/relationships" id="2147483648" r:id="R7e65c93aa4684f1c"/>
  </p:sldMasterIdLst>
  <p:notesMasterIdLst>
    <p:notesMasterId xmlns:r="http://schemas.openxmlformats.org/officeDocument/2006/relationships" r:id="R7b4f0d7e239d444f"/>
  </p:notesMasterIdLst>
  <p:sldIdLst>
    <p:sldId xmlns:r="http://schemas.openxmlformats.org/officeDocument/2006/relationships" id="256" r:id="R03437ce929ea43f3"/>
    <p:sldId xmlns:r="http://schemas.openxmlformats.org/officeDocument/2006/relationships" id="257" r:id="R86a38fc4228d4d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34a85b9c01441f" /><Relationship Type="http://schemas.openxmlformats.org/officeDocument/2006/relationships/slideMaster" Target="/ppt/slideMasters/slideMaster1.xml" Id="R7e65c93aa4684f1c" /><Relationship Type="http://schemas.openxmlformats.org/officeDocument/2006/relationships/notesMaster" Target="/ppt/notesMasters/notesMaster1.xml" Id="R7b4f0d7e239d444f" /><Relationship Type="http://schemas.openxmlformats.org/officeDocument/2006/relationships/presProps" Target="/ppt/presProps.xml" Id="R63198b4c53d54f35" /><Relationship Type="http://schemas.openxmlformats.org/officeDocument/2006/relationships/tableStyles" Target="/ppt/tableStyles.xml" Id="R55039935b8bc4777" /><Relationship Type="http://schemas.openxmlformats.org/officeDocument/2006/relationships/slide" Target="/ppt/slides/slide1.xml" Id="R03437ce929ea43f3" /><Relationship Type="http://schemas.openxmlformats.org/officeDocument/2006/relationships/slide" Target="/ppt/slides/slide2.xml" Id="R86a38fc4228d4d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c3f9a1cac042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aa3991d74446b8" /><Relationship Type="http://schemas.openxmlformats.org/officeDocument/2006/relationships/notesMaster" Target="/ppt/notesMasters/notesMaster1.xml" Id="R8ff7439fc2a147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ac5b39f418454c" /><Relationship Type="http://schemas.openxmlformats.org/officeDocument/2006/relationships/notesMaster" Target="/ppt/notesMasters/notesMaster1.xml" Id="Ra31509982fa14f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45 seconds): We use a small synthetic system so we know exactly when the true dynamics change. The state has four coordinates and follows one of three stable linear maps. The regime persists with probability0.95 and switches to either alternative with probability0.025. Each example supplies eight observed states and asks for the next four-dimensional state. We split whole sequences before constructing overlapping windows and fit scaling only on training states. The oracle alone sees regimes. This allows a controlled comparison without external datasets. Source: configs/attention_experiment.yaml; src/twilight_moe/dynamics.py and data.py. Matrices have spectral radius0.94. Training has47,360 windows per seed, validation/test11,840 each. Data are generated on E:/HarunoKen/Twilight_MoE_Dynamics.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 (about60–90 seconds): First compare a dense MLP with a mixture of three MLP experts, selecting two for each history. Then use a common two-block Transformer to isolate the routing location. The baseline has standard four-head attention and a dense FFN. MoH replaces attention with one always-shared head plus two selected from three routed heads. FFN-MoE keeps standard attention and routes each token through two of three16–32–16 GELU experts. The fourth variant combines both. Arrows show computation order inside each block, omitting pre-LayerNorm and residual additions for clarity. Every ordinary model gets the same observed history. Extra dense capacity controls and frozen gates distinguish routing from added parameters. The original oracle uses privileged regime labels. Training: Adam lr0.001, batch512,40epochs, validation-MSE checkpoint selection. Primary evaluation is held-out one-step MSE; secondary evaluation covers regime switches and recursive forecasts. MoH computes all heads in this reference, so logical sparsity makes no speedup claim. Sources: configs/attention_experiment.yaml; src/twilight_moe/attention.py, models.py and training.py. MoH adaptation: Jin et al., MoH: Multi-Head Attention as Mixture-of-Head Attention, ICML2025, https://proceedings.mlr.press/v267/jin25l.html . Related head routing: Zhang et al., Mixture of Attention Heads: Selecting Attention Heads Per Token, EMNLP2022, https://aclanthology.org/2022.emnlp-main.278/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7d897f94c040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ac3a03617d4f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4d9c9fec3c4b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8bf42ac48649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c66155dfbd43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edcc5ac51b48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4D1036-1212-40BC-8E80-F7BEBBD875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BE155D-E235-4B35-BC84-621433A64D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B3C155-64BA-4CB7-BE79-695AF2EF50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58AFB4-20AB-4F95-8110-8F24BF208C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6A6764C-E8CA-499C-8F5C-601D1925E6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CB6810-879C-4A8A-82D9-1E9AECB794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9D777E-BB5D-4B55-97E6-80DD7E6175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0BBB6D4-5FDE-4B59-9E5B-4603194E0F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E85459-BB82-40CA-A2A1-72C459A665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5C26E2-1A79-4835-940C-8663198FF7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f91bc295ca4fc1" /><Relationship Type="http://schemas.openxmlformats.org/officeDocument/2006/relationships/slideLayout" Target="/ppt/slideLayouts/slideLayout1.xml" Id="R75aaa9c4674a40af" /><Relationship Type="http://schemas.openxmlformats.org/officeDocument/2006/relationships/slideLayout" Target="/ppt/slideLayouts/slideLayout2.xml" Id="Rc33f48ad13b5484e" /><Relationship Type="http://schemas.openxmlformats.org/officeDocument/2006/relationships/slideLayout" Target="/ppt/slideLayouts/slideLayout3.xml" Id="Rc4aa079e6a1b45c4" /><Relationship Type="http://schemas.openxmlformats.org/officeDocument/2006/relationships/slideLayout" Target="/ppt/slideLayouts/slideLayout4.xml" Id="R1a2c1d7b3db44a9c" /><Relationship Type="http://schemas.openxmlformats.org/officeDocument/2006/relationships/slideLayout" Target="/ppt/slideLayouts/slideLayout5.xml" Id="R8309990aac35442a" /><Relationship Type="http://schemas.openxmlformats.org/officeDocument/2006/relationships/slideLayout" Target="/ppt/slideLayouts/slideLayout6.xml" Id="Rff720f6dda1548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aaa9c4674a40af"/>
    <p:sldLayoutId xmlns:r="http://schemas.openxmlformats.org/officeDocument/2006/relationships" id="2147483650" r:id="Rc33f48ad13b5484e"/>
    <p:sldLayoutId xmlns:r="http://schemas.openxmlformats.org/officeDocument/2006/relationships" id="2147483651" r:id="Rc4aa079e6a1b45c4"/>
    <p:sldLayoutId xmlns:r="http://schemas.openxmlformats.org/officeDocument/2006/relationships" id="2147483652" r:id="R1a2c1d7b3db44a9c"/>
    <p:sldLayoutId xmlns:r="http://schemas.openxmlformats.org/officeDocument/2006/relationships" id="2147483653" r:id="R8309990aac35442a"/>
    <p:sldLayoutId xmlns:r="http://schemas.openxmlformats.org/officeDocument/2006/relationships" id="2147483654" r:id="Rff720f6dda1548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83ee5861124f7f" /><Relationship Type="http://schemas.openxmlformats.org/officeDocument/2006/relationships/notesSlide" Target="/ppt/notesSlides/notesSlide1.xml" Id="R5f9f07f5d1ba4c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9d1db2172b4a5b" /><Relationship Type="http://schemas.openxmlformats.org/officeDocument/2006/relationships/notesSlide" Target="/ppt/notesSlides/notesSlide2.xml" Id="R66a7299138e24a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C8F7283-84BA-420C-A6CA-2441938F5155}"/>
              </a:ext>
            </a:extLst>
          </p:cNvPr>
          <p:cNvCxnSpPr>
            <a:stCxn xmlns:a="http://schemas.openxmlformats.org/drawingml/2006/main" id="12" idx="3"/>
            <a:endCxn xmlns:a="http://schemas.openxmlformats.org/drawingml/2006/main" id="13" idx="1"/>
          </p:cNvCxnSpPr>
          <p:nvPr/>
        </p:nvCxnSpPr>
        <p:spPr>
          <a:xfrm xmlns:a="http://schemas.openxmlformats.org/drawingml/2006/main">
            <a:off x="6858000" y="5367338"/>
            <a:ext cx="762000" cy="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4" name="">
            <a:extLst xmlns:a="http://schemas.openxmlformats.org/drawingml/2006/main">
              <a:ext uri="{FF2B5EF4-FFF2-40B4-BE49-F238E27FC236}">
                <a16:creationId xmlns:a16="http://schemas.microsoft.com/office/drawing/2014/main" id="{265F1915-402B-4D5A-AC84-64EF4E7811D5}"/>
              </a:ext>
            </a:extLst>
          </p:cNvPr>
          <p:cNvCxnSpPr>
            <a:stCxn xmlns:a="http://schemas.openxmlformats.org/drawingml/2006/main" id="11" idx="3"/>
            <a:endCxn xmlns:a="http://schemas.openxmlformats.org/drawingml/2006/main" id="12" idx="1"/>
          </p:cNvCxnSpPr>
          <p:nvPr/>
        </p:nvCxnSpPr>
        <p:spPr>
          <a:xfrm xmlns:a="http://schemas.openxmlformats.org/drawingml/2006/main">
            <a:off x="3476625" y="5367338"/>
            <a:ext cx="762000" cy="0"/>
          </a:xfrm>
          <a:prstGeom xmlns:a="http://schemas.openxmlformats.org/drawingml/2006/main" prst="straightConnector1">
            <a:avLst/>
          </a:prstGeom>
          <a:ln xmlns:a="http://schemas.openxmlformats.org/drawingml/2006/main" w="19050">
            <a:solidFill>
              <a:srgbClr val="607083"/>
            </a:solidFill>
            <a:tailEnd type="arrow" w="med" len="med"/>
          </a:ln>
        </p:spPr>
      </p:cxnSp>
      <p:sp>
        <p:nvSpPr>
          <p:cNvPr id="17" name="">
            <a:extLst xmlns:a="http://schemas.openxmlformats.org/drawingml/2006/main">
              <a:ext uri="{FF2B5EF4-FFF2-40B4-BE49-F238E27FC236}">
                <a16:creationId xmlns:a16="http://schemas.microsoft.com/office/drawing/2014/main" id="{EA2FBC15-C9F0-466E-A12D-7B739CF55EB7}"/>
              </a:ext>
            </a:extLst>
          </p:cNvPr>
          <p:cNvSpPr>
            <a:spLocks xmlns:a="http://schemas.openxmlformats.org/drawingml/2006/main" noGrp="1"/>
          </p:cNvSpPr>
          <p:nvPr/>
        </p:nvSpPr>
        <p:spPr>
          <a:xfrm xmlns:a="http://schemas.openxmlformats.org/drawingml/2006/main">
            <a:off x="523875" y="361950"/>
            <a:ext cx="1114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Data: switching dynamical systems</a:t>
            </a:r>
          </a:p>
        </p:txBody>
      </p:sp>
      <p:sp>
        <p:nvSpPr>
          <p:cNvPr id="2" name="">
            <a:extLst xmlns:a="http://schemas.openxmlformats.org/drawingml/2006/main">
              <a:ext uri="{FF2B5EF4-FFF2-40B4-BE49-F238E27FC236}">
                <a16:creationId xmlns:a16="http://schemas.microsoft.com/office/drawing/2014/main" id="{A3DEF5BA-8611-4861-ABCD-9F34821EA065}"/>
              </a:ext>
            </a:extLst>
          </p:cNvPr>
          <p:cNvSpPr>
            <a:spLocks xmlns:a="http://schemas.openxmlformats.org/drawingml/2006/main" noGrp="1"/>
          </p:cNvSpPr>
          <p:nvPr/>
        </p:nvSpPr>
        <p:spPr>
          <a:xfrm xmlns:a="http://schemas.openxmlformats.org/drawingml/2006/main">
            <a:off x="523875" y="6477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083"/>
                </a:solidFill>
                <a:latin typeface="Arial"/>
                <a:ea typeface="Arial"/>
                <a:cs typeface="Arial"/>
              </a:defRPr>
            </a:defPPr>
          </a:lstStyle>
          <a:p xmlns:a="http://schemas.openxmlformats.org/drawingml/2006/main">
            <a:pPr>
              <a:defRPr sz="1200" b="0">
                <a:solidFill>
                  <a:srgbClr val="607083"/>
                </a:solidFill>
                <a:latin typeface="Arial"/>
                <a:ea typeface="Arial"/>
                <a:cs typeface="Arial"/>
              </a:defRPr>
            </a:pPr>
            <a:r>
              <a:rPr sz="1200" b="0">
                <a:solidFill>
                  <a:srgbClr val="607083"/>
                </a:solidFill>
                <a:latin typeface="Arial"/>
                <a:ea typeface="Arial"/>
                <a:cs typeface="Arial"/>
              </a:rPr>
              <a:t>Twilight MoE Dynamics · Lab meeting · 14 October 2026</a:t>
            </a:r>
          </a:p>
        </p:txBody>
      </p:sp>
      <p:sp>
        <p:nvSpPr>
          <p:cNvPr id="3" name="">
            <a:extLst xmlns:a="http://schemas.openxmlformats.org/drawingml/2006/main">
              <a:ext uri="{FF2B5EF4-FFF2-40B4-BE49-F238E27FC236}">
                <a16:creationId xmlns:a16="http://schemas.microsoft.com/office/drawing/2014/main" id="{F538858F-2C23-418F-AFD1-3709572A58C4}"/>
              </a:ext>
            </a:extLst>
          </p:cNvPr>
          <p:cNvSpPr>
            <a:spLocks xmlns:a="http://schemas.openxmlformats.org/drawingml/2006/main" noGrp="1"/>
          </p:cNvSpPr>
          <p:nvPr/>
        </p:nvSpPr>
        <p:spPr>
          <a:xfrm xmlns:a="http://schemas.openxmlformats.org/drawingml/2006/main">
            <a:off x="11334750" y="64484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07083"/>
                </a:solidFill>
                <a:latin typeface="Arial"/>
                <a:ea typeface="Arial"/>
                <a:cs typeface="Arial"/>
              </a:defRPr>
            </a:defPPr>
          </a:lstStyle>
          <a:p xmlns:a="http://schemas.openxmlformats.org/drawingml/2006/main">
            <a:pPr>
              <a:defRPr sz="1350" b="0">
                <a:solidFill>
                  <a:srgbClr val="607083"/>
                </a:solidFill>
                <a:latin typeface="Arial"/>
                <a:ea typeface="Arial"/>
                <a:cs typeface="Arial"/>
              </a:defRPr>
            </a:pPr>
            <a:r>
              <a:rPr sz="1350" b="0">
                <a:solidFill>
                  <a:srgbClr val="607083"/>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570CF3F-737B-454A-9302-332A666D4E22}"/>
              </a:ext>
            </a:extLst>
          </p:cNvPr>
          <p:cNvSpPr>
            <a:spLocks xmlns:a="http://schemas.openxmlformats.org/drawingml/2006/main" noGrp="1"/>
          </p:cNvSpPr>
          <p:nvPr/>
        </p:nvSpPr>
        <p:spPr>
          <a:xfrm xmlns:a="http://schemas.openxmlformats.org/drawingml/2006/main">
            <a:off x="523875" y="1076325"/>
            <a:ext cx="1114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87E8B"/>
                </a:solidFill>
                <a:latin typeface="Arial"/>
                <a:ea typeface="Arial"/>
                <a:cs typeface="Arial"/>
              </a:defRPr>
            </a:def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Can conditional routing help predict a system whose dynamics change?</a:t>
            </a:r>
          </a:p>
        </p:txBody>
      </p:sp>
      <p:sp>
        <p:nvSpPr>
          <p:cNvPr id="5" name="">
            <a:extLst xmlns:a="http://schemas.openxmlformats.org/drawingml/2006/main">
              <a:ext uri="{FF2B5EF4-FFF2-40B4-BE49-F238E27FC236}">
                <a16:creationId xmlns:a16="http://schemas.microsoft.com/office/drawing/2014/main" id="{541F9304-DA1F-4248-8BCF-173A958D067B}"/>
              </a:ext>
            </a:extLst>
          </p:cNvPr>
          <p:cNvSpPr>
            <a:spLocks xmlns:a="http://schemas.openxmlformats.org/drawingml/2006/main" noGrp="1"/>
          </p:cNvSpPr>
          <p:nvPr/>
        </p:nvSpPr>
        <p:spPr>
          <a:xfrm xmlns:a="http://schemas.openxmlformats.org/drawingml/2006/main">
            <a:off x="523875" y="18288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2B45"/>
                </a:solidFill>
                <a:latin typeface="Arial"/>
                <a:ea typeface="Arial"/>
                <a:cs typeface="Arial"/>
              </a:defRPr>
            </a:defPPr>
          </a:lstStyle>
          <a:p xmlns:a="http://schemas.openxmlformats.org/drawingml/2006/main">
            <a:pPr>
              <a:defRPr sz="2250" b="1">
                <a:solidFill>
                  <a:srgbClr val="152B45"/>
                </a:solidFill>
                <a:latin typeface="Arial"/>
                <a:ea typeface="Arial"/>
                <a:cs typeface="Arial"/>
              </a:defRPr>
            </a:pPr>
            <a:r>
              <a:rPr sz="2250" b="1">
                <a:solidFill>
                  <a:srgbClr val="152B45"/>
                </a:solidFill>
                <a:latin typeface="Arial"/>
                <a:ea typeface="Arial"/>
                <a:cs typeface="Arial"/>
              </a:rPr>
              <a:t>Synthetic 4-D time series</a:t>
            </a:r>
          </a:p>
        </p:txBody>
      </p:sp>
      <p:sp>
        <p:nvSpPr>
          <p:cNvPr id="6" name="">
            <a:extLst xmlns:a="http://schemas.openxmlformats.org/drawingml/2006/main">
              <a:ext uri="{FF2B5EF4-FFF2-40B4-BE49-F238E27FC236}">
                <a16:creationId xmlns:a16="http://schemas.microsoft.com/office/drawing/2014/main" id="{347B8182-67E2-4676-8C5E-5E818A90A9E7}"/>
              </a:ext>
            </a:extLst>
          </p:cNvPr>
          <p:cNvSpPr>
            <a:spLocks xmlns:a="http://schemas.openxmlformats.org/drawingml/2006/main" noGrp="1"/>
          </p:cNvSpPr>
          <p:nvPr/>
        </p:nvSpPr>
        <p:spPr>
          <a:xfrm xmlns:a="http://schemas.openxmlformats.org/drawingml/2006/main">
            <a:off x="523875" y="2362200"/>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B45"/>
                </a:solidFill>
                <a:latin typeface="Arial"/>
                <a:ea typeface="Arial"/>
                <a:cs typeface="Arial"/>
              </a:defRPr>
            </a:defPPr>
          </a:lstStyle>
          <a:p xmlns:a="http://schemas.openxmlformats.org/drawingml/2006/main">
            <a:pPr>
              <a:defRPr sz="2550" b="1">
                <a:solidFill>
                  <a:srgbClr val="152B45"/>
                </a:solidFill>
                <a:latin typeface="Arial"/>
                <a:ea typeface="Arial"/>
                <a:cs typeface="Arial"/>
              </a:defRPr>
            </a:pPr>
            <a:r>
              <a:rPr sz="2550" b="1">
                <a:solidFill>
                  <a:srgbClr val="152B45"/>
                </a:solidFill>
                <a:latin typeface="Arial"/>
                <a:ea typeface="Arial"/>
                <a:cs typeface="Arial"/>
              </a:rPr>
              <a:t>x(t + 1) = A[r(t)] x(t) + ε(t)</a:t>
            </a:r>
          </a:p>
        </p:txBody>
      </p:sp>
      <p:sp>
        <p:nvSpPr>
          <p:cNvPr id="7" name="">
            <a:extLst xmlns:a="http://schemas.openxmlformats.org/drawingml/2006/main">
              <a:ext uri="{FF2B5EF4-FFF2-40B4-BE49-F238E27FC236}">
                <a16:creationId xmlns:a16="http://schemas.microsoft.com/office/drawing/2014/main" id="{CE419495-79C7-4B99-8728-9CAF0D011174}"/>
              </a:ext>
            </a:extLst>
          </p:cNvPr>
          <p:cNvSpPr>
            <a:spLocks xmlns:a="http://schemas.openxmlformats.org/drawingml/2006/main" noGrp="1"/>
          </p:cNvSpPr>
          <p:nvPr/>
        </p:nvSpPr>
        <p:spPr>
          <a:xfrm xmlns:a="http://schemas.openxmlformats.org/drawingml/2006/main">
            <a:off x="523875" y="3048000"/>
            <a:ext cx="571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84D"/>
                </a:solidFill>
                <a:latin typeface="Arial"/>
                <a:ea typeface="Arial"/>
                <a:cs typeface="Arial"/>
              </a:defRPr>
            </a:defPPr>
          </a:lstStyle>
          <a:p xmlns:a="http://schemas.openxmlformats.org/drawingml/2006/main">
            <a:pPr>
              <a:defRPr sz="1950" b="0">
                <a:solidFill>
                  <a:srgbClr val="24384D"/>
                </a:solidFill>
                <a:latin typeface="Arial"/>
                <a:ea typeface="Arial"/>
                <a:cs typeface="Arial"/>
              </a:defRPr>
            </a:pPr>
            <a:r>
              <a:rPr sz="1950" b="0">
                <a:solidFill>
                  <a:srgbClr val="24384D"/>
                </a:solidFill>
                <a:latin typeface="Arial"/>
                <a:ea typeface="Arial"/>
                <a:cs typeface="Arial"/>
              </a:rPr>
              <a:t>Three stable linear transition rules</a:t>
            </a:r>
          </a:p>
          <a:p xmlns:a="http://schemas.openxmlformats.org/drawingml/2006/main">
            <a:pPr>
              <a:defRPr sz="1950" b="0">
                <a:solidFill>
                  <a:srgbClr val="24384D"/>
                </a:solidFill>
                <a:latin typeface="Arial"/>
                <a:ea typeface="Arial"/>
                <a:cs typeface="Arial"/>
              </a:defRPr>
            </a:pPr>
            <a:r>
              <a:rPr sz="1950" b="0">
                <a:solidFill>
                  <a:srgbClr val="24384D"/>
                </a:solidFill>
                <a:latin typeface="Arial"/>
                <a:ea typeface="Arial"/>
                <a:cs typeface="Arial"/>
              </a:rPr>
              <a:t>Hidden Markov regime, 95% chance to stay</a:t>
            </a:r>
          </a:p>
          <a:p xmlns:a="http://schemas.openxmlformats.org/drawingml/2006/main">
            <a:pPr>
              <a:defRPr sz="1950" b="0">
                <a:solidFill>
                  <a:srgbClr val="24384D"/>
                </a:solidFill>
                <a:latin typeface="Arial"/>
                <a:ea typeface="Arial"/>
                <a:cs typeface="Arial"/>
              </a:defRPr>
            </a:pPr>
            <a:r>
              <a:rPr sz="1950" b="0">
                <a:solidFill>
                  <a:srgbClr val="24384D"/>
                </a:solidFill>
                <a:latin typeface="Arial"/>
                <a:ea typeface="Arial"/>
                <a:cs typeface="Arial"/>
              </a:rPr>
              <a:t>Gaussian noise with standard deviation 0.08</a:t>
            </a:r>
          </a:p>
        </p:txBody>
      </p:sp>
      <p:sp>
        <p:nvSpPr>
          <p:cNvPr id="8" name="">
            <a:extLst xmlns:a="http://schemas.openxmlformats.org/drawingml/2006/main">
              <a:ext uri="{FF2B5EF4-FFF2-40B4-BE49-F238E27FC236}">
                <a16:creationId xmlns:a16="http://schemas.microsoft.com/office/drawing/2014/main" id="{1893AC66-F962-419D-AD21-A24D73210D55}"/>
              </a:ext>
            </a:extLst>
          </p:cNvPr>
          <p:cNvSpPr>
            <a:spLocks xmlns:a="http://schemas.openxmlformats.org/drawingml/2006/main" noGrp="1"/>
          </p:cNvSpPr>
          <p:nvPr/>
        </p:nvSpPr>
        <p:spPr>
          <a:xfrm xmlns:a="http://schemas.openxmlformats.org/drawingml/2006/main">
            <a:off x="6858000" y="18288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2B45"/>
                </a:solidFill>
                <a:latin typeface="Arial"/>
                <a:ea typeface="Arial"/>
                <a:cs typeface="Arial"/>
              </a:defRPr>
            </a:defPPr>
          </a:lstStyle>
          <a:p xmlns:a="http://schemas.openxmlformats.org/drawingml/2006/main">
            <a:pPr>
              <a:defRPr sz="2250" b="1">
                <a:solidFill>
                  <a:srgbClr val="152B45"/>
                </a:solidFill>
                <a:latin typeface="Arial"/>
                <a:ea typeface="Arial"/>
                <a:cs typeface="Arial"/>
              </a:defRPr>
            </a:pPr>
            <a:r>
              <a:rPr sz="2250" b="1">
                <a:solidFill>
                  <a:srgbClr val="152B45"/>
                </a:solidFill>
                <a:latin typeface="Arial"/>
                <a:ea typeface="Arial"/>
                <a:cs typeface="Arial"/>
              </a:rPr>
              <a:t>Controlled dataset</a:t>
            </a:r>
          </a:p>
        </p:txBody>
      </p:sp>
      <p:sp>
        <p:nvSpPr>
          <p:cNvPr id="9" name="">
            <a:extLst xmlns:a="http://schemas.openxmlformats.org/drawingml/2006/main">
              <a:ext uri="{FF2B5EF4-FFF2-40B4-BE49-F238E27FC236}">
                <a16:creationId xmlns:a16="http://schemas.microsoft.com/office/drawing/2014/main" id="{9D10F746-EE93-47CD-838C-BF51D9D8BD2E}"/>
              </a:ext>
            </a:extLst>
          </p:cNvPr>
          <p:cNvSpPr>
            <a:spLocks xmlns:a="http://schemas.openxmlformats.org/drawingml/2006/main" noGrp="1"/>
          </p:cNvSpPr>
          <p:nvPr/>
        </p:nvSpPr>
        <p:spPr>
          <a:xfrm xmlns:a="http://schemas.openxmlformats.org/drawingml/2006/main">
            <a:off x="6858000" y="2352675"/>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84D"/>
                </a:solidFill>
                <a:latin typeface="Arial"/>
                <a:ea typeface="Arial"/>
                <a:cs typeface="Arial"/>
              </a:defRPr>
            </a:defPPr>
          </a:lstStyle>
          <a:p xmlns:a="http://schemas.openxmlformats.org/drawingml/2006/main">
            <a:pPr>
              <a:defRPr sz="1950" b="0">
                <a:solidFill>
                  <a:srgbClr val="24384D"/>
                </a:solidFill>
                <a:latin typeface="Arial"/>
                <a:ea typeface="Arial"/>
                <a:cs typeface="Arial"/>
              </a:defRPr>
            </a:pPr>
            <a:r>
              <a:rPr sz="1950" b="0">
                <a:solidFill>
                  <a:srgbClr val="24384D"/>
                </a:solidFill>
                <a:latin typeface="Arial"/>
                <a:ea typeface="Arial"/>
                <a:cs typeface="Arial"/>
              </a:rPr>
              <a:t>256 training sequences</a:t>
            </a:r>
          </a:p>
          <a:p xmlns:a="http://schemas.openxmlformats.org/drawingml/2006/main">
            <a:pPr>
              <a:defRPr sz="1950" b="0">
                <a:solidFill>
                  <a:srgbClr val="24384D"/>
                </a:solidFill>
                <a:latin typeface="Arial"/>
                <a:ea typeface="Arial"/>
                <a:cs typeface="Arial"/>
              </a:defRPr>
            </a:pPr>
            <a:r>
              <a:rPr sz="1950" b="0">
                <a:solidFill>
                  <a:srgbClr val="24384D"/>
                </a:solidFill>
                <a:latin typeface="Arial"/>
                <a:ea typeface="Arial"/>
                <a:cs typeface="Arial"/>
              </a:rPr>
              <a:t>64 validation + 64 test sequences</a:t>
            </a:r>
          </a:p>
          <a:p xmlns:a="http://schemas.openxmlformats.org/drawingml/2006/main">
            <a:pPr>
              <a:defRPr sz="1950" b="0">
                <a:solidFill>
                  <a:srgbClr val="24384D"/>
                </a:solidFill>
                <a:latin typeface="Arial"/>
                <a:ea typeface="Arial"/>
                <a:cs typeface="Arial"/>
              </a:defRPr>
            </a:pPr>
            <a:r>
              <a:rPr sz="1950" b="0">
                <a:solidFill>
                  <a:srgbClr val="24384D"/>
                </a:solidFill>
                <a:latin typeface="Arial"/>
                <a:ea typeface="Arial"/>
                <a:cs typeface="Arial"/>
              </a:rPr>
              <a:t>192 transitions per sequence</a:t>
            </a:r>
          </a:p>
          <a:p xmlns:a="http://schemas.openxmlformats.org/drawingml/2006/main">
            <a:pPr>
              <a:defRPr sz="1950" b="0">
                <a:solidFill>
                  <a:srgbClr val="24384D"/>
                </a:solidFill>
                <a:latin typeface="Arial"/>
                <a:ea typeface="Arial"/>
                <a:cs typeface="Arial"/>
              </a:defRPr>
            </a:pPr>
            <a:r>
              <a:rPr sz="1950" b="0">
                <a:solidFill>
                  <a:srgbClr val="24384D"/>
                </a:solidFill>
                <a:latin typeface="Arial"/>
                <a:ea typeface="Arial"/>
                <a:cs typeface="Arial"/>
              </a:rPr>
              <a:t>Three independent seeds</a:t>
            </a:r>
          </a:p>
        </p:txBody>
      </p:sp>
      <p:sp>
        <p:nvSpPr>
          <p:cNvPr id="10" name="">
            <a:extLst xmlns:a="http://schemas.openxmlformats.org/drawingml/2006/main">
              <a:ext uri="{FF2B5EF4-FFF2-40B4-BE49-F238E27FC236}">
                <a16:creationId xmlns:a16="http://schemas.microsoft.com/office/drawing/2014/main" id="{D0406854-37E6-4E9E-8D89-B4FD382887F5}"/>
              </a:ext>
            </a:extLst>
          </p:cNvPr>
          <p:cNvSpPr>
            <a:spLocks xmlns:a="http://schemas.openxmlformats.org/drawingml/2006/main" noGrp="1"/>
          </p:cNvSpPr>
          <p:nvPr/>
        </p:nvSpPr>
        <p:spPr>
          <a:xfrm xmlns:a="http://schemas.openxmlformats.org/drawingml/2006/main">
            <a:off x="523875" y="44386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2B45"/>
                </a:solidFill>
                <a:latin typeface="Arial"/>
                <a:ea typeface="Arial"/>
                <a:cs typeface="Arial"/>
              </a:defRPr>
            </a:defPPr>
          </a:lstStyle>
          <a:p xmlns:a="http://schemas.openxmlformats.org/drawingml/2006/main">
            <a:pPr>
              <a:defRPr sz="2100" b="1">
                <a:solidFill>
                  <a:srgbClr val="152B45"/>
                </a:solidFill>
                <a:latin typeface="Arial"/>
                <a:ea typeface="Arial"/>
                <a:cs typeface="Arial"/>
              </a:defRPr>
            </a:pPr>
            <a:r>
              <a:rPr sz="2100" b="1">
                <a:solidFill>
                  <a:srgbClr val="152B45"/>
                </a:solidFill>
                <a:latin typeface="Arial"/>
                <a:ea typeface="Arial"/>
                <a:cs typeface="Arial"/>
              </a:rPr>
              <a:t>Prediction task</a:t>
            </a:r>
          </a:p>
        </p:txBody>
      </p:sp>
      <p:sp>
        <p:nvSpPr>
          <p:cNvPr id="11" name="">
            <a:extLst xmlns:a="http://schemas.openxmlformats.org/drawingml/2006/main">
              <a:ext uri="{FF2B5EF4-FFF2-40B4-BE49-F238E27FC236}">
                <a16:creationId xmlns:a16="http://schemas.microsoft.com/office/drawing/2014/main" id="{E22E3E14-7581-4F05-8AF8-D96F94D94F4E}"/>
              </a:ext>
            </a:extLst>
          </p:cNvPr>
          <p:cNvSpPr>
            <a:spLocks xmlns:a="http://schemas.openxmlformats.org/drawingml/2006/main" noGrp="1"/>
          </p:cNvSpPr>
          <p:nvPr/>
        </p:nvSpPr>
        <p:spPr>
          <a:xfrm xmlns:a="http://schemas.openxmlformats.org/drawingml/2006/main">
            <a:off x="523875" y="4972050"/>
            <a:ext cx="2952750" cy="790575"/>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8 observed states</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8 × 4 values</a:t>
            </a:r>
          </a:p>
        </p:txBody>
      </p:sp>
      <p:sp>
        <p:nvSpPr>
          <p:cNvPr id="12" name="">
            <a:extLst xmlns:a="http://schemas.openxmlformats.org/drawingml/2006/main">
              <a:ext uri="{FF2B5EF4-FFF2-40B4-BE49-F238E27FC236}">
                <a16:creationId xmlns:a16="http://schemas.microsoft.com/office/drawing/2014/main" id="{EAACE3A6-C34C-43F8-BF63-671AC22C3D81}"/>
              </a:ext>
            </a:extLst>
          </p:cNvPr>
          <p:cNvSpPr>
            <a:spLocks xmlns:a="http://schemas.openxmlformats.org/drawingml/2006/main" noGrp="1"/>
          </p:cNvSpPr>
          <p:nvPr/>
        </p:nvSpPr>
        <p:spPr>
          <a:xfrm xmlns:a="http://schemas.openxmlformats.org/drawingml/2006/main">
            <a:off x="4238625" y="4972050"/>
            <a:ext cx="2619375" cy="790575"/>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Model</a:t>
            </a:r>
          </a:p>
        </p:txBody>
      </p:sp>
      <p:sp>
        <p:nvSpPr>
          <p:cNvPr id="13" name="">
            <a:extLst xmlns:a="http://schemas.openxmlformats.org/drawingml/2006/main">
              <a:ext uri="{FF2B5EF4-FFF2-40B4-BE49-F238E27FC236}">
                <a16:creationId xmlns:a16="http://schemas.microsoft.com/office/drawing/2014/main" id="{BB376E8F-7061-4BE1-95D6-D6CD457A9798}"/>
              </a:ext>
            </a:extLst>
          </p:cNvPr>
          <p:cNvSpPr>
            <a:spLocks xmlns:a="http://schemas.openxmlformats.org/drawingml/2006/main" noGrp="1"/>
          </p:cNvSpPr>
          <p:nvPr/>
        </p:nvSpPr>
        <p:spPr>
          <a:xfrm xmlns:a="http://schemas.openxmlformats.org/drawingml/2006/main">
            <a:off x="7620000" y="4972050"/>
            <a:ext cx="3524250" cy="790575"/>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Next state</a:t>
            </a:r>
          </a:p>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4 predicted values</a:t>
            </a:r>
          </a:p>
        </p:txBody>
      </p:sp>
      <p:sp>
        <p:nvSpPr>
          <p:cNvPr id="16" name="">
            <a:extLst xmlns:a="http://schemas.openxmlformats.org/drawingml/2006/main">
              <a:ext uri="{FF2B5EF4-FFF2-40B4-BE49-F238E27FC236}">
                <a16:creationId xmlns:a16="http://schemas.microsoft.com/office/drawing/2014/main" id="{E2D70AAD-7BC1-4970-BE40-4EA57002D26C}"/>
              </a:ext>
            </a:extLst>
          </p:cNvPr>
          <p:cNvSpPr>
            <a:spLocks xmlns:a="http://schemas.openxmlformats.org/drawingml/2006/main" noGrp="1"/>
          </p:cNvSpPr>
          <p:nvPr/>
        </p:nvSpPr>
        <p:spPr>
          <a:xfrm xmlns:a="http://schemas.openxmlformats.org/drawingml/2006/main">
            <a:off x="523875" y="601980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Split by sequence. Fit normalization on training data. Hide regime labels from ordinary models.</a:t>
            </a:r>
          </a:p>
        </p:txBody>
      </p:sp>
    </p:spTree>
    <p:extLst>
      <p:ext uri="{BB962C8B-B14F-4D97-AF65-F5344CB8AC3E}">
        <p14:creationId xmlns:p14="http://schemas.microsoft.com/office/powerpoint/2010/main" val="17695347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4136A5C2-8D4B-4807-B67C-E809EF02E9B0}"/>
              </a:ext>
            </a:extLst>
          </p:cNvPr>
          <p:cNvCxnSpPr>
            <a:stCxn xmlns:a="http://schemas.openxmlformats.org/drawingml/2006/main" id="31" idx="3"/>
            <a:endCxn xmlns:a="http://schemas.openxmlformats.org/drawingml/2006/main" id="32" idx="1"/>
          </p:cNvCxnSpPr>
          <p:nvPr/>
        </p:nvCxnSpPr>
        <p:spPr>
          <a:xfrm xmlns:a="http://schemas.openxmlformats.org/drawingml/2006/main">
            <a:off x="8953500" y="5133975"/>
            <a:ext cx="428625" cy="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29" name="">
            <a:extLst xmlns:a="http://schemas.openxmlformats.org/drawingml/2006/main">
              <a:ext uri="{FF2B5EF4-FFF2-40B4-BE49-F238E27FC236}">
                <a16:creationId xmlns:a16="http://schemas.microsoft.com/office/drawing/2014/main" id="{9BB83E9E-D32F-4D2C-9376-05B42C2D5B3E}"/>
              </a:ext>
            </a:extLst>
          </p:cNvPr>
          <p:cNvCxnSpPr>
            <a:stCxn xmlns:a="http://schemas.openxmlformats.org/drawingml/2006/main" id="27" idx="3"/>
            <a:endCxn xmlns:a="http://schemas.openxmlformats.org/drawingml/2006/main" id="28" idx="1"/>
          </p:cNvCxnSpPr>
          <p:nvPr/>
        </p:nvCxnSpPr>
        <p:spPr>
          <a:xfrm xmlns:a="http://schemas.openxmlformats.org/drawingml/2006/main">
            <a:off x="8953500" y="4410075"/>
            <a:ext cx="428625" cy="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25" name="">
            <a:extLst xmlns:a="http://schemas.openxmlformats.org/drawingml/2006/main">
              <a:ext uri="{FF2B5EF4-FFF2-40B4-BE49-F238E27FC236}">
                <a16:creationId xmlns:a16="http://schemas.microsoft.com/office/drawing/2014/main" id="{CDC8DCA7-25C2-43F8-9061-EA810C7ED495}"/>
              </a:ext>
            </a:extLst>
          </p:cNvPr>
          <p:cNvCxnSpPr>
            <a:stCxn xmlns:a="http://schemas.openxmlformats.org/drawingml/2006/main" id="23" idx="3"/>
            <a:endCxn xmlns:a="http://schemas.openxmlformats.org/drawingml/2006/main" id="24" idx="1"/>
          </p:cNvCxnSpPr>
          <p:nvPr/>
        </p:nvCxnSpPr>
        <p:spPr>
          <a:xfrm xmlns:a="http://schemas.openxmlformats.org/drawingml/2006/main">
            <a:off x="8953500" y="3686175"/>
            <a:ext cx="428625" cy="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21" name="">
            <a:extLst xmlns:a="http://schemas.openxmlformats.org/drawingml/2006/main">
              <a:ext uri="{FF2B5EF4-FFF2-40B4-BE49-F238E27FC236}">
                <a16:creationId xmlns:a16="http://schemas.microsoft.com/office/drawing/2014/main" id="{B8BCAF5A-528A-4CD9-B0DF-5FED2EE84EAB}"/>
              </a:ext>
            </a:extLst>
          </p:cNvPr>
          <p:cNvCxnSpPr>
            <a:stCxn xmlns:a="http://schemas.openxmlformats.org/drawingml/2006/main" id="19" idx="3"/>
            <a:endCxn xmlns:a="http://schemas.openxmlformats.org/drawingml/2006/main" id="20" idx="1"/>
          </p:cNvCxnSpPr>
          <p:nvPr/>
        </p:nvCxnSpPr>
        <p:spPr>
          <a:xfrm xmlns:a="http://schemas.openxmlformats.org/drawingml/2006/main">
            <a:off x="8953500" y="2962275"/>
            <a:ext cx="428625" cy="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3" name="">
            <a:extLst xmlns:a="http://schemas.openxmlformats.org/drawingml/2006/main">
              <a:ext uri="{FF2B5EF4-FFF2-40B4-BE49-F238E27FC236}">
                <a16:creationId xmlns:a16="http://schemas.microsoft.com/office/drawing/2014/main" id="{D2C77913-72F2-4BDF-B635-8AF3A4AC9D08}"/>
              </a:ext>
            </a:extLst>
          </p:cNvPr>
          <p:cNvCxnSpPr>
            <a:stCxn xmlns:a="http://schemas.openxmlformats.org/drawingml/2006/main" id="11" idx="3"/>
            <a:endCxn xmlns:a="http://schemas.openxmlformats.org/drawingml/2006/main" id="12" idx="1"/>
          </p:cNvCxnSpPr>
          <p:nvPr/>
        </p:nvCxnSpPr>
        <p:spPr>
          <a:xfrm xmlns:a="http://schemas.openxmlformats.org/drawingml/2006/main">
            <a:off x="1714500" y="4381500"/>
            <a:ext cx="333375" cy="47625"/>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9" name="">
            <a:extLst xmlns:a="http://schemas.openxmlformats.org/drawingml/2006/main">
              <a:ext uri="{FF2B5EF4-FFF2-40B4-BE49-F238E27FC236}">
                <a16:creationId xmlns:a16="http://schemas.microsoft.com/office/drawing/2014/main" id="{6BFB413D-AC08-4239-88E8-7560EF879485}"/>
              </a:ext>
            </a:extLst>
          </p:cNvPr>
          <p:cNvCxnSpPr>
            <a:stCxn xmlns:a="http://schemas.openxmlformats.org/drawingml/2006/main" id="7" idx="3"/>
            <a:endCxn xmlns:a="http://schemas.openxmlformats.org/drawingml/2006/main" id="8" idx="1"/>
          </p:cNvCxnSpPr>
          <p:nvPr/>
        </p:nvCxnSpPr>
        <p:spPr>
          <a:xfrm xmlns:a="http://schemas.openxmlformats.org/drawingml/2006/main">
            <a:off x="1714500" y="3048000"/>
            <a:ext cx="333375" cy="0"/>
          </a:xfrm>
          <a:prstGeom xmlns:a="http://schemas.openxmlformats.org/drawingml/2006/main" prst="straightConnector1">
            <a:avLst/>
          </a:prstGeom>
          <a:ln xmlns:a="http://schemas.openxmlformats.org/drawingml/2006/main" w="19050">
            <a:solidFill>
              <a:srgbClr val="607083"/>
            </a:solidFill>
            <a:tailEnd type="arrow" w="med" len="med"/>
          </a:ln>
        </p:spPr>
      </p:cxnSp>
      <p:sp>
        <p:nvSpPr>
          <p:cNvPr id="36" name="">
            <a:extLst xmlns:a="http://schemas.openxmlformats.org/drawingml/2006/main">
              <a:ext uri="{FF2B5EF4-FFF2-40B4-BE49-F238E27FC236}">
                <a16:creationId xmlns:a16="http://schemas.microsoft.com/office/drawing/2014/main" id="{26588354-D850-484A-96E3-F3E8FD532E60}"/>
              </a:ext>
            </a:extLst>
          </p:cNvPr>
          <p:cNvSpPr>
            <a:spLocks xmlns:a="http://schemas.openxmlformats.org/drawingml/2006/main" noGrp="1"/>
          </p:cNvSpPr>
          <p:nvPr/>
        </p:nvSpPr>
        <p:spPr>
          <a:xfrm xmlns:a="http://schemas.openxmlformats.org/drawingml/2006/main">
            <a:off x="523875" y="361950"/>
            <a:ext cx="1114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Structures: where should routing act?</a:t>
            </a:r>
          </a:p>
        </p:txBody>
      </p:sp>
      <p:sp>
        <p:nvSpPr>
          <p:cNvPr id="2" name="">
            <a:extLst xmlns:a="http://schemas.openxmlformats.org/drawingml/2006/main">
              <a:ext uri="{FF2B5EF4-FFF2-40B4-BE49-F238E27FC236}">
                <a16:creationId xmlns:a16="http://schemas.microsoft.com/office/drawing/2014/main" id="{DE39B0A6-FC89-4828-A01E-FBF7CB386F91}"/>
              </a:ext>
            </a:extLst>
          </p:cNvPr>
          <p:cNvSpPr>
            <a:spLocks xmlns:a="http://schemas.openxmlformats.org/drawingml/2006/main" noGrp="1"/>
          </p:cNvSpPr>
          <p:nvPr/>
        </p:nvSpPr>
        <p:spPr>
          <a:xfrm xmlns:a="http://schemas.openxmlformats.org/drawingml/2006/main">
            <a:off x="523875" y="6477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083"/>
                </a:solidFill>
                <a:latin typeface="Arial"/>
                <a:ea typeface="Arial"/>
                <a:cs typeface="Arial"/>
              </a:defRPr>
            </a:defPPr>
          </a:lstStyle>
          <a:p xmlns:a="http://schemas.openxmlformats.org/drawingml/2006/main">
            <a:pPr>
              <a:defRPr sz="1200" b="0">
                <a:solidFill>
                  <a:srgbClr val="607083"/>
                </a:solidFill>
                <a:latin typeface="Arial"/>
                <a:ea typeface="Arial"/>
                <a:cs typeface="Arial"/>
              </a:defRPr>
            </a:pPr>
            <a:r>
              <a:rPr sz="1200" b="0">
                <a:solidFill>
                  <a:srgbClr val="607083"/>
                </a:solidFill>
                <a:latin typeface="Arial"/>
                <a:ea typeface="Arial"/>
                <a:cs typeface="Arial"/>
              </a:rPr>
              <a:t>Twilight MoE Dynamics · Lab meeting · 14 October 2026</a:t>
            </a:r>
          </a:p>
        </p:txBody>
      </p:sp>
      <p:sp>
        <p:nvSpPr>
          <p:cNvPr id="3" name="">
            <a:extLst xmlns:a="http://schemas.openxmlformats.org/drawingml/2006/main">
              <a:ext uri="{FF2B5EF4-FFF2-40B4-BE49-F238E27FC236}">
                <a16:creationId xmlns:a16="http://schemas.microsoft.com/office/drawing/2014/main" id="{F35A5E8E-7E19-4AAB-B4BE-4DEF871AC1E6}"/>
              </a:ext>
            </a:extLst>
          </p:cNvPr>
          <p:cNvSpPr>
            <a:spLocks xmlns:a="http://schemas.openxmlformats.org/drawingml/2006/main" noGrp="1"/>
          </p:cNvSpPr>
          <p:nvPr/>
        </p:nvSpPr>
        <p:spPr>
          <a:xfrm xmlns:a="http://schemas.openxmlformats.org/drawingml/2006/main">
            <a:off x="11334750" y="64484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07083"/>
                </a:solidFill>
                <a:latin typeface="Arial"/>
                <a:ea typeface="Arial"/>
                <a:cs typeface="Arial"/>
              </a:defRPr>
            </a:defPPr>
          </a:lstStyle>
          <a:p xmlns:a="http://schemas.openxmlformats.org/drawingml/2006/main">
            <a:pPr>
              <a:defRPr sz="1350" b="0">
                <a:solidFill>
                  <a:srgbClr val="607083"/>
                </a:solidFill>
                <a:latin typeface="Arial"/>
                <a:ea typeface="Arial"/>
                <a:cs typeface="Arial"/>
              </a:defRPr>
            </a:pPr>
            <a:r>
              <a:rPr sz="1350" b="0">
                <a:solidFill>
                  <a:srgbClr val="607083"/>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78C4F961-D8B6-4BF6-82BC-603AE97ECD80}"/>
              </a:ext>
            </a:extLst>
          </p:cNvPr>
          <p:cNvSpPr>
            <a:spLocks xmlns:a="http://schemas.openxmlformats.org/drawingml/2006/main" noGrp="1"/>
          </p:cNvSpPr>
          <p:nvPr/>
        </p:nvSpPr>
        <p:spPr>
          <a:xfrm xmlns:a="http://schemas.openxmlformats.org/drawingml/2006/main">
            <a:off x="523875" y="1057275"/>
            <a:ext cx="1114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87E8B"/>
                </a:solidFill>
                <a:latin typeface="Arial"/>
                <a:ea typeface="Arial"/>
                <a:cs typeface="Arial"/>
              </a:defRPr>
            </a:defPPr>
          </a:lstStyle>
          <a:p xmlns:a="http://schemas.openxmlformats.org/drawingml/2006/main">
            <a:pPr>
              <a:defRPr sz="1950" b="1">
                <a:solidFill>
                  <a:srgbClr val="087E8B"/>
                </a:solidFill>
                <a:latin typeface="Arial"/>
                <a:ea typeface="Arial"/>
                <a:cs typeface="Arial"/>
              </a:defRPr>
            </a:pPr>
            <a:r>
              <a:rPr sz="1950" b="1">
                <a:solidFill>
                  <a:srgbClr val="087E8B"/>
                </a:solidFill>
                <a:latin typeface="Arial"/>
                <a:ea typeface="Arial"/>
                <a:cs typeface="Arial"/>
              </a:rPr>
              <a:t>Compare expert routing in an MLP, in attention heads, and in the Transformer FFN.</a:t>
            </a:r>
          </a:p>
        </p:txBody>
      </p:sp>
      <p:sp>
        <p:nvSpPr>
          <p:cNvPr id="5" name="">
            <a:extLst xmlns:a="http://schemas.openxmlformats.org/drawingml/2006/main">
              <a:ext uri="{FF2B5EF4-FFF2-40B4-BE49-F238E27FC236}">
                <a16:creationId xmlns:a16="http://schemas.microsoft.com/office/drawing/2014/main" id="{B660BADE-F7AA-4B1B-BE4A-2973F1411608}"/>
              </a:ext>
            </a:extLst>
          </p:cNvPr>
          <p:cNvSpPr>
            <a:spLocks xmlns:a="http://schemas.openxmlformats.org/drawingml/2006/main" noGrp="1"/>
          </p:cNvSpPr>
          <p:nvPr/>
        </p:nvSpPr>
        <p:spPr>
          <a:xfrm xmlns:a="http://schemas.openxmlformats.org/drawingml/2006/main">
            <a:off x="523875" y="1714500"/>
            <a:ext cx="4048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2B45"/>
                </a:solidFill>
                <a:latin typeface="Arial"/>
                <a:ea typeface="Arial"/>
                <a:cs typeface="Arial"/>
              </a:defRPr>
            </a:defPPr>
          </a:lstStyle>
          <a:p xmlns:a="http://schemas.openxmlformats.org/drawingml/2006/main">
            <a:pPr>
              <a:defRPr sz="2175" b="1">
                <a:solidFill>
                  <a:srgbClr val="152B45"/>
                </a:solidFill>
                <a:latin typeface="Arial"/>
                <a:ea typeface="Arial"/>
                <a:cs typeface="Arial"/>
              </a:defRPr>
            </a:pPr>
            <a:r>
              <a:rPr sz="2175" b="1">
                <a:solidFill>
                  <a:srgbClr val="152B45"/>
                </a:solidFill>
                <a:latin typeface="Arial"/>
                <a:ea typeface="Arial"/>
                <a:cs typeface="Arial"/>
              </a:rPr>
              <a:t>Original MLP comparison</a:t>
            </a:r>
          </a:p>
        </p:txBody>
      </p:sp>
      <p:sp>
        <p:nvSpPr>
          <p:cNvPr id="6" name="">
            <a:extLst xmlns:a="http://schemas.openxmlformats.org/drawingml/2006/main">
              <a:ext uri="{FF2B5EF4-FFF2-40B4-BE49-F238E27FC236}">
                <a16:creationId xmlns:a16="http://schemas.microsoft.com/office/drawing/2014/main" id="{DC0B4D4E-1E44-465E-9F7B-DD82EEB81A1B}"/>
              </a:ext>
            </a:extLst>
          </p:cNvPr>
          <p:cNvSpPr>
            <a:spLocks xmlns:a="http://schemas.openxmlformats.org/drawingml/2006/main" noGrp="1"/>
          </p:cNvSpPr>
          <p:nvPr/>
        </p:nvSpPr>
        <p:spPr>
          <a:xfrm xmlns:a="http://schemas.openxmlformats.org/drawingml/2006/main">
            <a:off x="523875" y="21526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083"/>
                </a:solidFill>
                <a:latin typeface="Arial"/>
                <a:ea typeface="Arial"/>
                <a:cs typeface="Arial"/>
              </a:defRPr>
            </a:defPPr>
          </a:lstStyle>
          <a:p xmlns:a="http://schemas.openxmlformats.org/drawingml/2006/main">
            <a:pPr>
              <a:defRPr sz="1725" b="0">
                <a:solidFill>
                  <a:srgbClr val="607083"/>
                </a:solidFill>
                <a:latin typeface="Arial"/>
                <a:ea typeface="Arial"/>
                <a:cs typeface="Arial"/>
              </a:defRPr>
            </a:pPr>
            <a:r>
              <a:rPr sz="1725" b="0">
                <a:solidFill>
                  <a:srgbClr val="607083"/>
                </a:solidFill>
                <a:latin typeface="Arial"/>
                <a:ea typeface="Arial"/>
                <a:cs typeface="Arial"/>
              </a:rPr>
              <a:t>Flatten the eight-state history</a:t>
            </a:r>
          </a:p>
        </p:txBody>
      </p:sp>
      <p:sp>
        <p:nvSpPr>
          <p:cNvPr id="7" name="">
            <a:extLst xmlns:a="http://schemas.openxmlformats.org/drawingml/2006/main">
              <a:ext uri="{FF2B5EF4-FFF2-40B4-BE49-F238E27FC236}">
                <a16:creationId xmlns:a16="http://schemas.microsoft.com/office/drawing/2014/main" id="{71E8A959-4A48-4208-9CF5-A7F3AD43762C}"/>
              </a:ext>
            </a:extLst>
          </p:cNvPr>
          <p:cNvSpPr>
            <a:spLocks xmlns:a="http://schemas.openxmlformats.org/drawingml/2006/main" noGrp="1"/>
          </p:cNvSpPr>
          <p:nvPr/>
        </p:nvSpPr>
        <p:spPr>
          <a:xfrm xmlns:a="http://schemas.openxmlformats.org/drawingml/2006/main">
            <a:off x="523875" y="2724150"/>
            <a:ext cx="1190625" cy="647700"/>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32 values</a:t>
            </a:r>
          </a:p>
        </p:txBody>
      </p:sp>
      <p:sp>
        <p:nvSpPr>
          <p:cNvPr id="8" name="">
            <a:extLst xmlns:a="http://schemas.openxmlformats.org/drawingml/2006/main">
              <a:ext uri="{FF2B5EF4-FFF2-40B4-BE49-F238E27FC236}">
                <a16:creationId xmlns:a16="http://schemas.microsoft.com/office/drawing/2014/main" id="{D89A2DF7-01EA-4A5C-B46E-9651E1C0310C}"/>
              </a:ext>
            </a:extLst>
          </p:cNvPr>
          <p:cNvSpPr>
            <a:spLocks xmlns:a="http://schemas.openxmlformats.org/drawingml/2006/main" noGrp="1"/>
          </p:cNvSpPr>
          <p:nvPr/>
        </p:nvSpPr>
        <p:spPr>
          <a:xfrm xmlns:a="http://schemas.openxmlformats.org/drawingml/2006/main">
            <a:off x="2047875" y="2724150"/>
            <a:ext cx="2000250" cy="647700"/>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Dense MLP</a:t>
            </a:r>
          </a:p>
        </p:txBody>
      </p:sp>
      <p:sp>
        <p:nvSpPr>
          <p:cNvPr id="10" name="">
            <a:extLst xmlns:a="http://schemas.openxmlformats.org/drawingml/2006/main">
              <a:ext uri="{FF2B5EF4-FFF2-40B4-BE49-F238E27FC236}">
                <a16:creationId xmlns:a16="http://schemas.microsoft.com/office/drawing/2014/main" id="{9558AA03-7E1C-4F3D-8AEF-BD03B1B6F4F0}"/>
              </a:ext>
            </a:extLst>
          </p:cNvPr>
          <p:cNvSpPr>
            <a:spLocks xmlns:a="http://schemas.openxmlformats.org/drawingml/2006/main" noGrp="1"/>
          </p:cNvSpPr>
          <p:nvPr/>
        </p:nvSpPr>
        <p:spPr>
          <a:xfrm xmlns:a="http://schemas.openxmlformats.org/drawingml/2006/main">
            <a:off x="523875" y="24288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07083"/>
                </a:solidFill>
                <a:latin typeface="Arial"/>
                <a:ea typeface="Arial"/>
                <a:cs typeface="Arial"/>
              </a:defRPr>
            </a:defPPr>
          </a:lstStyle>
          <a:p xmlns:a="http://schemas.openxmlformats.org/drawingml/2006/main">
            <a:pPr>
              <a:defRPr sz="1425" b="0">
                <a:solidFill>
                  <a:srgbClr val="607083"/>
                </a:solidFill>
                <a:latin typeface="Arial"/>
                <a:ea typeface="Arial"/>
                <a:cs typeface="Arial"/>
              </a:defRPr>
            </a:pPr>
            <a:r>
              <a:rPr sz="1425" b="0">
                <a:solidFill>
                  <a:srgbClr val="607083"/>
                </a:solidFill>
                <a:latin typeface="Arial"/>
                <a:ea typeface="Arial"/>
                <a:cs typeface="Arial"/>
              </a:rPr>
              <a:t>Dense baseline</a:t>
            </a:r>
          </a:p>
        </p:txBody>
      </p:sp>
      <p:sp>
        <p:nvSpPr>
          <p:cNvPr id="11" name="">
            <a:extLst xmlns:a="http://schemas.openxmlformats.org/drawingml/2006/main">
              <a:ext uri="{FF2B5EF4-FFF2-40B4-BE49-F238E27FC236}">
                <a16:creationId xmlns:a16="http://schemas.microsoft.com/office/drawing/2014/main" id="{9D038666-03B8-4AF2-830A-438E9B7E347B}"/>
              </a:ext>
            </a:extLst>
          </p:cNvPr>
          <p:cNvSpPr>
            <a:spLocks xmlns:a="http://schemas.openxmlformats.org/drawingml/2006/main" noGrp="1"/>
          </p:cNvSpPr>
          <p:nvPr/>
        </p:nvSpPr>
        <p:spPr>
          <a:xfrm xmlns:a="http://schemas.openxmlformats.org/drawingml/2006/main">
            <a:off x="523875" y="4000500"/>
            <a:ext cx="1190625" cy="762000"/>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defRPr sz="1800">
                <a:solidFill>
                  <a:srgbClr val="152B45"/>
                </a:solidFill>
                <a:latin typeface="Arial"/>
                <a:ea typeface="Arial"/>
                <a:cs typeface="Arial"/>
              </a:defRPr>
            </a:pPr>
            <a:r>
              <a:rPr sz="1800">
                <a:solidFill>
                  <a:srgbClr val="152B45"/>
                </a:solidFill>
                <a:latin typeface="Arial"/>
                <a:ea typeface="Arial"/>
                <a:cs typeface="Arial"/>
              </a:rPr>
              <a:t>32 values</a:t>
            </a:r>
          </a:p>
        </p:txBody>
      </p:sp>
      <p:sp>
        <p:nvSpPr>
          <p:cNvPr id="12" name="">
            <a:extLst xmlns:a="http://schemas.openxmlformats.org/drawingml/2006/main">
              <a:ext uri="{FF2B5EF4-FFF2-40B4-BE49-F238E27FC236}">
                <a16:creationId xmlns:a16="http://schemas.microsoft.com/office/drawing/2014/main" id="{79238EDC-A690-4064-BD0D-57176EC53AA2}"/>
              </a:ext>
            </a:extLst>
          </p:cNvPr>
          <p:cNvSpPr>
            <a:spLocks xmlns:a="http://schemas.openxmlformats.org/drawingml/2006/main" noGrp="1"/>
          </p:cNvSpPr>
          <p:nvPr/>
        </p:nvSpPr>
        <p:spPr>
          <a:xfrm xmlns:a="http://schemas.openxmlformats.org/drawingml/2006/main">
            <a:off x="2047875" y="4000500"/>
            <a:ext cx="2381250" cy="857250"/>
          </a:xfrm>
          <a:prstGeom xmlns:a="http://schemas.openxmlformats.org/drawingml/2006/main" prst="rect">
            <a:avLst/>
          </a:prstGeom>
          <a:solidFill xmlns:a="http://schemas.openxmlformats.org/drawingml/2006/main">
            <a:srgbClr val="FBF1DE"/>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Router + MLP experts</a:t>
            </a:r>
          </a:p>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Select 2 of 3</a:t>
            </a:r>
          </a:p>
        </p:txBody>
      </p:sp>
      <p:sp>
        <p:nvSpPr>
          <p:cNvPr id="14" name="">
            <a:extLst xmlns:a="http://schemas.openxmlformats.org/drawingml/2006/main">
              <a:ext uri="{FF2B5EF4-FFF2-40B4-BE49-F238E27FC236}">
                <a16:creationId xmlns:a16="http://schemas.microsoft.com/office/drawing/2014/main" id="{282E04A1-4873-4F74-92D2-E0626165B000}"/>
              </a:ext>
            </a:extLst>
          </p:cNvPr>
          <p:cNvSpPr>
            <a:spLocks xmlns:a="http://schemas.openxmlformats.org/drawingml/2006/main" noGrp="1"/>
          </p:cNvSpPr>
          <p:nvPr/>
        </p:nvSpPr>
        <p:spPr>
          <a:xfrm xmlns:a="http://schemas.openxmlformats.org/drawingml/2006/main">
            <a:off x="523875" y="37242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07083"/>
                </a:solidFill>
                <a:latin typeface="Arial"/>
                <a:ea typeface="Arial"/>
                <a:cs typeface="Arial"/>
              </a:defRPr>
            </a:defPPr>
          </a:lstStyle>
          <a:p xmlns:a="http://schemas.openxmlformats.org/drawingml/2006/main">
            <a:pPr>
              <a:defRPr sz="1425" b="0">
                <a:solidFill>
                  <a:srgbClr val="607083"/>
                </a:solidFill>
                <a:latin typeface="Arial"/>
                <a:ea typeface="Arial"/>
                <a:cs typeface="Arial"/>
              </a:defRPr>
            </a:pPr>
            <a:r>
              <a:rPr sz="1425" b="0">
                <a:solidFill>
                  <a:srgbClr val="607083"/>
                </a:solidFill>
                <a:latin typeface="Arial"/>
                <a:ea typeface="Arial"/>
                <a:cs typeface="Arial"/>
              </a:rPr>
              <a:t>MLP MoE</a:t>
            </a:r>
          </a:p>
        </p:txBody>
      </p:sp>
      <p:sp>
        <p:nvSpPr>
          <p:cNvPr id="15" name="">
            <a:extLst xmlns:a="http://schemas.openxmlformats.org/drawingml/2006/main">
              <a:ext uri="{FF2B5EF4-FFF2-40B4-BE49-F238E27FC236}">
                <a16:creationId xmlns:a16="http://schemas.microsoft.com/office/drawing/2014/main" id="{7902B8BD-FF02-434A-B85B-B69398E23586}"/>
              </a:ext>
            </a:extLst>
          </p:cNvPr>
          <p:cNvSpPr>
            <a:spLocks xmlns:a="http://schemas.openxmlformats.org/drawingml/2006/main" noGrp="1"/>
          </p:cNvSpPr>
          <p:nvPr/>
        </p:nvSpPr>
        <p:spPr>
          <a:xfrm xmlns:a="http://schemas.openxmlformats.org/drawingml/2006/main">
            <a:off x="523875" y="509587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4384D"/>
                </a:solidFill>
                <a:latin typeface="Arial"/>
                <a:ea typeface="Arial"/>
                <a:cs typeface="Arial"/>
              </a:defRPr>
            </a:defPPr>
          </a:lstStyle>
          <a:p xmlns:a="http://schemas.openxmlformats.org/drawingml/2006/main">
            <a:pPr>
              <a:defRPr sz="1725" b="0">
                <a:solidFill>
                  <a:srgbClr val="24384D"/>
                </a:solidFill>
                <a:latin typeface="Arial"/>
                <a:ea typeface="Arial"/>
                <a:cs typeface="Arial"/>
              </a:defRPr>
            </a:pPr>
            <a:r>
              <a:rPr sz="1725" b="0">
                <a:solidFill>
                  <a:srgbClr val="24384D"/>
                </a:solidFill>
                <a:latin typeface="Arial"/>
                <a:ea typeface="Arial"/>
                <a:cs typeface="Arial"/>
              </a:rPr>
              <a:t>Both predict the next 4-D state</a:t>
            </a:r>
          </a:p>
        </p:txBody>
      </p:sp>
      <p:sp>
        <p:nvSpPr>
          <p:cNvPr id="16" name="">
            <a:extLst xmlns:a="http://schemas.openxmlformats.org/drawingml/2006/main">
              <a:ext uri="{FF2B5EF4-FFF2-40B4-BE49-F238E27FC236}">
                <a16:creationId xmlns:a16="http://schemas.microsoft.com/office/drawing/2014/main" id="{B48F5DB0-7691-473E-B818-EFF77E43CBBF}"/>
              </a:ext>
            </a:extLst>
          </p:cNvPr>
          <p:cNvSpPr>
            <a:spLocks xmlns:a="http://schemas.openxmlformats.org/drawingml/2006/main" noGrp="1"/>
          </p:cNvSpPr>
          <p:nvPr/>
        </p:nvSpPr>
        <p:spPr>
          <a:xfrm xmlns:a="http://schemas.openxmlformats.org/drawingml/2006/main">
            <a:off x="5095875" y="17145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2B45"/>
                </a:solidFill>
                <a:latin typeface="Arial"/>
                <a:ea typeface="Arial"/>
                <a:cs typeface="Arial"/>
              </a:defRPr>
            </a:defPPr>
          </a:lstStyle>
          <a:p xmlns:a="http://schemas.openxmlformats.org/drawingml/2006/main">
            <a:pPr>
              <a:defRPr sz="2175" b="1">
                <a:solidFill>
                  <a:srgbClr val="152B45"/>
                </a:solidFill>
                <a:latin typeface="Arial"/>
                <a:ea typeface="Arial"/>
                <a:cs typeface="Arial"/>
              </a:defRPr>
            </a:pPr>
            <a:r>
              <a:rPr sz="2175" b="1">
                <a:solidFill>
                  <a:srgbClr val="152B45"/>
                </a:solidFill>
                <a:latin typeface="Arial"/>
                <a:ea typeface="Arial"/>
                <a:cs typeface="Arial"/>
              </a:rPr>
              <a:t>Common Transformer comparison</a:t>
            </a:r>
          </a:p>
        </p:txBody>
      </p:sp>
      <p:sp>
        <p:nvSpPr>
          <p:cNvPr id="17" name="">
            <a:extLst xmlns:a="http://schemas.openxmlformats.org/drawingml/2006/main">
              <a:ext uri="{FF2B5EF4-FFF2-40B4-BE49-F238E27FC236}">
                <a16:creationId xmlns:a16="http://schemas.microsoft.com/office/drawing/2014/main" id="{066DB7DF-F896-40EB-A208-BDE9AA92F0D0}"/>
              </a:ext>
            </a:extLst>
          </p:cNvPr>
          <p:cNvSpPr>
            <a:spLocks xmlns:a="http://schemas.openxmlformats.org/drawingml/2006/main" noGrp="1"/>
          </p:cNvSpPr>
          <p:nvPr/>
        </p:nvSpPr>
        <p:spPr>
          <a:xfrm xmlns:a="http://schemas.openxmlformats.org/drawingml/2006/main">
            <a:off x="5095875" y="215265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607083"/>
                </a:solidFill>
                <a:latin typeface="Arial"/>
                <a:ea typeface="Arial"/>
                <a:cs typeface="Arial"/>
              </a:defRPr>
            </a:defPPr>
          </a:lstStyle>
          <a:p xmlns:a="http://schemas.openxmlformats.org/drawingml/2006/main">
            <a:pPr>
              <a:defRPr sz="1650" b="0">
                <a:solidFill>
                  <a:srgbClr val="607083"/>
                </a:solidFill>
                <a:latin typeface="Arial"/>
                <a:ea typeface="Arial"/>
                <a:cs typeface="Arial"/>
              </a:defRPr>
            </a:pPr>
            <a:r>
              <a:rPr sz="1650" b="0">
                <a:solidFill>
                  <a:srgbClr val="607083"/>
                </a:solidFill>
                <a:latin typeface="Arial"/>
                <a:ea typeface="Arial"/>
                <a:cs typeface="Arial"/>
              </a:rPr>
              <a:t>8 tokens, width 16, two causal blocks, last-token readout</a:t>
            </a:r>
          </a:p>
        </p:txBody>
      </p:sp>
      <p:sp>
        <p:nvSpPr>
          <p:cNvPr id="18" name="">
            <a:extLst xmlns:a="http://schemas.openxmlformats.org/drawingml/2006/main">
              <a:ext uri="{FF2B5EF4-FFF2-40B4-BE49-F238E27FC236}">
                <a16:creationId xmlns:a16="http://schemas.microsoft.com/office/drawing/2014/main" id="{D354019C-96CB-41E8-9A87-8D89AA7BA30A}"/>
              </a:ext>
            </a:extLst>
          </p:cNvPr>
          <p:cNvSpPr>
            <a:spLocks xmlns:a="http://schemas.openxmlformats.org/drawingml/2006/main" noGrp="1"/>
          </p:cNvSpPr>
          <p:nvPr/>
        </p:nvSpPr>
        <p:spPr>
          <a:xfrm xmlns:a="http://schemas.openxmlformats.org/drawingml/2006/main">
            <a:off x="5095875" y="28384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2B45"/>
                </a:solidFill>
                <a:latin typeface="Arial"/>
                <a:ea typeface="Arial"/>
                <a:cs typeface="Arial"/>
              </a:defRPr>
            </a:defPPr>
          </a:lstStyle>
          <a:p xmlns:a="http://schemas.openxmlformats.org/drawingml/2006/main">
            <a:pPr>
              <a:defRPr sz="1725" b="1">
                <a:solidFill>
                  <a:srgbClr val="152B45"/>
                </a:solidFill>
                <a:latin typeface="Arial"/>
                <a:ea typeface="Arial"/>
                <a:cs typeface="Arial"/>
              </a:defRPr>
            </a:pPr>
            <a:r>
              <a:rPr sz="1725" b="1">
                <a:solidFill>
                  <a:srgbClr val="152B45"/>
                </a:solidFill>
                <a:latin typeface="Arial"/>
                <a:ea typeface="Arial"/>
                <a:cs typeface="Arial"/>
              </a:rPr>
              <a:t>Baseline</a:t>
            </a:r>
          </a:p>
        </p:txBody>
      </p:sp>
      <p:sp>
        <p:nvSpPr>
          <p:cNvPr id="19" name="">
            <a:extLst xmlns:a="http://schemas.openxmlformats.org/drawingml/2006/main">
              <a:ext uri="{FF2B5EF4-FFF2-40B4-BE49-F238E27FC236}">
                <a16:creationId xmlns:a16="http://schemas.microsoft.com/office/drawing/2014/main" id="{B654CF15-A2DC-42C5-AD03-5F1AE032DEEF}"/>
              </a:ext>
            </a:extLst>
          </p:cNvPr>
          <p:cNvSpPr>
            <a:spLocks xmlns:a="http://schemas.openxmlformats.org/drawingml/2006/main" noGrp="1"/>
          </p:cNvSpPr>
          <p:nvPr/>
        </p:nvSpPr>
        <p:spPr>
          <a:xfrm xmlns:a="http://schemas.openxmlformats.org/drawingml/2006/main">
            <a:off x="6381750" y="2667000"/>
            <a:ext cx="2571750" cy="590550"/>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4-head attention</a:t>
            </a:r>
          </a:p>
        </p:txBody>
      </p:sp>
      <p:sp>
        <p:nvSpPr>
          <p:cNvPr id="20" name="">
            <a:extLst xmlns:a="http://schemas.openxmlformats.org/drawingml/2006/main">
              <a:ext uri="{FF2B5EF4-FFF2-40B4-BE49-F238E27FC236}">
                <a16:creationId xmlns:a16="http://schemas.microsoft.com/office/drawing/2014/main" id="{B1C6D332-08AB-4D1A-8BFE-7D50BD2232D7}"/>
              </a:ext>
            </a:extLst>
          </p:cNvPr>
          <p:cNvSpPr>
            <a:spLocks xmlns:a="http://schemas.openxmlformats.org/drawingml/2006/main" noGrp="1"/>
          </p:cNvSpPr>
          <p:nvPr/>
        </p:nvSpPr>
        <p:spPr>
          <a:xfrm xmlns:a="http://schemas.openxmlformats.org/drawingml/2006/main">
            <a:off x="9382125" y="2667000"/>
            <a:ext cx="2286000" cy="590550"/>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Dense FFN</a:t>
            </a:r>
          </a:p>
        </p:txBody>
      </p:sp>
      <p:sp>
        <p:nvSpPr>
          <p:cNvPr id="22" name="">
            <a:extLst xmlns:a="http://schemas.openxmlformats.org/drawingml/2006/main">
              <a:ext uri="{FF2B5EF4-FFF2-40B4-BE49-F238E27FC236}">
                <a16:creationId xmlns:a16="http://schemas.microsoft.com/office/drawing/2014/main" id="{3F7BF31D-1B4E-41A6-899F-62E1CF3BE10F}"/>
              </a:ext>
            </a:extLst>
          </p:cNvPr>
          <p:cNvSpPr>
            <a:spLocks xmlns:a="http://schemas.openxmlformats.org/drawingml/2006/main" noGrp="1"/>
          </p:cNvSpPr>
          <p:nvPr/>
        </p:nvSpPr>
        <p:spPr>
          <a:xfrm xmlns:a="http://schemas.openxmlformats.org/drawingml/2006/main">
            <a:off x="5095875" y="35623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2B45"/>
                </a:solidFill>
                <a:latin typeface="Arial"/>
                <a:ea typeface="Arial"/>
                <a:cs typeface="Arial"/>
              </a:defRPr>
            </a:defPPr>
          </a:lstStyle>
          <a:p xmlns:a="http://schemas.openxmlformats.org/drawingml/2006/main">
            <a:pPr>
              <a:defRPr sz="1725" b="1">
                <a:solidFill>
                  <a:srgbClr val="152B45"/>
                </a:solidFill>
                <a:latin typeface="Arial"/>
                <a:ea typeface="Arial"/>
                <a:cs typeface="Arial"/>
              </a:defRPr>
            </a:pPr>
            <a:r>
              <a:rPr sz="1725" b="1">
                <a:solidFill>
                  <a:srgbClr val="152B45"/>
                </a:solidFill>
                <a:latin typeface="Arial"/>
                <a:ea typeface="Arial"/>
                <a:cs typeface="Arial"/>
              </a:rPr>
              <a:t>MoH</a:t>
            </a:r>
          </a:p>
        </p:txBody>
      </p:sp>
      <p:sp>
        <p:nvSpPr>
          <p:cNvPr id="23" name="">
            <a:extLst xmlns:a="http://schemas.openxmlformats.org/drawingml/2006/main">
              <a:ext uri="{FF2B5EF4-FFF2-40B4-BE49-F238E27FC236}">
                <a16:creationId xmlns:a16="http://schemas.microsoft.com/office/drawing/2014/main" id="{A07DC044-210E-49F2-A3F6-70B61845AA43}"/>
              </a:ext>
            </a:extLst>
          </p:cNvPr>
          <p:cNvSpPr>
            <a:spLocks xmlns:a="http://schemas.openxmlformats.org/drawingml/2006/main" noGrp="1"/>
          </p:cNvSpPr>
          <p:nvPr/>
        </p:nvSpPr>
        <p:spPr>
          <a:xfrm xmlns:a="http://schemas.openxmlformats.org/drawingml/2006/main">
            <a:off x="6381750" y="3390900"/>
            <a:ext cx="2571750" cy="590550"/>
          </a:xfrm>
          <a:prstGeom xmlns:a="http://schemas.openxmlformats.org/drawingml/2006/main" prst="rect">
            <a:avLst/>
          </a:prstGeom>
          <a:solidFill xmlns:a="http://schemas.openxmlformats.org/drawingml/2006/main">
            <a:srgbClr val="FBF1DE"/>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Shared + top-2 of 3</a:t>
            </a:r>
          </a:p>
        </p:txBody>
      </p:sp>
      <p:sp>
        <p:nvSpPr>
          <p:cNvPr id="24" name="">
            <a:extLst xmlns:a="http://schemas.openxmlformats.org/drawingml/2006/main">
              <a:ext uri="{FF2B5EF4-FFF2-40B4-BE49-F238E27FC236}">
                <a16:creationId xmlns:a16="http://schemas.microsoft.com/office/drawing/2014/main" id="{70EAEF9F-D52B-46A7-9C38-DA0BD6F69D5D}"/>
              </a:ext>
            </a:extLst>
          </p:cNvPr>
          <p:cNvSpPr>
            <a:spLocks xmlns:a="http://schemas.openxmlformats.org/drawingml/2006/main" noGrp="1"/>
          </p:cNvSpPr>
          <p:nvPr/>
        </p:nvSpPr>
        <p:spPr>
          <a:xfrm xmlns:a="http://schemas.openxmlformats.org/drawingml/2006/main">
            <a:off x="9382125" y="3390900"/>
            <a:ext cx="2286000" cy="590550"/>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Dense FFN</a:t>
            </a:r>
          </a:p>
        </p:txBody>
      </p:sp>
      <p:sp>
        <p:nvSpPr>
          <p:cNvPr id="26" name="">
            <a:extLst xmlns:a="http://schemas.openxmlformats.org/drawingml/2006/main">
              <a:ext uri="{FF2B5EF4-FFF2-40B4-BE49-F238E27FC236}">
                <a16:creationId xmlns:a16="http://schemas.microsoft.com/office/drawing/2014/main" id="{20AE643C-9F64-4260-85D4-85E28C683299}"/>
              </a:ext>
            </a:extLst>
          </p:cNvPr>
          <p:cNvSpPr>
            <a:spLocks xmlns:a="http://schemas.openxmlformats.org/drawingml/2006/main" noGrp="1"/>
          </p:cNvSpPr>
          <p:nvPr/>
        </p:nvSpPr>
        <p:spPr>
          <a:xfrm xmlns:a="http://schemas.openxmlformats.org/drawingml/2006/main">
            <a:off x="5095875" y="42862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2B45"/>
                </a:solidFill>
                <a:latin typeface="Arial"/>
                <a:ea typeface="Arial"/>
                <a:cs typeface="Arial"/>
              </a:defRPr>
            </a:defPPr>
          </a:lstStyle>
          <a:p xmlns:a="http://schemas.openxmlformats.org/drawingml/2006/main">
            <a:pPr>
              <a:defRPr sz="1725" b="1">
                <a:solidFill>
                  <a:srgbClr val="152B45"/>
                </a:solidFill>
                <a:latin typeface="Arial"/>
                <a:ea typeface="Arial"/>
                <a:cs typeface="Arial"/>
              </a:defRPr>
            </a:pPr>
            <a:r>
              <a:rPr sz="1725" b="1">
                <a:solidFill>
                  <a:srgbClr val="152B45"/>
                </a:solidFill>
                <a:latin typeface="Arial"/>
                <a:ea typeface="Arial"/>
                <a:cs typeface="Arial"/>
              </a:rPr>
              <a:t>FFN-MoE</a:t>
            </a:r>
          </a:p>
        </p:txBody>
      </p:sp>
      <p:sp>
        <p:nvSpPr>
          <p:cNvPr id="27" name="">
            <a:extLst xmlns:a="http://schemas.openxmlformats.org/drawingml/2006/main">
              <a:ext uri="{FF2B5EF4-FFF2-40B4-BE49-F238E27FC236}">
                <a16:creationId xmlns:a16="http://schemas.microsoft.com/office/drawing/2014/main" id="{6A25286F-A1B7-4A98-B51F-E12B2B3C8B46}"/>
              </a:ext>
            </a:extLst>
          </p:cNvPr>
          <p:cNvSpPr>
            <a:spLocks xmlns:a="http://schemas.openxmlformats.org/drawingml/2006/main" noGrp="1"/>
          </p:cNvSpPr>
          <p:nvPr/>
        </p:nvSpPr>
        <p:spPr>
          <a:xfrm xmlns:a="http://schemas.openxmlformats.org/drawingml/2006/main">
            <a:off x="6381750" y="4114800"/>
            <a:ext cx="2571750" cy="590550"/>
          </a:xfrm>
          <a:prstGeom xmlns:a="http://schemas.openxmlformats.org/drawingml/2006/main" prst="rect">
            <a:avLst/>
          </a:prstGeom>
          <a:solidFill xmlns:a="http://schemas.openxmlformats.org/drawingml/2006/main">
            <a:srgbClr val="EDF3F8"/>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4-head attention</a:t>
            </a:r>
          </a:p>
        </p:txBody>
      </p:sp>
      <p:sp>
        <p:nvSpPr>
          <p:cNvPr id="28" name="">
            <a:extLst xmlns:a="http://schemas.openxmlformats.org/drawingml/2006/main">
              <a:ext uri="{FF2B5EF4-FFF2-40B4-BE49-F238E27FC236}">
                <a16:creationId xmlns:a16="http://schemas.microsoft.com/office/drawing/2014/main" id="{911BE202-909C-4EAC-B7EC-101DBC31CAF5}"/>
              </a:ext>
            </a:extLst>
          </p:cNvPr>
          <p:cNvSpPr>
            <a:spLocks xmlns:a="http://schemas.openxmlformats.org/drawingml/2006/main" noGrp="1"/>
          </p:cNvSpPr>
          <p:nvPr/>
        </p:nvSpPr>
        <p:spPr>
          <a:xfrm xmlns:a="http://schemas.openxmlformats.org/drawingml/2006/main">
            <a:off x="9382125" y="4114800"/>
            <a:ext cx="2286000" cy="590550"/>
          </a:xfrm>
          <a:prstGeom xmlns:a="http://schemas.openxmlformats.org/drawingml/2006/main" prst="rect">
            <a:avLst/>
          </a:prstGeom>
          <a:solidFill xmlns:a="http://schemas.openxmlformats.org/drawingml/2006/main">
            <a:srgbClr val="FBF1DE"/>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Top-2 of 3 experts</a:t>
            </a:r>
          </a:p>
        </p:txBody>
      </p:sp>
      <p:sp>
        <p:nvSpPr>
          <p:cNvPr id="30" name="">
            <a:extLst xmlns:a="http://schemas.openxmlformats.org/drawingml/2006/main">
              <a:ext uri="{FF2B5EF4-FFF2-40B4-BE49-F238E27FC236}">
                <a16:creationId xmlns:a16="http://schemas.microsoft.com/office/drawing/2014/main" id="{6866064B-8BC2-45A0-AADA-ABB197509876}"/>
              </a:ext>
            </a:extLst>
          </p:cNvPr>
          <p:cNvSpPr>
            <a:spLocks xmlns:a="http://schemas.openxmlformats.org/drawingml/2006/main" noGrp="1"/>
          </p:cNvSpPr>
          <p:nvPr/>
        </p:nvSpPr>
        <p:spPr>
          <a:xfrm xmlns:a="http://schemas.openxmlformats.org/drawingml/2006/main">
            <a:off x="5095875" y="50101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2B45"/>
                </a:solidFill>
                <a:latin typeface="Arial"/>
                <a:ea typeface="Arial"/>
                <a:cs typeface="Arial"/>
              </a:defRPr>
            </a:defPPr>
          </a:lstStyle>
          <a:p xmlns:a="http://schemas.openxmlformats.org/drawingml/2006/main">
            <a:pPr>
              <a:defRPr sz="1725" b="1">
                <a:solidFill>
                  <a:srgbClr val="152B45"/>
                </a:solidFill>
                <a:latin typeface="Arial"/>
                <a:ea typeface="Arial"/>
                <a:cs typeface="Arial"/>
              </a:defRPr>
            </a:pPr>
            <a:r>
              <a:rPr sz="1725" b="1">
                <a:solidFill>
                  <a:srgbClr val="152B45"/>
                </a:solidFill>
                <a:latin typeface="Arial"/>
                <a:ea typeface="Arial"/>
                <a:cs typeface="Arial"/>
              </a:rPr>
              <a:t>Both</a:t>
            </a:r>
          </a:p>
        </p:txBody>
      </p:sp>
      <p:sp>
        <p:nvSpPr>
          <p:cNvPr id="31" name="">
            <a:extLst xmlns:a="http://schemas.openxmlformats.org/drawingml/2006/main">
              <a:ext uri="{FF2B5EF4-FFF2-40B4-BE49-F238E27FC236}">
                <a16:creationId xmlns:a16="http://schemas.microsoft.com/office/drawing/2014/main" id="{063DC81A-FB4F-4BFF-9D8E-69A7B2DE15E1}"/>
              </a:ext>
            </a:extLst>
          </p:cNvPr>
          <p:cNvSpPr>
            <a:spLocks xmlns:a="http://schemas.openxmlformats.org/drawingml/2006/main" noGrp="1"/>
          </p:cNvSpPr>
          <p:nvPr/>
        </p:nvSpPr>
        <p:spPr>
          <a:xfrm xmlns:a="http://schemas.openxmlformats.org/drawingml/2006/main">
            <a:off x="6381750" y="4838700"/>
            <a:ext cx="2571750" cy="590550"/>
          </a:xfrm>
          <a:prstGeom xmlns:a="http://schemas.openxmlformats.org/drawingml/2006/main" prst="rect">
            <a:avLst/>
          </a:prstGeom>
          <a:solidFill xmlns:a="http://schemas.openxmlformats.org/drawingml/2006/main">
            <a:srgbClr val="FBF1DE"/>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Shared + top-2 of 3</a:t>
            </a:r>
          </a:p>
        </p:txBody>
      </p:sp>
      <p:sp>
        <p:nvSpPr>
          <p:cNvPr id="32" name="">
            <a:extLst xmlns:a="http://schemas.openxmlformats.org/drawingml/2006/main">
              <a:ext uri="{FF2B5EF4-FFF2-40B4-BE49-F238E27FC236}">
                <a16:creationId xmlns:a16="http://schemas.microsoft.com/office/drawing/2014/main" id="{DD2B1583-2E2C-4606-9952-1AB1194A0692}"/>
              </a:ext>
            </a:extLst>
          </p:cNvPr>
          <p:cNvSpPr>
            <a:spLocks xmlns:a="http://schemas.openxmlformats.org/drawingml/2006/main" noGrp="1"/>
          </p:cNvSpPr>
          <p:nvPr/>
        </p:nvSpPr>
        <p:spPr>
          <a:xfrm xmlns:a="http://schemas.openxmlformats.org/drawingml/2006/main">
            <a:off x="9382125" y="4838700"/>
            <a:ext cx="2286000" cy="590550"/>
          </a:xfrm>
          <a:prstGeom xmlns:a="http://schemas.openxmlformats.org/drawingml/2006/main" prst="rect">
            <a:avLst/>
          </a:prstGeom>
          <a:solidFill xmlns:a="http://schemas.openxmlformats.org/drawingml/2006/main">
            <a:srgbClr val="FBF1DE"/>
          </a:solidFill>
          <a:ln xmlns:a="http://schemas.openxmlformats.org/drawingml/2006/main" w="9525">
            <a:solidFill>
              <a:srgbClr val="AAB9C6"/>
            </a:solidFill>
          </a:ln>
        </p:spPr>
        <p:txBody>
          <a:bodyPr xmlns:a="http://schemas.openxmlformats.org/drawingml/2006/main" anchor="ctr"/>
          <a:lstStyle xmlns:a="http://schemas.openxmlformats.org/drawingml/2006/main">
            <a:defPPr algn="ctr">
              <a:defRPr sz="1650">
                <a:solidFill>
                  <a:srgbClr val="152B45"/>
                </a:solidFill>
                <a:latin typeface="Arial"/>
                <a:ea typeface="Arial"/>
                <a:cs typeface="Arial"/>
              </a:defRPr>
            </a:defPPr>
          </a:lstStyle>
          <a:p xmlns:a="http://schemas.openxmlformats.org/drawingml/2006/main">
            <a:pPr algn="ctr">
              <a:defRPr sz="1650">
                <a:solidFill>
                  <a:srgbClr val="152B45"/>
                </a:solidFill>
                <a:latin typeface="Arial"/>
                <a:ea typeface="Arial"/>
                <a:cs typeface="Arial"/>
              </a:defRPr>
            </a:pPr>
            <a:r>
              <a:rPr sz="1650">
                <a:solidFill>
                  <a:srgbClr val="152B45"/>
                </a:solidFill>
                <a:latin typeface="Arial"/>
                <a:ea typeface="Arial"/>
                <a:cs typeface="Arial"/>
              </a:rPr>
              <a:t>Top-2 of 3 experts</a:t>
            </a:r>
          </a:p>
        </p:txBody>
      </p:sp>
      <p:sp>
        <p:nvSpPr>
          <p:cNvPr id="34" name="">
            <a:extLst xmlns:a="http://schemas.openxmlformats.org/drawingml/2006/main">
              <a:ext uri="{FF2B5EF4-FFF2-40B4-BE49-F238E27FC236}">
                <a16:creationId xmlns:a16="http://schemas.microsoft.com/office/drawing/2014/main" id="{CE417B8D-1ADD-43A3-8299-D53836A4A197}"/>
              </a:ext>
            </a:extLst>
          </p:cNvPr>
          <p:cNvSpPr>
            <a:spLocks xmlns:a="http://schemas.openxmlformats.org/drawingml/2006/main" noGrp="1"/>
          </p:cNvSpPr>
          <p:nvPr/>
        </p:nvSpPr>
        <p:spPr>
          <a:xfrm xmlns:a="http://schemas.openxmlformats.org/drawingml/2006/main">
            <a:off x="5095875" y="56388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07083"/>
                </a:solidFill>
                <a:latin typeface="Arial"/>
                <a:ea typeface="Arial"/>
                <a:cs typeface="Arial"/>
              </a:defRPr>
            </a:defPPr>
          </a:lstStyle>
          <a:p xmlns:a="http://schemas.openxmlformats.org/drawingml/2006/main">
            <a:pPr>
              <a:defRPr sz="1500" b="0">
                <a:solidFill>
                  <a:srgbClr val="607083"/>
                </a:solidFill>
                <a:latin typeface="Arial"/>
                <a:ea typeface="Arial"/>
                <a:cs typeface="Arial"/>
              </a:defRPr>
            </a:pPr>
            <a:r>
              <a:rPr sz="1500" b="0">
                <a:solidFill>
                  <a:srgbClr val="607083"/>
                </a:solidFill>
                <a:latin typeface="Arial"/>
                <a:ea typeface="Arial"/>
                <a:cs typeface="Arial"/>
              </a:rPr>
              <a:t>Each row shows the attention and FFN inside a block. Repeat the block twice.</a:t>
            </a:r>
          </a:p>
        </p:txBody>
      </p:sp>
      <p:sp>
        <p:nvSpPr>
          <p:cNvPr id="35" name="">
            <a:extLst xmlns:a="http://schemas.openxmlformats.org/drawingml/2006/main">
              <a:ext uri="{FF2B5EF4-FFF2-40B4-BE49-F238E27FC236}">
                <a16:creationId xmlns:a16="http://schemas.microsoft.com/office/drawing/2014/main" id="{F253AB16-A386-435C-B219-E7376582F4C0}"/>
              </a:ext>
            </a:extLst>
          </p:cNvPr>
          <p:cNvSpPr>
            <a:spLocks xmlns:a="http://schemas.openxmlformats.org/drawingml/2006/main" noGrp="1"/>
          </p:cNvSpPr>
          <p:nvPr/>
        </p:nvSpPr>
        <p:spPr>
          <a:xfrm xmlns:a="http://schemas.openxmlformats.org/drawingml/2006/main">
            <a:off x="523875" y="6124575"/>
            <a:ext cx="1114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087E8B"/>
                </a:solidFill>
                <a:latin typeface="Arial"/>
                <a:ea typeface="Arial"/>
                <a:cs typeface="Arial"/>
              </a:defRPr>
            </a:defPPr>
          </a:lstStyle>
          <a:p xmlns:a="http://schemas.openxmlformats.org/drawingml/2006/main">
            <a:pPr>
              <a:defRPr sz="1650" b="1">
                <a:solidFill>
                  <a:srgbClr val="087E8B"/>
                </a:solidFill>
                <a:latin typeface="Arial"/>
                <a:ea typeface="Arial"/>
                <a:cs typeface="Arial"/>
              </a:defRPr>
            </a:pPr>
            <a:r>
              <a:rPr sz="1650" b="1">
                <a:solidFill>
                  <a:srgbClr val="087E8B"/>
                </a:solidFill>
                <a:latin typeface="Arial"/>
                <a:ea typeface="Arial"/>
                <a:cs typeface="Arial"/>
              </a:rPr>
              <a:t>Controls: matched parameter counts, frozen routers and a regime-informed oracle.</a:t>
            </a:r>
          </a:p>
        </p:txBody>
      </p:sp>
    </p:spTree>
    <p:extLst>
      <p:ext uri="{BB962C8B-B14F-4D97-AF65-F5344CB8AC3E}">
        <p14:creationId xmlns:p14="http://schemas.microsoft.com/office/powerpoint/2010/main" val="1928950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2026-10-14T04:04:12.3640000Z</dcterms:created>
  <dcterms:modified xsi:type="dcterms:W3CDTF">2026-10-14T04:04:12.3650000Z</dcterms:modified>
</coreProperties>
</file>