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75"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Shawn Tan and Yikang Shen contributed equally. Affiliations reproduced from the title page. This presentation covers the paper and related architectural context.</a:t>
            </a:r>
          </a:p>
          <a:p/>
          <a:p>
            <a:r>
              <a:t>Sources:</a:t>
            </a:r>
          </a:p>
          <a:p>
            <a:r>
              <a:t>Tan et al., Sparse Universal Transformer, EMNLP 2023. Sections 1–5, Tables 1–5. https://aclanthology.org/2023.emnlp-main.12.pdf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Universal Transformers, Dehghani, Gouws, Vinyals, Uszkoreit and Kaiser, ICLR 2019. Original affiliations: University of Amsterdam, DeepMind and Google Brain. Encoder and decoder each reuse their own block over refinement depth. This is not encoder-decoder weight tying. Residual connections are not the source of recurrence. Positions update in parallel within a step, while depth steps depend on earlier steps. ACT is optional.</a:t>
            </a:r>
          </a:p>
          <a:p/>
          <a:p>
            <a:r>
              <a:t>Sources:</a:t>
            </a:r>
          </a:p>
          <a:p>
            <a:r>
              <a:t>Dehghani et al., Universal Transformers, ICLR 2019. Figure 4 and Appendix C. https://arxiv.org/html/1807.03819v3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SUT Figure 1 is a schematic comparison. The bottom label has been corrected from Universal Sparse Transformer to Sparse Universal Transformer, matching the paper title. The original diagram is otherwise unchanged. Reuse reduces parameter duplication but does not eliminate repeated execution. A larger shared dense block is costly to execute at every depth. Sparse routing activates a subset of a larger expert pool.</a:t>
            </a:r>
          </a:p>
          <a:p/>
          <a:p>
            <a:r>
              <a:t>Sources:</a:t>
            </a:r>
          </a:p>
          <a:p>
            <a:r>
              <a:t>Tan et al., Sparse Universal Transformer, EMNLP 2023. Sections 1–5, Tables 1–5. https://aclanthology.org/2023.emnlp-main.12.pdf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SUT Figure 3 left. Uppercase K is used consistently in configuration tuples, corresponding to lowercase k in the paper. An FFN expert is a separate parameter set, reused across tokens and refinement steps. Router inputs are token representations, not rows with individually learned token-specific weights. Only selected experts are evaluated.</a:t>
            </a:r>
          </a:p>
          <a:p/>
          <a:p>
            <a:r>
              <a:t>Sources:</a:t>
            </a:r>
          </a:p>
          <a:p>
            <a:r>
              <a:t>Tan et al., Sparse Universal Transformer, EMNLP 2023. Sections 1–5, Tables 1–5. https://aclanthology.org/2023.emnlp-main.12.pdf</a:t>
            </a:r>
          </a:p>
          <a:p/>
          <a:p>
            <a:r>
              <a:t>LaTeX (ffn_tuple):</a:t>
            </a:r>
          </a:p>
          <a:p>
            <a:r>
              <a:t>(E,K,D)</a:t>
            </a:r>
          </a:p>
          <a:p/>
          <a:p>
            <a:r>
              <a:t>LaTeX (moe):</a:t>
            </a:r>
          </a:p>
          <a:p>
            <a:r>
              <a:t>y=\sum_{e=1}^{E}g(e\mid h)\cdot f_e(h)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Original Figure 2 of Mixture of Attention Heads: Selecting Attention Heads Per Token, Zhang et al., 2022. In MoA, each expert is one attention head. Key and value projections are shared; each expert has its own query and output projections. The router chooses heads for each token and weights the corresponding outputs. SUT calls its multi-head-per-expert variant MoMHA. The figure is deliberately labeled as MoA, not as a diagram of SUT MoMHA.</a:t>
            </a:r>
          </a:p>
          <a:p/>
          <a:p>
            <a:r>
              <a:t>Sources:</a:t>
            </a:r>
          </a:p>
          <a:p>
            <a:r>
              <a:t>Zhang et al., Mixture of Attention Heads, 2022. Figure 2, Equations 6–12. https://arxiv.org/html/2210.05144</a:t>
            </a:r>
          </a:p>
          <a:p>
            <a:r>
              <a:t>Tan et al., Sparse Universal Transformer, EMNLP 2023. Sections 1–5, Tables 1–5. https://aclanthology.org/2023.emnlp-main.12.pdf</a:t>
            </a:r>
          </a:p>
          <a:p/>
          <a:p>
            <a:r>
              <a:t>LaTeX (moa_att):</a:t>
            </a:r>
          </a:p>
          <a:p>
            <a:r>
              <a:t>W_{i,t}^{\mathrm{att}}=\mathrm{Softmax}\!\left(\frac{q_t W_i^q(KW^k)^{\mathsf T}}{\sqrt{d_h}}\right)</a:t>
            </a:r>
          </a:p>
          <a:p/>
          <a:p>
            <a:r>
              <a:t>LaTeX (moa_value):</a:t>
            </a:r>
          </a:p>
          <a:p>
            <a:r>
              <a:t>o_{i,t}=W_{i,t}^{\mathrm{att}}VW^v</a:t>
            </a:r>
          </a:p>
          <a:p/>
          <a:p>
            <a:r>
              <a:t>LaTeX (moa_output):</a:t>
            </a:r>
          </a:p>
          <a:p>
            <a:r>
              <a:t>E_i(q_t,K,V)=o_{i,t}W_i^o</a:t>
            </a:r>
          </a:p>
          <a:p/>
          <a:p>
            <a:r>
              <a:t>LaTeX (moa_sum):</a:t>
            </a:r>
          </a:p>
          <a:p>
            <a:r>
              <a:t>y_t=\sum_{i\in G(q_t)}w_{i,t}\cdot E_i(q_t,K,V)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SUT Section 3.1 cites Zhang et al. 2022 (MoA) and Shen et al. 2023 (ModuleFormer). There is not a separately titled MoMHA paper among these references. ModuleFormer Figure 1a is a related sparse-attention/FFN block, not a detailed picture of SUT’s H-head grouping. ModuleFormer uses stick-breaking token attention, which must not be conflated with SUT’s stick-breaking halting over depth. SUT explicitly defines E experts of H heads with shared K/V projections and E query projection sets. W parameterizes a clipped relative-distance embedding range; it is not an attention visibility mask.</a:t>
            </a:r>
          </a:p>
          <a:p/>
          <a:p>
            <a:r>
              <a:t>Sources:</a:t>
            </a:r>
          </a:p>
          <a:p>
            <a:r>
              <a:t>Tan et al., Sparse Universal Transformer, EMNLP 2023. Sections 1–5, Tables 1–5. https://aclanthology.org/2023.emnlp-main.12.pdf</a:t>
            </a:r>
          </a:p>
          <a:p>
            <a:r>
              <a:t>Zhang et al., Mixture of Attention Heads, 2022. Figure 2, Equations 6–12. https://arxiv.org/html/2210.05144</a:t>
            </a:r>
          </a:p>
          <a:p>
            <a:r>
              <a:t>Shen et al., ModuleFormer: Learning Modular Large Language Models From Uncurated Data, 2023. Figure 1a and Section 3. https://arxiv.org/html/2306.04640v1</a:t>
            </a:r>
          </a:p>
          <a:p/>
          <a:p>
            <a:r>
              <a:t>LaTeX (att_tuple):</a:t>
            </a:r>
          </a:p>
          <a:p>
            <a:r>
              <a:t>(E,K,H,D,W)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Insert immediately after slide 6 of the revised deck. Standalone supplementary slide; the existing deck is unchanged. This revision replaces the distance table with a complete five-by-five matrix. Delta_ij is a scalar matrix entry, not theta, a learned vector, or an attention score. Delta is computed from token positions and the clipping range. Capital Delta denotes the full matrix. Rows enumerate query positions i; columns enumerate key positions j. The boxed entry at row 2, column 5 has raw offset 3, clipped to 2. It selects learned vector r_2, which interacts with query q_2 to produce the relative logit contribution. The vector is learned; the offset matrix is determined by positions. The same r_2 can give different scores for different queries.</a:t>
            </a:r>
          </a:p>
          <a:p>
            <a:r>
              <a:t>W describes the relative-position embedding range in SUT's five-tuple (E,K,H,D,W). It is not the length of the token sequence or the top-K expert selection parameter. At each query position i, every allowed key position j has a pairwise offset. The relative-position vector selected by that offset contributes a query-dependent dot product to the attention logit, before softmax over keys. The sequence remains intact. Decoder causality and padding masks still apply.</a:t>
            </a:r>
          </a:p>
          <a:p>
            <a:r>
              <a:t>The equations are a pedagogical one-head notation, not verbatim numbered equations in SUT. The paper states 2W+1 relative embeddings. The example uses the standard inclusive clipping convention [-W,W] to make the concept visible. In the public WMT code inspected on 2026-10-16, max_positions is 64, the lookup has 129 entries, and rel_pos_logits clips to [-63,63] before adding offset 64. Hence its extreme table slots are unused. Do not claim the illustrative W=2 example is that literal released-code configuration or infer all paper task configurations from the WMT implementation.</a:t>
            </a:r>
          </a:p>
          <a:p>
            <a:r>
              <a:t>The code scales q by head_dim**-0.5 before both the content dot product and the relative-position dot product, consistent with the schematic score formula. rel_pos_logits computes j-i and gathers relative logits; forward adds them to attn_weights before softmax. For a new query position, the offset labels shift, so these are pairwise relations rather than one absolute vector added during sequence preprocessing.</a:t>
            </a:r>
          </a:p>
          <a:p>
            <a:r>
              <a:t>Positive offsets select a different learned vector; they do not supply a positive scalar bias by themselves. This prevents the misconception that later tokens always receive more probability.</a:t>
            </a:r>
          </a:p>
          <a:p>
            <a:r>
              <a:t>Sources:</a:t>
            </a:r>
          </a:p>
          <a:p>
            <a:r>
              <a:t>https://aclanthology.org/2023.emnlp-main.12.pdf (Section 3.1)</a:t>
            </a:r>
          </a:p>
          <a:p>
            <a:r>
              <a:t>https://github.com/shawntan/SUT/blob/main/sut_layer/moa_attention.py (rel_pos_logits and forward)</a:t>
            </a:r>
          </a:p>
          <a:p>
            <a:r>
              <a:t>LaTeX:</a:t>
            </a:r>
          </a:p>
          <a:p>
            <a:r>
              <a:t>matrix: \Delta=[\delta_{ij}]=\begin{bmatrix}0&amp;1&amp;2&amp;2&amp;2\\-1&amp;0&amp;1&amp;2&amp;\boxed{2}\\-2&amp;-1&amp;0&amp;1&amp;2\\-2&amp;-2&amp;-1&amp;0&amp;1\\-2&amp;-2&amp;-2&amp;-1&amp;0\end{bmatrix}</a:t>
            </a:r>
          </a:p>
          <a:p>
            <a:r>
              <a:t>offset: \delta_{ij}=\operatorname{clip}(j-i,-W,W)</a:t>
            </a:r>
          </a:p>
          <a:p>
            <a:r>
              <a:t>example: \delta_{2,5}=\operatorname{clip}(5-2,-2,2)=2</a:t>
            </a:r>
          </a:p>
          <a:p>
            <a:r>
              <a:t>lookup: \delta_{2,5}=2\quad\longrightarrow\quad r_2\quad\longrightarrow\quad q_2^{\mathsf T}r_2</a:t>
            </a:r>
          </a:p>
          <a:p>
            <a:r>
              <a:t>score: z_{ij}=\frac{q_i^{\mathsf T}k_j+\overbrace{q_i^{\mathsf T}r_{\delta_{ij}}}^{\text{relative-position contribution}}}{\sqrt{D}},\qquad a_{ij}=\operatorname{softmax}_j(z_{ij})</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main displayed expression is SUT Equation 1 in LaTeX, retaining the paper’s symbols. The loss symbol is calligraphic L, not capital Lambda. The marginal and entropy expansions clarify its terms without a numerical toy example. X is the collection of router inputs across token positions and refinement layers; g(e|h) is the router probability and g(e) its average. The printed expression is negative mutual information and should be minimized for the behavior described. The paper’s phrase to be maximised and the sign of its conditional-entropy underbrace are inconsistent with the displayed expression; we preserve the algebra and explain the sign consistently. The conditional entropy shown averages over router inputs.</a:t>
            </a:r>
          </a:p>
          <a:p/>
          <a:p>
            <a:r>
              <a:t>Sources:</a:t>
            </a:r>
          </a:p>
          <a:p>
            <a:r>
              <a:t>Tan et al., Sparse Universal Transformer, EMNLP 2023. Sections 1–5, Tables 1–5. https://aclanthology.org/2023.emnlp-main.12.pdf</a:t>
            </a:r>
          </a:p>
          <a:p/>
          <a:p>
            <a:r>
              <a:t>LaTeX (mim):</a:t>
            </a:r>
          </a:p>
          <a:p>
            <a:r>
              <a:t>\mathcal{L}_{\mathrm{MIM}}=\sum_{e=1}^{E}g(e)\log g(e)-\frac{1}{|\mathcal{X}|}\sum_{h\in\mathcal{X}}\sum_{e=1}^{E}g(e\mid h)\log g(e\mid h)</a:t>
            </a:r>
          </a:p>
          <a:p/>
          <a:p>
            <a:r>
              <a:t>LaTeX (marginal):</a:t>
            </a:r>
          </a:p>
          <a:p>
            <a:r>
              <a:t>g(e)=\frac{1}{|\mathcal{X}|}\sum_{h\in\mathcal{X}}g(e\mid h)</a:t>
            </a:r>
          </a:p>
          <a:p/>
          <a:p>
            <a:r>
              <a:t>LaTeX (entropy):</a:t>
            </a:r>
          </a:p>
          <a:p>
            <a:r>
              <a:t>H(e)=-\sum_{e=1}^{E}g(e)\log g(e)</a:t>
            </a:r>
          </a:p>
          <a:p/>
          <a:p>
            <a:r>
              <a:t>LaTeX (condentropy):</a:t>
            </a:r>
          </a:p>
          <a:p>
            <a:r>
              <a:t>H(e\mid h)=-\frac{1}{|\mathcal{X}|}\sum_{h\in\mathcal{X}}\sum_{e=1}^{E}g(e\mid h)\log g(e\mid h)</a:t>
            </a:r>
          </a:p>
          <a:p/>
          <a:p>
            <a:r>
              <a:t>LaTeX (mi_identity):</a:t>
            </a:r>
          </a:p>
          <a:p>
            <a:r>
              <a:t>\mathcal{L}_{\mathrm{MIM}}=-H(e)+H(e\mid h)=-I(e;h)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UT formulas summarize Appendix C and Graves ACT with a common index convention: t is token position, l is depth. q is the UT sigmoid-linear gate output, N the first threshold-crossing step, R the remaining mass assigned to that last update. R is one minus accumulated scores strictly before N, not the distance to the threshold. A maximum depth cap applies if the threshold is never reached. SUT Equations 2 and 4 retain their original symbols. Alpha-hat is a conditional halt probability from an MLP. Alpha is unconditional stopping mass, the conditional probability multiplied by survival through earlier layers. T counts token positions and L is the maximum refinement depth. The SUT threshold is .999. The UT penalty uses N+R, while SUT penalizes expected stopping depth. A finite-depth implementation must handle remaining mass. ACT penalties are not measured FLOPs.</a:t>
            </a:r>
          </a:p>
          <a:p/>
          <a:p>
            <a:r>
              <a:t>Sources:</a:t>
            </a:r>
          </a:p>
          <a:p>
            <a:r>
              <a:t>Dehghani et al., Universal Transformers, ICLR 2019. Figure 4 and Appendix C. https://arxiv.org/html/1807.03819v3</a:t>
            </a:r>
          </a:p>
          <a:p>
            <a:r>
              <a:t>Graves, Adaptive Computation Time for Recurrent Neural Networks, 2016. https://arxiv.org/html/1603.08983</a:t>
            </a:r>
          </a:p>
          <a:p>
            <a:r>
              <a:t>Tan et al., Sparse Universal Transformer, EMNLP 2023. Sections 1–5, Tables 1–5. https://aclanthology.org/2023.emnlp-main.12.pdf</a:t>
            </a:r>
          </a:p>
          <a:p/>
          <a:p>
            <a:r>
              <a:t>LaTeX (ut_stop):</a:t>
            </a:r>
          </a:p>
          <a:p>
            <a:r>
              <a:t>N^{(t)}=\min\!\left\{n:\sum_{l=1}^{n}q_l^{(t)}&gt;\tau\right\}</a:t>
            </a:r>
          </a:p>
          <a:p/>
          <a:p>
            <a:r>
              <a:t>LaTeX (sut_stop):</a:t>
            </a:r>
          </a:p>
          <a:p>
            <a:r>
              <a:t>\alpha_l^{(t)}=\hat\alpha_l^{(t)}\prod_{l'=1}^{l-1}\left(1-\hat\alpha_{l'}^{(t)}\right)</a:t>
            </a:r>
          </a:p>
          <a:p/>
          <a:p>
            <a:r>
              <a:t>LaTeX (ut_remainder):</a:t>
            </a:r>
          </a:p>
          <a:p>
            <a:r>
              <a:t>R^{(t)}=1-\sum_{l=1}^{N^{(t)}-1}q_l^{(t)}</a:t>
            </a:r>
          </a:p>
          <a:p/>
          <a:p>
            <a:r>
              <a:t>LaTeX (sut_thresh):</a:t>
            </a:r>
          </a:p>
          <a:p>
            <a:r>
              <a:t>\sum_{l'=1}^{l}\alpha_{l'}^{(t)}&gt;\alpha_{\mathrm{thresh}},\qquad\alpha_{\mathrm{thresh}}=0.999</a:t>
            </a:r>
          </a:p>
          <a:p/>
          <a:p>
            <a:r>
              <a:t>LaTeX (ut_act):</a:t>
            </a:r>
          </a:p>
          <a:p>
            <a:r>
              <a:t>\mathcal{L}_{\mathrm{ACT}}^{\mathrm{UT}}=\frac{1}{T}\sum_{t=1}^{T}\left(N^{(t)}+R^{(t)}\right)</a:t>
            </a:r>
          </a:p>
          <a:p/>
          <a:p>
            <a:r>
              <a:t>LaTeX (sut_act):</a:t>
            </a:r>
          </a:p>
          <a:p>
            <a:r>
              <a:t>\mathcal{L}_{\mathrm{ACT}}=\frac{1}{T}\sum_{t=1}^{T}\sum_{l=1}^{L}\alpha_l^{(t)}\cdot 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Original UT Figure 2 gives a compact view of the repeated encoder and decoder blocks. The recurrence reuses the same transformation parameters at every step and passes the current hidden states into the next step. Original UT Equation 4 is shown. Here superscript t follows UT and denotes refinement step, unlike t as token position in SUT. P^t, which enters the attention update, contains position and step signals. The lower interpolation equation is the formula quoted by SUT Section 3.2 when discussing prior UT halting. The alpha weight is an interpolation coefficient, not the SUT stopping mass. Each new state is mixed with the already mixed previous state, so later factors rescale earlier contributions. The final UT update uses the remainder. Recurrence exists even when dynamic halting is disabled.</a:t>
            </a:r>
          </a:p>
          <a:p/>
          <a:p>
            <a:r>
              <a:t>Sources:</a:t>
            </a:r>
          </a:p>
          <a:p>
            <a:r>
              <a:t>Dehghani et al., Universal Transformers, ICLR 2019. Figure 4 and Appendix C. https://arxiv.org/html/1807.03819v3</a:t>
            </a:r>
          </a:p>
          <a:p>
            <a:r>
              <a:t>Tan et al., Sparse Universal Transformer, EMNLP 2023. Sections 1–5, Tables 1–5. https://aclanthology.org/2023.emnlp-main.12.pdf</a:t>
            </a:r>
          </a:p>
          <a:p/>
          <a:p>
            <a:r>
              <a:t>LaTeX (ut_update):</a:t>
            </a:r>
          </a:p>
          <a:p>
            <a:r>
              <a:t>H^t=\mathrm{LayerNorm}\!\left(A^t+\mathrm{Transition}(A^t)\right)</a:t>
            </a:r>
          </a:p>
          <a:p/>
          <a:p>
            <a:r>
              <a:t>LaTeX (recursive):</a:t>
            </a:r>
          </a:p>
          <a:p>
            <a:r>
              <a:t>h_l=\alpha_l\cdot\hat h_l+(1-\alpha_l)\cdot h_{l-1}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SUT Equation 3 and Algorithm 1. h is the unhalted state, s is the expected halted state, and capital S stacks the s states across token positions. The first term is survival mass assigned to the current state; the second sums earlier stopping mass times the corresponding raw state. Active queries use their own previous unhalted h, while keys and values use S so they can read tokens that halted earlier. A halted token stops its own update but stays available to other tokens. The no-op branch copies h and s. Figure 3 right explains this cross-token interaction; it does not depict recurrence through sequence time.</a:t>
            </a:r>
          </a:p>
          <a:p/>
          <a:p>
            <a:r>
              <a:t>Sources:</a:t>
            </a:r>
          </a:p>
          <a:p>
            <a:r>
              <a:t>Tan et al., Sparse Universal Transformer, EMNLP 2023. Sections 1–5, Tables 1–5. https://aclanthology.org/2023.emnlp-main.12.pdf</a:t>
            </a:r>
          </a:p>
          <a:p/>
          <a:p>
            <a:r>
              <a:t>LaTeX (sut_state):</a:t>
            </a:r>
          </a:p>
          <a:p>
            <a:r>
              <a:t>s_l^{(t)}=\left(1-\sum_{l'=1}^{l-1}\alpha_{l'}^{(t)}\right)\cdot h_l^{(t)}+\sum_{l'=1}^{l-1}\alpha_{l'}^{(t)}h_{l'}^{(t)}</a:t>
            </a:r>
          </a:p>
          <a:p/>
          <a:p>
            <a:r>
              <a:t>LaTeX (sut_query):</a:t>
            </a:r>
          </a:p>
          <a:p>
            <a:r>
              <a:t>a_l^{(t)}=\mathrm{Attention}\!\left(\underbrace{h_{l-1}^{(t)}}_{Q},\underbrace{S_{l-1}}_{K},\underbrace{S_{l-1}}_{V}\right)</a:t>
            </a:r>
          </a:p>
          <a:p/>
          <a:p>
            <a:r>
              <a:t>LaTeX (sut_noop):</a:t>
            </a:r>
          </a:p>
          <a:p>
            <a:r>
              <a:t>h_l^{(t)}=h_{l-1}^{(t)},\qquad s_l^{(t)}=s_{l-1}^{(t)}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Input is English text, target is German text. Original Table 1 is embedded with all original rows, column headings and citation markers. MACs are the reported multiply–accumulate estimates, not wall-clock speed or FLOPs. LightConv and DynamicConv estimates are undercounted by the tool used, as the paper notes. Model configurations on the right come from the arXiv Appendix Table 6, absent from the supplied proceedings PDF. E is the number of experts in each pool; Datt is the table’s total attention-expert dimension, not the per-head D in the five-tuple. All four listed UT/SUT models use six encoder and six decoder steps. SUT big uses 110M parameters and 787M MACs versus dense UT big 105M and 3707M, at 29.4 versus 29.6 BLEU: approximately 4.7 times lower MACs, not a measured 4.7-times speedup. Relative to Transformer big, SUT big uses about half parameters and 38% of MACs. Training uses Adam, inverse-square-root learning-rate scheduling, label smoothing .1, 100 epochs and averaging the five best NLL checkpoints. Main paper Section 4.1 says vocabularies/embeddings are shared. Keep quality and cost trade-offs visible.</a:t>
            </a:r>
          </a:p>
          <a:p/>
          <a:p>
            <a:r>
              <a:t>Sources:</a:t>
            </a:r>
          </a:p>
          <a:p>
            <a:r>
              <a:t>Tan et al., Sparse Universal Transformer, EMNLP 2023. Sections 1–5, Tables 1–5. https://aclanthology.org/2023.emnlp-main.12.pdf</a:t>
            </a:r>
          </a:p>
          <a:p>
            <a:r>
              <a:t>Tan et al., arXiv version, Appendix A and Table 6. https://arxiv.org/pdf/2310.07096</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Table 2: removing MIM means replacing it with a load-balancing loss, not removing every routing regularizer. Minus MoMHA means replacement with MoA, not MoE. The reported replacement reduces BLEU by .5, the largest of these ablations, but does not isolate H alone while holding every design choice fixed. FFN experts remain. Halting removal costs .1 BLEU, ACT loss removal .2, MIM replacement .3. Table 3 explicitly concerns FFD/FFN expert–word co-occurrences across layers. The authors selected four experts showing patterns. Associations suggest specialization, but neither demonstrate causal functions nor quantify redundancy. Retain that distinction when connecting to our experiment.</a:t>
            </a:r>
          </a:p>
          <a:p/>
          <a:p>
            <a:r>
              <a:t>Sources:</a:t>
            </a:r>
          </a:p>
          <a:p>
            <a:r>
              <a:t>Tan et al., Sparse Universal Transformer, EMNLP 2023. Sections 1–5, Tables 1–5. https://aclanthology.org/2023.emnlp-main.12.pdf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CFQ stands for Compositional Freebase Questions. The original Google Research animation illustrates how grammar building blocks compose into a sentence. The prediction task in SUT is semantic parsing: natural-language question to SPARQL query text. It is not predicting the parse tree shown by the animation, and the database answer is not the training target in this benchmark. MCD splits keep atomic distributions similar while changing combinations. The original animation is now shown as two still frames, avoiding viewer-dependent GIF playback. It illustrates grammar composition, not the neural prediction target. The animation’s source is linked below. SUT uses transformed query targets, so its preprocessing differs from an unmodified raw target comparison.</a:t>
            </a:r>
          </a:p>
          <a:p/>
          <a:p>
            <a:r>
              <a:t>Sources:</a:t>
            </a:r>
          </a:p>
          <a:p>
            <a:r>
              <a:t>Google Research, Measuring Compositional Generalization, 6 March 2020. Original animation: https://research.google/blog/measuring-compositional-generalization/</a:t>
            </a:r>
          </a:p>
          <a:p>
            <a:r>
              <a:t>Keysers et al., Measuring Compositional Generalization, ICLR 2020. Figure 1. https://arxiv.org/pdf/1912.09713</a:t>
            </a:r>
          </a:p>
          <a:p>
            <a:r>
              <a:t>Tan et al., Sparse Universal Transformer, EMNLP 2023. Sections 1–5, Tables 1–5. https://aclanthology.org/2023.emnlp-main.12.pdf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All Table 4 models and means are shown. Original full uncertainty for our rows: T5-based UT MCD1 68.3±2.9, MCD2 43.1±1.5, MCD3 45.7±1.8, average52.3±1.6; UT without halting71.0±3.5,48.6±2.3,51.3±.2,average56.9±1.5; UT with halting72.4±3.5,51.1±1.8,51.7±2.3,average58.4±1.2. Those UT results average five seeds. Hyperparameters were selected on MCD1 validation. Attention (E=1,k=1,H=8,D=64,W=1), FFN(E=1,k=1,D=1024), embedding512, 8 encoder/8 decoder steps, 7.2M with halting and6.7M without. Thus the winning CFQ model is a UT special case, not evidence that multiple sparse experts are needed on CFQ. Target preprocessing and positional/norm implementation details improve baselines. Dangle is better at66.1 but pretrained and much more expensive in reported MACs. Avoid presenting all rows as a controlled architectural-only comparison.</a:t>
            </a:r>
          </a:p>
          <a:p/>
          <a:p>
            <a:r>
              <a:t>Sources:</a:t>
            </a:r>
          </a:p>
          <a:p>
            <a:r>
              <a:t>Tan et al., Sparse Universal Transformer, EMNLP 2023. Sections 1–5, Tables 1–5. https://aclanthology.org/2023.emnlp-main.12.pdf</a:t>
            </a:r>
          </a:p>
          <a:p>
            <a:r>
              <a:t>Tan et al., arXiv version, Appendix A and Table 6. https://arxiv.org/pdf/2310.07096</a:t>
            </a:r>
          </a:p>
          <a:p/>
          <a:p>
            <a:r>
              <a:t>LaTeX (cfq_att):</a:t>
            </a:r>
          </a:p>
          <a:p>
            <a:r>
              <a:t>(E,K,H,D,W)=(1,1,8,64,1)</a:t>
            </a:r>
          </a:p>
          <a:p/>
          <a:p>
            <a:r>
              <a:t>LaTeX (cfq_ffn):</a:t>
            </a:r>
          </a:p>
          <a:p>
            <a:r>
              <a:t>(E,K,D)=(1,1,1024)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task takes two propositional-logic expressions and predicts their semantic relation as a single label. Example a entails a OR b. The model receives sentence1 #SEP# sentence2, not a parse tree. Training has0–6 logical operators, evaluation7–12. The separate compositional splits A/B/C increase difficulty. The jump twice to jump jump example belongs to SCAN-style command interpretation, not this logical-inference task. Original SUT Figure2 illustrates a withheld combination of NOT and AND operations; it is not a literal input format for the model. The paper uses a12-layer encoder and12-layer decoder with attention(12,4,2,32,1), FFN(12,4,128), embedding512 and7.6M parameters. Halting is enabled. This is genuine multiple-expert SUT, unlike the CFQ winner.</a:t>
            </a:r>
          </a:p>
          <a:p/>
          <a:p>
            <a:r>
              <a:t>Sources:</a:t>
            </a:r>
          </a:p>
          <a:p>
            <a:r>
              <a:t>Tan et al., Sparse Universal Transformer, EMNLP 2023. Sections 1–5, Tables 1–5. https://aclanthology.org/2023.emnlp-main.12.pdf</a:t>
            </a:r>
          </a:p>
          <a:p>
            <a:r>
              <a:t>Tan et al., arXiv version, Appendix A and Table 6. https://arxiv.org/pdf/2310.07096</a:t>
            </a:r>
          </a:p>
          <a:p/>
          <a:p>
            <a:r>
              <a:t>LaTeX (logic_example):</a:t>
            </a:r>
          </a:p>
          <a:p>
            <a:r>
              <a:t>a\quad\#\mathrm{SEP}\#\quad(a\lor b)</a:t>
            </a:r>
          </a:p>
          <a:p/>
          <a:p>
            <a:r>
              <a:t>LaTeX (logic_att):</a:t>
            </a:r>
          </a:p>
          <a:p>
            <a:r>
              <a:t>(E,K,H,D,W)=(12,4,2,32,1)</a:t>
            </a:r>
          </a:p>
          <a:p/>
          <a:p>
            <a:r>
              <a:t>LaTeX (logic_ffn):</a:t>
            </a:r>
          </a:p>
          <a:p>
            <a:r>
              <a:t>(E,K,D)=(12,4,128)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Table5 values are accuracy percentages. SUT substantially exceeds the Transformer and LSTM on length extrapolation here. It also improves A and B, but C remains52 compared with LSTM59. Do not call compositional generalization solved. The source Figure4 shows average halting depth increasing with operator count. Operator count also correlates with length, so this does not isolate reasoning difficulty from sequence length. Baseline references: LSTM Bowman2015, Transformer Shen2019. The paper says a newly trained12-layer vanilla Transformer achieves approximately the same result as the cited baseline. The original figure caption says UT, while the surrounding setting and Table5 call the model SUT; describe it as the paper model without silently changing the source image.</a:t>
            </a:r>
          </a:p>
          <a:p/>
          <a:p>
            <a:r>
              <a:t>Sources:</a:t>
            </a:r>
          </a:p>
          <a:p>
            <a:r>
              <a:t>Tan et al., Sparse Universal Transformer, EMNLP 2023. Sections 1–5, Tables 1–5. https://aclanthology.org/2023.emnlp-main.12.pdf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Section4.4 is valuable because it turns halting into a post-training control. Adjust the cumulative threshold and evaluate quality again. The original plots show fraction computed in blue and task quality in green. The estimates are based on decoder halting patterns with ground-truth source-target pairs, so these are skipped SUT block-step estimates, not measured end-to-end speedups. Logical inference has near-constant roughly50% skipped steps. CFQ text reports roughly33% skipped atthreshold.8 with stable quality in.8–.999, and about50% for a small .2% accuracy decrease; plots and prose have some inconsistencies, so avoid unsupported precision. Translation text reports9% less computation while retaining29.1 BLEU. Lowering threshold can alter token representations and subsequently other tokens’ halting, so monotonicity is not guaranteed. The cited images retain original axes.</a:t>
            </a:r>
          </a:p>
          <a:p/>
          <a:p>
            <a:r>
              <a:t>Sources:</a:t>
            </a:r>
          </a:p>
          <a:p>
            <a:r>
              <a:t>Tan et al., Sparse Universal Transformer, EMNLP 2023. Sections 1–5, Tables 1–5. https://aclanthology.org/2023.emnlp-main.12.pdf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structural hypothesis is that routing granularity, reuse across depth and stopping are separable choices. SUT combines them, but its experiments do not establish a universal principle. WMT supports parameter efficiency with a quality-cost trade-off; CFQ selects the one-expert UT setting; logical inference exposes failure on splitC. Token-expert associations are observational. For our controlled toy experiments, isolate changes, match parameter budgets and measure actual compute separately, select checkpoints on validation MSE, never expose regime labels to non-oracle models, and preserve negative results. These are proposed controls, not experimental findings. Toy-program results have not been added because they need a fresh audit and discussion; insert validated result slides before the final structural table later.</a:t>
            </a:r>
          </a:p>
          <a:p/>
          <a:p>
            <a:r>
              <a:t>Sources:</a:t>
            </a:r>
          </a:p>
          <a:p>
            <a:r>
              <a:t>Tan et al., Sparse Universal Transformer, EMNLP 2023. Sections 1–5, Tables 1–5. https://aclanthology.org/2023.emnlp-main.12.pdf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Final comparison slide for the planned SUT presentation. MHA means multi-head attention, including routed variants; it does not imply a full MHA block inside every MoA expert. MoA routes single heads, SUT MoMHA has H heads per expert. FFN MoE means a separately routed FFN expert pool. Router lists the selected unit, blank means no expert/head router (UT still has a halting gate). Recurrence means reuse of parameters across depth, not recursive state interpolation. Typical FFN-MoE shown uses separate layer pools. UT halting is optional. MoM reuses a module pool rather than one fixed block, and SKIP is optional; skipping does not imply permanent halting. MoM attention assembles projection parameters. MoH shared heads are always active, not necessarily shared KV projections. MoH and MoM are later 2024 comparisons, not predecessors of SUT.</a:t>
            </a:r>
          </a:p>
          <a:p>
            <a:r>
              <a:t>Sources:</a:t>
            </a:r>
          </a:p>
          <a:p>
            <a:r>
              <a:t>Transformer: https://arxiv.org/html/1706.03762</a:t>
            </a:r>
          </a:p>
          <a:p>
            <a:r>
              <a:t>Switch: https://arxiv.org/html/2101.03961</a:t>
            </a:r>
          </a:p>
          <a:p>
            <a:r>
              <a:t>UT: https://arxiv.org/html/1807.03819v3</a:t>
            </a:r>
          </a:p>
          <a:p>
            <a:r>
              <a:t>MoA Sections 4-5: https://arxiv.org/html/2210.05144</a:t>
            </a:r>
          </a:p>
          <a:p>
            <a:r>
              <a:t>MoH Section 3.2: https://arxiv.org/html/2410.11842</a:t>
            </a:r>
          </a:p>
          <a:p>
            <a:r>
              <a:t>SUT Sections 3.1-3.2: https://aclanthology.org/2023.emnlp-main.12.pdf</a:t>
            </a:r>
          </a:p>
          <a:p>
            <a:r>
              <a:t>MoM Sections 3.1-3.3: https://arxiv.org/html/2407.06677</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6.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6.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6.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3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38.png"/><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6.xml"/><Relationship Id="rId2" Type="http://schemas.openxmlformats.org/officeDocument/2006/relationships/image" Target="../media/image40.png"/><Relationship Id="rId1" Type="http://schemas.openxmlformats.org/officeDocument/2006/relationships/image" Target="../media/image39.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6.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6.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49.png"/><Relationship Id="rId1" Type="http://schemas.openxmlformats.org/officeDocument/2006/relationships/image" Target="../media/image48.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6.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EMNLP 2023</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Sparse Universal Transformer</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01</a:t>
            </a:r>
            <a:endParaRPr sz="1200" b="0">
              <a:solidFill>
                <a:srgbClr val="53655E"/>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2038350"/>
            <a:ext cx="11277600" cy="1047750"/>
          </a:xfrm>
          <a:prstGeom prst="rect">
            <a:avLst/>
          </a:prstGeom>
          <a:noFill/>
          <a:ln w="0">
            <a:noFill/>
          </a:ln>
        </p:spPr>
        <p:txBody>
          <a:bodyPr lIns="0" tIns="0" rIns="0" bIns="0" anchor="t"/>
          <a:lstStyle>
            <a:defPPr>
              <a:defRPr sz="2400" b="0">
                <a:solidFill>
                  <a:srgbClr val="18352D"/>
                </a:solidFill>
                <a:latin typeface="Arial" panose="020B0604020202020204"/>
                <a:ea typeface="Arial" panose="020B0604020202020204"/>
                <a:cs typeface="Arial" panose="020B0604020202020204"/>
              </a:defRPr>
            </a:defPPr>
          </a:lstStyle>
          <a:p>
            <a:pPr>
              <a:defRPr sz="2400" b="0">
                <a:solidFill>
                  <a:srgbClr val="18352D"/>
                </a:solidFill>
                <a:latin typeface="Arial" panose="020B0604020202020204"/>
                <a:ea typeface="Arial" panose="020B0604020202020204"/>
                <a:cs typeface="Arial" panose="020B0604020202020204"/>
              </a:defRPr>
            </a:pPr>
            <a:r>
              <a:rPr sz="2400" b="0">
                <a:solidFill>
                  <a:srgbClr val="18352D"/>
                </a:solidFill>
                <a:latin typeface="Arial" panose="020B0604020202020204"/>
                <a:ea typeface="Arial" panose="020B0604020202020204"/>
                <a:cs typeface="Arial" panose="020B0604020202020204"/>
              </a:rPr>
              <a:t>Shawn Tan¹*     Yikang Shen²*     Zhenfang Chen²</a:t>
            </a:r>
            <a:endParaRPr sz="2400" b="0">
              <a:solidFill>
                <a:srgbClr val="18352D"/>
              </a:solidFill>
              <a:latin typeface="Arial" panose="020B0604020202020204"/>
              <a:ea typeface="Arial" panose="020B0604020202020204"/>
              <a:cs typeface="Arial" panose="020B0604020202020204"/>
            </a:endParaRPr>
          </a:p>
          <a:p>
            <a:pPr>
              <a:defRPr sz="2400" b="0">
                <a:solidFill>
                  <a:srgbClr val="18352D"/>
                </a:solidFill>
                <a:latin typeface="Arial" panose="020B0604020202020204"/>
                <a:ea typeface="Arial" panose="020B0604020202020204"/>
                <a:cs typeface="Arial" panose="020B0604020202020204"/>
              </a:defRPr>
            </a:pPr>
            <a:r>
              <a:rPr sz="2400" b="0">
                <a:solidFill>
                  <a:srgbClr val="18352D"/>
                </a:solidFill>
                <a:latin typeface="Arial" panose="020B0604020202020204"/>
                <a:ea typeface="Arial" panose="020B0604020202020204"/>
                <a:cs typeface="Arial" panose="020B0604020202020204"/>
              </a:rPr>
              <a:t>Aaron Courville¹     Chuang Gan²</a:t>
            </a:r>
            <a:endParaRPr sz="2400" b="0">
              <a:solidFill>
                <a:srgbClr val="1835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457200" y="3638550"/>
            <a:ext cx="11277600" cy="1047750"/>
          </a:xfrm>
          <a:prstGeom prst="rect">
            <a:avLst/>
          </a:prstGeom>
          <a:noFill/>
          <a:ln w="0">
            <a:noFill/>
          </a:ln>
        </p:spPr>
        <p:txBody>
          <a:bodyPr lIns="0" tIns="0" rIns="0" bIns="0" anchor="t"/>
          <a:lstStyle>
            <a:defPPr>
              <a:defRPr sz="2325" b="0">
                <a:solidFill>
                  <a:srgbClr val="18352D"/>
                </a:solidFill>
                <a:latin typeface="Arial" panose="020B0604020202020204"/>
                <a:ea typeface="Arial" panose="020B0604020202020204"/>
                <a:cs typeface="Arial" panose="020B0604020202020204"/>
              </a:defRPr>
            </a:defPPr>
          </a:lstStyle>
          <a:p>
            <a:pPr>
              <a:defRPr sz="2325" b="0">
                <a:solidFill>
                  <a:srgbClr val="18352D"/>
                </a:solidFill>
                <a:latin typeface="Arial" panose="020B0604020202020204"/>
                <a:ea typeface="Arial" panose="020B0604020202020204"/>
                <a:cs typeface="Arial" panose="020B0604020202020204"/>
              </a:defRPr>
            </a:pPr>
            <a:r>
              <a:rPr sz="2325" b="0">
                <a:solidFill>
                  <a:srgbClr val="18352D"/>
                </a:solidFill>
                <a:latin typeface="Arial" panose="020B0604020202020204"/>
                <a:ea typeface="Arial" panose="020B0604020202020204"/>
                <a:cs typeface="Arial" panose="020B0604020202020204"/>
              </a:rPr>
              <a:t>¹ Mila, University of Montreal</a:t>
            </a:r>
            <a:endParaRPr sz="2325" b="0">
              <a:solidFill>
                <a:srgbClr val="18352D"/>
              </a:solidFill>
              <a:latin typeface="Arial" panose="020B0604020202020204"/>
              <a:ea typeface="Arial" panose="020B0604020202020204"/>
              <a:cs typeface="Arial" panose="020B0604020202020204"/>
            </a:endParaRPr>
          </a:p>
          <a:p>
            <a:pPr>
              <a:defRPr sz="2325" b="0">
                <a:solidFill>
                  <a:srgbClr val="18352D"/>
                </a:solidFill>
                <a:latin typeface="Arial" panose="020B0604020202020204"/>
                <a:ea typeface="Arial" panose="020B0604020202020204"/>
                <a:cs typeface="Arial" panose="020B0604020202020204"/>
              </a:defRPr>
            </a:pPr>
            <a:r>
              <a:rPr sz="2325" b="0">
                <a:solidFill>
                  <a:srgbClr val="18352D"/>
                </a:solidFill>
                <a:latin typeface="Arial" panose="020B0604020202020204"/>
                <a:ea typeface="Arial" panose="020B0604020202020204"/>
                <a:cs typeface="Arial" panose="020B0604020202020204"/>
              </a:rPr>
              <a:t>² MIT-IBM Watson AI Lab</a:t>
            </a:r>
            <a:endParaRPr sz="2325" b="0">
              <a:solidFill>
                <a:srgbClr val="1835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457200" y="5324475"/>
            <a:ext cx="11277600" cy="523875"/>
          </a:xfrm>
          <a:prstGeom prst="rect">
            <a:avLst/>
          </a:prstGeom>
          <a:noFill/>
          <a:ln w="0">
            <a:noFill/>
          </a:ln>
        </p:spPr>
        <p:txBody>
          <a:bodyPr lIns="0" tIns="0" rIns="0" bIns="0" anchor="t"/>
          <a:lstStyle>
            <a:defPPr>
              <a:defRPr sz="1950" b="1">
                <a:solidFill>
                  <a:srgbClr val="246648"/>
                </a:solidFill>
                <a:latin typeface="Arial" panose="020B0604020202020204"/>
                <a:ea typeface="Arial" panose="020B0604020202020204"/>
                <a:cs typeface="Arial" panose="020B0604020202020204"/>
              </a:defRPr>
            </a:defPPr>
          </a:lstStyle>
          <a:p>
            <a:pPr>
              <a:defRPr sz="1950" b="1">
                <a:solidFill>
                  <a:srgbClr val="246648"/>
                </a:solidFill>
                <a:latin typeface="Arial" panose="020B0604020202020204"/>
                <a:ea typeface="Arial" panose="020B0604020202020204"/>
                <a:cs typeface="Arial" panose="020B0604020202020204"/>
              </a:defRPr>
            </a:pPr>
            <a:r>
              <a:rPr sz="1950" b="1">
                <a:solidFill>
                  <a:srgbClr val="246648"/>
                </a:solidFill>
                <a:latin typeface="Arial" panose="020B0604020202020204"/>
                <a:ea typeface="Arial" panose="020B0604020202020204"/>
                <a:cs typeface="Arial" panose="020B0604020202020204"/>
              </a:rPr>
              <a:t>Conference on Empirical Methods in Natural Language Processing</a:t>
            </a:r>
            <a:endParaRPr sz="1950" b="1">
              <a:solidFill>
                <a:srgbClr val="246648"/>
              </a:solidFill>
              <a:latin typeface="Arial" panose="020B0604020202020204"/>
              <a:ea typeface="Arial" panose="020B0604020202020204"/>
              <a:cs typeface="Arial" panose="020B0604020202020204"/>
            </a:endParaRPr>
          </a:p>
        </p:txBody>
      </p:sp>
      <p:sp>
        <p:nvSpPr>
          <p:cNvPr id="7" name="矩形 6"/>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Tan et al., 2023. *Equal contribution.</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FOUNDATION / ICLR 2019</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Universal Transformer: the shared backbone</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02</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934931" y="1295400"/>
            <a:ext cx="4950039" cy="4857750"/>
          </a:xfrm>
          <a:prstGeom prst="rect">
            <a:avLst/>
          </a:prstGeom>
        </p:spPr>
      </p:pic>
      <p:sp>
        <p:nvSpPr>
          <p:cNvPr id="5" name="矩形 4"/>
          <p:cNvSpPr>
            <a:spLocks noGrp="1"/>
          </p:cNvSpPr>
          <p:nvPr/>
        </p:nvSpPr>
        <p:spPr>
          <a:xfrm>
            <a:off x="6762750" y="1438275"/>
            <a:ext cx="4857750" cy="428625"/>
          </a:xfrm>
          <a:prstGeom prst="rect">
            <a:avLst/>
          </a:prstGeom>
          <a:noFill/>
          <a:ln w="0">
            <a:noFill/>
          </a:ln>
        </p:spPr>
        <p:txBody>
          <a:bodyPr lIns="0" tIns="0" rIns="0" bIns="0" anchor="t"/>
          <a:lstStyle>
            <a:defPPr>
              <a:defRPr sz="2250" b="1">
                <a:solidFill>
                  <a:srgbClr val="18352D"/>
                </a:solidFill>
                <a:latin typeface="Arial" panose="020B0604020202020204"/>
                <a:ea typeface="Arial" panose="020B0604020202020204"/>
                <a:cs typeface="Arial" panose="020B0604020202020204"/>
              </a:defRPr>
            </a:defPPr>
          </a:lstStyle>
          <a:p>
            <a:pPr>
              <a:defRPr sz="2250" b="1">
                <a:solidFill>
                  <a:srgbClr val="18352D"/>
                </a:solidFill>
                <a:latin typeface="Arial" panose="020B0604020202020204"/>
                <a:ea typeface="Arial" panose="020B0604020202020204"/>
                <a:cs typeface="Arial" panose="020B0604020202020204"/>
              </a:defRPr>
            </a:pPr>
            <a:r>
              <a:rPr sz="2250" b="1">
                <a:solidFill>
                  <a:srgbClr val="18352D"/>
                </a:solidFill>
                <a:latin typeface="Arial" panose="020B0604020202020204"/>
                <a:ea typeface="Arial" panose="020B0604020202020204"/>
                <a:cs typeface="Arial" panose="020B0604020202020204"/>
              </a:rPr>
              <a:t>Universal Transformers</a:t>
            </a:r>
            <a:endParaRPr sz="2250" b="1">
              <a:solidFill>
                <a:srgbClr val="1835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762750" y="2009775"/>
            <a:ext cx="4857750" cy="10287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Mostafa Dehghani, Stephan Gouws,</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Oriol Vinyals, Jakob Uszkoreit</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and </a:t>
            </a:r>
            <a:r>
              <a:rPr lang="en-US" sz="1875" b="0">
                <a:solidFill>
                  <a:srgbClr val="18352D"/>
                </a:solidFill>
                <a:latin typeface="Arial" panose="020B0604020202020204"/>
                <a:ea typeface="Arial" panose="020B0604020202020204"/>
                <a:cs typeface="Arial" panose="020B0604020202020204"/>
              </a:rPr>
              <a:t>L</a:t>
            </a:r>
            <a:r>
              <a:rPr sz="1875" b="0">
                <a:solidFill>
                  <a:srgbClr val="18352D"/>
                </a:solidFill>
                <a:latin typeface="Arial" panose="020B0604020202020204"/>
                <a:ea typeface="Arial" panose="020B0604020202020204"/>
                <a:cs typeface="Arial" panose="020B0604020202020204"/>
              </a:rPr>
              <a:t>ukasz Kaiser</a:t>
            </a:r>
            <a:endParaRPr sz="1875" b="0">
              <a:solidFill>
                <a:srgbClr val="1835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762750" y="3190875"/>
            <a:ext cx="4857750" cy="1000125"/>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University of Amsterdam</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DeepMind and Google Brain</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ICLR 2019</a:t>
            </a:r>
            <a:endParaRPr sz="1875"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762750" y="4476750"/>
            <a:ext cx="4857750" cy="666750"/>
          </a:xfrm>
          <a:prstGeom prst="rect">
            <a:avLst/>
          </a:prstGeom>
          <a:noFill/>
          <a:ln w="0">
            <a:noFill/>
          </a:ln>
        </p:spPr>
        <p:txBody>
          <a:bodyPr lIns="0" tIns="0" rIns="0" bIns="0" anchor="t"/>
          <a:lstStyle>
            <a:defPPr>
              <a:defRPr sz="2175" b="1">
                <a:solidFill>
                  <a:srgbClr val="246648"/>
                </a:solidFill>
                <a:latin typeface="Arial" panose="020B0604020202020204"/>
                <a:ea typeface="Arial" panose="020B0604020202020204"/>
                <a:cs typeface="Arial" panose="020B0604020202020204"/>
              </a:defRPr>
            </a:defPPr>
          </a:lstStyle>
          <a:p>
            <a:pPr>
              <a:defRPr sz="2175" b="1">
                <a:solidFill>
                  <a:srgbClr val="246648"/>
                </a:solidFill>
                <a:latin typeface="Arial" panose="020B0604020202020204"/>
                <a:ea typeface="Arial" panose="020B0604020202020204"/>
                <a:cs typeface="Arial" panose="020B0604020202020204"/>
              </a:defRPr>
            </a:pPr>
            <a:r>
              <a:rPr sz="2175" b="1">
                <a:solidFill>
                  <a:srgbClr val="246648"/>
                </a:solidFill>
                <a:latin typeface="Arial" panose="020B0604020202020204"/>
                <a:ea typeface="Arial" panose="020B0604020202020204"/>
                <a:cs typeface="Arial" panose="020B0604020202020204"/>
              </a:rPr>
              <a:t>Reuse the same block at each depth</a:t>
            </a:r>
            <a:endParaRPr sz="2175" b="1">
              <a:solidFill>
                <a:srgbClr val="246648"/>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762750" y="5353050"/>
            <a:ext cx="485775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Parallel across token positions</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Sequential across refinement steps</a:t>
            </a:r>
            <a:endParaRPr sz="1875" b="0">
              <a:solidFill>
                <a:srgbClr val="1835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Dehghani et al., original Figure 4. Dynamic per-token halting is optional.</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矩形 12"/>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MOTIVATION / SCALING SHARED COMPUTATION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Vanilla Transformer, UT and SUT</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03</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rcRect b="8000"/>
          <a:stretch>
            <a:fillRect/>
          </a:stretch>
        </p:blipFill>
        <p:spPr>
          <a:xfrm>
            <a:off x="457200" y="1476375"/>
            <a:ext cx="5810250" cy="4143375"/>
          </a:xfrm>
          <a:prstGeom prst="rect">
            <a:avLst/>
          </a:prstGeom>
        </p:spPr>
      </p:pic>
      <p:sp>
        <p:nvSpPr>
          <p:cNvPr id="5" name="矩形 4"/>
          <p:cNvSpPr>
            <a:spLocks noGrp="1"/>
          </p:cNvSpPr>
          <p:nvPr/>
        </p:nvSpPr>
        <p:spPr>
          <a:xfrm>
            <a:off x="1919605" y="5619750"/>
            <a:ext cx="2817495" cy="333375"/>
          </a:xfrm>
          <a:prstGeom prst="rect">
            <a:avLst/>
          </a:prstGeom>
          <a:noFill/>
          <a:ln w="0">
            <a:noFill/>
          </a:ln>
        </p:spPr>
        <p:txBody>
          <a:bodyPr lIns="0" tIns="0" rIns="0" bIns="0" anchor="t"/>
          <a:lstStyle>
            <a:defPPr>
              <a:defRPr sz="2025" b="1">
                <a:solidFill>
                  <a:srgbClr val="18352D"/>
                </a:solidFill>
                <a:latin typeface="Arial" panose="020B0604020202020204"/>
                <a:ea typeface="Arial" panose="020B0604020202020204"/>
                <a:cs typeface="Arial" panose="020B0604020202020204"/>
              </a:defRPr>
            </a:defPPr>
          </a:lstStyle>
          <a:p>
            <a:pPr>
              <a:defRPr sz="2025" b="1">
                <a:solidFill>
                  <a:srgbClr val="18352D"/>
                </a:solidFill>
                <a:latin typeface="Arial" panose="020B0604020202020204"/>
                <a:ea typeface="Arial" panose="020B0604020202020204"/>
                <a:cs typeface="Arial" panose="020B0604020202020204"/>
              </a:defRPr>
            </a:pPr>
            <a:r>
              <a:rPr sz="1600" b="0">
                <a:solidFill>
                  <a:schemeClr val="tx1"/>
                </a:solidFill>
                <a:latin typeface="Arial" panose="020B0604020202020204"/>
                <a:ea typeface="Arial" panose="020B0604020202020204"/>
                <a:cs typeface="Arial" panose="020B0604020202020204"/>
              </a:rPr>
              <a:t>Sparse Universal Transformer</a:t>
            </a:r>
            <a:endParaRPr sz="1600" b="0">
              <a:solidFill>
                <a:schemeClr val="tx1"/>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800850" y="1457325"/>
            <a:ext cx="4933950" cy="381000"/>
          </a:xfrm>
          <a:prstGeom prst="rect">
            <a:avLst/>
          </a:prstGeom>
          <a:noFill/>
          <a:ln w="0">
            <a:noFill/>
          </a:ln>
        </p:spPr>
        <p:txBody>
          <a:bodyPr lIns="0" tIns="0" rIns="0" bIns="0" anchor="t"/>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Vanilla Transformer</a:t>
            </a:r>
            <a:endParaRPr sz="2175" b="1">
              <a:solidFill>
                <a:srgbClr val="1835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800850" y="1943100"/>
            <a:ext cx="49339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Different block parameters</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at different layers.</a:t>
            </a:r>
            <a:endParaRPr sz="2025"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800850" y="3038475"/>
            <a:ext cx="4933950" cy="381000"/>
          </a:xfrm>
          <a:prstGeom prst="rect">
            <a:avLst/>
          </a:prstGeom>
          <a:noFill/>
          <a:ln w="0">
            <a:noFill/>
          </a:ln>
        </p:spPr>
        <p:txBody>
          <a:bodyPr lIns="0" tIns="0" rIns="0" bIns="0" anchor="t"/>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Universal Transformer</a:t>
            </a:r>
            <a:endParaRPr sz="2175" b="1">
              <a:solidFill>
                <a:srgbClr val="1835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800850" y="3524250"/>
            <a:ext cx="49339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Reuse one block across depth.</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A wider block costs more per step.</a:t>
            </a:r>
            <a:endParaRPr sz="2025" b="0">
              <a:solidFill>
                <a:srgbClr val="1835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6800850" y="4676775"/>
            <a:ext cx="4933950" cy="381000"/>
          </a:xfrm>
          <a:prstGeom prst="rect">
            <a:avLst/>
          </a:prstGeom>
          <a:noFill/>
          <a:ln w="0">
            <a:noFill/>
          </a:ln>
        </p:spPr>
        <p:txBody>
          <a:bodyPr lIns="0" tIns="0" rIns="0" bIns="0" anchor="t"/>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Sparse Universal Transformer</a:t>
            </a:r>
            <a:endParaRPr sz="2175" b="1">
              <a:solidFill>
                <a:srgbClr val="18352D"/>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6800850" y="5162550"/>
            <a:ext cx="49339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Reuse the expert pools, activating</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only selected experts at each step.</a:t>
            </a:r>
            <a:endParaRPr sz="2025" b="0">
              <a:solidFill>
                <a:srgbClr val="1835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Adapted SUT Figure 1: model-name label corrected to match the paper title.</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SPARSE COMPUTATION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SUT block and sparse feedforward experts</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04</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457200" y="1472648"/>
            <a:ext cx="3333750" cy="4522304"/>
          </a:xfrm>
          <a:prstGeom prst="rect">
            <a:avLst/>
          </a:prstGeom>
        </p:spPr>
      </p:pic>
      <p:sp>
        <p:nvSpPr>
          <p:cNvPr id="5" name="矩形 4"/>
          <p:cNvSpPr>
            <a:spLocks noGrp="1"/>
          </p:cNvSpPr>
          <p:nvPr/>
        </p:nvSpPr>
        <p:spPr>
          <a:xfrm>
            <a:off x="4286250" y="1428750"/>
            <a:ext cx="7239000" cy="381000"/>
          </a:xfrm>
          <a:prstGeom prst="rect">
            <a:avLst/>
          </a:prstGeom>
          <a:noFill/>
          <a:ln w="0">
            <a:noFill/>
          </a:ln>
        </p:spPr>
        <p:txBody>
          <a:bodyPr lIns="0" tIns="0" rIns="0" bIns="0" anchor="t"/>
          <a:lstStyle>
            <a:defPPr>
              <a:defRPr sz="2250" b="1">
                <a:solidFill>
                  <a:srgbClr val="18352D"/>
                </a:solidFill>
                <a:latin typeface="Arial" panose="020B0604020202020204"/>
                <a:ea typeface="Arial" panose="020B0604020202020204"/>
                <a:cs typeface="Arial" panose="020B0604020202020204"/>
              </a:defRPr>
            </a:defPPr>
          </a:lstStyle>
          <a:p>
            <a:pPr>
              <a:defRPr sz="2250" b="1">
                <a:solidFill>
                  <a:srgbClr val="18352D"/>
                </a:solidFill>
                <a:latin typeface="Arial" panose="020B0604020202020204"/>
                <a:ea typeface="Arial" panose="020B0604020202020204"/>
                <a:cs typeface="Arial" panose="020B0604020202020204"/>
              </a:defRPr>
            </a:pPr>
            <a:r>
              <a:rPr sz="2250" b="1">
                <a:solidFill>
                  <a:srgbClr val="18352D"/>
                </a:solidFill>
                <a:latin typeface="Arial" panose="020B0604020202020204"/>
                <a:ea typeface="Arial" panose="020B0604020202020204"/>
                <a:cs typeface="Arial" panose="020B0604020202020204"/>
              </a:rPr>
              <a:t>FFN expert configuration</a:t>
            </a:r>
            <a:endParaRPr sz="2250" b="1">
              <a:solidFill>
                <a:srgbClr val="18352D"/>
              </a:solidFill>
              <a:latin typeface="Arial" panose="020B0604020202020204"/>
              <a:ea typeface="Arial" panose="020B0604020202020204"/>
              <a:cs typeface="Arial" panose="020B0604020202020204"/>
            </a:endParaRPr>
          </a:p>
        </p:txBody>
      </p:sp>
      <p:pic>
        <p:nvPicPr>
          <p:cNvPr id="6" name="图片 5"/>
          <p:cNvPicPr>
            <a:picLocks noChangeAspect="1"/>
          </p:cNvPicPr>
          <p:nvPr/>
        </p:nvPicPr>
        <p:blipFill>
          <a:blip r:embed="rId2"/>
          <a:stretch>
            <a:fillRect/>
          </a:stretch>
        </p:blipFill>
        <p:spPr>
          <a:xfrm>
            <a:off x="4436227" y="1971675"/>
            <a:ext cx="2081296" cy="504825"/>
          </a:xfrm>
          <a:prstGeom prst="rect">
            <a:avLst/>
          </a:prstGeom>
        </p:spPr>
      </p:pic>
      <p:graphicFrame>
        <p:nvGraphicFramePr>
          <p:cNvPr id="7" name="表格 6"/>
          <p:cNvGraphicFramePr/>
          <p:nvPr/>
        </p:nvGraphicFramePr>
        <p:xfrm>
          <a:off x="4286250" y="2724150"/>
          <a:ext cx="7096125" cy="1866900"/>
        </p:xfrm>
        <a:graphic>
          <a:graphicData uri="http://schemas.openxmlformats.org/drawingml/2006/table">
            <a:tbl>
              <a:tblPr/>
              <a:tblGrid>
                <a:gridCol w="1190625"/>
                <a:gridCol w="5905500"/>
              </a:tblGrid>
              <a:tr h="466725">
                <a:tc>
                  <a:txBody>
                    <a:bodyPr/>
                    <a:lstStyle/>
                    <a:p>
                      <a:pPr algn="l"/>
                      <a:r>
                        <a:rPr sz="1800" b="1">
                          <a:solidFill>
                            <a:srgbClr val="FFFFFF"/>
                          </a:solidFill>
                          <a:latin typeface="Arial" panose="020B0604020202020204"/>
                          <a:ea typeface="Arial" panose="020B0604020202020204"/>
                          <a:cs typeface="Arial" panose="020B0604020202020204"/>
                        </a:rPr>
                        <a:t>Symbol</a:t>
                      </a:r>
                      <a:endParaRPr sz="1800" b="1">
                        <a:solidFill>
                          <a:srgbClr val="FFFFFF"/>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a:lstStyle/>
                    <a:p>
                      <a:pPr algn="ctr"/>
                      <a:r>
                        <a:rPr sz="1800" b="1">
                          <a:solidFill>
                            <a:srgbClr val="FFFFFF"/>
                          </a:solidFill>
                          <a:latin typeface="Arial" panose="020B0604020202020204"/>
                          <a:ea typeface="Arial" panose="020B0604020202020204"/>
                          <a:cs typeface="Arial" panose="020B0604020202020204"/>
                        </a:rPr>
                        <a:t>Meaning</a:t>
                      </a:r>
                      <a:endParaRPr sz="1800" b="1">
                        <a:solidFill>
                          <a:srgbClr val="FFFFFF"/>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466725">
                <a:tc>
                  <a:txBody>
                    <a:bodyPr/>
                    <a:lstStyle/>
                    <a:p>
                      <a:pPr algn="l"/>
                      <a:r>
                        <a:rPr sz="1800" b="0">
                          <a:solidFill>
                            <a:srgbClr val="18352D"/>
                          </a:solidFill>
                          <a:latin typeface="Arial" panose="020B0604020202020204"/>
                          <a:ea typeface="Arial" panose="020B0604020202020204"/>
                          <a:cs typeface="Arial" panose="020B0604020202020204"/>
                        </a:rPr>
                        <a:t>E</a:t>
                      </a:r>
                      <a:endParaRPr sz="1800"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pPr algn="ctr"/>
                      <a:r>
                        <a:rPr sz="1800" b="0">
                          <a:solidFill>
                            <a:srgbClr val="18352D"/>
                          </a:solidFill>
                          <a:latin typeface="Arial" panose="020B0604020202020204"/>
                          <a:ea typeface="Arial" panose="020B0604020202020204"/>
                          <a:cs typeface="Arial" panose="020B0604020202020204"/>
                        </a:rPr>
                        <a:t>Total number of FFN experts</a:t>
                      </a:r>
                      <a:endParaRPr sz="18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r>
              <a:tr h="466725">
                <a:tc>
                  <a:txBody>
                    <a:bodyPr/>
                    <a:lstStyle/>
                    <a:p>
                      <a:pPr algn="l"/>
                      <a:r>
                        <a:rPr sz="1800" b="0">
                          <a:solidFill>
                            <a:srgbClr val="18352D"/>
                          </a:solidFill>
                          <a:latin typeface="Arial" panose="020B0604020202020204"/>
                          <a:ea typeface="Arial" panose="020B0604020202020204"/>
                          <a:cs typeface="Arial" panose="020B0604020202020204"/>
                        </a:rPr>
                        <a:t>K</a:t>
                      </a:r>
                      <a:endParaRPr sz="1800"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800" b="0">
                          <a:solidFill>
                            <a:srgbClr val="18352D"/>
                          </a:solidFill>
                          <a:latin typeface="Arial" panose="020B0604020202020204"/>
                          <a:ea typeface="Arial" panose="020B0604020202020204"/>
                          <a:cs typeface="Arial" panose="020B0604020202020204"/>
                        </a:rPr>
                        <a:t>Experts selected for each token</a:t>
                      </a:r>
                      <a:endParaRPr sz="18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2F5F3"/>
                    </a:solidFill>
                  </a:tcPr>
                </a:tc>
              </a:tr>
              <a:tr h="466725">
                <a:tc>
                  <a:txBody>
                    <a:bodyPr/>
                    <a:lstStyle/>
                    <a:p>
                      <a:pPr algn="l"/>
                      <a:r>
                        <a:rPr sz="1800" b="0">
                          <a:solidFill>
                            <a:srgbClr val="18352D"/>
                          </a:solidFill>
                          <a:latin typeface="Arial" panose="020B0604020202020204"/>
                          <a:ea typeface="Arial" panose="020B0604020202020204"/>
                          <a:cs typeface="Arial" panose="020B0604020202020204"/>
                        </a:rPr>
                        <a:t>D</a:t>
                      </a:r>
                      <a:endParaRPr sz="1800"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pPr algn="ctr"/>
                      <a:r>
                        <a:rPr sz="1800" b="0">
                          <a:solidFill>
                            <a:srgbClr val="18352D"/>
                          </a:solidFill>
                          <a:latin typeface="Arial" panose="020B0604020202020204"/>
                          <a:ea typeface="Arial" panose="020B0604020202020204"/>
                          <a:cs typeface="Arial" panose="020B0604020202020204"/>
                        </a:rPr>
                        <a:t>Hidden width of each expert</a:t>
                      </a:r>
                      <a:endParaRPr sz="18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r>
            </a:tbl>
          </a:graphicData>
        </a:graphic>
      </p:graphicFrame>
      <p:pic>
        <p:nvPicPr>
          <p:cNvPr id="8" name="图片 7"/>
          <p:cNvPicPr>
            <a:picLocks noChangeAspect="1"/>
          </p:cNvPicPr>
          <p:nvPr/>
        </p:nvPicPr>
        <p:blipFill>
          <a:blip r:embed="rId3"/>
          <a:stretch>
            <a:fillRect/>
          </a:stretch>
        </p:blipFill>
        <p:spPr>
          <a:xfrm>
            <a:off x="6686210" y="4800600"/>
            <a:ext cx="2296205" cy="714375"/>
          </a:xfrm>
          <a:prstGeom prst="rect">
            <a:avLst/>
          </a:prstGeom>
        </p:spPr>
      </p:pic>
      <p:sp>
        <p:nvSpPr>
          <p:cNvPr id="9" name="矩形 8"/>
          <p:cNvSpPr>
            <a:spLocks noGrp="1"/>
          </p:cNvSpPr>
          <p:nvPr/>
        </p:nvSpPr>
        <p:spPr>
          <a:xfrm>
            <a:off x="4286250" y="5753100"/>
            <a:ext cx="723900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Attention and FFN have separate expert pools.</a:t>
            </a:r>
            <a:endParaRPr sz="1875" b="0">
              <a:solidFill>
                <a:srgbClr val="1835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SUT Section 3.1. Tuple notation uses capital K throughout this presentation.</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矩形 12"/>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ATTENTION EXPERTS</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MoA: routing query and output projections</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05</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457200" y="1885810"/>
            <a:ext cx="6191250" cy="3669310"/>
          </a:xfrm>
          <a:prstGeom prst="rect">
            <a:avLst/>
          </a:prstGeom>
        </p:spPr>
      </p:pic>
      <p:sp>
        <p:nvSpPr>
          <p:cNvPr id="5" name="矩形 4"/>
          <p:cNvSpPr>
            <a:spLocks noGrp="1"/>
          </p:cNvSpPr>
          <p:nvPr/>
        </p:nvSpPr>
        <p:spPr>
          <a:xfrm>
            <a:off x="7048500" y="1438275"/>
            <a:ext cx="4686300" cy="342900"/>
          </a:xfrm>
          <a:prstGeom prst="rect">
            <a:avLst/>
          </a:prstGeom>
          <a:noFill/>
          <a:ln w="0">
            <a:noFill/>
          </a:ln>
        </p:spPr>
        <p:txBody>
          <a:bodyPr lIns="0" tIns="0" rIns="0" bIns="0" anchor="t"/>
          <a:lstStyle>
            <a:defPPr>
              <a:defRPr sz="1950" b="1">
                <a:solidFill>
                  <a:srgbClr val="18352D"/>
                </a:solidFill>
                <a:latin typeface="Arial" panose="020B0604020202020204"/>
                <a:ea typeface="Arial" panose="020B0604020202020204"/>
                <a:cs typeface="Arial" panose="020B0604020202020204"/>
              </a:defRPr>
            </a:defPPr>
          </a:lstStyle>
          <a:p>
            <a:pPr algn="l">
              <a:buClrTx/>
              <a:buSzTx/>
              <a:buFontTx/>
              <a:defRPr sz="1800" b="0">
                <a:solidFill>
                  <a:srgbClr val="18352D"/>
                </a:solidFill>
                <a:latin typeface="Arial" panose="020B0604020202020204"/>
                <a:ea typeface="Arial" panose="020B0604020202020204"/>
                <a:cs typeface="Arial" panose="020B0604020202020204"/>
              </a:defRPr>
            </a:pPr>
            <a:r>
              <a:rPr sz="1800">
                <a:solidFill>
                  <a:srgbClr val="18352D"/>
                </a:solidFill>
                <a:latin typeface="Arial" panose="020B0604020202020204"/>
                <a:ea typeface="Arial" panose="020B0604020202020204"/>
                <a:cs typeface="Arial" panose="020B0604020202020204"/>
              </a:rPr>
              <a:t>Shared key/value projections</a:t>
            </a:r>
            <a:endParaRPr sz="1800">
              <a:solidFill>
                <a:srgbClr val="1835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7048500" y="1885950"/>
            <a:ext cx="4686300" cy="571500"/>
          </a:xfrm>
          <a:prstGeom prst="rect">
            <a:avLst/>
          </a:prstGeom>
          <a:noFill/>
          <a:ln w="0">
            <a:noFill/>
          </a:ln>
        </p:spPr>
        <p:txBody>
          <a:bodyPr lIns="0" tIns="0" rIns="0" bIns="0" anchor="t"/>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Expert-specific query/output projections</a:t>
            </a:r>
            <a:endParaRPr sz="1800" b="0">
              <a:solidFill>
                <a:srgbClr val="18352D"/>
              </a:solidFill>
              <a:latin typeface="Arial" panose="020B0604020202020204"/>
              <a:ea typeface="Arial" panose="020B0604020202020204"/>
              <a:cs typeface="Arial" panose="020B0604020202020204"/>
            </a:endParaRPr>
          </a:p>
        </p:txBody>
      </p:sp>
      <p:pic>
        <p:nvPicPr>
          <p:cNvPr id="7" name="图片 6"/>
          <p:cNvPicPr>
            <a:picLocks noChangeAspect="1"/>
          </p:cNvPicPr>
          <p:nvPr/>
        </p:nvPicPr>
        <p:blipFill>
          <a:blip r:embed="rId2"/>
          <a:stretch>
            <a:fillRect/>
          </a:stretch>
        </p:blipFill>
        <p:spPr>
          <a:xfrm>
            <a:off x="7048500" y="2396282"/>
            <a:ext cx="4686300" cy="930690"/>
          </a:xfrm>
          <a:prstGeom prst="rect">
            <a:avLst/>
          </a:prstGeom>
        </p:spPr>
      </p:pic>
      <p:pic>
        <p:nvPicPr>
          <p:cNvPr id="8" name="图片 7"/>
          <p:cNvPicPr>
            <a:picLocks noChangeAspect="1"/>
          </p:cNvPicPr>
          <p:nvPr/>
        </p:nvPicPr>
        <p:blipFill>
          <a:blip r:embed="rId3"/>
          <a:stretch>
            <a:fillRect/>
          </a:stretch>
        </p:blipFill>
        <p:spPr>
          <a:xfrm>
            <a:off x="7048500" y="3429000"/>
            <a:ext cx="2157095" cy="382270"/>
          </a:xfrm>
          <a:prstGeom prst="rect">
            <a:avLst/>
          </a:prstGeom>
        </p:spPr>
      </p:pic>
      <p:pic>
        <p:nvPicPr>
          <p:cNvPr id="9" name="图片 8"/>
          <p:cNvPicPr>
            <a:picLocks noChangeAspect="1"/>
          </p:cNvPicPr>
          <p:nvPr/>
        </p:nvPicPr>
        <p:blipFill>
          <a:blip r:embed="rId4"/>
          <a:stretch>
            <a:fillRect/>
          </a:stretch>
        </p:blipFill>
        <p:spPr>
          <a:xfrm>
            <a:off x="7048500" y="4297680"/>
            <a:ext cx="2770505" cy="310515"/>
          </a:xfrm>
          <a:prstGeom prst="rect">
            <a:avLst/>
          </a:prstGeom>
        </p:spPr>
      </p:pic>
      <p:pic>
        <p:nvPicPr>
          <p:cNvPr id="10" name="图片 9"/>
          <p:cNvPicPr>
            <a:picLocks noChangeAspect="1"/>
          </p:cNvPicPr>
          <p:nvPr/>
        </p:nvPicPr>
        <p:blipFill>
          <a:blip r:embed="rId5"/>
          <a:stretch>
            <a:fillRect/>
          </a:stretch>
        </p:blipFill>
        <p:spPr>
          <a:xfrm>
            <a:off x="7048500" y="5012690"/>
            <a:ext cx="3378835" cy="662305"/>
          </a:xfrm>
          <a:prstGeom prst="rect">
            <a:avLst/>
          </a:prstGeom>
        </p:spPr>
      </p:pic>
      <p:sp>
        <p:nvSpPr>
          <p:cNvPr id="11" name="矩形 10"/>
          <p:cNvSpPr>
            <a:spLocks noGrp="1"/>
          </p:cNvSpPr>
          <p:nvPr/>
        </p:nvSpPr>
        <p:spPr>
          <a:xfrm>
            <a:off x="7031990" y="5805170"/>
            <a:ext cx="4686300" cy="666750"/>
          </a:xfrm>
          <a:prstGeom prst="rect">
            <a:avLst/>
          </a:prstGeom>
          <a:noFill/>
          <a:ln w="0">
            <a:noFill/>
          </a:ln>
        </p:spPr>
        <p:txBody>
          <a:bodyPr lIns="0" tIns="0" rIns="0" bIns="0" anchor="t"/>
          <a:lstStyle>
            <a:defPPr>
              <a:defRPr sz="1875" b="1">
                <a:solidFill>
                  <a:srgbClr val="18352D"/>
                </a:solidFill>
                <a:latin typeface="Arial" panose="020B0604020202020204"/>
                <a:ea typeface="Arial" panose="020B0604020202020204"/>
                <a:cs typeface="Arial" panose="020B0604020202020204"/>
              </a:defRPr>
            </a:defPPr>
          </a:lstStyle>
          <a:p>
            <a:pPr>
              <a:defRPr sz="1875" b="1">
                <a:solidFill>
                  <a:srgbClr val="18352D"/>
                </a:solidFill>
                <a:latin typeface="Arial" panose="020B0604020202020204"/>
                <a:ea typeface="Arial" panose="020B0604020202020204"/>
                <a:cs typeface="Arial" panose="020B0604020202020204"/>
              </a:defRPr>
            </a:pPr>
            <a:r>
              <a:rPr sz="1875" b="1">
                <a:solidFill>
                  <a:srgbClr val="18352D"/>
                </a:solidFill>
                <a:latin typeface="Arial" panose="020B0604020202020204"/>
                <a:ea typeface="Arial" panose="020B0604020202020204"/>
                <a:cs typeface="Arial" panose="020B0604020202020204"/>
              </a:rPr>
              <a:t>MoA: one head per expert</a:t>
            </a:r>
            <a:endParaRPr sz="1875" b="1">
              <a:solidFill>
                <a:srgbClr val="18352D"/>
              </a:solidFill>
              <a:latin typeface="Arial" panose="020B0604020202020204"/>
              <a:ea typeface="Arial" panose="020B0604020202020204"/>
              <a:cs typeface="Arial" panose="020B0604020202020204"/>
            </a:endParaRPr>
          </a:p>
          <a:p>
            <a:pPr>
              <a:defRPr sz="1875" b="1">
                <a:solidFill>
                  <a:srgbClr val="18352D"/>
                </a:solidFill>
                <a:latin typeface="Arial" panose="020B0604020202020204"/>
                <a:ea typeface="Arial" panose="020B0604020202020204"/>
                <a:cs typeface="Arial" panose="020B0604020202020204"/>
              </a:defRPr>
            </a:pPr>
            <a:r>
              <a:rPr sz="1875" b="1">
                <a:solidFill>
                  <a:srgbClr val="18352D"/>
                </a:solidFill>
                <a:latin typeface="Arial" panose="020B0604020202020204"/>
                <a:ea typeface="Arial" panose="020B0604020202020204"/>
                <a:cs typeface="Arial" panose="020B0604020202020204"/>
              </a:rPr>
              <a:t>MoMHA: a group of heads per expert</a:t>
            </a:r>
            <a:endParaRPr sz="1875" b="1">
              <a:solidFill>
                <a:srgbClr val="1835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Zhang et al., Mixture of Attention Heads, original Figure 2 and Equations 6, 10–12.</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MOMHA CONFIGURATION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SUT’s mixture of multi-head attention</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06</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534621" y="1504950"/>
            <a:ext cx="2797908" cy="4267200"/>
          </a:xfrm>
          <a:prstGeom prst="rect">
            <a:avLst/>
          </a:prstGeom>
        </p:spPr>
      </p:pic>
      <p:pic>
        <p:nvPicPr>
          <p:cNvPr id="6" name="图片 5"/>
          <p:cNvPicPr>
            <a:picLocks noChangeAspect="1"/>
          </p:cNvPicPr>
          <p:nvPr/>
        </p:nvPicPr>
        <p:blipFill>
          <a:blip r:embed="rId2"/>
          <a:stretch>
            <a:fillRect/>
          </a:stretch>
        </p:blipFill>
        <p:spPr>
          <a:xfrm>
            <a:off x="4152900" y="1400175"/>
            <a:ext cx="3752850" cy="542925"/>
          </a:xfrm>
          <a:prstGeom prst="rect">
            <a:avLst/>
          </a:prstGeom>
        </p:spPr>
      </p:pic>
      <p:graphicFrame>
        <p:nvGraphicFramePr>
          <p:cNvPr id="7" name="表格 6"/>
          <p:cNvGraphicFramePr/>
          <p:nvPr/>
        </p:nvGraphicFramePr>
        <p:xfrm>
          <a:off x="4124325" y="2190750"/>
          <a:ext cx="7610475" cy="2800350"/>
        </p:xfrm>
        <a:graphic>
          <a:graphicData uri="http://schemas.openxmlformats.org/drawingml/2006/table">
            <a:tbl>
              <a:tblPr/>
              <a:tblGrid>
                <a:gridCol w="1190625"/>
                <a:gridCol w="6419850"/>
              </a:tblGrid>
              <a:tr h="466725">
                <a:tc>
                  <a:txBody>
                    <a:bodyPr/>
                    <a:lstStyle/>
                    <a:p>
                      <a:pPr algn="l"/>
                      <a:r>
                        <a:rPr sz="1725" b="1">
                          <a:solidFill>
                            <a:srgbClr val="FFFFFF"/>
                          </a:solidFill>
                          <a:latin typeface="Arial" panose="020B0604020202020204"/>
                          <a:ea typeface="Arial" panose="020B0604020202020204"/>
                          <a:cs typeface="Arial" panose="020B0604020202020204"/>
                        </a:rPr>
                        <a:t>Symbol</a:t>
                      </a:r>
                      <a:endParaRPr sz="1725" b="1">
                        <a:solidFill>
                          <a:srgbClr val="FFFFFF"/>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a:lstStyle/>
                    <a:p>
                      <a:pPr algn="ctr"/>
                      <a:r>
                        <a:rPr sz="1725" b="1">
                          <a:solidFill>
                            <a:srgbClr val="FFFFFF"/>
                          </a:solidFill>
                          <a:latin typeface="Arial" panose="020B0604020202020204"/>
                          <a:ea typeface="Arial" panose="020B0604020202020204"/>
                          <a:cs typeface="Arial" panose="020B0604020202020204"/>
                        </a:rPr>
                        <a:t>Meaning</a:t>
                      </a:r>
                      <a:endParaRPr sz="1725" b="1">
                        <a:solidFill>
                          <a:srgbClr val="FFFFFF"/>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466725">
                <a:tc>
                  <a:txBody>
                    <a:bodyPr/>
                    <a:lstStyle/>
                    <a:p>
                      <a:pPr algn="l"/>
                      <a:r>
                        <a:rPr sz="1725" b="0">
                          <a:solidFill>
                            <a:srgbClr val="18352D"/>
                          </a:solidFill>
                          <a:latin typeface="Arial" panose="020B0604020202020204"/>
                          <a:ea typeface="Arial" panose="020B0604020202020204"/>
                          <a:cs typeface="Arial" panose="020B0604020202020204"/>
                        </a:rPr>
                        <a:t>E</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panose="020B0604020202020204"/>
                          <a:ea typeface="Arial" panose="020B0604020202020204"/>
                          <a:cs typeface="Arial" panose="020B0604020202020204"/>
                        </a:rPr>
                        <a:t>Number of attention experts</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r>
              <a:tr h="466725">
                <a:tc>
                  <a:txBody>
                    <a:bodyPr/>
                    <a:lstStyle/>
                    <a:p>
                      <a:pPr algn="l"/>
                      <a:r>
                        <a:rPr sz="1725" b="0">
                          <a:solidFill>
                            <a:srgbClr val="18352D"/>
                          </a:solidFill>
                          <a:latin typeface="Arial" panose="020B0604020202020204"/>
                          <a:ea typeface="Arial" panose="020B0604020202020204"/>
                          <a:cs typeface="Arial" panose="020B0604020202020204"/>
                        </a:rPr>
                        <a:t>K</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panose="020B0604020202020204"/>
                          <a:ea typeface="Arial" panose="020B0604020202020204"/>
                          <a:cs typeface="Arial" panose="020B0604020202020204"/>
                        </a:rPr>
                        <a:t>Experts selected for each token</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2F5F3"/>
                    </a:solidFill>
                  </a:tcPr>
                </a:tc>
              </a:tr>
              <a:tr h="466725">
                <a:tc>
                  <a:txBody>
                    <a:bodyPr/>
                    <a:lstStyle/>
                    <a:p>
                      <a:pPr algn="l"/>
                      <a:r>
                        <a:rPr sz="1725" b="0">
                          <a:solidFill>
                            <a:srgbClr val="18352D"/>
                          </a:solidFill>
                          <a:latin typeface="Arial" panose="020B0604020202020204"/>
                          <a:ea typeface="Arial" panose="020B0604020202020204"/>
                          <a:cs typeface="Arial" panose="020B0604020202020204"/>
                        </a:rPr>
                        <a:t>H</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panose="020B0604020202020204"/>
                          <a:ea typeface="Arial" panose="020B0604020202020204"/>
                          <a:cs typeface="Arial" panose="020B0604020202020204"/>
                        </a:rPr>
                        <a:t>Attention heads inside each expert</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r>
              <a:tr h="466725">
                <a:tc>
                  <a:txBody>
                    <a:bodyPr/>
                    <a:lstStyle/>
                    <a:p>
                      <a:pPr algn="l"/>
                      <a:r>
                        <a:rPr sz="1725" b="0">
                          <a:solidFill>
                            <a:srgbClr val="18352D"/>
                          </a:solidFill>
                          <a:latin typeface="Arial" panose="020B0604020202020204"/>
                          <a:ea typeface="Arial" panose="020B0604020202020204"/>
                          <a:cs typeface="Arial" panose="020B0604020202020204"/>
                        </a:rPr>
                        <a:t>D</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panose="020B0604020202020204"/>
                          <a:ea typeface="Arial" panose="020B0604020202020204"/>
                          <a:cs typeface="Arial" panose="020B0604020202020204"/>
                        </a:rPr>
                        <a:t>Dimension of each head</a:t>
                      </a:r>
                      <a:endParaRPr sz="1725"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2F5F3"/>
                    </a:solidFill>
                  </a:tcPr>
                </a:tc>
              </a:tr>
              <a:tr h="466725">
                <a:tc>
                  <a:txBody>
                    <a:bodyPr/>
                    <a:lstStyle/>
                    <a:p>
                      <a:pPr algn="l"/>
                      <a:r>
                        <a:rPr sz="1725" b="0">
                          <a:solidFill>
                            <a:schemeClr val="tx2">
                              <a:lumMod val="50000"/>
                              <a:lumOff val="50000"/>
                            </a:schemeClr>
                          </a:solidFill>
                          <a:latin typeface="Arial" panose="020B0604020202020204"/>
                          <a:ea typeface="Arial" panose="020B0604020202020204"/>
                          <a:cs typeface="Arial" panose="020B0604020202020204"/>
                        </a:rPr>
                        <a:t>W</a:t>
                      </a:r>
                      <a:endParaRPr sz="1725" b="0">
                        <a:solidFill>
                          <a:schemeClr val="tx2">
                            <a:lumMod val="50000"/>
                            <a:lumOff val="50000"/>
                          </a:schemeClr>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chemeClr val="tx2">
                              <a:lumMod val="50000"/>
                              <a:lumOff val="50000"/>
                            </a:schemeClr>
                          </a:solidFill>
                          <a:latin typeface="Arial" panose="020B0604020202020204"/>
                          <a:ea typeface="Arial" panose="020B0604020202020204"/>
                          <a:cs typeface="Arial" panose="020B0604020202020204"/>
                        </a:rPr>
                        <a:t>Relative-position embedding range</a:t>
                      </a:r>
                      <a:endParaRPr sz="1725" b="0">
                        <a:solidFill>
                          <a:schemeClr val="tx2">
                            <a:lumMod val="50000"/>
                            <a:lumOff val="50000"/>
                          </a:schemeClr>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8" name="矩形 7"/>
          <p:cNvSpPr>
            <a:spLocks noGrp="1"/>
          </p:cNvSpPr>
          <p:nvPr/>
        </p:nvSpPr>
        <p:spPr>
          <a:xfrm>
            <a:off x="4124325" y="5257800"/>
            <a:ext cx="7610475"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One shared set of key/value projections for H heads.</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Each of the E experts has its own query projections.</a:t>
            </a:r>
            <a:endParaRPr sz="1875" b="0">
              <a:solidFill>
                <a:srgbClr val="1835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SUT Section 3.1 and Shen et al., ModuleFormer, Figure 1a. K denotes the paper’s top-k parameter.</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矩形 14"/>
          <p:cNvSpPr>
            <a:spLocks noGrp="1"/>
          </p:cNvSpPr>
          <p:nvPr/>
        </p:nvSpPr>
        <p:spPr>
          <a:xfrm>
            <a:off x="457200" y="228600"/>
            <a:ext cx="11277600" cy="238125"/>
          </a:xfrm>
          <a:prstGeom prst="rect">
            <a:avLst/>
          </a:prstGeom>
          <a:noFill/>
          <a:ln w="0">
            <a:noFill/>
          </a:ln>
        </p:spPr>
        <p:txBody>
          <a:bodyPr/>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RELATIVE POSITION IN MoMHA</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19125"/>
          </a:xfrm>
          <a:prstGeom prst="rect">
            <a:avLst/>
          </a:prstGeom>
          <a:noFill/>
          <a:ln w="0">
            <a:noFill/>
          </a:ln>
        </p:spPr>
        <p:txBody>
          <a:bodyPr/>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W and the relative-position matrix</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457200" y="1419225"/>
            <a:ext cx="5238750" cy="381000"/>
          </a:xfrm>
          <a:prstGeom prst="rect">
            <a:avLst/>
          </a:prstGeom>
          <a:noFill/>
          <a:ln w="0">
            <a:noFill/>
          </a:ln>
        </p:spPr>
        <p:txBody>
          <a:bodyPr/>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lang="en-US" sz="2175" b="1">
                <a:solidFill>
                  <a:srgbClr val="18352D"/>
                </a:solidFill>
                <a:latin typeface="Arial" panose="020B0604020202020204"/>
                <a:ea typeface="Arial" panose="020B0604020202020204"/>
                <a:cs typeface="Arial" panose="020B0604020202020204"/>
              </a:rPr>
              <a:t>eg. </a:t>
            </a:r>
            <a:r>
              <a:rPr sz="2175" b="1">
                <a:solidFill>
                  <a:srgbClr val="18352D"/>
                </a:solidFill>
                <a:latin typeface="Arial" panose="020B0604020202020204"/>
                <a:ea typeface="Arial" panose="020B0604020202020204"/>
                <a:cs typeface="Arial" panose="020B0604020202020204"/>
              </a:rPr>
              <a:t>Five tokens, W = 2</a:t>
            </a:r>
            <a:endParaRPr sz="2175" b="1">
              <a:solidFill>
                <a:srgbClr val="18352D"/>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1924050"/>
            <a:ext cx="5715000" cy="323850"/>
          </a:xfrm>
          <a:prstGeom prst="rect">
            <a:avLst/>
          </a:prstGeom>
          <a:noFill/>
          <a:ln w="0">
            <a:noFill/>
          </a:ln>
        </p:spPr>
        <p:txBody>
          <a:bodyPr/>
          <a:lstStyle>
            <a:defPPr>
              <a:defRPr sz="1725" b="0">
                <a:solidFill>
                  <a:srgbClr val="18352D"/>
                </a:solidFill>
                <a:latin typeface="Arial" panose="020B0604020202020204"/>
                <a:ea typeface="Arial" panose="020B0604020202020204"/>
                <a:cs typeface="Arial" panose="020B0604020202020204"/>
              </a:defRPr>
            </a:defPPr>
          </a:lstStyle>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Rows: query position i     Columns: key position j</a:t>
            </a:r>
            <a:endParaRPr sz="1725" b="0">
              <a:solidFill>
                <a:srgbClr val="18352D"/>
              </a:solidFill>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1"/>
          <a:stretch>
            <a:fillRect/>
          </a:stretch>
        </p:blipFill>
        <p:spPr>
          <a:xfrm>
            <a:off x="457200" y="2562195"/>
            <a:ext cx="5715000" cy="2343211"/>
          </a:xfrm>
          <a:prstGeom prst="rect">
            <a:avLst/>
          </a:prstGeom>
        </p:spPr>
      </p:pic>
      <p:pic>
        <p:nvPicPr>
          <p:cNvPr id="6" name="图片 5"/>
          <p:cNvPicPr>
            <a:picLocks noChangeAspect="1"/>
          </p:cNvPicPr>
          <p:nvPr/>
        </p:nvPicPr>
        <p:blipFill>
          <a:blip r:embed="rId2"/>
          <a:stretch>
            <a:fillRect/>
          </a:stretch>
        </p:blipFill>
        <p:spPr>
          <a:xfrm>
            <a:off x="6800850" y="1478161"/>
            <a:ext cx="4933950" cy="491728"/>
          </a:xfrm>
          <a:prstGeom prst="rect">
            <a:avLst/>
          </a:prstGeom>
        </p:spPr>
      </p:pic>
      <p:sp>
        <p:nvSpPr>
          <p:cNvPr id="7" name="矩形 6"/>
          <p:cNvSpPr>
            <a:spLocks noGrp="1"/>
          </p:cNvSpPr>
          <p:nvPr/>
        </p:nvSpPr>
        <p:spPr>
          <a:xfrm>
            <a:off x="6800850" y="2190750"/>
            <a:ext cx="4933950" cy="704850"/>
          </a:xfrm>
          <a:prstGeom prst="rect">
            <a:avLst/>
          </a:prstGeom>
          <a:noFill/>
          <a:ln w="0">
            <a:noFill/>
          </a:ln>
        </p:spPr>
        <p:txBody>
          <a:bodyPr/>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δᵢⱼ: fixed distance label at row i, column j.</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Δ: the complete relative-position matrix.</a:t>
            </a:r>
            <a:endParaRPr sz="1800"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800850" y="2971800"/>
            <a:ext cx="4933950" cy="1066800"/>
          </a:xfrm>
          <a:prstGeom prst="rect">
            <a:avLst/>
          </a:prstGeom>
          <a:noFill/>
          <a:ln w="0">
            <a:noFill/>
          </a:ln>
        </p:spPr>
        <p:txBody>
          <a:bodyPr/>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Each label selects a D-dimensional vector.</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The vector components are learned during</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training; the distance labels are not learned.</a:t>
            </a:r>
            <a:endParaRPr sz="1800" b="0">
              <a:solidFill>
                <a:srgbClr val="1835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800850" y="4133850"/>
            <a:ext cx="4933950" cy="333375"/>
          </a:xfrm>
          <a:prstGeom prst="rect">
            <a:avLst/>
          </a:prstGeom>
          <a:noFill/>
          <a:ln w="0">
            <a:noFill/>
          </a:ln>
        </p:spPr>
        <p:txBody>
          <a:bodyPr/>
          <a:lstStyle>
            <a:defPPr>
              <a:defRPr sz="1875" b="1">
                <a:solidFill>
                  <a:srgbClr val="18352D"/>
                </a:solidFill>
                <a:latin typeface="Arial" panose="020B0604020202020204"/>
                <a:ea typeface="Arial" panose="020B0604020202020204"/>
                <a:cs typeface="Arial" panose="020B0604020202020204"/>
              </a:defRPr>
            </a:defPPr>
          </a:lstStyle>
          <a:p>
            <a:pPr>
              <a:defRPr sz="1875" b="1">
                <a:solidFill>
                  <a:srgbClr val="18352D"/>
                </a:solidFill>
                <a:latin typeface="Arial" panose="020B0604020202020204"/>
                <a:ea typeface="Arial" panose="020B0604020202020204"/>
                <a:cs typeface="Arial" panose="020B0604020202020204"/>
              </a:defRPr>
            </a:pPr>
            <a:r>
              <a:rPr lang="en-US" sz="1875" b="1">
                <a:solidFill>
                  <a:srgbClr val="18352D"/>
                </a:solidFill>
                <a:latin typeface="Arial" panose="020B0604020202020204"/>
                <a:ea typeface="Arial" panose="020B0604020202020204"/>
                <a:cs typeface="Arial" panose="020B0604020202020204"/>
              </a:rPr>
              <a:t>eg. </a:t>
            </a:r>
            <a:r>
              <a:rPr sz="1875" b="1">
                <a:solidFill>
                  <a:srgbClr val="18352D"/>
                </a:solidFill>
                <a:latin typeface="Arial" panose="020B0604020202020204"/>
                <a:ea typeface="Arial" panose="020B0604020202020204"/>
                <a:cs typeface="Arial" panose="020B0604020202020204"/>
              </a:rPr>
              <a:t>Boxed entry: query 2, key 5</a:t>
            </a:r>
            <a:endParaRPr sz="1875" b="1">
              <a:solidFill>
                <a:srgbClr val="18352D"/>
              </a:solidFill>
              <a:latin typeface="Arial" panose="020B0604020202020204"/>
              <a:ea typeface="Arial" panose="020B0604020202020204"/>
              <a:cs typeface="Arial" panose="020B0604020202020204"/>
            </a:endParaRPr>
          </a:p>
        </p:txBody>
      </p:sp>
      <p:pic>
        <p:nvPicPr>
          <p:cNvPr id="10" name="图片 9"/>
          <p:cNvPicPr>
            <a:picLocks noChangeAspect="1"/>
          </p:cNvPicPr>
          <p:nvPr/>
        </p:nvPicPr>
        <p:blipFill>
          <a:blip r:embed="rId3"/>
          <a:stretch>
            <a:fillRect/>
          </a:stretch>
        </p:blipFill>
        <p:spPr>
          <a:xfrm>
            <a:off x="7107749" y="4552950"/>
            <a:ext cx="4320153" cy="381000"/>
          </a:xfrm>
          <a:prstGeom prst="rect">
            <a:avLst/>
          </a:prstGeom>
        </p:spPr>
      </p:pic>
      <p:pic>
        <p:nvPicPr>
          <p:cNvPr id="11" name="图片 10"/>
          <p:cNvPicPr>
            <a:picLocks noChangeAspect="1"/>
          </p:cNvPicPr>
          <p:nvPr/>
        </p:nvPicPr>
        <p:blipFill>
          <a:blip r:embed="rId4"/>
          <a:stretch>
            <a:fillRect/>
          </a:stretch>
        </p:blipFill>
        <p:spPr>
          <a:xfrm>
            <a:off x="6800850" y="5084805"/>
            <a:ext cx="4933950" cy="403140"/>
          </a:xfrm>
          <a:prstGeom prst="rect">
            <a:avLst/>
          </a:prstGeom>
        </p:spPr>
      </p:pic>
      <p:pic>
        <p:nvPicPr>
          <p:cNvPr id="12" name="图片 11"/>
          <p:cNvPicPr>
            <a:picLocks noChangeAspect="1"/>
          </p:cNvPicPr>
          <p:nvPr/>
        </p:nvPicPr>
        <p:blipFill>
          <a:blip r:embed="rId5"/>
          <a:stretch>
            <a:fillRect/>
          </a:stretch>
        </p:blipFill>
        <p:spPr>
          <a:xfrm>
            <a:off x="558759" y="5476875"/>
            <a:ext cx="5607131" cy="904875"/>
          </a:xfrm>
          <a:prstGeom prst="rect">
            <a:avLst/>
          </a:prstGeom>
        </p:spPr>
      </p:pic>
      <p:sp>
        <p:nvSpPr>
          <p:cNvPr id="13" name="矩形 12"/>
          <p:cNvSpPr>
            <a:spLocks noGrp="1"/>
          </p:cNvSpPr>
          <p:nvPr/>
        </p:nvSpPr>
        <p:spPr>
          <a:xfrm>
            <a:off x="6800850" y="5743575"/>
            <a:ext cx="4933950" cy="609600"/>
          </a:xfrm>
          <a:prstGeom prst="rect">
            <a:avLst/>
          </a:prstGeom>
          <a:noFill/>
          <a:ln w="0">
            <a:noFill/>
          </a:ln>
        </p:spPr>
        <p:txBody>
          <a:bodyPr/>
          <a:lstStyle>
            <a:defPPr>
              <a:defRPr sz="1650" b="0">
                <a:solidFill>
                  <a:srgbClr val="18352D"/>
                </a:solidFill>
                <a:latin typeface="Arial" panose="020B0604020202020204"/>
                <a:ea typeface="Arial" panose="020B0604020202020204"/>
                <a:cs typeface="Arial" panose="020B0604020202020204"/>
              </a:defRPr>
            </a:defPPr>
          </a:lstStyle>
          <a:p>
            <a:pPr>
              <a:defRPr sz="1650" b="0">
                <a:solidFill>
                  <a:srgbClr val="18352D"/>
                </a:solidFill>
                <a:latin typeface="Arial" panose="020B0604020202020204"/>
                <a:ea typeface="Arial" panose="020B0604020202020204"/>
                <a:cs typeface="Arial" panose="020B0604020202020204"/>
              </a:defRPr>
            </a:pPr>
            <a:r>
              <a:rPr sz="1650" b="0">
                <a:solidFill>
                  <a:srgbClr val="18352D"/>
                </a:solidFill>
                <a:latin typeface="Arial" panose="020B0604020202020204"/>
                <a:ea typeface="Arial" panose="020B0604020202020204"/>
                <a:cs typeface="Arial" panose="020B0604020202020204"/>
              </a:rPr>
              <a:t>The matrix contains offsets, not attention scores.</a:t>
            </a:r>
            <a:endParaRPr sz="1650" b="0">
              <a:solidFill>
                <a:srgbClr val="18352D"/>
              </a:solidFill>
              <a:latin typeface="Arial" panose="020B0604020202020204"/>
              <a:ea typeface="Arial" panose="020B0604020202020204"/>
              <a:cs typeface="Arial" panose="020B0604020202020204"/>
            </a:endParaRPr>
          </a:p>
          <a:p>
            <a:pPr>
              <a:defRPr sz="1650" b="0">
                <a:solidFill>
                  <a:srgbClr val="18352D"/>
                </a:solidFill>
                <a:latin typeface="Arial" panose="020B0604020202020204"/>
                <a:ea typeface="Arial" panose="020B0604020202020204"/>
                <a:cs typeface="Arial" panose="020B0604020202020204"/>
              </a:defRPr>
            </a:pPr>
            <a:r>
              <a:rPr sz="1650" b="0">
                <a:solidFill>
                  <a:srgbClr val="18352D"/>
                </a:solidFill>
                <a:latin typeface="Arial" panose="020B0604020202020204"/>
                <a:ea typeface="Arial" panose="020B0604020202020204"/>
                <a:cs typeface="Arial" panose="020B0604020202020204"/>
              </a:rPr>
              <a:t>All unmasked tokens remain available to attention.</a:t>
            </a:r>
            <a:endParaRPr sz="1650" b="0">
              <a:solidFill>
                <a:srgbClr val="18352D"/>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457200" y="6505575"/>
            <a:ext cx="11277600" cy="209550"/>
          </a:xfrm>
          <a:prstGeom prst="rect">
            <a:avLst/>
          </a:prstGeom>
          <a:noFill/>
          <a:ln w="0">
            <a:noFill/>
          </a:ln>
        </p:spPr>
        <p:txBody>
          <a:bodyPr/>
          <a:lstStyle>
            <a:defPPr>
              <a:defRPr sz="1125" b="0">
                <a:solidFill>
                  <a:srgbClr val="53655E"/>
                </a:solidFill>
                <a:latin typeface="Arial" panose="020B0604020202020204"/>
                <a:ea typeface="Arial" panose="020B0604020202020204"/>
                <a:cs typeface="Arial" panose="020B0604020202020204"/>
              </a:defRPr>
            </a:defPPr>
          </a:lstStyle>
          <a:p>
            <a:pPr>
              <a:defRPr sz="1125" b="0">
                <a:solidFill>
                  <a:srgbClr val="53655E"/>
                </a:solidFill>
                <a:latin typeface="Arial" panose="020B0604020202020204"/>
                <a:ea typeface="Arial" panose="020B0604020202020204"/>
                <a:cs typeface="Arial" panose="020B0604020202020204"/>
              </a:defRPr>
            </a:pPr>
            <a:r>
              <a:rPr sz="1125" b="0">
                <a:solidFill>
                  <a:srgbClr val="53655E"/>
                </a:solidFill>
                <a:latin typeface="Arial" panose="020B0604020202020204"/>
                <a:ea typeface="Arial" panose="020B0604020202020204"/>
                <a:cs typeface="Arial" panose="020B0604020202020204"/>
              </a:rPr>
              <a:t>SUT §3.1 and author code. Illustrative W = 2 clipping; batch, head, expert indices and masks omitted.</a:t>
            </a:r>
            <a:endParaRPr sz="1125" b="0">
              <a:solidFill>
                <a:srgbClr val="53655E"/>
              </a:solidFill>
              <a:latin typeface="Arial" panose="020B0604020202020204"/>
              <a:ea typeface="Arial" panose="020B0604020202020204"/>
              <a:cs typeface="Arial" panose="020B0604020202020204"/>
            </a:endParaRPr>
          </a:p>
        </p:txBody>
      </p:sp>
      <p:cxnSp>
        <p:nvCxnSpPr>
          <p:cNvPr id="16" name="直接连接符 15"/>
          <p:cNvCxnSpPr/>
          <p:nvPr/>
        </p:nvCxnSpPr>
        <p:spPr>
          <a:xfrm>
            <a:off x="2419350" y="3860800"/>
            <a:ext cx="1732915" cy="1007745"/>
          </a:xfrm>
          <a:prstGeom prst="line">
            <a:avLst/>
          </a:prstGeom>
          <a:ln w="28575" cmpd="sng">
            <a:solidFill>
              <a:schemeClr val="accent1">
                <a:shade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4295775" y="2636520"/>
            <a:ext cx="1732915" cy="1007745"/>
          </a:xfrm>
          <a:prstGeom prst="line">
            <a:avLst/>
          </a:prstGeom>
          <a:ln w="28575" cmpd="sng">
            <a:solidFill>
              <a:schemeClr val="accent1">
                <a:shade val="50000"/>
              </a:schemeClr>
            </a:solidFill>
            <a:prstDash val="sysDot"/>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AUXILIARY OBJECTIVE</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Mutual-information maximization for routing</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07</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1755321" y="1307465"/>
            <a:ext cx="8681357" cy="1047750"/>
          </a:xfrm>
          <a:prstGeom prst="rect">
            <a:avLst/>
          </a:prstGeom>
        </p:spPr>
      </p:pic>
      <p:sp>
        <p:nvSpPr>
          <p:cNvPr id="5" name="矩形 4"/>
          <p:cNvSpPr>
            <a:spLocks noGrp="1"/>
          </p:cNvSpPr>
          <p:nvPr/>
        </p:nvSpPr>
        <p:spPr>
          <a:xfrm>
            <a:off x="2279650" y="4738370"/>
            <a:ext cx="4286250" cy="333375"/>
          </a:xfrm>
          <a:prstGeom prst="rect">
            <a:avLst/>
          </a:prstGeom>
          <a:noFill/>
          <a:ln w="0">
            <a:noFill/>
          </a:ln>
        </p:spPr>
        <p:txBody>
          <a:bodyPr lIns="0" tIns="0" rIns="0" bIns="0" anchor="t"/>
          <a:lstStyle>
            <a:defPPr>
              <a:defRPr sz="1875" b="1">
                <a:solidFill>
                  <a:srgbClr val="18352D"/>
                </a:solidFill>
                <a:latin typeface="Arial" panose="020B0604020202020204"/>
                <a:ea typeface="Arial" panose="020B0604020202020204"/>
                <a:cs typeface="Arial" panose="020B0604020202020204"/>
              </a:defRPr>
            </a:defPPr>
          </a:lstStyle>
          <a:p>
            <a:pPr>
              <a:defRPr sz="1875" b="1">
                <a:solidFill>
                  <a:srgbClr val="18352D"/>
                </a:solidFill>
                <a:latin typeface="Arial" panose="020B0604020202020204"/>
                <a:ea typeface="Arial" panose="020B0604020202020204"/>
                <a:cs typeface="Arial" panose="020B0604020202020204"/>
              </a:defRPr>
            </a:pPr>
            <a:r>
              <a:rPr sz="1875" b="1">
                <a:solidFill>
                  <a:srgbClr val="18352D"/>
                </a:solidFill>
                <a:latin typeface="Arial" panose="020B0604020202020204"/>
                <a:ea typeface="Arial" panose="020B0604020202020204"/>
                <a:cs typeface="Arial" panose="020B0604020202020204"/>
              </a:rPr>
              <a:t>Average expert probability</a:t>
            </a:r>
            <a:endParaRPr sz="1875" b="1">
              <a:solidFill>
                <a:srgbClr val="18352D"/>
              </a:solidFill>
              <a:latin typeface="Arial" panose="020B0604020202020204"/>
              <a:ea typeface="Arial" panose="020B0604020202020204"/>
              <a:cs typeface="Arial" panose="020B0604020202020204"/>
            </a:endParaRPr>
          </a:p>
        </p:txBody>
      </p:sp>
      <p:pic>
        <p:nvPicPr>
          <p:cNvPr id="6" name="图片 5"/>
          <p:cNvPicPr>
            <a:picLocks noChangeAspect="1"/>
          </p:cNvPicPr>
          <p:nvPr/>
        </p:nvPicPr>
        <p:blipFill>
          <a:blip r:embed="rId2"/>
          <a:stretch>
            <a:fillRect/>
          </a:stretch>
        </p:blipFill>
        <p:spPr>
          <a:xfrm>
            <a:off x="2279433" y="5156835"/>
            <a:ext cx="2597585" cy="685800"/>
          </a:xfrm>
          <a:prstGeom prst="rect">
            <a:avLst/>
          </a:prstGeom>
        </p:spPr>
      </p:pic>
      <p:sp>
        <p:nvSpPr>
          <p:cNvPr id="7" name="矩形 6"/>
          <p:cNvSpPr>
            <a:spLocks noGrp="1"/>
          </p:cNvSpPr>
          <p:nvPr/>
        </p:nvSpPr>
        <p:spPr>
          <a:xfrm>
            <a:off x="6024245" y="4779645"/>
            <a:ext cx="4286250" cy="1524000"/>
          </a:xfrm>
          <a:prstGeom prst="rect">
            <a:avLst/>
          </a:prstGeom>
          <a:noFill/>
          <a:ln w="0">
            <a:noFill/>
          </a:ln>
        </p:spPr>
        <p:txBody>
          <a:bodyPr lIns="0" tIns="0" rIns="0" bIns="0" anchor="t"/>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Router </a:t>
            </a:r>
            <a:r>
              <a:rPr lang="en-US" sz="1800" b="0">
                <a:solidFill>
                  <a:srgbClr val="18352D"/>
                </a:solidFill>
                <a:latin typeface="Arial" panose="020B0604020202020204"/>
                <a:ea typeface="Arial" panose="020B0604020202020204"/>
                <a:cs typeface="Arial" panose="020B0604020202020204"/>
              </a:rPr>
              <a:t>probability</a:t>
            </a:r>
            <a:r>
              <a:rPr sz="1800" b="0">
                <a:solidFill>
                  <a:srgbClr val="18352D"/>
                </a:solidFill>
                <a:latin typeface="Arial" panose="020B0604020202020204"/>
                <a:ea typeface="Arial" panose="020B0604020202020204"/>
                <a:cs typeface="Arial" panose="020B0604020202020204"/>
              </a:rPr>
              <a:t>: g(e | h)</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Input representation: h</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Router-input collection: X</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Expert index: e; pool size: E</a:t>
            </a:r>
            <a:endParaRPr sz="1800" b="0">
              <a:solidFill>
                <a:srgbClr val="18352D"/>
              </a:solidFill>
              <a:latin typeface="Arial" panose="020B0604020202020204"/>
              <a:ea typeface="Arial" panose="020B0604020202020204"/>
              <a:cs typeface="Arial" panose="020B0604020202020204"/>
            </a:endParaRPr>
          </a:p>
        </p:txBody>
      </p:sp>
      <p:pic>
        <p:nvPicPr>
          <p:cNvPr id="8" name="图片 7"/>
          <p:cNvPicPr>
            <a:picLocks noChangeAspect="1"/>
          </p:cNvPicPr>
          <p:nvPr/>
        </p:nvPicPr>
        <p:blipFill>
          <a:blip r:embed="rId3"/>
          <a:stretch>
            <a:fillRect/>
          </a:stretch>
        </p:blipFill>
        <p:spPr>
          <a:xfrm>
            <a:off x="2120911" y="2614295"/>
            <a:ext cx="2661897" cy="714375"/>
          </a:xfrm>
          <a:prstGeom prst="rect">
            <a:avLst/>
          </a:prstGeom>
        </p:spPr>
      </p:pic>
      <p:sp>
        <p:nvSpPr>
          <p:cNvPr id="9" name="矩形 8"/>
          <p:cNvSpPr>
            <a:spLocks noGrp="1"/>
          </p:cNvSpPr>
          <p:nvPr/>
        </p:nvSpPr>
        <p:spPr>
          <a:xfrm>
            <a:off x="191770" y="3376295"/>
            <a:ext cx="6400800" cy="333375"/>
          </a:xfrm>
          <a:prstGeom prst="rect">
            <a:avLst/>
          </a:prstGeom>
          <a:noFill/>
          <a:ln w="0">
            <a:noFill/>
          </a:ln>
        </p:spPr>
        <p:txBody>
          <a:bodyPr lIns="0" tIns="0" rIns="0" bIns="0" anchor="t"/>
          <a:lstStyle>
            <a:defPPr>
              <a:defRPr sz="1725" b="0">
                <a:solidFill>
                  <a:srgbClr val="18352D"/>
                </a:solidFill>
                <a:latin typeface="Arial" panose="020B0604020202020204"/>
                <a:ea typeface="Arial" panose="020B0604020202020204"/>
                <a:cs typeface="Arial" panose="020B0604020202020204"/>
              </a:defRPr>
            </a:defPPr>
          </a:lstStyle>
          <a:p>
            <a:pPr>
              <a:defRPr sz="1725" b="0">
                <a:solidFill>
                  <a:srgbClr val="18352D"/>
                </a:solidFill>
                <a:latin typeface="Arial" panose="020B0604020202020204"/>
                <a:ea typeface="Arial" panose="020B0604020202020204"/>
                <a:cs typeface="Arial" panose="020B0604020202020204"/>
              </a:defRPr>
            </a:pPr>
            <a:r>
              <a:rPr sz="1725" b="1">
                <a:solidFill>
                  <a:srgbClr val="18352D"/>
                </a:solidFill>
                <a:latin typeface="Arial" panose="020B0604020202020204"/>
                <a:ea typeface="Arial" panose="020B0604020202020204"/>
                <a:cs typeface="Arial" panose="020B0604020202020204"/>
              </a:rPr>
              <a:t>Marginal entropy</a:t>
            </a:r>
            <a:r>
              <a:rPr sz="1725" b="0">
                <a:solidFill>
                  <a:srgbClr val="18352D"/>
                </a:solidFill>
                <a:latin typeface="Arial" panose="020B0604020202020204"/>
                <a:ea typeface="Arial" panose="020B0604020202020204"/>
                <a:cs typeface="Arial" panose="020B0604020202020204"/>
              </a:rPr>
              <a:t>: encourage use of the whole pool.</a:t>
            </a:r>
            <a:endParaRPr sz="1725" b="0">
              <a:solidFill>
                <a:srgbClr val="18352D"/>
              </a:solidFill>
              <a:latin typeface="Arial" panose="020B0604020202020204"/>
              <a:ea typeface="Arial" panose="020B0604020202020204"/>
              <a:cs typeface="Arial" panose="020B0604020202020204"/>
            </a:endParaRPr>
          </a:p>
        </p:txBody>
      </p:sp>
      <p:pic>
        <p:nvPicPr>
          <p:cNvPr id="10" name="图片 9"/>
          <p:cNvPicPr>
            <a:picLocks noChangeAspect="1"/>
          </p:cNvPicPr>
          <p:nvPr/>
        </p:nvPicPr>
        <p:blipFill>
          <a:blip r:embed="rId4"/>
          <a:stretch>
            <a:fillRect/>
          </a:stretch>
        </p:blipFill>
        <p:spPr>
          <a:xfrm>
            <a:off x="6960144" y="2611755"/>
            <a:ext cx="4803321" cy="762000"/>
          </a:xfrm>
          <a:prstGeom prst="rect">
            <a:avLst/>
          </a:prstGeom>
        </p:spPr>
      </p:pic>
      <p:sp>
        <p:nvSpPr>
          <p:cNvPr id="11" name="矩形 10"/>
          <p:cNvSpPr>
            <a:spLocks noGrp="1"/>
          </p:cNvSpPr>
          <p:nvPr/>
        </p:nvSpPr>
        <p:spPr>
          <a:xfrm>
            <a:off x="6024245" y="3373755"/>
            <a:ext cx="6400800" cy="381000"/>
          </a:xfrm>
          <a:prstGeom prst="rect">
            <a:avLst/>
          </a:prstGeom>
          <a:noFill/>
          <a:ln w="0">
            <a:noFill/>
          </a:ln>
        </p:spPr>
        <p:txBody>
          <a:bodyPr lIns="0" tIns="0" rIns="0" bIns="0" anchor="t"/>
          <a:lstStyle>
            <a:defPPr>
              <a:defRPr sz="1725" b="0">
                <a:solidFill>
                  <a:srgbClr val="18352D"/>
                </a:solidFill>
                <a:latin typeface="Arial" panose="020B0604020202020204"/>
                <a:ea typeface="Arial" panose="020B0604020202020204"/>
                <a:cs typeface="Arial" panose="020B0604020202020204"/>
              </a:defRPr>
            </a:defPPr>
          </a:lstStyle>
          <a:p>
            <a:pPr>
              <a:defRPr sz="1725" b="0">
                <a:solidFill>
                  <a:srgbClr val="18352D"/>
                </a:solidFill>
                <a:latin typeface="Arial" panose="020B0604020202020204"/>
                <a:ea typeface="Arial" panose="020B0604020202020204"/>
                <a:cs typeface="Arial" panose="020B0604020202020204"/>
              </a:defRPr>
            </a:pPr>
            <a:r>
              <a:rPr sz="1725" b="1">
                <a:solidFill>
                  <a:srgbClr val="18352D"/>
                </a:solidFill>
                <a:latin typeface="Arial" panose="020B0604020202020204"/>
                <a:ea typeface="Arial" panose="020B0604020202020204"/>
                <a:cs typeface="Arial" panose="020B0604020202020204"/>
              </a:rPr>
              <a:t>Conditional entropy</a:t>
            </a:r>
            <a:r>
              <a:rPr sz="1725" b="0">
                <a:solidFill>
                  <a:srgbClr val="18352D"/>
                </a:solidFill>
                <a:latin typeface="Arial" panose="020B0604020202020204"/>
                <a:ea typeface="Arial" panose="020B0604020202020204"/>
                <a:cs typeface="Arial" panose="020B0604020202020204"/>
              </a:rPr>
              <a:t>: encourage a clear choice per input.</a:t>
            </a:r>
            <a:endParaRPr sz="1725" b="0">
              <a:solidFill>
                <a:srgbClr val="18352D"/>
              </a:solidFill>
              <a:latin typeface="Arial" panose="020B0604020202020204"/>
              <a:ea typeface="Arial" panose="020B0604020202020204"/>
              <a:cs typeface="Arial" panose="020B0604020202020204"/>
            </a:endParaRPr>
          </a:p>
        </p:txBody>
      </p:sp>
      <p:pic>
        <p:nvPicPr>
          <p:cNvPr id="12" name="图片 11"/>
          <p:cNvPicPr>
            <a:picLocks noChangeAspect="1"/>
          </p:cNvPicPr>
          <p:nvPr/>
        </p:nvPicPr>
        <p:blipFill>
          <a:blip r:embed="rId5"/>
          <a:stretch>
            <a:fillRect/>
          </a:stretch>
        </p:blipFill>
        <p:spPr>
          <a:xfrm>
            <a:off x="2279650" y="3860938"/>
            <a:ext cx="6400800" cy="397869"/>
          </a:xfrm>
          <a:prstGeom prst="rect">
            <a:avLst/>
          </a:prstGeom>
        </p:spPr>
      </p:pic>
      <p:sp>
        <p:nvSpPr>
          <p:cNvPr id="13" name="矩形 12"/>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SUT Equation 1. Minimize the printed negative-MI loss to obtain the stated entropy effects.</a:t>
            </a:r>
            <a:endParaRPr sz="1200" b="0">
              <a:solidFill>
                <a:srgbClr val="53655E"/>
              </a:solidFill>
              <a:latin typeface="Arial" panose="020B0604020202020204"/>
              <a:ea typeface="Arial" panose="020B0604020202020204"/>
              <a:cs typeface="Arial" panose="020B0604020202020204"/>
            </a:endParaRPr>
          </a:p>
        </p:txBody>
      </p:sp>
      <p:sp>
        <p:nvSpPr>
          <p:cNvPr id="16" name="右大括号 15"/>
          <p:cNvSpPr/>
          <p:nvPr/>
        </p:nvSpPr>
        <p:spPr>
          <a:xfrm rot="5400000">
            <a:off x="4179570" y="1452245"/>
            <a:ext cx="190500" cy="2118360"/>
          </a:xfrm>
          <a:prstGeom prst="rightBrace">
            <a:avLst>
              <a:gd name="adj1" fmla="val 71000"/>
              <a:gd name="adj2" fmla="val 77398"/>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右大括号 16"/>
          <p:cNvSpPr/>
          <p:nvPr/>
        </p:nvSpPr>
        <p:spPr>
          <a:xfrm rot="5400000">
            <a:off x="8075295" y="292735"/>
            <a:ext cx="210820" cy="4457700"/>
          </a:xfrm>
          <a:prstGeom prst="rightBrace">
            <a:avLst>
              <a:gd name="adj1" fmla="val 71000"/>
              <a:gd name="adj2" fmla="val 22094"/>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ADDITION VERSUS STICK BREAKING</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Dynamic halting and ACT objectives</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08</a:t>
            </a:r>
            <a:endParaRPr sz="1200" b="0">
              <a:solidFill>
                <a:srgbClr val="53655E"/>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1390650"/>
            <a:ext cx="5334000" cy="381000"/>
          </a:xfrm>
          <a:prstGeom prst="rect">
            <a:avLst/>
          </a:prstGeom>
          <a:noFill/>
          <a:ln w="0">
            <a:noFill/>
          </a:ln>
        </p:spPr>
        <p:txBody>
          <a:bodyPr lIns="0" tIns="0" rIns="0" bIns="0" anchor="t"/>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UT: accumulated gate scores</a:t>
            </a:r>
            <a:endParaRPr sz="2100" b="1">
              <a:solidFill>
                <a:srgbClr val="1835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334125" y="1390650"/>
            <a:ext cx="5400675" cy="381000"/>
          </a:xfrm>
          <a:prstGeom prst="rect">
            <a:avLst/>
          </a:prstGeom>
          <a:noFill/>
          <a:ln w="0">
            <a:noFill/>
          </a:ln>
        </p:spPr>
        <p:txBody>
          <a:bodyPr lIns="0" tIns="0" rIns="0" bIns="0" anchor="t"/>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SUT: probability of stopping</a:t>
            </a:r>
            <a:endParaRPr sz="2100" b="1">
              <a:solidFill>
                <a:srgbClr val="18352D"/>
              </a:solidFill>
              <a:latin typeface="Arial" panose="020B0604020202020204"/>
              <a:ea typeface="Arial" panose="020B0604020202020204"/>
              <a:cs typeface="Arial" panose="020B0604020202020204"/>
            </a:endParaRPr>
          </a:p>
        </p:txBody>
      </p:sp>
      <p:pic>
        <p:nvPicPr>
          <p:cNvPr id="6" name="图片 5"/>
          <p:cNvPicPr>
            <a:picLocks noChangeAspect="1"/>
          </p:cNvPicPr>
          <p:nvPr/>
        </p:nvPicPr>
        <p:blipFill>
          <a:blip r:embed="rId1"/>
          <a:stretch>
            <a:fillRect/>
          </a:stretch>
        </p:blipFill>
        <p:spPr>
          <a:xfrm>
            <a:off x="1171575" y="1857375"/>
            <a:ext cx="3810000" cy="904875"/>
          </a:xfrm>
          <a:prstGeom prst="rect">
            <a:avLst/>
          </a:prstGeom>
        </p:spPr>
      </p:pic>
      <p:pic>
        <p:nvPicPr>
          <p:cNvPr id="7" name="图片 6"/>
          <p:cNvPicPr>
            <a:picLocks noChangeAspect="1"/>
          </p:cNvPicPr>
          <p:nvPr/>
        </p:nvPicPr>
        <p:blipFill>
          <a:blip r:embed="rId2"/>
          <a:stretch>
            <a:fillRect/>
          </a:stretch>
        </p:blipFill>
        <p:spPr>
          <a:xfrm>
            <a:off x="7456254" y="1857375"/>
            <a:ext cx="3156417" cy="904875"/>
          </a:xfrm>
          <a:prstGeom prst="rect">
            <a:avLst/>
          </a:prstGeom>
        </p:spPr>
      </p:pic>
      <p:pic>
        <p:nvPicPr>
          <p:cNvPr id="8" name="图片 7"/>
          <p:cNvPicPr>
            <a:picLocks noChangeAspect="1"/>
          </p:cNvPicPr>
          <p:nvPr/>
        </p:nvPicPr>
        <p:blipFill>
          <a:blip r:embed="rId3"/>
          <a:stretch>
            <a:fillRect/>
          </a:stretch>
        </p:blipFill>
        <p:spPr>
          <a:xfrm>
            <a:off x="2012852" y="2924175"/>
            <a:ext cx="2127446" cy="790575"/>
          </a:xfrm>
          <a:prstGeom prst="rect">
            <a:avLst/>
          </a:prstGeom>
        </p:spPr>
      </p:pic>
      <p:pic>
        <p:nvPicPr>
          <p:cNvPr id="9" name="图片 8"/>
          <p:cNvPicPr>
            <a:picLocks noChangeAspect="1"/>
          </p:cNvPicPr>
          <p:nvPr/>
        </p:nvPicPr>
        <p:blipFill>
          <a:blip r:embed="rId4"/>
          <a:stretch>
            <a:fillRect/>
          </a:stretch>
        </p:blipFill>
        <p:spPr>
          <a:xfrm>
            <a:off x="6976166" y="2905125"/>
            <a:ext cx="4116593" cy="781050"/>
          </a:xfrm>
          <a:prstGeom prst="rect">
            <a:avLst/>
          </a:prstGeom>
        </p:spPr>
      </p:pic>
      <p:pic>
        <p:nvPicPr>
          <p:cNvPr id="10" name="图片 9"/>
          <p:cNvPicPr>
            <a:picLocks noChangeAspect="1"/>
          </p:cNvPicPr>
          <p:nvPr/>
        </p:nvPicPr>
        <p:blipFill>
          <a:blip r:embed="rId5"/>
          <a:stretch>
            <a:fillRect/>
          </a:stretch>
        </p:blipFill>
        <p:spPr>
          <a:xfrm>
            <a:off x="1375399" y="3914775"/>
            <a:ext cx="3402353" cy="809625"/>
          </a:xfrm>
          <a:prstGeom prst="rect">
            <a:avLst/>
          </a:prstGeom>
        </p:spPr>
      </p:pic>
      <p:pic>
        <p:nvPicPr>
          <p:cNvPr id="11" name="图片 10"/>
          <p:cNvPicPr>
            <a:picLocks noChangeAspect="1"/>
          </p:cNvPicPr>
          <p:nvPr/>
        </p:nvPicPr>
        <p:blipFill>
          <a:blip r:embed="rId6"/>
          <a:stretch>
            <a:fillRect/>
          </a:stretch>
        </p:blipFill>
        <p:spPr>
          <a:xfrm>
            <a:off x="7589044" y="3914775"/>
            <a:ext cx="2890838" cy="809625"/>
          </a:xfrm>
          <a:prstGeom prst="rect">
            <a:avLst/>
          </a:prstGeom>
        </p:spPr>
      </p:pic>
      <p:sp>
        <p:nvSpPr>
          <p:cNvPr id="12" name="矩形 11"/>
          <p:cNvSpPr>
            <a:spLocks noGrp="1"/>
          </p:cNvSpPr>
          <p:nvPr/>
        </p:nvSpPr>
        <p:spPr>
          <a:xfrm>
            <a:off x="457200" y="4933950"/>
            <a:ext cx="5334000" cy="1266825"/>
          </a:xfrm>
          <a:prstGeom prst="rect">
            <a:avLst/>
          </a:prstGeom>
          <a:noFill/>
          <a:ln w="0">
            <a:noFill/>
          </a:ln>
        </p:spPr>
        <p:txBody>
          <a:bodyPr lIns="0" tIns="0" rIns="0" bIns="0" anchor="t"/>
          <a:lstStyle>
            <a:defPPr>
              <a:defRPr sz="1725" b="0">
                <a:solidFill>
                  <a:srgbClr val="18352D"/>
                </a:solidFill>
                <a:latin typeface="Arial" panose="020B0604020202020204"/>
                <a:ea typeface="Arial" panose="020B0604020202020204"/>
                <a:cs typeface="Arial" panose="020B0604020202020204"/>
              </a:defRPr>
            </a:defPPr>
          </a:lstStyle>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q: sigmoid-linear gate output</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N: first step that crosses the threshold</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R: mass left after steps before N,</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     assigned to the final update</a:t>
            </a:r>
            <a:endParaRPr sz="1725" b="0">
              <a:solidFill>
                <a:srgbClr val="18352D"/>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6334125" y="4933950"/>
            <a:ext cx="5400675" cy="1266825"/>
          </a:xfrm>
          <a:prstGeom prst="rect">
            <a:avLst/>
          </a:prstGeom>
          <a:noFill/>
          <a:ln w="0">
            <a:noFill/>
          </a:ln>
        </p:spPr>
        <p:txBody>
          <a:bodyPr lIns="0" tIns="0" rIns="0" bIns="0" anchor="t"/>
          <a:lstStyle>
            <a:defPPr>
              <a:defRPr sz="1725" b="0">
                <a:solidFill>
                  <a:srgbClr val="18352D"/>
                </a:solidFill>
                <a:latin typeface="Arial" panose="020B0604020202020204"/>
                <a:ea typeface="Arial" panose="020B0604020202020204"/>
                <a:cs typeface="Arial" panose="020B0604020202020204"/>
              </a:defRPr>
            </a:defPPr>
          </a:lstStyle>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α̂: conditional halt probability from an MLP</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α: stopping mass after accounting for survival</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T: token positions; L: maximum depth</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ACT penalizes expected stopping depth.</a:t>
            </a:r>
            <a:endParaRPr sz="1725" b="0">
              <a:solidFill>
                <a:srgbClr val="18352D"/>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UT: Appendix C / ACT, with indices aligned. SUT: Equations 2 and 4. t = token; l = depth; τ = UT threshold.</a:t>
            </a:r>
            <a:endParaRPr sz="1200" b="0">
              <a:solidFill>
                <a:srgbClr val="53655E"/>
              </a:solidFill>
              <a:latin typeface="Arial" panose="020B0604020202020204"/>
              <a:ea typeface="Arial" panose="020B0604020202020204"/>
              <a:cs typeface="Arial" panose="020B0604020202020204"/>
            </a:endParaRPr>
          </a:p>
        </p:txBody>
      </p:sp>
      <p:cxnSp>
        <p:nvCxnSpPr>
          <p:cNvPr id="16" name="直接连接符 15"/>
          <p:cNvCxnSpPr/>
          <p:nvPr/>
        </p:nvCxnSpPr>
        <p:spPr>
          <a:xfrm>
            <a:off x="5735955" y="1412240"/>
            <a:ext cx="0" cy="4680585"/>
          </a:xfrm>
          <a:prstGeom prst="line">
            <a:avLst/>
          </a:prstGeom>
          <a:ln w="12700">
            <a:solidFill>
              <a:schemeClr val="accent1"/>
            </a:solidFill>
            <a:prstDash val="dash"/>
          </a:ln>
        </p:spPr>
        <p:style>
          <a:lnRef idx="0">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矩形 12"/>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REPEATED REFINEMENT</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UT: recurrence and recursive state interpolation</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09</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457200" y="1466850"/>
            <a:ext cx="6191250" cy="3095625"/>
          </a:xfrm>
          <a:prstGeom prst="rect">
            <a:avLst/>
          </a:prstGeom>
        </p:spPr>
      </p:pic>
      <p:sp>
        <p:nvSpPr>
          <p:cNvPr id="5" name="矩形 4"/>
          <p:cNvSpPr>
            <a:spLocks noGrp="1"/>
          </p:cNvSpPr>
          <p:nvPr/>
        </p:nvSpPr>
        <p:spPr>
          <a:xfrm>
            <a:off x="7191375" y="1466850"/>
            <a:ext cx="4543425" cy="428625"/>
          </a:xfrm>
          <a:prstGeom prst="rect">
            <a:avLst/>
          </a:prstGeom>
          <a:noFill/>
          <a:ln w="0">
            <a:noFill/>
          </a:ln>
        </p:spPr>
        <p:txBody>
          <a:bodyPr lIns="0" tIns="0" rIns="0" bIns="0" anchor="t"/>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What repeats at each step?</a:t>
            </a:r>
            <a:endParaRPr sz="2100" b="1">
              <a:solidFill>
                <a:srgbClr val="1835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7191375" y="2076450"/>
            <a:ext cx="4543425"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The same attention and transition</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parameters process the current states.</a:t>
            </a:r>
            <a:endParaRPr sz="1875" b="0">
              <a:solidFill>
                <a:srgbClr val="1835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7191375" y="3162300"/>
            <a:ext cx="4543425"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Position and step signals enter</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the attention update each iteration.</a:t>
            </a:r>
            <a:endParaRPr sz="1875" b="0">
              <a:solidFill>
                <a:srgbClr val="18352D"/>
              </a:solidFill>
              <a:latin typeface="Arial" panose="020B0604020202020204"/>
              <a:ea typeface="Arial" panose="020B0604020202020204"/>
              <a:cs typeface="Arial" panose="020B0604020202020204"/>
            </a:endParaRPr>
          </a:p>
        </p:txBody>
      </p:sp>
      <p:pic>
        <p:nvPicPr>
          <p:cNvPr id="8" name="图片 7"/>
          <p:cNvPicPr>
            <a:picLocks noChangeAspect="1"/>
          </p:cNvPicPr>
          <p:nvPr/>
        </p:nvPicPr>
        <p:blipFill>
          <a:blip r:embed="rId2"/>
          <a:stretch>
            <a:fillRect/>
          </a:stretch>
        </p:blipFill>
        <p:spPr>
          <a:xfrm>
            <a:off x="457200" y="4737100"/>
            <a:ext cx="6191250" cy="431800"/>
          </a:xfrm>
          <a:prstGeom prst="rect">
            <a:avLst/>
          </a:prstGeom>
        </p:spPr>
      </p:pic>
      <p:sp>
        <p:nvSpPr>
          <p:cNvPr id="9" name="矩形 8"/>
          <p:cNvSpPr>
            <a:spLocks noGrp="1"/>
          </p:cNvSpPr>
          <p:nvPr/>
        </p:nvSpPr>
        <p:spPr>
          <a:xfrm>
            <a:off x="7191375" y="4619625"/>
            <a:ext cx="4543425" cy="381000"/>
          </a:xfrm>
          <a:prstGeom prst="rect">
            <a:avLst/>
          </a:prstGeom>
          <a:noFill/>
          <a:ln w="0">
            <a:noFill/>
          </a:ln>
        </p:spPr>
        <p:txBody>
          <a:bodyPr lIns="0" tIns="0" rIns="0" bIns="0" anchor="t"/>
          <a:lstStyle>
            <a:defPPr>
              <a:defRPr sz="2025" b="1">
                <a:solidFill>
                  <a:srgbClr val="18352D"/>
                </a:solidFill>
                <a:latin typeface="Arial" panose="020B0604020202020204"/>
                <a:ea typeface="Arial" panose="020B0604020202020204"/>
                <a:cs typeface="Arial" panose="020B0604020202020204"/>
              </a:defRPr>
            </a:defPPr>
          </a:lstStyle>
          <a:p>
            <a:pPr>
              <a:defRPr sz="2025" b="1">
                <a:solidFill>
                  <a:srgbClr val="18352D"/>
                </a:solidFill>
                <a:latin typeface="Arial" panose="020B0604020202020204"/>
                <a:ea typeface="Arial" panose="020B0604020202020204"/>
                <a:cs typeface="Arial" panose="020B0604020202020204"/>
              </a:defRPr>
            </a:pPr>
            <a:r>
              <a:rPr sz="2025" b="1">
                <a:solidFill>
                  <a:srgbClr val="18352D"/>
                </a:solidFill>
                <a:latin typeface="Arial" panose="020B0604020202020204"/>
                <a:ea typeface="Arial" panose="020B0604020202020204"/>
                <a:cs typeface="Arial" panose="020B0604020202020204"/>
              </a:rPr>
              <a:t>Recursive interpolation of states</a:t>
            </a:r>
            <a:endParaRPr sz="2025" b="1">
              <a:solidFill>
                <a:srgbClr val="18352D"/>
              </a:solidFill>
              <a:latin typeface="Arial" panose="020B0604020202020204"/>
              <a:ea typeface="Arial" panose="020B0604020202020204"/>
              <a:cs typeface="Arial" panose="020B0604020202020204"/>
            </a:endParaRPr>
          </a:p>
        </p:txBody>
      </p:sp>
      <p:pic>
        <p:nvPicPr>
          <p:cNvPr id="10" name="图片 9"/>
          <p:cNvPicPr>
            <a:picLocks noChangeAspect="1"/>
          </p:cNvPicPr>
          <p:nvPr/>
        </p:nvPicPr>
        <p:blipFill>
          <a:blip r:embed="rId3"/>
          <a:stretch>
            <a:fillRect/>
          </a:stretch>
        </p:blipFill>
        <p:spPr>
          <a:xfrm>
            <a:off x="7191375" y="5231479"/>
            <a:ext cx="4543425" cy="500318"/>
          </a:xfrm>
          <a:prstGeom prst="rect">
            <a:avLst/>
          </a:prstGeom>
        </p:spPr>
      </p:pic>
      <p:sp>
        <p:nvSpPr>
          <p:cNvPr id="11" name="矩形 10"/>
          <p:cNvSpPr>
            <a:spLocks noGrp="1"/>
          </p:cNvSpPr>
          <p:nvPr/>
        </p:nvSpPr>
        <p:spPr>
          <a:xfrm>
            <a:off x="7191375" y="5876925"/>
            <a:ext cx="4543425" cy="285750"/>
          </a:xfrm>
          <a:prstGeom prst="rect">
            <a:avLst/>
          </a:prstGeom>
          <a:noFill/>
          <a:ln w="0">
            <a:noFill/>
          </a:ln>
        </p:spPr>
        <p:txBody>
          <a:bodyPr lIns="0" tIns="0" rIns="0" bIns="0" anchor="t"/>
          <a:lstStyle>
            <a:defPPr>
              <a:defRPr sz="1575" b="0">
                <a:solidFill>
                  <a:srgbClr val="18352D"/>
                </a:solidFill>
                <a:latin typeface="Arial" panose="020B0604020202020204"/>
                <a:ea typeface="Arial" panose="020B0604020202020204"/>
                <a:cs typeface="Arial" panose="020B0604020202020204"/>
              </a:defRPr>
            </a:defPPr>
          </a:lstStyle>
          <a:p>
            <a:pPr>
              <a:defRPr sz="1575" b="0">
                <a:solidFill>
                  <a:srgbClr val="18352D"/>
                </a:solidFill>
                <a:latin typeface="Arial" panose="020B0604020202020204"/>
                <a:ea typeface="Arial" panose="020B0604020202020204"/>
                <a:cs typeface="Arial" panose="020B0604020202020204"/>
              </a:defRPr>
            </a:pPr>
            <a:r>
              <a:rPr sz="1575" b="0">
                <a:solidFill>
                  <a:srgbClr val="18352D"/>
                </a:solidFill>
                <a:latin typeface="Arial" panose="020B0604020202020204"/>
                <a:ea typeface="Arial" panose="020B0604020202020204"/>
                <a:cs typeface="Arial" panose="020B0604020202020204"/>
              </a:rPr>
              <a:t>Current transformed state + previous mixed state</a:t>
            </a:r>
            <a:endParaRPr sz="1575" b="0">
              <a:solidFill>
                <a:srgbClr val="1835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UT Figure 2 and Equation 4 (t = refinement step here). Interpolation: SUT Section 3.2.</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STATE AGGREGATION AND ATTENTION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SUT: expected halted states remain readable</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10</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3313419" y="1409700"/>
            <a:ext cx="5565162" cy="981075"/>
          </a:xfrm>
          <a:prstGeom prst="rect">
            <a:avLst/>
          </a:prstGeom>
        </p:spPr>
      </p:pic>
      <p:sp>
        <p:nvSpPr>
          <p:cNvPr id="5" name="矩形 4"/>
          <p:cNvSpPr>
            <a:spLocks noGrp="1"/>
          </p:cNvSpPr>
          <p:nvPr/>
        </p:nvSpPr>
        <p:spPr>
          <a:xfrm>
            <a:off x="457200" y="2543175"/>
            <a:ext cx="11277600" cy="342900"/>
          </a:xfrm>
          <a:prstGeom prst="rect">
            <a:avLst/>
          </a:prstGeom>
          <a:noFill/>
          <a:ln w="0">
            <a:noFill/>
          </a:ln>
        </p:spPr>
        <p:txBody>
          <a:bodyPr lIns="0" tIns="0" rIns="0" bIns="0" anchor="t"/>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Survival mass × current state + earlier stopping masses × earlier states</a:t>
            </a:r>
            <a:endParaRPr sz="1800" b="0">
              <a:solidFill>
                <a:srgbClr val="18352D"/>
              </a:solidFill>
              <a:latin typeface="Arial" panose="020B0604020202020204"/>
              <a:ea typeface="Arial" panose="020B0604020202020204"/>
              <a:cs typeface="Arial" panose="020B0604020202020204"/>
            </a:endParaRPr>
          </a:p>
        </p:txBody>
      </p:sp>
      <p:pic>
        <p:nvPicPr>
          <p:cNvPr id="6" name="图片 5"/>
          <p:cNvPicPr>
            <a:picLocks noChangeAspect="1"/>
          </p:cNvPicPr>
          <p:nvPr/>
        </p:nvPicPr>
        <p:blipFill>
          <a:blip r:embed="rId2"/>
          <a:stretch>
            <a:fillRect/>
          </a:stretch>
        </p:blipFill>
        <p:spPr>
          <a:xfrm>
            <a:off x="1377950" y="3190875"/>
            <a:ext cx="3492500" cy="2762250"/>
          </a:xfrm>
          <a:prstGeom prst="rect">
            <a:avLst/>
          </a:prstGeom>
        </p:spPr>
      </p:pic>
      <p:pic>
        <p:nvPicPr>
          <p:cNvPr id="7" name="图片 6"/>
          <p:cNvPicPr>
            <a:picLocks noChangeAspect="1"/>
          </p:cNvPicPr>
          <p:nvPr/>
        </p:nvPicPr>
        <p:blipFill>
          <a:blip r:embed="rId3"/>
          <a:stretch>
            <a:fillRect/>
          </a:stretch>
        </p:blipFill>
        <p:spPr>
          <a:xfrm>
            <a:off x="7352594" y="3209925"/>
            <a:ext cx="3506611" cy="1000125"/>
          </a:xfrm>
          <a:prstGeom prst="rect">
            <a:avLst/>
          </a:prstGeom>
        </p:spPr>
      </p:pic>
      <p:sp>
        <p:nvSpPr>
          <p:cNvPr id="8" name="矩形 7"/>
          <p:cNvSpPr>
            <a:spLocks noGrp="1"/>
          </p:cNvSpPr>
          <p:nvPr/>
        </p:nvSpPr>
        <p:spPr>
          <a:xfrm>
            <a:off x="6477000" y="4391025"/>
            <a:ext cx="5257800" cy="1000125"/>
          </a:xfrm>
          <a:prstGeom prst="rect">
            <a:avLst/>
          </a:prstGeom>
          <a:noFill/>
          <a:ln w="0">
            <a:noFill/>
          </a:ln>
        </p:spPr>
        <p:txBody>
          <a:bodyPr lIns="0" tIns="0" rIns="0" bIns="0" anchor="t"/>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h: unhalted state for the active token</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s: expected halted state</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S: collection of all tokens’ s states</a:t>
            </a:r>
            <a:endParaRPr sz="1800" b="0">
              <a:solidFill>
                <a:srgbClr val="18352D"/>
              </a:solidFill>
              <a:latin typeface="Arial" panose="020B0604020202020204"/>
              <a:ea typeface="Arial" panose="020B0604020202020204"/>
              <a:cs typeface="Arial" panose="020B0604020202020204"/>
            </a:endParaRPr>
          </a:p>
        </p:txBody>
      </p:sp>
      <p:pic>
        <p:nvPicPr>
          <p:cNvPr id="9" name="图片 8"/>
          <p:cNvPicPr>
            <a:picLocks noChangeAspect="1"/>
          </p:cNvPicPr>
          <p:nvPr/>
        </p:nvPicPr>
        <p:blipFill>
          <a:blip r:embed="rId4"/>
          <a:stretch>
            <a:fillRect/>
          </a:stretch>
        </p:blipFill>
        <p:spPr>
          <a:xfrm>
            <a:off x="7480241" y="5591175"/>
            <a:ext cx="3251318" cy="409575"/>
          </a:xfrm>
          <a:prstGeom prst="rect">
            <a:avLst/>
          </a:prstGeom>
        </p:spPr>
      </p:pic>
      <p:sp>
        <p:nvSpPr>
          <p:cNvPr id="10" name="矩形 9"/>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SUT Equation 3, Algorithm 1 and Figure 3 (right). A no-op copies the halted token’s states.</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矩形 10"/>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EXPERIMENTS / WMT’14</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English–German translation: scale and cost</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11</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1073785" y="1419225"/>
            <a:ext cx="4958080" cy="4648200"/>
          </a:xfrm>
          <a:prstGeom prst="rect">
            <a:avLst/>
          </a:prstGeom>
        </p:spPr>
      </p:pic>
      <p:sp>
        <p:nvSpPr>
          <p:cNvPr id="5" name="矩形 4"/>
          <p:cNvSpPr>
            <a:spLocks noGrp="1"/>
          </p:cNvSpPr>
          <p:nvPr/>
        </p:nvSpPr>
        <p:spPr>
          <a:xfrm>
            <a:off x="7048500" y="1428750"/>
            <a:ext cx="4686300" cy="400050"/>
          </a:xfrm>
          <a:prstGeom prst="rect">
            <a:avLst/>
          </a:prstGeom>
          <a:noFill/>
          <a:ln w="0">
            <a:noFill/>
          </a:ln>
        </p:spPr>
        <p:txBody>
          <a:bodyPr lIns="0" tIns="0" rIns="0" bIns="0" anchor="t"/>
          <a:lstStyle>
            <a:defPPr>
              <a:defRPr sz="2025" b="1">
                <a:solidFill>
                  <a:srgbClr val="18352D"/>
                </a:solidFill>
                <a:latin typeface="Arial" panose="020B0604020202020204"/>
                <a:ea typeface="Arial" panose="020B0604020202020204"/>
                <a:cs typeface="Arial" panose="020B0604020202020204"/>
              </a:defRPr>
            </a:defPPr>
          </a:lstStyle>
          <a:p>
            <a:pPr>
              <a:defRPr sz="2025" b="1">
                <a:solidFill>
                  <a:srgbClr val="18352D"/>
                </a:solidFill>
                <a:latin typeface="Arial" panose="020B0604020202020204"/>
                <a:ea typeface="Arial" panose="020B0604020202020204"/>
                <a:cs typeface="Arial" panose="020B0604020202020204"/>
              </a:defRPr>
            </a:pPr>
            <a:r>
              <a:rPr sz="2025" b="1">
                <a:solidFill>
                  <a:srgbClr val="18352D"/>
                </a:solidFill>
                <a:latin typeface="Arial" panose="020B0604020202020204"/>
                <a:ea typeface="Arial" panose="020B0604020202020204"/>
                <a:cs typeface="Arial" panose="020B0604020202020204"/>
              </a:rPr>
              <a:t>Matched-depth configurations</a:t>
            </a:r>
            <a:endParaRPr sz="2025" b="1">
              <a:solidFill>
                <a:srgbClr val="18352D"/>
              </a:solidFill>
              <a:latin typeface="Arial" panose="020B0604020202020204"/>
              <a:ea typeface="Arial" panose="020B0604020202020204"/>
              <a:cs typeface="Arial" panose="020B0604020202020204"/>
            </a:endParaRPr>
          </a:p>
        </p:txBody>
      </p:sp>
      <p:graphicFrame>
        <p:nvGraphicFramePr>
          <p:cNvPr id="6" name="表格 5"/>
          <p:cNvGraphicFramePr/>
          <p:nvPr/>
        </p:nvGraphicFramePr>
        <p:xfrm>
          <a:off x="7048500" y="1971675"/>
          <a:ext cx="4686300" cy="2333625"/>
        </p:xfrm>
        <a:graphic>
          <a:graphicData uri="http://schemas.openxmlformats.org/drawingml/2006/table">
            <a:tbl>
              <a:tblPr/>
              <a:tblGrid>
                <a:gridCol w="1333500"/>
                <a:gridCol w="571500"/>
                <a:gridCol w="857250"/>
                <a:gridCol w="857250"/>
                <a:gridCol w="1066800"/>
              </a:tblGrid>
              <a:tr h="466725">
                <a:tc>
                  <a:txBody>
                    <a:bodyPr/>
                    <a:lstStyle/>
                    <a:p>
                      <a:pPr algn="l"/>
                      <a:r>
                        <a:rPr sz="1500" b="1">
                          <a:solidFill>
                            <a:srgbClr val="FFFFFF"/>
                          </a:solidFill>
                          <a:latin typeface="Arial" panose="020B0604020202020204"/>
                          <a:ea typeface="Arial" panose="020B0604020202020204"/>
                          <a:cs typeface="Arial" panose="020B0604020202020204"/>
                        </a:rPr>
                        <a:t>Model</a:t>
                      </a:r>
                      <a:endParaRPr sz="1500" b="1">
                        <a:solidFill>
                          <a:srgbClr val="FFFFFF"/>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a:lstStyle/>
                    <a:p>
                      <a:pPr algn="ctr"/>
                      <a:r>
                        <a:rPr sz="1500" b="1">
                          <a:solidFill>
                            <a:srgbClr val="FFFFFF"/>
                          </a:solidFill>
                          <a:latin typeface="Arial" panose="020B0604020202020204"/>
                          <a:ea typeface="Arial" panose="020B0604020202020204"/>
                          <a:cs typeface="Arial" panose="020B0604020202020204"/>
                        </a:rPr>
                        <a:t>E</a:t>
                      </a:r>
                      <a:endParaRPr sz="1500" b="1">
                        <a:solidFill>
                          <a:srgbClr val="FFFFFF"/>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a:lstStyle/>
                    <a:p>
                      <a:pPr algn="ctr"/>
                      <a:r>
                        <a:rPr sz="1500" b="1">
                          <a:solidFill>
                            <a:srgbClr val="FFFFFF"/>
                          </a:solidFill>
                          <a:latin typeface="Arial" panose="020B0604020202020204"/>
                          <a:ea typeface="Arial" panose="020B0604020202020204"/>
                          <a:cs typeface="Arial" panose="020B0604020202020204"/>
                        </a:rPr>
                        <a:t>Embed</a:t>
                      </a:r>
                      <a:endParaRPr sz="1500" b="1">
                        <a:solidFill>
                          <a:srgbClr val="FFFFFF"/>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a:lstStyle/>
                    <a:p>
                      <a:pPr algn="ctr"/>
                      <a:r>
                        <a:rPr sz="1500" b="1">
                          <a:solidFill>
                            <a:srgbClr val="FFFFFF"/>
                          </a:solidFill>
                          <a:latin typeface="Arial" panose="020B0604020202020204"/>
                          <a:ea typeface="Arial" panose="020B0604020202020204"/>
                          <a:cs typeface="Arial" panose="020B0604020202020204"/>
                        </a:rPr>
                        <a:t>Datt</a:t>
                      </a:r>
                      <a:endParaRPr sz="1500" b="1">
                        <a:solidFill>
                          <a:srgbClr val="FFFFFF"/>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a:lstStyle/>
                    <a:p>
                      <a:pPr algn="ctr"/>
                      <a:r>
                        <a:rPr sz="1500" b="1">
                          <a:solidFill>
                            <a:srgbClr val="FFFFFF"/>
                          </a:solidFill>
                          <a:latin typeface="Arial" panose="020B0604020202020204"/>
                          <a:ea typeface="Arial" panose="020B0604020202020204"/>
                          <a:cs typeface="Arial" panose="020B0604020202020204"/>
                        </a:rPr>
                        <a:t>Dff</a:t>
                      </a:r>
                      <a:endParaRPr sz="1500" b="1">
                        <a:solidFill>
                          <a:srgbClr val="FFFFFF"/>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466725">
                <a:tc>
                  <a:txBody>
                    <a:bodyPr/>
                    <a:lstStyle/>
                    <a:p>
                      <a:pPr algn="l"/>
                      <a:r>
                        <a:rPr sz="1500" b="0">
                          <a:solidFill>
                            <a:srgbClr val="18352D"/>
                          </a:solidFill>
                          <a:latin typeface="Arial" panose="020B0604020202020204"/>
                          <a:ea typeface="Arial" panose="020B0604020202020204"/>
                          <a:cs typeface="Arial" panose="020B0604020202020204"/>
                        </a:rPr>
                        <a:t>UT base</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a:lstStyle/>
                    <a:p>
                      <a:pPr algn="ctr"/>
                      <a:r>
                        <a:rPr sz="1500" b="0">
                          <a:solidFill>
                            <a:srgbClr val="18352D"/>
                          </a:solidFill>
                          <a:latin typeface="Arial" panose="020B0604020202020204"/>
                          <a:ea typeface="Arial" panose="020B0604020202020204"/>
                          <a:cs typeface="Arial" panose="020B0604020202020204"/>
                        </a:rPr>
                        <a:t>1</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c>
                  <a:txBody>
                    <a:bodyPr/>
                    <a:lstStyle/>
                    <a:p>
                      <a:pPr algn="ctr"/>
                      <a:r>
                        <a:rPr sz="1500" b="0">
                          <a:solidFill>
                            <a:srgbClr val="18352D"/>
                          </a:solidFill>
                          <a:latin typeface="Arial" panose="020B0604020202020204"/>
                          <a:ea typeface="Arial" panose="020B0604020202020204"/>
                          <a:cs typeface="Arial" panose="020B0604020202020204"/>
                        </a:rPr>
                        <a:t>960</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c>
                  <a:txBody>
                    <a:bodyPr/>
                    <a:lstStyle/>
                    <a:p>
                      <a:pPr algn="ctr"/>
                      <a:r>
                        <a:rPr sz="1500" b="0">
                          <a:solidFill>
                            <a:srgbClr val="18352D"/>
                          </a:solidFill>
                          <a:latin typeface="Arial" panose="020B0604020202020204"/>
                          <a:ea typeface="Arial" panose="020B0604020202020204"/>
                          <a:cs typeface="Arial" panose="020B0604020202020204"/>
                        </a:rPr>
                        <a:t>960</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c>
                  <a:txBody>
                    <a:bodyPr/>
                    <a:lstStyle/>
                    <a:p>
                      <a:pPr algn="ctr"/>
                      <a:r>
                        <a:rPr sz="1500" b="0">
                          <a:solidFill>
                            <a:srgbClr val="18352D"/>
                          </a:solidFill>
                          <a:latin typeface="Arial" panose="020B0604020202020204"/>
                          <a:ea typeface="Arial" panose="020B0604020202020204"/>
                          <a:cs typeface="Arial" panose="020B0604020202020204"/>
                        </a:rPr>
                        <a:t>3840</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FFFFF"/>
                    </a:solidFill>
                  </a:tcPr>
                </a:tc>
              </a:tr>
              <a:tr h="466725">
                <a:tc>
                  <a:txBody>
                    <a:bodyPr/>
                    <a:lstStyle/>
                    <a:p>
                      <a:pPr algn="l"/>
                      <a:r>
                        <a:rPr sz="1500" b="0">
                          <a:solidFill>
                            <a:srgbClr val="18352D"/>
                          </a:solidFill>
                          <a:latin typeface="Arial" panose="020B0604020202020204"/>
                          <a:ea typeface="Arial" panose="020B0604020202020204"/>
                          <a:cs typeface="Arial" panose="020B0604020202020204"/>
                        </a:rPr>
                        <a:t>UT big</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500" b="0">
                          <a:solidFill>
                            <a:srgbClr val="18352D"/>
                          </a:solidFill>
                          <a:latin typeface="Arial" panose="020B0604020202020204"/>
                          <a:ea typeface="Arial" panose="020B0604020202020204"/>
                          <a:cs typeface="Arial" panose="020B0604020202020204"/>
                        </a:rPr>
                        <a:t>1</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2F5F3"/>
                    </a:solidFill>
                  </a:tcPr>
                </a:tc>
                <a:tc>
                  <a:txBody>
                    <a:bodyPr/>
                    <a:lstStyle/>
                    <a:p>
                      <a:pPr algn="ctr"/>
                      <a:r>
                        <a:rPr sz="1500" b="0">
                          <a:solidFill>
                            <a:srgbClr val="18352D"/>
                          </a:solidFill>
                          <a:latin typeface="Arial" panose="020B0604020202020204"/>
                          <a:ea typeface="Arial" panose="020B0604020202020204"/>
                          <a:cs typeface="Arial" panose="020B0604020202020204"/>
                        </a:rPr>
                        <a:t>1344</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2F5F3"/>
                    </a:solidFill>
                  </a:tcPr>
                </a:tc>
                <a:tc>
                  <a:txBody>
                    <a:bodyPr/>
                    <a:lstStyle/>
                    <a:p>
                      <a:pPr algn="ctr"/>
                      <a:r>
                        <a:rPr sz="1500" b="0">
                          <a:solidFill>
                            <a:srgbClr val="18352D"/>
                          </a:solidFill>
                          <a:latin typeface="Arial" panose="020B0604020202020204"/>
                          <a:ea typeface="Arial" panose="020B0604020202020204"/>
                          <a:cs typeface="Arial" panose="020B0604020202020204"/>
                        </a:rPr>
                        <a:t>1344</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2F5F3"/>
                    </a:solidFill>
                  </a:tcPr>
                </a:tc>
                <a:tc>
                  <a:txBody>
                    <a:bodyPr/>
                    <a:lstStyle/>
                    <a:p>
                      <a:pPr algn="ctr"/>
                      <a:r>
                        <a:rPr sz="1500" b="0">
                          <a:solidFill>
                            <a:srgbClr val="18352D"/>
                          </a:solidFill>
                          <a:latin typeface="Arial" panose="020B0604020202020204"/>
                          <a:ea typeface="Arial" panose="020B0604020202020204"/>
                          <a:cs typeface="Arial" panose="020B0604020202020204"/>
                        </a:rPr>
                        <a:t>5376</a:t>
                      </a:r>
                      <a:endParaRPr sz="1500" b="0">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F2F5F3"/>
                    </a:solidFill>
                  </a:tcPr>
                </a:tc>
              </a:tr>
              <a:tr h="466725">
                <a:tc>
                  <a:txBody>
                    <a:bodyPr/>
                    <a:lstStyle/>
                    <a:p>
                      <a:pPr algn="l"/>
                      <a:r>
                        <a:rPr sz="1500" b="1">
                          <a:solidFill>
                            <a:srgbClr val="18352D"/>
                          </a:solidFill>
                          <a:latin typeface="Arial" panose="020B0604020202020204"/>
                          <a:ea typeface="Arial" panose="020B0604020202020204"/>
                          <a:cs typeface="Arial" panose="020B0604020202020204"/>
                        </a:rPr>
                        <a:t>SUT base</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24</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512</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256</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512</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r>
              <a:tr h="466725">
                <a:tc>
                  <a:txBody>
                    <a:bodyPr/>
                    <a:lstStyle/>
                    <a:p>
                      <a:pPr algn="l"/>
                      <a:r>
                        <a:rPr sz="1500" b="1">
                          <a:solidFill>
                            <a:srgbClr val="18352D"/>
                          </a:solidFill>
                          <a:latin typeface="Arial" panose="020B0604020202020204"/>
                          <a:ea typeface="Arial" panose="020B0604020202020204"/>
                          <a:cs typeface="Arial" panose="020B0604020202020204"/>
                        </a:rPr>
                        <a:t>SUT big</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48</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512</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256</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c>
                  <a:txBody>
                    <a:bodyPr/>
                    <a:lstStyle/>
                    <a:p>
                      <a:pPr algn="ctr"/>
                      <a:r>
                        <a:rPr sz="1500" b="1">
                          <a:solidFill>
                            <a:srgbClr val="18352D"/>
                          </a:solidFill>
                          <a:latin typeface="Arial" panose="020B0604020202020204"/>
                          <a:ea typeface="Arial" panose="020B0604020202020204"/>
                          <a:cs typeface="Arial" panose="020B0604020202020204"/>
                        </a:rPr>
                        <a:t>512</a:t>
                      </a:r>
                      <a:endParaRPr sz="1500" b="1">
                        <a:solidFill>
                          <a:srgbClr val="18352D"/>
                        </a:solidFill>
                        <a:latin typeface="Arial" panose="020B0604020202020204"/>
                        <a:ea typeface="Arial" panose="020B0604020202020204"/>
                        <a:cs typeface="Arial" panose="020B0604020202020204"/>
                      </a:endParaRPr>
                    </a:p>
                  </a:txBody>
                  <a:tcPr marL="76200" marR="76200" marT="38100" marB="38100" anchor="ctr">
                    <a:lnR w="9525">
                      <a:solidFill>
                        <a:srgbClr val="D9E3DE"/>
                      </a:solidFill>
                      <a:prstDash val="solid"/>
                    </a:lnR>
                    <a:lnB w="9525">
                      <a:solidFill>
                        <a:srgbClr val="D9E3DE"/>
                      </a:solidFill>
                      <a:prstDash val="solid"/>
                    </a:lnB>
                    <a:solidFill>
                      <a:srgbClr val="E3F1E5"/>
                    </a:solidFill>
                  </a:tcPr>
                </a:tc>
              </a:tr>
            </a:tbl>
          </a:graphicData>
        </a:graphic>
      </p:graphicFrame>
      <p:sp>
        <p:nvSpPr>
          <p:cNvPr id="7" name="矩形 6"/>
          <p:cNvSpPr>
            <a:spLocks noGrp="1"/>
          </p:cNvSpPr>
          <p:nvPr/>
        </p:nvSpPr>
        <p:spPr>
          <a:xfrm>
            <a:off x="7048500" y="4514850"/>
            <a:ext cx="4686300" cy="762000"/>
          </a:xfrm>
          <a:prstGeom prst="rect">
            <a:avLst/>
          </a:prstGeom>
          <a:noFill/>
          <a:ln w="0">
            <a:noFill/>
          </a:ln>
        </p:spPr>
        <p:txBody>
          <a:bodyPr lIns="0" tIns="0" rIns="0" bIns="0" anchor="t"/>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All four: 6 encoder / 6 decoder steps</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E applies to both expert pools.</a:t>
            </a:r>
            <a:endParaRPr sz="1800"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7048500" y="5353050"/>
            <a:ext cx="4686300" cy="314325"/>
          </a:xfrm>
          <a:prstGeom prst="rect">
            <a:avLst/>
          </a:prstGeom>
          <a:noFill/>
          <a:ln w="0">
            <a:noFill/>
          </a:ln>
        </p:spPr>
        <p:txBody>
          <a:bodyPr lIns="0" tIns="0" rIns="0" bIns="0" anchor="t"/>
          <a:lstStyle>
            <a:defPPr>
              <a:defRPr sz="1950" b="1">
                <a:solidFill>
                  <a:srgbClr val="18352D"/>
                </a:solidFill>
                <a:latin typeface="Arial" panose="020B0604020202020204"/>
                <a:ea typeface="Arial" panose="020B0604020202020204"/>
                <a:cs typeface="Arial" panose="020B0604020202020204"/>
              </a:defRPr>
            </a:defPPr>
          </a:lstStyle>
          <a:p>
            <a:pPr>
              <a:defRPr sz="1950" b="1">
                <a:solidFill>
                  <a:srgbClr val="18352D"/>
                </a:solidFill>
                <a:latin typeface="Arial" panose="020B0604020202020204"/>
                <a:ea typeface="Arial" panose="020B0604020202020204"/>
                <a:cs typeface="Arial" panose="020B0604020202020204"/>
              </a:defRPr>
            </a:pPr>
            <a:r>
              <a:rPr sz="1950" b="1">
                <a:solidFill>
                  <a:srgbClr val="18352D"/>
                </a:solidFill>
                <a:latin typeface="Arial" panose="020B0604020202020204"/>
                <a:ea typeface="Arial" panose="020B0604020202020204"/>
                <a:cs typeface="Arial" panose="020B0604020202020204"/>
              </a:rPr>
              <a:t>SUT big versus UT big</a:t>
            </a:r>
            <a:endParaRPr sz="1950" b="1">
              <a:solidFill>
                <a:srgbClr val="1835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7048500" y="5800725"/>
            <a:ext cx="4686300" cy="762000"/>
          </a:xfrm>
          <a:prstGeom prst="rect">
            <a:avLst/>
          </a:prstGeom>
          <a:noFill/>
          <a:ln w="0">
            <a:noFill/>
          </a:ln>
        </p:spPr>
        <p:txBody>
          <a:bodyPr lIns="0" tIns="0" rIns="0" bIns="0" anchor="t"/>
          <a:lstStyle>
            <a:defPPr>
              <a:defRPr sz="1725" b="0">
                <a:solidFill>
                  <a:srgbClr val="246648"/>
                </a:solidFill>
                <a:latin typeface="Arial" panose="020B0604020202020204"/>
                <a:ea typeface="Arial" panose="020B0604020202020204"/>
                <a:cs typeface="Arial" panose="020B0604020202020204"/>
              </a:defRPr>
            </a:defPPr>
          </a:lstStyle>
          <a:p>
            <a:pPr>
              <a:defRPr sz="1725" b="0">
                <a:solidFill>
                  <a:srgbClr val="246648"/>
                </a:solidFill>
                <a:latin typeface="Arial" panose="020B0604020202020204"/>
                <a:ea typeface="Arial" panose="020B0604020202020204"/>
                <a:cs typeface="Arial" panose="020B0604020202020204"/>
              </a:defRPr>
            </a:pPr>
            <a:r>
              <a:rPr sz="1725" b="0">
                <a:solidFill>
                  <a:srgbClr val="246648"/>
                </a:solidFill>
                <a:latin typeface="Arial" panose="020B0604020202020204"/>
                <a:ea typeface="Arial" panose="020B0604020202020204"/>
                <a:cs typeface="Arial" panose="020B0604020202020204"/>
              </a:rPr>
              <a:t>≈4.7× fewer MACs, 0.2 lower BLEU</a:t>
            </a:r>
            <a:endParaRPr sz="1725" b="0">
              <a:solidFill>
                <a:srgbClr val="246648"/>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Table 1 and Appendix Table 6. SB = stick breaking. Superscript 2: MAC undercounts for convolutions.</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EXPERIMENTS / WMT’14</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Translation: ablations and FFN specialization</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12</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457200" y="1883263"/>
            <a:ext cx="6096000" cy="2500923"/>
          </a:xfrm>
          <a:prstGeom prst="rect">
            <a:avLst/>
          </a:prstGeom>
        </p:spPr>
      </p:pic>
      <p:pic>
        <p:nvPicPr>
          <p:cNvPr id="5" name="图片 4"/>
          <p:cNvPicPr>
            <a:picLocks noChangeAspect="1"/>
          </p:cNvPicPr>
          <p:nvPr/>
        </p:nvPicPr>
        <p:blipFill>
          <a:blip r:embed="rId2"/>
          <a:stretch>
            <a:fillRect/>
          </a:stretch>
        </p:blipFill>
        <p:spPr>
          <a:xfrm>
            <a:off x="7048500" y="1847450"/>
            <a:ext cx="4686300" cy="2572549"/>
          </a:xfrm>
          <a:prstGeom prst="rect">
            <a:avLst/>
          </a:prstGeom>
        </p:spPr>
      </p:pic>
      <p:sp>
        <p:nvSpPr>
          <p:cNvPr id="6" name="矩形 5"/>
          <p:cNvSpPr>
            <a:spLocks noGrp="1"/>
          </p:cNvSpPr>
          <p:nvPr/>
        </p:nvSpPr>
        <p:spPr>
          <a:xfrm>
            <a:off x="457200" y="5019675"/>
            <a:ext cx="609600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 MoMHA” replaces it with MoA.</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FFN-MoE remains in the model.</a:t>
            </a:r>
            <a:endParaRPr sz="1875" b="0">
              <a:solidFill>
                <a:srgbClr val="1835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7048500" y="5181600"/>
            <a:ext cx="4686300" cy="762000"/>
          </a:xfrm>
          <a:prstGeom prst="rect">
            <a:avLst/>
          </a:prstGeom>
          <a:noFill/>
          <a:ln w="0">
            <a:noFill/>
          </a:ln>
        </p:spPr>
        <p:txBody>
          <a:bodyPr lIns="0" tIns="0" rIns="0" bIns="0" anchor="t"/>
          <a:lstStyle>
            <a:defPPr>
              <a:defRPr sz="1800" b="0">
                <a:solidFill>
                  <a:srgbClr val="18352D"/>
                </a:solidFill>
                <a:latin typeface="Arial" panose="020B0604020202020204"/>
                <a:ea typeface="Arial" panose="020B0604020202020204"/>
                <a:cs typeface="Arial" panose="020B0604020202020204"/>
              </a:defRPr>
            </a:defPPr>
          </a:lstStyle>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Selected examples suggest specialization.</a:t>
            </a:r>
            <a:endParaRPr sz="1800" b="0">
              <a:solidFill>
                <a:srgbClr val="18352D"/>
              </a:solidFill>
              <a:latin typeface="Arial" panose="020B0604020202020204"/>
              <a:ea typeface="Arial" panose="020B0604020202020204"/>
              <a:cs typeface="Arial" panose="020B0604020202020204"/>
            </a:endParaRPr>
          </a:p>
          <a:p>
            <a:pPr>
              <a:defRPr sz="1800" b="0">
                <a:solidFill>
                  <a:srgbClr val="18352D"/>
                </a:solidFill>
                <a:latin typeface="Arial" panose="020B0604020202020204"/>
                <a:ea typeface="Arial" panose="020B0604020202020204"/>
                <a:cs typeface="Arial" panose="020B0604020202020204"/>
              </a:defRPr>
            </a:pPr>
            <a:r>
              <a:rPr sz="1800" b="0">
                <a:solidFill>
                  <a:srgbClr val="18352D"/>
                </a:solidFill>
                <a:latin typeface="Arial" panose="020B0604020202020204"/>
                <a:ea typeface="Arial" panose="020B0604020202020204"/>
                <a:cs typeface="Arial" panose="020B0604020202020204"/>
              </a:rPr>
              <a:t>They do not measure redundancy.</a:t>
            </a:r>
            <a:endParaRPr sz="1800"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SUT Tables 2–3. FFN experts are called FFD experts in the paper.</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矩形 11"/>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EXPERIMENTS / TASK DEFINITION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CFQ: familiar pieces, unfamiliar combinations</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13</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457200" y="1401961"/>
            <a:ext cx="6191250" cy="3482578"/>
          </a:xfrm>
          <a:prstGeom prst="rect">
            <a:avLst/>
          </a:prstGeom>
        </p:spPr>
      </p:pic>
      <p:pic>
        <p:nvPicPr>
          <p:cNvPr id="5" name="图片 4"/>
          <p:cNvPicPr>
            <a:picLocks noChangeAspect="1"/>
          </p:cNvPicPr>
          <p:nvPr/>
        </p:nvPicPr>
        <p:blipFill>
          <a:blip r:embed="rId2"/>
          <a:stretch>
            <a:fillRect/>
          </a:stretch>
        </p:blipFill>
        <p:spPr>
          <a:xfrm>
            <a:off x="457200" y="5262116"/>
            <a:ext cx="6191250" cy="677168"/>
          </a:xfrm>
          <a:prstGeom prst="rect">
            <a:avLst/>
          </a:prstGeom>
        </p:spPr>
      </p:pic>
      <p:sp>
        <p:nvSpPr>
          <p:cNvPr id="6" name="矩形 5"/>
          <p:cNvSpPr>
            <a:spLocks noGrp="1"/>
          </p:cNvSpPr>
          <p:nvPr/>
        </p:nvSpPr>
        <p:spPr>
          <a:xfrm>
            <a:off x="7181850" y="1457325"/>
            <a:ext cx="4552950" cy="381000"/>
          </a:xfrm>
          <a:prstGeom prst="rect">
            <a:avLst/>
          </a:prstGeom>
          <a:noFill/>
          <a:ln w="0">
            <a:noFill/>
          </a:ln>
        </p:spPr>
        <p:txBody>
          <a:bodyPr lIns="0" tIns="0" rIns="0" bIns="0" anchor="t"/>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Model input</a:t>
            </a:r>
            <a:endParaRPr sz="2100" b="1">
              <a:solidFill>
                <a:srgbClr val="1835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7181850" y="1952625"/>
            <a:ext cx="4552950" cy="714375"/>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Natural-language question</a:t>
            </a:r>
            <a:endParaRPr sz="2025"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7181850" y="2857500"/>
            <a:ext cx="4552950" cy="381000"/>
          </a:xfrm>
          <a:prstGeom prst="rect">
            <a:avLst/>
          </a:prstGeom>
          <a:noFill/>
          <a:ln w="0">
            <a:noFill/>
          </a:ln>
        </p:spPr>
        <p:txBody>
          <a:bodyPr lIns="0" tIns="0" rIns="0" bIns="0" anchor="t"/>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Prediction target</a:t>
            </a:r>
            <a:endParaRPr sz="2100" b="1">
              <a:solidFill>
                <a:srgbClr val="1835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7181850" y="3352800"/>
            <a:ext cx="4552950" cy="571500"/>
          </a:xfrm>
          <a:prstGeom prst="rect">
            <a:avLst/>
          </a:prstGeom>
          <a:noFill/>
          <a:ln w="0">
            <a:noFill/>
          </a:ln>
        </p:spPr>
        <p:txBody>
          <a:bodyPr lIns="0" tIns="0" rIns="0" bIns="0" anchor="t"/>
          <a:lstStyle>
            <a:defPPr>
              <a:defRPr sz="2175" b="1">
                <a:solidFill>
                  <a:srgbClr val="246648"/>
                </a:solidFill>
                <a:latin typeface="Arial" panose="020B0604020202020204"/>
                <a:ea typeface="Arial" panose="020B0604020202020204"/>
                <a:cs typeface="Arial" panose="020B0604020202020204"/>
              </a:defRPr>
            </a:defPPr>
          </a:lstStyle>
          <a:p>
            <a:pPr>
              <a:defRPr sz="2175" b="1">
                <a:solidFill>
                  <a:srgbClr val="246648"/>
                </a:solidFill>
                <a:latin typeface="Arial" panose="020B0604020202020204"/>
                <a:ea typeface="Arial" panose="020B0604020202020204"/>
                <a:cs typeface="Arial" panose="020B0604020202020204"/>
              </a:defRPr>
            </a:pPr>
            <a:r>
              <a:rPr sz="2175" b="1">
                <a:solidFill>
                  <a:srgbClr val="246648"/>
                </a:solidFill>
                <a:latin typeface="Arial" panose="020B0604020202020204"/>
                <a:ea typeface="Arial" panose="020B0604020202020204"/>
                <a:cs typeface="Arial" panose="020B0604020202020204"/>
              </a:rPr>
              <a:t>SPARQL query text</a:t>
            </a:r>
            <a:endParaRPr sz="2175" b="1">
              <a:solidFill>
                <a:srgbClr val="246648"/>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7181850" y="4171950"/>
            <a:ext cx="455295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MCD: familiar building blocks</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in unfamiliar combinations</a:t>
            </a:r>
            <a:endParaRPr sz="1875" b="0">
              <a:solidFill>
                <a:srgbClr val="18352D"/>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Original Google Research animation, shown as two still frames for reliable display. Target: SPARQL.</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矩形 8"/>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EXPERIMENTS / COMPOSITIONAL GENERALIZATION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CFQ results: the best setting uses one expert</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14</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988219" y="1400175"/>
            <a:ext cx="10215563" cy="3714750"/>
          </a:xfrm>
          <a:prstGeom prst="rect">
            <a:avLst/>
          </a:prstGeom>
        </p:spPr>
      </p:pic>
      <p:pic>
        <p:nvPicPr>
          <p:cNvPr id="5" name="图片 4"/>
          <p:cNvPicPr>
            <a:picLocks noChangeAspect="1"/>
          </p:cNvPicPr>
          <p:nvPr/>
        </p:nvPicPr>
        <p:blipFill>
          <a:blip r:embed="rId2"/>
          <a:stretch>
            <a:fillRect/>
          </a:stretch>
        </p:blipFill>
        <p:spPr>
          <a:xfrm>
            <a:off x="457200" y="5295098"/>
            <a:ext cx="5524500" cy="401654"/>
          </a:xfrm>
          <a:prstGeom prst="rect">
            <a:avLst/>
          </a:prstGeom>
        </p:spPr>
      </p:pic>
      <p:pic>
        <p:nvPicPr>
          <p:cNvPr id="6" name="图片 5"/>
          <p:cNvPicPr>
            <a:picLocks noChangeAspect="1"/>
          </p:cNvPicPr>
          <p:nvPr/>
        </p:nvPicPr>
        <p:blipFill>
          <a:blip r:embed="rId3"/>
          <a:stretch>
            <a:fillRect/>
          </a:stretch>
        </p:blipFill>
        <p:spPr>
          <a:xfrm>
            <a:off x="6632408" y="5267325"/>
            <a:ext cx="4604084" cy="457200"/>
          </a:xfrm>
          <a:prstGeom prst="rect">
            <a:avLst/>
          </a:prstGeom>
        </p:spPr>
      </p:pic>
      <p:sp>
        <p:nvSpPr>
          <p:cNvPr id="7" name="矩形 6"/>
          <p:cNvSpPr>
            <a:spLocks noGrp="1"/>
          </p:cNvSpPr>
          <p:nvPr/>
        </p:nvSpPr>
        <p:spPr>
          <a:xfrm>
            <a:off x="457200" y="5915025"/>
            <a:ext cx="11277600" cy="333375"/>
          </a:xfrm>
          <a:prstGeom prst="rect">
            <a:avLst/>
          </a:prstGeom>
          <a:noFill/>
          <a:ln w="0">
            <a:noFill/>
          </a:ln>
        </p:spPr>
        <p:txBody>
          <a:bodyPr lIns="0" tIns="0" rIns="0" bIns="0" anchor="t"/>
          <a:lstStyle>
            <a:defPPr>
              <a:defRPr sz="1875" b="1">
                <a:solidFill>
                  <a:srgbClr val="246648"/>
                </a:solidFill>
                <a:latin typeface="Arial" panose="020B0604020202020204"/>
                <a:ea typeface="Arial" panose="020B0604020202020204"/>
                <a:cs typeface="Arial" panose="020B0604020202020204"/>
              </a:defRPr>
            </a:defPPr>
          </a:lstStyle>
          <a:p>
            <a:pPr>
              <a:defRPr sz="1875" b="1">
                <a:solidFill>
                  <a:srgbClr val="246648"/>
                </a:solidFill>
                <a:latin typeface="Arial" panose="020B0604020202020204"/>
                <a:ea typeface="Arial" panose="020B0604020202020204"/>
                <a:cs typeface="Arial" panose="020B0604020202020204"/>
              </a:defRPr>
            </a:pPr>
            <a:r>
              <a:rPr sz="1875" b="1">
                <a:solidFill>
                  <a:srgbClr val="246648"/>
                </a:solidFill>
                <a:latin typeface="Arial" panose="020B0604020202020204"/>
                <a:ea typeface="Arial" panose="020B0604020202020204"/>
                <a:cs typeface="Arial" panose="020B0604020202020204"/>
              </a:rPr>
              <a:t>8 encoder / 8 decoder steps. Best configuration: one expert in each pool.</a:t>
            </a:r>
            <a:endParaRPr sz="1875" b="1">
              <a:solidFill>
                <a:srgbClr val="246648"/>
              </a:solidFill>
              <a:latin typeface="Arial" panose="020B0604020202020204"/>
              <a:ea typeface="Arial" panose="020B0604020202020204"/>
              <a:cs typeface="Arial" panose="020B0604020202020204"/>
            </a:endParaRPr>
          </a:p>
        </p:txBody>
      </p:sp>
      <p:sp>
        <p:nvSpPr>
          <p:cNvPr id="8" name="矩形 7"/>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Table 4. Accuracy (%). UT rows: five seeds. Original uncertainties retained. Configuration: Section 4.2 and Appendix A.</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EXPERIMENTS / TASK AND CONFIGURATION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Logical inference: relational reasoning beyond training</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15</a:t>
            </a:r>
            <a:endParaRPr sz="1200" b="0">
              <a:solidFill>
                <a:srgbClr val="53655E"/>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1457325"/>
            <a:ext cx="11277600" cy="476250"/>
          </a:xfrm>
          <a:prstGeom prst="rect">
            <a:avLst/>
          </a:prstGeom>
          <a:noFill/>
          <a:ln w="0">
            <a:noFill/>
          </a:ln>
        </p:spPr>
        <p:txBody>
          <a:bodyPr lIns="0" tIns="0" rIns="0" bIns="0" anchor="t"/>
          <a:lstStyle>
            <a:defPPr>
              <a:defRPr sz="2325" b="1">
                <a:solidFill>
                  <a:srgbClr val="18352D"/>
                </a:solidFill>
                <a:latin typeface="Arial" panose="020B0604020202020204"/>
                <a:ea typeface="Arial" panose="020B0604020202020204"/>
                <a:cs typeface="Arial" panose="020B0604020202020204"/>
              </a:defRPr>
            </a:defPPr>
          </a:lstStyle>
          <a:p>
            <a:pPr>
              <a:defRPr sz="2325" b="1">
                <a:solidFill>
                  <a:srgbClr val="18352D"/>
                </a:solidFill>
                <a:latin typeface="Arial" panose="020B0604020202020204"/>
                <a:ea typeface="Arial" panose="020B0604020202020204"/>
                <a:cs typeface="Arial" panose="020B0604020202020204"/>
              </a:defRPr>
            </a:pPr>
            <a:r>
              <a:rPr sz="2325" b="1">
                <a:solidFill>
                  <a:srgbClr val="18352D"/>
                </a:solidFill>
                <a:latin typeface="Arial" panose="020B0604020202020204"/>
                <a:ea typeface="Arial" panose="020B0604020202020204"/>
                <a:cs typeface="Arial" panose="020B0604020202020204"/>
              </a:rPr>
              <a:t>Input:  expression 1  #SEP#  expression 2</a:t>
            </a:r>
            <a:endParaRPr sz="2325" b="1">
              <a:solidFill>
                <a:srgbClr val="18352D"/>
              </a:solidFill>
              <a:latin typeface="Arial" panose="020B0604020202020204"/>
              <a:ea typeface="Arial" panose="020B0604020202020204"/>
              <a:cs typeface="Arial" panose="020B0604020202020204"/>
            </a:endParaRPr>
          </a:p>
        </p:txBody>
      </p:sp>
      <p:pic>
        <p:nvPicPr>
          <p:cNvPr id="5" name="图片 4"/>
          <p:cNvPicPr>
            <a:picLocks noChangeAspect="1"/>
          </p:cNvPicPr>
          <p:nvPr/>
        </p:nvPicPr>
        <p:blipFill>
          <a:blip r:embed="rId1"/>
          <a:stretch>
            <a:fillRect/>
          </a:stretch>
        </p:blipFill>
        <p:spPr>
          <a:xfrm>
            <a:off x="683043" y="2133600"/>
            <a:ext cx="5168064" cy="581025"/>
          </a:xfrm>
          <a:prstGeom prst="rect">
            <a:avLst/>
          </a:prstGeom>
        </p:spPr>
      </p:pic>
      <p:sp>
        <p:nvSpPr>
          <p:cNvPr id="6" name="矩形 5"/>
          <p:cNvSpPr>
            <a:spLocks noGrp="1"/>
          </p:cNvSpPr>
          <p:nvPr/>
        </p:nvSpPr>
        <p:spPr>
          <a:xfrm>
            <a:off x="457200" y="2838450"/>
            <a:ext cx="5619750" cy="381000"/>
          </a:xfrm>
          <a:prstGeom prst="rect">
            <a:avLst/>
          </a:prstGeom>
          <a:noFill/>
          <a:ln w="0">
            <a:noFill/>
          </a:ln>
        </p:spPr>
        <p:txBody>
          <a:bodyPr lIns="0" tIns="0" rIns="0" bIns="0" anchor="t"/>
          <a:lstStyle>
            <a:defPPr>
              <a:defRPr sz="2100" b="1">
                <a:solidFill>
                  <a:srgbClr val="246648"/>
                </a:solidFill>
                <a:latin typeface="Arial" panose="020B0604020202020204"/>
                <a:ea typeface="Arial" panose="020B0604020202020204"/>
                <a:cs typeface="Arial" panose="020B0604020202020204"/>
              </a:defRPr>
            </a:defPPr>
          </a:lstStyle>
          <a:p>
            <a:pPr>
              <a:defRPr sz="2100" b="1">
                <a:solidFill>
                  <a:srgbClr val="246648"/>
                </a:solidFill>
                <a:latin typeface="Arial" panose="020B0604020202020204"/>
                <a:ea typeface="Arial" panose="020B0604020202020204"/>
                <a:cs typeface="Arial" panose="020B0604020202020204"/>
              </a:defRPr>
            </a:pPr>
            <a:r>
              <a:rPr sz="2100" b="1">
                <a:solidFill>
                  <a:srgbClr val="246648"/>
                </a:solidFill>
                <a:latin typeface="Arial" panose="020B0604020202020204"/>
                <a:ea typeface="Arial" panose="020B0604020202020204"/>
                <a:cs typeface="Arial" panose="020B0604020202020204"/>
              </a:rPr>
              <a:t>Target: forward entailment</a:t>
            </a:r>
            <a:endParaRPr sz="2100" b="1">
              <a:solidFill>
                <a:srgbClr val="246648"/>
              </a:solidFill>
              <a:latin typeface="Arial" panose="020B0604020202020204"/>
              <a:ea typeface="Arial" panose="020B0604020202020204"/>
              <a:cs typeface="Arial" panose="020B0604020202020204"/>
            </a:endParaRPr>
          </a:p>
        </p:txBody>
      </p:sp>
      <p:sp>
        <p:nvSpPr>
          <p:cNvPr id="7" name="矩形 6"/>
          <p:cNvSpPr>
            <a:spLocks noGrp="1"/>
          </p:cNvSpPr>
          <p:nvPr/>
        </p:nvSpPr>
        <p:spPr>
          <a:xfrm>
            <a:off x="457200" y="3476625"/>
            <a:ext cx="5619750" cy="381000"/>
          </a:xfrm>
          <a:prstGeom prst="rect">
            <a:avLst/>
          </a:prstGeom>
          <a:noFill/>
          <a:ln w="0">
            <a:noFill/>
          </a:ln>
        </p:spPr>
        <p:txBody>
          <a:bodyPr lIns="0" tIns="0" rIns="0" bIns="0" anchor="t"/>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Length generalization</a:t>
            </a:r>
            <a:endParaRPr sz="2175" b="1">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457200" y="3990975"/>
            <a:ext cx="56197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Train: 0–6 logical operators</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Test: 7–12 logical operators</a:t>
            </a:r>
            <a:endParaRPr sz="2025" b="0">
              <a:solidFill>
                <a:srgbClr val="1835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457200" y="5057775"/>
            <a:ext cx="5619750" cy="342900"/>
          </a:xfrm>
          <a:prstGeom prst="rect">
            <a:avLst/>
          </a:prstGeom>
          <a:noFill/>
          <a:ln w="0">
            <a:noFill/>
          </a:ln>
        </p:spPr>
        <p:txBody>
          <a:bodyPr lIns="0" tIns="0" rIns="0" bIns="0" anchor="t"/>
          <a:lstStyle>
            <a:defPPr>
              <a:defRPr sz="2025" b="1">
                <a:solidFill>
                  <a:srgbClr val="18352D"/>
                </a:solidFill>
                <a:latin typeface="Arial" panose="020B0604020202020204"/>
                <a:ea typeface="Arial" panose="020B0604020202020204"/>
                <a:cs typeface="Arial" panose="020B0604020202020204"/>
              </a:defRPr>
            </a:defPPr>
          </a:lstStyle>
          <a:p>
            <a:pPr>
              <a:defRPr sz="2025" b="1">
                <a:solidFill>
                  <a:srgbClr val="18352D"/>
                </a:solidFill>
                <a:latin typeface="Arial" panose="020B0604020202020204"/>
                <a:ea typeface="Arial" panose="020B0604020202020204"/>
                <a:cs typeface="Arial" panose="020B0604020202020204"/>
              </a:defRPr>
            </a:pPr>
            <a:r>
              <a:rPr sz="2025" b="1">
                <a:solidFill>
                  <a:srgbClr val="18352D"/>
                </a:solidFill>
                <a:latin typeface="Arial" panose="020B0604020202020204"/>
                <a:ea typeface="Arial" panose="020B0604020202020204"/>
                <a:cs typeface="Arial" panose="020B0604020202020204"/>
              </a:rPr>
              <a:t>SUT configuration</a:t>
            </a:r>
            <a:endParaRPr sz="2025" b="1">
              <a:solidFill>
                <a:srgbClr val="18352D"/>
              </a:solidFill>
              <a:latin typeface="Arial" panose="020B0604020202020204"/>
              <a:ea typeface="Arial" panose="020B0604020202020204"/>
              <a:cs typeface="Arial" panose="020B0604020202020204"/>
            </a:endParaRPr>
          </a:p>
        </p:txBody>
      </p:sp>
      <p:pic>
        <p:nvPicPr>
          <p:cNvPr id="10" name="图片 9"/>
          <p:cNvPicPr>
            <a:picLocks noChangeAspect="1"/>
          </p:cNvPicPr>
          <p:nvPr/>
        </p:nvPicPr>
        <p:blipFill>
          <a:blip r:embed="rId2"/>
          <a:stretch>
            <a:fillRect/>
          </a:stretch>
        </p:blipFill>
        <p:spPr>
          <a:xfrm>
            <a:off x="892509" y="5448300"/>
            <a:ext cx="4749132" cy="333375"/>
          </a:xfrm>
          <a:prstGeom prst="rect">
            <a:avLst/>
          </a:prstGeom>
        </p:spPr>
      </p:pic>
      <p:pic>
        <p:nvPicPr>
          <p:cNvPr id="11" name="图片 10"/>
          <p:cNvPicPr>
            <a:picLocks noChangeAspect="1"/>
          </p:cNvPicPr>
          <p:nvPr/>
        </p:nvPicPr>
        <p:blipFill>
          <a:blip r:embed="rId3"/>
          <a:stretch>
            <a:fillRect/>
          </a:stretch>
        </p:blipFill>
        <p:spPr>
          <a:xfrm>
            <a:off x="1588503" y="5905500"/>
            <a:ext cx="3357145" cy="333375"/>
          </a:xfrm>
          <a:prstGeom prst="rect">
            <a:avLst/>
          </a:prstGeom>
        </p:spPr>
      </p:pic>
      <p:pic>
        <p:nvPicPr>
          <p:cNvPr id="12" name="图片 11"/>
          <p:cNvPicPr>
            <a:picLocks noChangeAspect="1"/>
          </p:cNvPicPr>
          <p:nvPr/>
        </p:nvPicPr>
        <p:blipFill>
          <a:blip r:embed="rId4"/>
          <a:stretch>
            <a:fillRect/>
          </a:stretch>
        </p:blipFill>
        <p:spPr>
          <a:xfrm>
            <a:off x="6705600" y="3406581"/>
            <a:ext cx="5029200" cy="2683262"/>
          </a:xfrm>
          <a:prstGeom prst="rect">
            <a:avLst/>
          </a:prstGeom>
        </p:spPr>
      </p:pic>
      <p:sp>
        <p:nvSpPr>
          <p:cNvPr id="13" name="矩形 12"/>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SUT Section 4.3 and Figure 2. Output: relation label. Depth: 12 encoder / 12 decoder steps.</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矩形 9"/>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EXPERIMENTS / GENERALIZATION RESULTS</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Logical inference: gains and remaining failures</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16</a:t>
            </a:r>
            <a:endParaRPr sz="1200" b="0">
              <a:solidFill>
                <a:srgbClr val="53655E"/>
              </a:solidFill>
              <a:latin typeface="Arial" panose="020B0604020202020204"/>
              <a:ea typeface="Arial" panose="020B0604020202020204"/>
              <a:cs typeface="Arial" panose="020B0604020202020204"/>
            </a:endParaRPr>
          </a:p>
        </p:txBody>
      </p:sp>
      <p:pic>
        <p:nvPicPr>
          <p:cNvPr id="4" name="图片 3"/>
          <p:cNvPicPr>
            <a:picLocks noChangeAspect="1"/>
          </p:cNvPicPr>
          <p:nvPr/>
        </p:nvPicPr>
        <p:blipFill>
          <a:blip r:embed="rId1"/>
          <a:stretch>
            <a:fillRect/>
          </a:stretch>
        </p:blipFill>
        <p:spPr>
          <a:xfrm>
            <a:off x="2850753" y="1400175"/>
            <a:ext cx="6490494" cy="2105025"/>
          </a:xfrm>
          <a:prstGeom prst="rect">
            <a:avLst/>
          </a:prstGeom>
        </p:spPr>
      </p:pic>
      <p:pic>
        <p:nvPicPr>
          <p:cNvPr id="5" name="图片 4"/>
          <p:cNvPicPr>
            <a:picLocks noChangeAspect="1"/>
          </p:cNvPicPr>
          <p:nvPr/>
        </p:nvPicPr>
        <p:blipFill>
          <a:blip r:embed="rId2"/>
          <a:stretch>
            <a:fillRect/>
          </a:stretch>
        </p:blipFill>
        <p:spPr>
          <a:xfrm>
            <a:off x="1155998" y="3867150"/>
            <a:ext cx="3936405" cy="2276475"/>
          </a:xfrm>
          <a:prstGeom prst="rect">
            <a:avLst/>
          </a:prstGeom>
        </p:spPr>
      </p:pic>
      <p:sp>
        <p:nvSpPr>
          <p:cNvPr id="6" name="矩形 5"/>
          <p:cNvSpPr>
            <a:spLocks noGrp="1"/>
          </p:cNvSpPr>
          <p:nvPr/>
        </p:nvSpPr>
        <p:spPr>
          <a:xfrm>
            <a:off x="6477000" y="4048125"/>
            <a:ext cx="5257800" cy="666750"/>
          </a:xfrm>
          <a:prstGeom prst="rect">
            <a:avLst/>
          </a:prstGeom>
          <a:noFill/>
          <a:ln w="0">
            <a:noFill/>
          </a:ln>
        </p:spPr>
        <p:txBody>
          <a:bodyPr lIns="0" tIns="0" rIns="0" bIns="0" anchor="t"/>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More operators, deeper computation</a:t>
            </a:r>
            <a:endParaRPr sz="2100" b="1">
              <a:solidFill>
                <a:srgbClr val="1835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6477000" y="4838700"/>
            <a:ext cx="525780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Depth rises with operator count.</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Length and complexity are correlated.</a:t>
            </a:r>
            <a:endParaRPr sz="1875"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477000" y="5791200"/>
            <a:ext cx="5257800" cy="323850"/>
          </a:xfrm>
          <a:prstGeom prst="rect">
            <a:avLst/>
          </a:prstGeom>
          <a:noFill/>
          <a:ln w="0">
            <a:noFill/>
          </a:ln>
        </p:spPr>
        <p:txBody>
          <a:bodyPr lIns="0" tIns="0" rIns="0" bIns="0" anchor="t"/>
          <a:lstStyle>
            <a:defPPr>
              <a:defRPr sz="1875" b="1">
                <a:solidFill>
                  <a:srgbClr val="246648"/>
                </a:solidFill>
                <a:latin typeface="Arial" panose="020B0604020202020204"/>
                <a:ea typeface="Arial" panose="020B0604020202020204"/>
                <a:cs typeface="Arial" panose="020B0604020202020204"/>
              </a:defRPr>
            </a:defPPr>
          </a:lstStyle>
          <a:p>
            <a:pPr>
              <a:defRPr sz="1875" b="1">
                <a:solidFill>
                  <a:srgbClr val="246648"/>
                </a:solidFill>
                <a:latin typeface="Arial" panose="020B0604020202020204"/>
                <a:ea typeface="Arial" panose="020B0604020202020204"/>
                <a:cs typeface="Arial" panose="020B0604020202020204"/>
              </a:defRPr>
            </a:pPr>
            <a:r>
              <a:rPr sz="1875" b="1">
                <a:solidFill>
                  <a:srgbClr val="246648"/>
                </a:solidFill>
                <a:latin typeface="Arial" panose="020B0604020202020204"/>
                <a:ea typeface="Arial" panose="020B0604020202020204"/>
                <a:cs typeface="Arial" panose="020B0604020202020204"/>
              </a:rPr>
              <a:t>Split C remains difficult: 52% accuracy</a:t>
            </a:r>
            <a:endParaRPr sz="1875" b="1">
              <a:solidFill>
                <a:srgbClr val="246648"/>
              </a:solidFill>
              <a:latin typeface="Arial" panose="020B0604020202020204"/>
              <a:ea typeface="Arial" panose="020B0604020202020204"/>
              <a:cs typeface="Arial" panose="020B0604020202020204"/>
            </a:endParaRPr>
          </a:p>
        </p:txBody>
      </p:sp>
      <p:sp>
        <p:nvSpPr>
          <p:cNvPr id="9" name="矩形 8"/>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SUT Table 5 and original Figure 4. Columns 7–12 are operator counts; A–C are composition splits.</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EXPERIMENTS / INFERENCE TRADE-OFF</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Post-training computation reduction</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17</a:t>
            </a:r>
            <a:endParaRPr sz="1200" b="0">
              <a:solidFill>
                <a:srgbClr val="53655E"/>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1466850"/>
            <a:ext cx="3429000" cy="381000"/>
          </a:xfrm>
          <a:prstGeom prst="rect">
            <a:avLst/>
          </a:prstGeom>
          <a:noFill/>
          <a:ln w="0">
            <a:noFill/>
          </a:ln>
        </p:spPr>
        <p:txBody>
          <a:bodyPr lIns="0" tIns="0" rIns="0" bIns="0" anchor="t"/>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Logical inference</a:t>
            </a:r>
            <a:endParaRPr sz="2175" b="1">
              <a:solidFill>
                <a:srgbClr val="1835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4381500" y="1466850"/>
            <a:ext cx="3429000" cy="381000"/>
          </a:xfrm>
          <a:prstGeom prst="rect">
            <a:avLst/>
          </a:prstGeom>
          <a:noFill/>
          <a:ln w="0">
            <a:noFill/>
          </a:ln>
        </p:spPr>
        <p:txBody>
          <a:bodyPr lIns="0" tIns="0" rIns="0" bIns="0" anchor="t"/>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CFQ</a:t>
            </a:r>
            <a:endParaRPr sz="2175" b="1">
              <a:solidFill>
                <a:srgbClr val="1835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8305800" y="1466850"/>
            <a:ext cx="3429000" cy="381000"/>
          </a:xfrm>
          <a:prstGeom prst="rect">
            <a:avLst/>
          </a:prstGeom>
          <a:noFill/>
          <a:ln w="0">
            <a:noFill/>
          </a:ln>
        </p:spPr>
        <p:txBody>
          <a:bodyPr lIns="0" tIns="0" rIns="0" bIns="0" anchor="t"/>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English–German</a:t>
            </a:r>
            <a:endParaRPr sz="2175" b="1">
              <a:solidFill>
                <a:srgbClr val="18352D"/>
              </a:solidFill>
              <a:latin typeface="Arial" panose="020B0604020202020204"/>
              <a:ea typeface="Arial" panose="020B0604020202020204"/>
              <a:cs typeface="Arial" panose="020B0604020202020204"/>
            </a:endParaRPr>
          </a:p>
        </p:txBody>
      </p:sp>
      <p:pic>
        <p:nvPicPr>
          <p:cNvPr id="7" name="图片 6"/>
          <p:cNvPicPr>
            <a:picLocks noChangeAspect="1"/>
          </p:cNvPicPr>
          <p:nvPr/>
        </p:nvPicPr>
        <p:blipFill>
          <a:blip r:embed="rId1"/>
          <a:stretch>
            <a:fillRect/>
          </a:stretch>
        </p:blipFill>
        <p:spPr>
          <a:xfrm>
            <a:off x="457200" y="2112823"/>
            <a:ext cx="3429000" cy="2289453"/>
          </a:xfrm>
          <a:prstGeom prst="rect">
            <a:avLst/>
          </a:prstGeom>
        </p:spPr>
      </p:pic>
      <p:pic>
        <p:nvPicPr>
          <p:cNvPr id="8" name="图片 7"/>
          <p:cNvPicPr>
            <a:picLocks noChangeAspect="1"/>
          </p:cNvPicPr>
          <p:nvPr/>
        </p:nvPicPr>
        <p:blipFill>
          <a:blip r:embed="rId2"/>
          <a:stretch>
            <a:fillRect/>
          </a:stretch>
        </p:blipFill>
        <p:spPr>
          <a:xfrm>
            <a:off x="4381500" y="2164621"/>
            <a:ext cx="3429000" cy="2185858"/>
          </a:xfrm>
          <a:prstGeom prst="rect">
            <a:avLst/>
          </a:prstGeom>
        </p:spPr>
      </p:pic>
      <p:pic>
        <p:nvPicPr>
          <p:cNvPr id="9" name="图片 8"/>
          <p:cNvPicPr>
            <a:picLocks noChangeAspect="1"/>
          </p:cNvPicPr>
          <p:nvPr/>
        </p:nvPicPr>
        <p:blipFill>
          <a:blip r:embed="rId3"/>
          <a:stretch>
            <a:fillRect/>
          </a:stretch>
        </p:blipFill>
        <p:spPr>
          <a:xfrm>
            <a:off x="8305800" y="2164621"/>
            <a:ext cx="3429000" cy="2185858"/>
          </a:xfrm>
          <a:prstGeom prst="rect">
            <a:avLst/>
          </a:prstGeom>
        </p:spPr>
      </p:pic>
      <p:sp>
        <p:nvSpPr>
          <p:cNvPr id="10" name="矩形 9"/>
          <p:cNvSpPr>
            <a:spLocks noGrp="1"/>
          </p:cNvSpPr>
          <p:nvPr/>
        </p:nvSpPr>
        <p:spPr>
          <a:xfrm>
            <a:off x="457200" y="4705350"/>
            <a:ext cx="342900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About 50% skipped steps</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with stable accuracy</a:t>
            </a:r>
            <a:endParaRPr sz="1875" b="0">
              <a:solidFill>
                <a:srgbClr val="18352D"/>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4381500" y="4705350"/>
            <a:ext cx="342900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About 33% skipped</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at threshold 0.8</a:t>
            </a:r>
            <a:endParaRPr sz="1875" b="0">
              <a:solidFill>
                <a:srgbClr val="1835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8305800" y="4705350"/>
            <a:ext cx="3429000" cy="762000"/>
          </a:xfrm>
          <a:prstGeom prst="rect">
            <a:avLst/>
          </a:prstGeom>
          <a:noFill/>
          <a:ln w="0">
            <a:noFill/>
          </a:ln>
        </p:spPr>
        <p:txBody>
          <a:bodyPr lIns="0" tIns="0" rIns="0" bIns="0" anchor="t"/>
          <a:lstStyle>
            <a:defPPr>
              <a:defRPr sz="1875" b="0">
                <a:solidFill>
                  <a:srgbClr val="18352D"/>
                </a:solidFill>
                <a:latin typeface="Arial" panose="020B0604020202020204"/>
                <a:ea typeface="Arial" panose="020B0604020202020204"/>
                <a:cs typeface="Arial" panose="020B0604020202020204"/>
              </a:defRPr>
            </a:defPPr>
          </a:lstStyle>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9% less computation</a:t>
            </a:r>
            <a:endParaRPr sz="1875" b="0">
              <a:solidFill>
                <a:srgbClr val="18352D"/>
              </a:solidFill>
              <a:latin typeface="Arial" panose="020B0604020202020204"/>
              <a:ea typeface="Arial" panose="020B0604020202020204"/>
              <a:cs typeface="Arial" panose="020B0604020202020204"/>
            </a:endParaRPr>
          </a:p>
          <a:p>
            <a:pPr>
              <a:defRPr sz="1875" b="0">
                <a:solidFill>
                  <a:srgbClr val="18352D"/>
                </a:solidFill>
                <a:latin typeface="Arial" panose="020B0604020202020204"/>
                <a:ea typeface="Arial" panose="020B0604020202020204"/>
                <a:cs typeface="Arial" panose="020B0604020202020204"/>
              </a:defRPr>
            </a:pPr>
            <a:r>
              <a:rPr sz="1875" b="0">
                <a:solidFill>
                  <a:srgbClr val="18352D"/>
                </a:solidFill>
                <a:latin typeface="Arial" panose="020B0604020202020204"/>
                <a:ea typeface="Arial" panose="020B0604020202020204"/>
                <a:cs typeface="Arial" panose="020B0604020202020204"/>
              </a:rPr>
              <a:t>while retaining 29.1 BLEU</a:t>
            </a:r>
            <a:endParaRPr sz="1875" b="0">
              <a:solidFill>
                <a:srgbClr val="18352D"/>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457200" y="5734050"/>
            <a:ext cx="11277600" cy="476250"/>
          </a:xfrm>
          <a:prstGeom prst="rect">
            <a:avLst/>
          </a:prstGeom>
          <a:noFill/>
          <a:ln w="0">
            <a:noFill/>
          </a:ln>
        </p:spPr>
        <p:txBody>
          <a:bodyPr lIns="0" tIns="0" rIns="0" bIns="0" anchor="t"/>
          <a:lstStyle>
            <a:defPPr>
              <a:defRPr sz="1875" b="1">
                <a:solidFill>
                  <a:srgbClr val="246648"/>
                </a:solidFill>
                <a:latin typeface="Arial" panose="020B0604020202020204"/>
                <a:ea typeface="Arial" panose="020B0604020202020204"/>
                <a:cs typeface="Arial" panose="020B0604020202020204"/>
              </a:defRPr>
            </a:defPPr>
          </a:lstStyle>
          <a:p>
            <a:pPr>
              <a:defRPr sz="1875" b="1">
                <a:solidFill>
                  <a:srgbClr val="246648"/>
                </a:solidFill>
                <a:latin typeface="Arial" panose="020B0604020202020204"/>
                <a:ea typeface="Arial" panose="020B0604020202020204"/>
                <a:cs typeface="Arial" panose="020B0604020202020204"/>
              </a:defRPr>
            </a:pPr>
            <a:r>
              <a:rPr sz="1875" b="1">
                <a:solidFill>
                  <a:srgbClr val="246648"/>
                </a:solidFill>
                <a:latin typeface="Arial" panose="020B0604020202020204"/>
                <a:ea typeface="Arial" panose="020B0604020202020204"/>
                <a:cs typeface="Arial" panose="020B0604020202020204"/>
              </a:rPr>
              <a:t>Skipped block steps are an estimate of computation savings, not a measured speedup.</a:t>
            </a:r>
            <a:endParaRPr sz="1875" b="1">
              <a:solidFill>
                <a:srgbClr val="246648"/>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Section 4.4 and original Figures 5–7. Blue: fraction computed. Green: task quality.</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矩形 13"/>
          <p:cNvSpPr>
            <a:spLocks noGrp="1"/>
          </p:cNvSpPr>
          <p:nvPr/>
        </p:nvSpPr>
        <p:spPr>
          <a:xfrm>
            <a:off x="457200" y="228600"/>
            <a:ext cx="10953750" cy="228600"/>
          </a:xfrm>
          <a:prstGeom prst="rect">
            <a:avLst/>
          </a:prstGeom>
          <a:noFill/>
          <a:ln w="0">
            <a:noFill/>
          </a:ln>
        </p:spPr>
        <p:txBody>
          <a:bodyPr lIns="0" tIns="0" rIns="0" bIns="0" anchor="t"/>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DISCUSSION</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609600"/>
          </a:xfrm>
          <a:prstGeom prst="rect">
            <a:avLst/>
          </a:prstGeom>
          <a:noFill/>
          <a:ln w="0">
            <a:noFill/>
          </a:ln>
        </p:spPr>
        <p:txBody>
          <a:bodyPr lIns="0" tIns="0" rIns="0" bIns="0" anchor="t"/>
          <a:lstStyle>
            <a:defPPr>
              <a:defRPr sz="3000" b="1">
                <a:solidFill>
                  <a:srgbClr val="18352D"/>
                </a:solidFill>
                <a:latin typeface="Arial" panose="020B0604020202020204"/>
                <a:ea typeface="Arial" panose="020B0604020202020204"/>
                <a:cs typeface="Arial" panose="020B0604020202020204"/>
              </a:defRPr>
            </a:defPPr>
          </a:lstStyle>
          <a:p>
            <a:pPr>
              <a:defRPr sz="3000" b="1">
                <a:solidFill>
                  <a:srgbClr val="18352D"/>
                </a:solidFill>
                <a:latin typeface="Arial" panose="020B0604020202020204"/>
                <a:ea typeface="Arial" panose="020B0604020202020204"/>
                <a:cs typeface="Arial" panose="020B0604020202020204"/>
              </a:defRPr>
            </a:pPr>
            <a:r>
              <a:rPr sz="3000" b="1">
                <a:solidFill>
                  <a:srgbClr val="18352D"/>
                </a:solidFill>
                <a:latin typeface="Arial" panose="020B0604020202020204"/>
                <a:ea typeface="Arial" panose="020B0604020202020204"/>
                <a:cs typeface="Arial" panose="020B0604020202020204"/>
              </a:rPr>
              <a:t>Conclusions and questions for our experiments</a:t>
            </a:r>
            <a:endParaRPr sz="3000"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1334750" y="6496050"/>
            <a:ext cx="400050" cy="20955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18</a:t>
            </a:r>
            <a:endParaRPr sz="1200" b="0">
              <a:solidFill>
                <a:srgbClr val="53655E"/>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1476375"/>
            <a:ext cx="5238750" cy="428625"/>
          </a:xfrm>
          <a:prstGeom prst="rect">
            <a:avLst/>
          </a:prstGeom>
          <a:noFill/>
          <a:ln w="0">
            <a:noFill/>
          </a:ln>
        </p:spPr>
        <p:txBody>
          <a:bodyPr lIns="0" tIns="0" rIns="0" bIns="0" anchor="t"/>
          <a:lstStyle>
            <a:defPPr>
              <a:defRPr sz="2250" b="1">
                <a:solidFill>
                  <a:srgbClr val="18352D"/>
                </a:solidFill>
                <a:latin typeface="Arial" panose="020B0604020202020204"/>
                <a:ea typeface="Arial" panose="020B0604020202020204"/>
                <a:cs typeface="Arial" panose="020B0604020202020204"/>
              </a:defRPr>
            </a:defPPr>
          </a:lstStyle>
          <a:p>
            <a:pPr>
              <a:defRPr sz="2250" b="1">
                <a:solidFill>
                  <a:srgbClr val="18352D"/>
                </a:solidFill>
                <a:latin typeface="Arial" panose="020B0604020202020204"/>
                <a:ea typeface="Arial" panose="020B0604020202020204"/>
                <a:cs typeface="Arial" panose="020B0604020202020204"/>
              </a:defRPr>
            </a:pPr>
            <a:r>
              <a:rPr sz="2250" b="1">
                <a:solidFill>
                  <a:srgbClr val="18352D"/>
                </a:solidFill>
                <a:latin typeface="Arial" panose="020B0604020202020204"/>
                <a:ea typeface="Arial" panose="020B0604020202020204"/>
                <a:cs typeface="Arial" panose="020B0604020202020204"/>
              </a:rPr>
              <a:t>What the paper supports</a:t>
            </a:r>
            <a:endParaRPr sz="2250" b="1">
              <a:solidFill>
                <a:srgbClr val="1835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457200" y="2133600"/>
            <a:ext cx="52387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Sparse experts make a shared block</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cheaper to scale on translation.</a:t>
            </a:r>
            <a:endParaRPr sz="2025" b="0">
              <a:solidFill>
                <a:srgbClr val="1835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457200" y="3238500"/>
            <a:ext cx="52387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Repeated refinement helps on several</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generalization tests.</a:t>
            </a:r>
            <a:endParaRPr sz="2025" b="0">
              <a:solidFill>
                <a:srgbClr val="1835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457200" y="4343400"/>
            <a:ext cx="52387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Halting provides a tunable</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accuracy–computation trade-off.</a:t>
            </a:r>
            <a:endParaRPr sz="2025" b="0">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496050" y="1476375"/>
            <a:ext cx="5238750" cy="428625"/>
          </a:xfrm>
          <a:prstGeom prst="rect">
            <a:avLst/>
          </a:prstGeom>
          <a:noFill/>
          <a:ln w="0">
            <a:noFill/>
          </a:ln>
        </p:spPr>
        <p:txBody>
          <a:bodyPr lIns="0" tIns="0" rIns="0" bIns="0" anchor="t"/>
          <a:lstStyle>
            <a:defPPr>
              <a:defRPr sz="2250" b="1">
                <a:solidFill>
                  <a:srgbClr val="18352D"/>
                </a:solidFill>
                <a:latin typeface="Arial" panose="020B0604020202020204"/>
                <a:ea typeface="Arial" panose="020B0604020202020204"/>
                <a:cs typeface="Arial" panose="020B0604020202020204"/>
              </a:defRPr>
            </a:defPPr>
          </a:lstStyle>
          <a:p>
            <a:pPr>
              <a:defRPr sz="2250" b="1">
                <a:solidFill>
                  <a:srgbClr val="18352D"/>
                </a:solidFill>
                <a:latin typeface="Arial" panose="020B0604020202020204"/>
                <a:ea typeface="Arial" panose="020B0604020202020204"/>
                <a:cs typeface="Arial" panose="020B0604020202020204"/>
              </a:defRPr>
            </a:pPr>
            <a:r>
              <a:rPr sz="2250" b="1">
                <a:solidFill>
                  <a:srgbClr val="18352D"/>
                </a:solidFill>
                <a:latin typeface="Arial" panose="020B0604020202020204"/>
                <a:ea typeface="Arial" panose="020B0604020202020204"/>
                <a:cs typeface="Arial" panose="020B0604020202020204"/>
              </a:rPr>
              <a:t>What remains unresolved</a:t>
            </a:r>
            <a:endParaRPr sz="2250" b="1">
              <a:solidFill>
                <a:srgbClr val="1835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6496050" y="2133600"/>
            <a:ext cx="52387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CFQ favors one expert.</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Logical split C remains difficult.</a:t>
            </a:r>
            <a:endParaRPr sz="2025" b="0">
              <a:solidFill>
                <a:srgbClr val="1835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6496050" y="3238500"/>
            <a:ext cx="52387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Expert associations do not establish</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causal specialization or redundancy.</a:t>
            </a:r>
            <a:endParaRPr sz="2025" b="0">
              <a:solidFill>
                <a:srgbClr val="18352D"/>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6496050" y="4343400"/>
            <a:ext cx="5238750" cy="762000"/>
          </a:xfrm>
          <a:prstGeom prst="rect">
            <a:avLst/>
          </a:prstGeom>
          <a:noFill/>
          <a:ln w="0">
            <a:noFill/>
          </a:ln>
        </p:spPr>
        <p:txBody>
          <a:bodyPr lIns="0" tIns="0" rIns="0" bIns="0" anchor="t"/>
          <a:lstStyle>
            <a:defPPr>
              <a:defRPr sz="2025" b="0">
                <a:solidFill>
                  <a:srgbClr val="18352D"/>
                </a:solidFill>
                <a:latin typeface="Arial" panose="020B0604020202020204"/>
                <a:ea typeface="Arial" panose="020B0604020202020204"/>
                <a:cs typeface="Arial" panose="020B0604020202020204"/>
              </a:defRPr>
            </a:defPPr>
          </a:lstStyle>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Our tests should isolate routing, reuse</a:t>
            </a:r>
            <a:endParaRPr sz="2025" b="0">
              <a:solidFill>
                <a:srgbClr val="18352D"/>
              </a:solidFill>
              <a:latin typeface="Arial" panose="020B0604020202020204"/>
              <a:ea typeface="Arial" panose="020B0604020202020204"/>
              <a:cs typeface="Arial" panose="020B0604020202020204"/>
            </a:endParaRPr>
          </a:p>
          <a:p>
            <a:pPr>
              <a:defRPr sz="2025" b="0">
                <a:solidFill>
                  <a:srgbClr val="18352D"/>
                </a:solidFill>
                <a:latin typeface="Arial" panose="020B0604020202020204"/>
                <a:ea typeface="Arial" panose="020B0604020202020204"/>
                <a:cs typeface="Arial" panose="020B0604020202020204"/>
              </a:defRPr>
            </a:pPr>
            <a:r>
              <a:rPr sz="2025" b="0">
                <a:solidFill>
                  <a:srgbClr val="18352D"/>
                </a:solidFill>
                <a:latin typeface="Arial" panose="020B0604020202020204"/>
                <a:ea typeface="Arial" panose="020B0604020202020204"/>
                <a:cs typeface="Arial" panose="020B0604020202020204"/>
              </a:rPr>
              <a:t>and depth with controlled budgets.</a:t>
            </a:r>
            <a:endParaRPr sz="2025" b="0">
              <a:solidFill>
                <a:srgbClr val="1835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457200" y="5724525"/>
            <a:ext cx="11277600" cy="514350"/>
          </a:xfrm>
          <a:prstGeom prst="rect">
            <a:avLst/>
          </a:prstGeom>
          <a:noFill/>
          <a:ln w="0">
            <a:noFill/>
          </a:ln>
        </p:spPr>
        <p:txBody>
          <a:bodyPr lIns="0" tIns="0" rIns="0" bIns="0" anchor="t"/>
          <a:lstStyle>
            <a:defPPr>
              <a:defRPr sz="1950" b="1">
                <a:solidFill>
                  <a:srgbClr val="246648"/>
                </a:solidFill>
                <a:latin typeface="Arial" panose="020B0604020202020204"/>
                <a:ea typeface="Arial" panose="020B0604020202020204"/>
                <a:cs typeface="Arial" panose="020B0604020202020204"/>
              </a:defRPr>
            </a:defPPr>
          </a:lstStyle>
          <a:p>
            <a:pPr>
              <a:defRPr sz="1950" b="1">
                <a:solidFill>
                  <a:srgbClr val="246648"/>
                </a:solidFill>
                <a:latin typeface="Arial" panose="020B0604020202020204"/>
                <a:ea typeface="Arial" panose="020B0604020202020204"/>
                <a:cs typeface="Arial" panose="020B0604020202020204"/>
              </a:defRPr>
            </a:pPr>
            <a:r>
              <a:rPr sz="1950" b="1">
                <a:solidFill>
                  <a:srgbClr val="246648"/>
                </a:solidFill>
                <a:latin typeface="Arial" panose="020B0604020202020204"/>
                <a:ea typeface="Arial" panose="020B0604020202020204"/>
                <a:cs typeface="Arial" panose="020B0604020202020204"/>
              </a:rPr>
              <a:t>Discussion hypothesis: compare structural choices independently before combining them.</a:t>
            </a:r>
            <a:endParaRPr sz="1950" b="1">
              <a:solidFill>
                <a:srgbClr val="246648"/>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457200" y="6448425"/>
            <a:ext cx="10572750" cy="266700"/>
          </a:xfrm>
          <a:prstGeom prst="rect">
            <a:avLst/>
          </a:prstGeom>
          <a:noFill/>
          <a:ln w="0">
            <a:noFill/>
          </a:ln>
        </p:spPr>
        <p:txBody>
          <a:bodyPr lIns="0" tIns="0" rIns="0" bIns="0" anchor="t"/>
          <a:lstStyle>
            <a:defPPr>
              <a:defRPr sz="1200" b="0">
                <a:solidFill>
                  <a:srgbClr val="53655E"/>
                </a:solidFill>
                <a:latin typeface="Arial" panose="020B0604020202020204"/>
                <a:ea typeface="Arial" panose="020B0604020202020204"/>
                <a:cs typeface="Arial" panose="020B0604020202020204"/>
              </a:defRPr>
            </a:defPPr>
          </a:lstStyle>
          <a:p>
            <a:pPr>
              <a:defRPr sz="1200" b="0">
                <a:solidFill>
                  <a:srgbClr val="53655E"/>
                </a:solidFill>
                <a:latin typeface="Arial" panose="020B0604020202020204"/>
                <a:ea typeface="Arial" panose="020B0604020202020204"/>
                <a:cs typeface="Arial" panose="020B0604020202020204"/>
              </a:defRPr>
            </a:pPr>
            <a:r>
              <a:rPr sz="1200" b="0">
                <a:solidFill>
                  <a:srgbClr val="53655E"/>
                </a:solidFill>
                <a:latin typeface="Arial" panose="020B0604020202020204"/>
                <a:ea typeface="Arial" panose="020B0604020202020204"/>
                <a:cs typeface="Arial" panose="020B0604020202020204"/>
              </a:rPr>
              <a:t>Paper conclusions and limitations. Proposed experiment questions are not new results.</a:t>
            </a:r>
            <a:endParaRPr sz="1200" b="0">
              <a:solidFill>
                <a:srgbClr val="53655E"/>
              </a:solidFill>
              <a:latin typeface="Arial" panose="020B0604020202020204"/>
              <a:ea typeface="Arial" panose="020B0604020202020204"/>
              <a:cs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矩形 6"/>
          <p:cNvSpPr>
            <a:spLocks noGrp="1"/>
          </p:cNvSpPr>
          <p:nvPr/>
        </p:nvSpPr>
        <p:spPr>
          <a:xfrm>
            <a:off x="457200" y="285750"/>
            <a:ext cx="11277600" cy="571500"/>
          </a:xfrm>
          <a:prstGeom prst="rect">
            <a:avLst/>
          </a:prstGeom>
          <a:noFill/>
          <a:ln w="0">
            <a:noFill/>
          </a:ln>
        </p:spPr>
        <p:txBody>
          <a:bodyPr/>
          <a:lstStyle>
            <a:defPPr>
              <a:defRPr sz="3300" b="1">
                <a:solidFill>
                  <a:srgbClr val="18352D"/>
                </a:solidFill>
                <a:latin typeface="Arial" panose="020B0604020202020204"/>
                <a:ea typeface="Arial" panose="020B0604020202020204"/>
                <a:cs typeface="Arial" panose="020B0604020202020204"/>
              </a:defRPr>
            </a:defPPr>
          </a:lstStyle>
          <a:p>
            <a:pPr>
              <a:buNone/>
              <a:defRPr sz="3300" b="1">
                <a:solidFill>
                  <a:srgbClr val="18352D"/>
                </a:solidFill>
                <a:latin typeface="Arial" panose="020B0604020202020204"/>
                <a:ea typeface="Arial" panose="020B0604020202020204"/>
                <a:cs typeface="Arial" panose="020B0604020202020204"/>
              </a:defRPr>
            </a:pPr>
            <a:r>
              <a:rPr sz="3300" b="1">
                <a:solidFill>
                  <a:srgbClr val="18352D"/>
                </a:solidFill>
                <a:latin typeface="Arial" panose="020B0604020202020204"/>
                <a:ea typeface="Arial" panose="020B0604020202020204"/>
                <a:cs typeface="Arial" panose="020B0604020202020204"/>
              </a:rPr>
              <a:t>Structural comparison</a:t>
            </a:r>
            <a:endParaRPr sz="3300" b="1">
              <a:solidFill>
                <a:srgbClr val="1835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942975"/>
            <a:ext cx="11277600" cy="304800"/>
          </a:xfrm>
          <a:prstGeom prst="rect">
            <a:avLst/>
          </a:prstGeom>
          <a:noFill/>
          <a:ln w="0">
            <a:noFill/>
          </a:ln>
        </p:spPr>
        <p:txBody>
          <a:bodyPr/>
          <a:lstStyle>
            <a:defPPr>
              <a:defRPr sz="1650" b="0">
                <a:solidFill>
                  <a:srgbClr val="53655E"/>
                </a:solidFill>
                <a:latin typeface="Arial" panose="020B0604020202020204"/>
                <a:ea typeface="Arial" panose="020B0604020202020204"/>
                <a:cs typeface="Arial" panose="020B0604020202020204"/>
              </a:defRPr>
            </a:defPPr>
          </a:lstStyle>
          <a:p>
            <a:pPr>
              <a:buNone/>
              <a:defRPr sz="1650" b="0">
                <a:solidFill>
                  <a:srgbClr val="53655E"/>
                </a:solidFill>
                <a:latin typeface="Arial" panose="020B0604020202020204"/>
                <a:ea typeface="Arial" panose="020B0604020202020204"/>
                <a:cs typeface="Arial" panose="020B0604020202020204"/>
              </a:defRPr>
            </a:pPr>
            <a:r>
              <a:rPr sz="1650" b="0">
                <a:solidFill>
                  <a:srgbClr val="53655E"/>
                </a:solidFill>
                <a:latin typeface="Arial" panose="020B0604020202020204"/>
                <a:ea typeface="Arial" panose="020B0604020202020204"/>
                <a:cs typeface="Arial" panose="020B0604020202020204"/>
              </a:rPr>
              <a:t>Green: Yes     Light green: qualified Yes*     White: No or no router</a:t>
            </a:r>
            <a:endParaRPr sz="1650" b="0">
              <a:solidFill>
                <a:srgbClr val="53655E"/>
              </a:solidFill>
              <a:latin typeface="Arial" panose="020B0604020202020204"/>
              <a:ea typeface="Arial" panose="020B0604020202020204"/>
              <a:cs typeface="Arial" panose="020B0604020202020204"/>
            </a:endParaRPr>
          </a:p>
        </p:txBody>
      </p:sp>
      <p:graphicFrame>
        <p:nvGraphicFramePr>
          <p:cNvPr id="3" name="表格 2"/>
          <p:cNvGraphicFramePr/>
          <p:nvPr/>
        </p:nvGraphicFramePr>
        <p:xfrm>
          <a:off x="457200" y="1428750"/>
          <a:ext cx="11277600" cy="4114800"/>
        </p:xfrm>
        <a:graphic>
          <a:graphicData uri="http://schemas.openxmlformats.org/drawingml/2006/table">
            <a:tbl>
              <a:tblPr/>
              <a:tblGrid>
                <a:gridCol w="2381250"/>
                <a:gridCol w="857250"/>
                <a:gridCol w="1190625"/>
                <a:gridCol w="2857500"/>
                <a:gridCol w="1619250"/>
                <a:gridCol w="2371725"/>
              </a:tblGrid>
              <a:tr h="514350">
                <a:tc>
                  <a:txBody>
                    <a:bodyPr/>
                    <a:lstStyle/>
                    <a:p>
                      <a:pPr algn="l">
                        <a:buNone/>
                      </a:pPr>
                      <a:r>
                        <a:rPr sz="1725" b="1">
                          <a:solidFill>
                            <a:srgbClr val="FFFFFF"/>
                          </a:solidFill>
                          <a:latin typeface="Arial" panose="020B0604020202020204"/>
                          <a:ea typeface="Arial" panose="020B0604020202020204"/>
                          <a:cs typeface="Arial" panose="020B0604020202020204"/>
                        </a:rPr>
                        <a:t>Architecture</a:t>
                      </a:r>
                      <a:endParaRPr sz="1725" b="1">
                        <a:solidFill>
                          <a:srgbClr val="FFFFFF"/>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panose="020B0604020202020204"/>
                          <a:ea typeface="Arial" panose="020B0604020202020204"/>
                          <a:cs typeface="Arial" panose="020B0604020202020204"/>
                        </a:rPr>
                        <a:t>MHA</a:t>
                      </a:r>
                      <a:endParaRPr sz="1725" b="1">
                        <a:solidFill>
                          <a:srgbClr val="FFFFFF"/>
                        </a:solidFill>
                        <a:latin typeface="Arial" panose="020B0604020202020204"/>
                        <a:ea typeface="Arial" panose="020B0604020202020204"/>
                        <a:cs typeface="Arial" panose="020B0604020202020204"/>
                      </a:endParaRPr>
                    </a:p>
                  </a:txBody>
                  <a:tcPr>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panose="020B0604020202020204"/>
                          <a:ea typeface="Arial" panose="020B0604020202020204"/>
                          <a:cs typeface="Arial" panose="020B0604020202020204"/>
                        </a:rPr>
                        <a:t>FFN MoE</a:t>
                      </a:r>
                      <a:endParaRPr sz="1725" b="1">
                        <a:solidFill>
                          <a:srgbClr val="FFFFFF"/>
                        </a:solidFill>
                        <a:latin typeface="Arial" panose="020B0604020202020204"/>
                        <a:ea typeface="Arial" panose="020B0604020202020204"/>
                        <a:cs typeface="Arial" panose="020B0604020202020204"/>
                      </a:endParaRPr>
                    </a:p>
                  </a:txBody>
                  <a:tcPr>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l">
                        <a:buNone/>
                      </a:pPr>
                      <a:r>
                        <a:rPr sz="1725" b="1">
                          <a:solidFill>
                            <a:srgbClr val="FFFFFF"/>
                          </a:solidFill>
                          <a:latin typeface="Arial" panose="020B0604020202020204"/>
                          <a:ea typeface="Arial" panose="020B0604020202020204"/>
                          <a:cs typeface="Arial" panose="020B0604020202020204"/>
                        </a:rPr>
                        <a:t>Router</a:t>
                      </a:r>
                      <a:endParaRPr sz="1725" b="1">
                        <a:solidFill>
                          <a:srgbClr val="FFFFFF"/>
                        </a:solidFill>
                        <a:latin typeface="Arial" panose="020B0604020202020204"/>
                        <a:ea typeface="Arial" panose="020B0604020202020204"/>
                        <a:cs typeface="Arial" panose="020B0604020202020204"/>
                      </a:endParaRPr>
                    </a:p>
                  </a:txBody>
                  <a:tcPr>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panose="020B0604020202020204"/>
                          <a:ea typeface="Arial" panose="020B0604020202020204"/>
                          <a:cs typeface="Arial" panose="020B0604020202020204"/>
                        </a:rPr>
                        <a:t>Recurrence</a:t>
                      </a:r>
                      <a:endParaRPr sz="1725" b="1">
                        <a:solidFill>
                          <a:srgbClr val="FFFFFF"/>
                        </a:solidFill>
                        <a:latin typeface="Arial" panose="020B0604020202020204"/>
                        <a:ea typeface="Arial" panose="020B0604020202020204"/>
                        <a:cs typeface="Arial" panose="020B0604020202020204"/>
                      </a:endParaRPr>
                    </a:p>
                  </a:txBody>
                  <a:tcPr>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panose="020B0604020202020204"/>
                          <a:ea typeface="Arial" panose="020B0604020202020204"/>
                          <a:cs typeface="Arial" panose="020B0604020202020204"/>
                        </a:rPr>
                        <a:t>Halting / skipping</a:t>
                      </a:r>
                      <a:endParaRPr sz="1725" b="1">
                        <a:solidFill>
                          <a:srgbClr val="FFFFFF"/>
                        </a:solidFill>
                        <a:latin typeface="Arial" panose="020B0604020202020204"/>
                        <a:ea typeface="Arial" panose="020B0604020202020204"/>
                        <a:cs typeface="Arial" panose="020B0604020202020204"/>
                      </a:endParaRPr>
                    </a:p>
                  </a:txBody>
                  <a:tcPr>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r>
              <a:tr h="514350">
                <a:tc>
                  <a:txBody>
                    <a:bodyPr/>
                    <a:lstStyle/>
                    <a:p>
                      <a:pPr algn="l">
                        <a:buNone/>
                      </a:pPr>
                      <a:r>
                        <a:rPr sz="1725" b="1">
                          <a:solidFill>
                            <a:srgbClr val="18352D"/>
                          </a:solidFill>
                          <a:latin typeface="Arial" panose="020B0604020202020204"/>
                          <a:ea typeface="Arial" panose="020B0604020202020204"/>
                          <a:cs typeface="Arial" panose="020B0604020202020204"/>
                        </a:rPr>
                        <a:t>Vanilla Transformer</a:t>
                      </a:r>
                      <a:endParaRPr sz="1725" b="1">
                        <a:solidFill>
                          <a:srgbClr val="18352D"/>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panose="020B0604020202020204"/>
                          <a:ea typeface="Arial" panose="020B0604020202020204"/>
                          <a:cs typeface="Arial" panose="020B0604020202020204"/>
                        </a:rPr>
                        <a:t>FFN-MoE Transformer</a:t>
                      </a:r>
                      <a:endParaRPr sz="1725" b="1">
                        <a:solidFill>
                          <a:srgbClr val="18352D"/>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l">
                        <a:buNone/>
                      </a:pPr>
                      <a:r>
                        <a:rPr sz="1725" b="0">
                          <a:solidFill>
                            <a:srgbClr val="18352D"/>
                          </a:solidFill>
                          <a:latin typeface="Arial" panose="020B0604020202020204"/>
                          <a:ea typeface="Arial" panose="020B0604020202020204"/>
                          <a:cs typeface="Arial" panose="020B0604020202020204"/>
                        </a:rPr>
                        <a:t>FFN</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panose="020B0604020202020204"/>
                          <a:ea typeface="Arial" panose="020B0604020202020204"/>
                          <a:cs typeface="Arial" panose="020B0604020202020204"/>
                        </a:rPr>
                        <a:t>UT</a:t>
                      </a:r>
                      <a:endParaRPr sz="1725" b="1">
                        <a:solidFill>
                          <a:srgbClr val="18352D"/>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E3F1E5"/>
                    </a:solidFill>
                  </a:tcPr>
                </a:tc>
              </a:tr>
              <a:tr h="514350">
                <a:tc>
                  <a:txBody>
                    <a:bodyPr/>
                    <a:lstStyle/>
                    <a:p>
                      <a:pPr algn="l">
                        <a:buNone/>
                      </a:pPr>
                      <a:r>
                        <a:rPr sz="1725" b="1">
                          <a:solidFill>
                            <a:srgbClr val="18352D"/>
                          </a:solidFill>
                          <a:latin typeface="Arial" panose="020B0604020202020204"/>
                          <a:ea typeface="Arial" panose="020B0604020202020204"/>
                          <a:cs typeface="Arial" panose="020B0604020202020204"/>
                        </a:rPr>
                        <a:t>MoA</a:t>
                      </a:r>
                      <a:endParaRPr sz="1725" b="1">
                        <a:solidFill>
                          <a:srgbClr val="18352D"/>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E3F1E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l">
                        <a:buNone/>
                      </a:pPr>
                      <a:r>
                        <a:rPr sz="1725" b="0">
                          <a:solidFill>
                            <a:srgbClr val="18352D"/>
                          </a:solidFill>
                          <a:latin typeface="Arial" panose="020B0604020202020204"/>
                          <a:ea typeface="Arial" panose="020B0604020202020204"/>
                          <a:cs typeface="Arial" panose="020B0604020202020204"/>
                        </a:rPr>
                        <a:t>Attention head</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panose="020B0604020202020204"/>
                          <a:ea typeface="Arial" panose="020B0604020202020204"/>
                          <a:cs typeface="Arial" panose="020B0604020202020204"/>
                        </a:rPr>
                        <a:t>MoH</a:t>
                      </a:r>
                      <a:endParaRPr sz="1725" b="1">
                        <a:solidFill>
                          <a:srgbClr val="18352D"/>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E3F1E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l">
                        <a:buNone/>
                      </a:pPr>
                      <a:r>
                        <a:rPr sz="1725" b="0">
                          <a:solidFill>
                            <a:srgbClr val="18352D"/>
                          </a:solidFill>
                          <a:latin typeface="Arial" panose="020B0604020202020204"/>
                          <a:ea typeface="Arial" panose="020B0604020202020204"/>
                          <a:cs typeface="Arial" panose="020B0604020202020204"/>
                        </a:rPr>
                        <a:t>Attention head</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No</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panose="020B0604020202020204"/>
                          <a:ea typeface="Arial" panose="020B0604020202020204"/>
                          <a:cs typeface="Arial" panose="020B0604020202020204"/>
                        </a:rPr>
                        <a:t>SUT</a:t>
                      </a:r>
                      <a:endParaRPr sz="1725" b="1">
                        <a:solidFill>
                          <a:srgbClr val="18352D"/>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l">
                        <a:buNone/>
                      </a:pPr>
                      <a:r>
                        <a:rPr lang="en-US" sz="1725" b="0">
                          <a:solidFill>
                            <a:srgbClr val="18352D"/>
                          </a:solidFill>
                          <a:latin typeface="Arial" panose="020B0604020202020204"/>
                          <a:ea typeface="Arial" panose="020B0604020202020204"/>
                          <a:cs typeface="Arial" panose="020B0604020202020204"/>
                        </a:rPr>
                        <a:t>MHA</a:t>
                      </a:r>
                      <a:r>
                        <a:rPr sz="1725" b="0">
                          <a:solidFill>
                            <a:srgbClr val="18352D"/>
                          </a:solidFill>
                          <a:latin typeface="Arial" panose="020B0604020202020204"/>
                          <a:ea typeface="Arial" panose="020B0604020202020204"/>
                          <a:cs typeface="Arial" panose="020B0604020202020204"/>
                        </a:rPr>
                        <a:t> expert + FFN</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r>
              <a:tr h="514350">
                <a:tc>
                  <a:txBody>
                    <a:bodyPr/>
                    <a:lstStyle/>
                    <a:p>
                      <a:pPr algn="l">
                        <a:buNone/>
                      </a:pPr>
                      <a:r>
                        <a:rPr sz="1725" b="1">
                          <a:solidFill>
                            <a:srgbClr val="18352D"/>
                          </a:solidFill>
                          <a:latin typeface="Arial" panose="020B0604020202020204"/>
                          <a:ea typeface="Arial" panose="020B0604020202020204"/>
                          <a:cs typeface="Arial" panose="020B0604020202020204"/>
                        </a:rPr>
                        <a:t>MoM</a:t>
                      </a:r>
                      <a:endParaRPr sz="1725" b="1">
                        <a:solidFill>
                          <a:srgbClr val="18352D"/>
                        </a:solidFill>
                        <a:latin typeface="Arial" panose="020B0604020202020204"/>
                        <a:ea typeface="Arial" panose="020B0604020202020204"/>
                        <a:cs typeface="Arial" panose="020B0604020202020204"/>
                      </a:endParaRPr>
                    </a:p>
                  </a:txBody>
                  <a:tcP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A9D8B5"/>
                    </a:solidFill>
                  </a:tcPr>
                </a:tc>
                <a:tc>
                  <a:txBody>
                    <a:bodyPr/>
                    <a:lstStyle/>
                    <a:p>
                      <a:pPr algn="l">
                        <a:buNone/>
                      </a:pPr>
                      <a:r>
                        <a:rPr sz="1725" b="0">
                          <a:solidFill>
                            <a:srgbClr val="18352D"/>
                          </a:solidFill>
                          <a:latin typeface="Arial" panose="020B0604020202020204"/>
                          <a:ea typeface="Arial" panose="020B0604020202020204"/>
                          <a:cs typeface="Arial" panose="020B0604020202020204"/>
                        </a:rPr>
                        <a:t>MHA module + FFN</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E3F1E5"/>
                    </a:solidFill>
                  </a:tcPr>
                </a:tc>
                <a:tc>
                  <a:txBody>
                    <a:bodyPr/>
                    <a:lstStyle/>
                    <a:p>
                      <a:pPr algn="ctr">
                        <a:buNone/>
                      </a:pPr>
                      <a:r>
                        <a:rPr sz="1725" b="0">
                          <a:solidFill>
                            <a:srgbClr val="18352D"/>
                          </a:solidFill>
                          <a:latin typeface="Arial" panose="020B0604020202020204"/>
                          <a:ea typeface="Arial" panose="020B0604020202020204"/>
                          <a:cs typeface="Arial" panose="020B0604020202020204"/>
                        </a:rPr>
                        <a:t>Yes*</a:t>
                      </a:r>
                      <a:endParaRPr sz="1725" b="0">
                        <a:solidFill>
                          <a:srgbClr val="18352D"/>
                        </a:solidFill>
                        <a:latin typeface="Arial" panose="020B0604020202020204"/>
                        <a:ea typeface="Arial" panose="020B0604020202020204"/>
                        <a:cs typeface="Arial" panose="020B0604020202020204"/>
                      </a:endParaRPr>
                    </a:p>
                  </a:txBody>
                  <a:tcPr>
                    <a:lnR w="9525">
                      <a:solidFill>
                        <a:srgbClr val="D9E3DE"/>
                      </a:solidFill>
                      <a:prstDash val="solid"/>
                    </a:lnR>
                    <a:lnB w="9525">
                      <a:solidFill>
                        <a:srgbClr val="D9E3DE"/>
                      </a:solidFill>
                      <a:prstDash val="solid"/>
                    </a:lnB>
                    <a:solidFill>
                      <a:srgbClr val="E3F1E5"/>
                    </a:solidFill>
                  </a:tcPr>
                </a:tc>
              </a:tr>
            </a:tbl>
          </a:graphicData>
        </a:graphic>
      </p:graphicFrame>
      <p:sp>
        <p:nvSpPr>
          <p:cNvPr id="4" name="矩形 3"/>
          <p:cNvSpPr>
            <a:spLocks noGrp="1"/>
          </p:cNvSpPr>
          <p:nvPr/>
        </p:nvSpPr>
        <p:spPr>
          <a:xfrm>
            <a:off x="457200" y="5715000"/>
            <a:ext cx="11277600" cy="266700"/>
          </a:xfrm>
          <a:prstGeom prst="rect">
            <a:avLst/>
          </a:prstGeom>
          <a:noFill/>
          <a:ln w="0">
            <a:noFill/>
          </a:ln>
        </p:spPr>
        <p:txBody>
          <a:bodyPr/>
          <a:lstStyle>
            <a:defPPr>
              <a:defRPr sz="1500" b="0">
                <a:solidFill>
                  <a:srgbClr val="53655E"/>
                </a:solidFill>
                <a:latin typeface="Arial" panose="020B0604020202020204"/>
                <a:ea typeface="Arial" panose="020B0604020202020204"/>
                <a:cs typeface="Arial" panose="020B0604020202020204"/>
              </a:defRPr>
            </a:defPPr>
          </a:lstStyle>
          <a:p>
            <a:pPr>
              <a:buNone/>
              <a:defRPr sz="1500" b="0">
                <a:solidFill>
                  <a:srgbClr val="53655E"/>
                </a:solidFill>
                <a:latin typeface="Arial" panose="020B0604020202020204"/>
                <a:ea typeface="Arial" panose="020B0604020202020204"/>
                <a:cs typeface="Arial" panose="020B0604020202020204"/>
              </a:defRPr>
            </a:pPr>
            <a:r>
              <a:rPr sz="1500" b="0">
                <a:solidFill>
                  <a:srgbClr val="53655E"/>
                </a:solidFill>
                <a:latin typeface="Arial" panose="020B0604020202020204"/>
                <a:ea typeface="Arial" panose="020B0604020202020204"/>
                <a:cs typeface="Arial" panose="020B0604020202020204"/>
              </a:rPr>
              <a:t>* MHA includes routed variants (MoA, MoH). UT halting is optional.</a:t>
            </a:r>
            <a:endParaRPr sz="1500" b="0">
              <a:solidFill>
                <a:srgbClr val="53655E"/>
              </a:solidFill>
              <a:latin typeface="Arial" panose="020B0604020202020204"/>
              <a:ea typeface="Arial" panose="020B0604020202020204"/>
              <a:cs typeface="Arial" panose="020B0604020202020204"/>
            </a:endParaRPr>
          </a:p>
        </p:txBody>
      </p:sp>
      <p:sp>
        <p:nvSpPr>
          <p:cNvPr id="5" name="矩形 4"/>
          <p:cNvSpPr>
            <a:spLocks noGrp="1"/>
          </p:cNvSpPr>
          <p:nvPr/>
        </p:nvSpPr>
        <p:spPr>
          <a:xfrm>
            <a:off x="457200" y="6019800"/>
            <a:ext cx="11277600" cy="266700"/>
          </a:xfrm>
          <a:prstGeom prst="rect">
            <a:avLst/>
          </a:prstGeom>
          <a:noFill/>
          <a:ln w="0">
            <a:noFill/>
          </a:ln>
        </p:spPr>
        <p:txBody>
          <a:bodyPr/>
          <a:lstStyle>
            <a:defPPr>
              <a:defRPr sz="1500" b="0">
                <a:solidFill>
                  <a:srgbClr val="53655E"/>
                </a:solidFill>
                <a:latin typeface="Arial" panose="020B0604020202020204"/>
                <a:ea typeface="Arial" panose="020B0604020202020204"/>
                <a:cs typeface="Arial" panose="020B0604020202020204"/>
              </a:defRPr>
            </a:defPPr>
          </a:lstStyle>
          <a:p>
            <a:pPr>
              <a:buNone/>
              <a:defRPr sz="1500" b="0">
                <a:solidFill>
                  <a:srgbClr val="53655E"/>
                </a:solidFill>
                <a:latin typeface="Arial" panose="020B0604020202020204"/>
                <a:ea typeface="Arial" panose="020B0604020202020204"/>
                <a:cs typeface="Arial" panose="020B0604020202020204"/>
              </a:defRPr>
            </a:pPr>
            <a:r>
              <a:rPr sz="1500" b="0">
                <a:solidFill>
                  <a:srgbClr val="53655E"/>
                </a:solidFill>
                <a:latin typeface="Arial" panose="020B0604020202020204"/>
                <a:ea typeface="Arial" panose="020B0604020202020204"/>
                <a:cs typeface="Arial" panose="020B0604020202020204"/>
              </a:rPr>
              <a:t>Recurrence = reuse across depth. MoM reuses modules and optionally skips steps.</a:t>
            </a:r>
            <a:endParaRPr sz="1500" b="0">
              <a:solidFill>
                <a:srgbClr val="53655E"/>
              </a:solidFill>
              <a:latin typeface="Arial" panose="020B0604020202020204"/>
              <a:ea typeface="Arial" panose="020B0604020202020204"/>
              <a:cs typeface="Arial" panose="020B0604020202020204"/>
            </a:endParaRPr>
          </a:p>
        </p:txBody>
      </p:sp>
      <p:sp>
        <p:nvSpPr>
          <p:cNvPr id="6" name="矩形 5"/>
          <p:cNvSpPr>
            <a:spLocks noGrp="1"/>
          </p:cNvSpPr>
          <p:nvPr/>
        </p:nvSpPr>
        <p:spPr>
          <a:xfrm>
            <a:off x="457200" y="6438900"/>
            <a:ext cx="11277600" cy="228600"/>
          </a:xfrm>
          <a:prstGeom prst="rect">
            <a:avLst/>
          </a:prstGeom>
          <a:noFill/>
          <a:ln w="0">
            <a:noFill/>
          </a:ln>
        </p:spPr>
        <p:txBody>
          <a:bodyPr/>
          <a:lstStyle>
            <a:defPPr>
              <a:defRPr sz="1200" b="0">
                <a:solidFill>
                  <a:srgbClr val="687B72"/>
                </a:solidFill>
                <a:latin typeface="Arial" panose="020B0604020202020204"/>
                <a:ea typeface="Arial" panose="020B0604020202020204"/>
                <a:cs typeface="Arial" panose="020B0604020202020204"/>
              </a:defRPr>
            </a:defPPr>
          </a:lstStyle>
          <a:p>
            <a:pPr>
              <a:buNone/>
              <a:defRPr sz="1200" b="0">
                <a:solidFill>
                  <a:srgbClr val="687B72"/>
                </a:solidFill>
                <a:latin typeface="Arial" panose="020B0604020202020204"/>
                <a:ea typeface="Arial" panose="020B0604020202020204"/>
                <a:cs typeface="Arial" panose="020B0604020202020204"/>
              </a:defRPr>
            </a:pPr>
            <a:r>
              <a:rPr sz="1200" b="0">
                <a:solidFill>
                  <a:srgbClr val="687B72"/>
                </a:solidFill>
                <a:latin typeface="Arial" panose="020B0604020202020204"/>
                <a:ea typeface="Arial" panose="020B0604020202020204"/>
                <a:cs typeface="Arial" panose="020B0604020202020204"/>
              </a:rPr>
              <a:t>Configurations shown follow the cited papers. Sources and qualifications are in the slide notes.</a:t>
            </a:r>
            <a:endParaRPr sz="1200" b="0">
              <a:solidFill>
                <a:srgbClr val="687B72"/>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7937</Words>
  <Application>WPS 演示</Application>
  <PresentationFormat>Converted Presentation</PresentationFormat>
  <Paragraphs>542</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宋体</vt:lpstr>
      <vt:lpstr>Wingdings</vt:lpstr>
      <vt:lpstr>Arial</vt:lpstr>
      <vt:lpstr>微软雅黑</vt:lpstr>
      <vt:lpstr>Arial Unicode MS</vt:lpstr>
      <vt:lpstr>Aptos</vt:lpstr>
      <vt:lpstr>Segoe UI</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Shawnಠ_ರೃ</cp:lastModifiedBy>
  <cp:revision>1</cp:revision>
  <dcterms:created xsi:type="dcterms:W3CDTF">2026-10-16T01:55:45Z</dcterms:created>
  <dcterms:modified xsi:type="dcterms:W3CDTF">2026-10-16T01:55:45Z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FEBA5049752049F686A762A2E9B4BDD5_12</vt:lpwstr>
  </property>
</Properties>
</file>