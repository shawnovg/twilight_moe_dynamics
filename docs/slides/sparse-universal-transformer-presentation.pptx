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19a89b760641b7" /><Relationship Type="http://schemas.openxmlformats.org/officeDocument/2006/relationships/extended-properties" Target="/docProps/app.xml" Id="R99f5619d17344a09" /><Relationship Type="http://schemas.openxmlformats.org/officeDocument/2006/relationships/officeDocument" Target="/ppt/presentation.xml" Id="R6968e0db97974415" /></Relationships>
</file>

<file path=ppt/presentation.xml><?xml version="1.0" encoding="utf-8"?>
<p:presentation xmlns:p="http://schemas.openxmlformats.org/presentationml/2006/main">
  <p:sldMasterIdLst>
    <p:sldMasterId xmlns:r="http://schemas.openxmlformats.org/officeDocument/2006/relationships" id="2147483648" r:id="R4396897dbf7a4b80"/>
  </p:sldMasterIdLst>
  <p:notesMasterIdLst>
    <p:notesMasterId xmlns:r="http://schemas.openxmlformats.org/officeDocument/2006/relationships" r:id="Rad6f953aabe5462e"/>
  </p:notesMasterIdLst>
  <p:sldIdLst>
    <p:sldId xmlns:r="http://schemas.openxmlformats.org/officeDocument/2006/relationships" id="256" r:id="R30e7231dcc464bfd"/>
    <p:sldId xmlns:r="http://schemas.openxmlformats.org/officeDocument/2006/relationships" id="257" r:id="Rd9ec79813afd4a65"/>
    <p:sldId xmlns:r="http://schemas.openxmlformats.org/officeDocument/2006/relationships" id="258" r:id="Rada982e03cd842a1"/>
    <p:sldId xmlns:r="http://schemas.openxmlformats.org/officeDocument/2006/relationships" id="259" r:id="Ra3b5556e26fc472d"/>
    <p:sldId xmlns:r="http://schemas.openxmlformats.org/officeDocument/2006/relationships" id="260" r:id="R2b8436f20f044eee"/>
    <p:sldId xmlns:r="http://schemas.openxmlformats.org/officeDocument/2006/relationships" id="261" r:id="Rde741661767047b5"/>
    <p:sldId xmlns:r="http://schemas.openxmlformats.org/officeDocument/2006/relationships" id="262" r:id="Rbb48aeba4aa14dde"/>
    <p:sldId xmlns:r="http://schemas.openxmlformats.org/officeDocument/2006/relationships" id="263" r:id="R4da8d50152fb431b"/>
    <p:sldId xmlns:r="http://schemas.openxmlformats.org/officeDocument/2006/relationships" id="264" r:id="R0631760d806d4fa0"/>
    <p:sldId xmlns:r="http://schemas.openxmlformats.org/officeDocument/2006/relationships" id="265" r:id="R12446959b3b94293"/>
    <p:sldId xmlns:r="http://schemas.openxmlformats.org/officeDocument/2006/relationships" id="266" r:id="Rd85e2a59621f47b6"/>
    <p:sldId xmlns:r="http://schemas.openxmlformats.org/officeDocument/2006/relationships" id="267" r:id="Raa8047b1356944df"/>
    <p:sldId xmlns:r="http://schemas.openxmlformats.org/officeDocument/2006/relationships" id="268" r:id="R20e4ee497ca2408d"/>
    <p:sldId xmlns:r="http://schemas.openxmlformats.org/officeDocument/2006/relationships" id="269" r:id="Rf72403a7fbe649e1"/>
    <p:sldId xmlns:r="http://schemas.openxmlformats.org/officeDocument/2006/relationships" id="270" r:id="R720839966bfc4948"/>
    <p:sldId xmlns:r="http://schemas.openxmlformats.org/officeDocument/2006/relationships" id="271" r:id="Ra4d4a4f1c81146df"/>
    <p:sldId xmlns:r="http://schemas.openxmlformats.org/officeDocument/2006/relationships" id="272" r:id="R84d25b00ec1b4d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4b948ab6d84cb8" /><Relationship Type="http://schemas.openxmlformats.org/officeDocument/2006/relationships/slideMaster" Target="/ppt/slideMasters/slideMaster1.xml" Id="R4396897dbf7a4b80" /><Relationship Type="http://schemas.openxmlformats.org/officeDocument/2006/relationships/notesMaster" Target="/ppt/notesMasters/notesMaster1.xml" Id="Rad6f953aabe5462e" /><Relationship Type="http://schemas.openxmlformats.org/officeDocument/2006/relationships/presProps" Target="/ppt/presProps.xml" Id="R4caae4a850f942b5" /><Relationship Type="http://schemas.openxmlformats.org/officeDocument/2006/relationships/tableStyles" Target="/ppt/tableStyles.xml" Id="Rdaa217521d9e49f1" /><Relationship Type="http://schemas.openxmlformats.org/officeDocument/2006/relationships/slide" Target="/ppt/slides/slide1.xml" Id="R30e7231dcc464bfd" /><Relationship Type="http://schemas.openxmlformats.org/officeDocument/2006/relationships/slide" Target="/ppt/slides/slide2.xml" Id="Rd9ec79813afd4a65" /><Relationship Type="http://schemas.openxmlformats.org/officeDocument/2006/relationships/slide" Target="/ppt/slides/slide3.xml" Id="Rada982e03cd842a1" /><Relationship Type="http://schemas.openxmlformats.org/officeDocument/2006/relationships/slide" Target="/ppt/slides/slide4.xml" Id="Ra3b5556e26fc472d" /><Relationship Type="http://schemas.openxmlformats.org/officeDocument/2006/relationships/slide" Target="/ppt/slides/slide5.xml" Id="R2b8436f20f044eee" /><Relationship Type="http://schemas.openxmlformats.org/officeDocument/2006/relationships/slide" Target="/ppt/slides/slide6.xml" Id="Rde741661767047b5" /><Relationship Type="http://schemas.openxmlformats.org/officeDocument/2006/relationships/slide" Target="/ppt/slides/slide7.xml" Id="Rbb48aeba4aa14dde" /><Relationship Type="http://schemas.openxmlformats.org/officeDocument/2006/relationships/slide" Target="/ppt/slides/slide8.xml" Id="R4da8d50152fb431b" /><Relationship Type="http://schemas.openxmlformats.org/officeDocument/2006/relationships/slide" Target="/ppt/slides/slide9.xml" Id="R0631760d806d4fa0" /><Relationship Type="http://schemas.openxmlformats.org/officeDocument/2006/relationships/slide" Target="/ppt/slides/slide10.xml" Id="R12446959b3b94293" /><Relationship Type="http://schemas.openxmlformats.org/officeDocument/2006/relationships/slide" Target="/ppt/slides/slide11.xml" Id="Rd85e2a59621f47b6" /><Relationship Type="http://schemas.openxmlformats.org/officeDocument/2006/relationships/slide" Target="/ppt/slides/slide12.xml" Id="Raa8047b1356944df" /><Relationship Type="http://schemas.openxmlformats.org/officeDocument/2006/relationships/slide" Target="/ppt/slides/slide13.xml" Id="R20e4ee497ca2408d" /><Relationship Type="http://schemas.openxmlformats.org/officeDocument/2006/relationships/slide" Target="/ppt/slides/slide14.xml" Id="Rf72403a7fbe649e1" /><Relationship Type="http://schemas.openxmlformats.org/officeDocument/2006/relationships/slide" Target="/ppt/slides/slide15.xml" Id="R720839966bfc4948" /><Relationship Type="http://schemas.openxmlformats.org/officeDocument/2006/relationships/slide" Target="/ppt/slides/slide16.xml" Id="Ra4d4a4f1c81146df" /><Relationship Type="http://schemas.openxmlformats.org/officeDocument/2006/relationships/slide" Target="/ppt/slides/slide17.xml" Id="R84d25b00ec1b4d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34ca8da93441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7033e4a30f4a07" /><Relationship Type="http://schemas.openxmlformats.org/officeDocument/2006/relationships/notesMaster" Target="/ppt/notesMasters/notesMaster1.xml" Id="R51ff4e0031834e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6467b996a741dc" /><Relationship Type="http://schemas.openxmlformats.org/officeDocument/2006/relationships/notesMaster" Target="/ppt/notesMasters/notesMaster1.xml" Id="R87be2a9c8dfa4a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3d9e36c8454697" /><Relationship Type="http://schemas.openxmlformats.org/officeDocument/2006/relationships/notesMaster" Target="/ppt/notesMasters/notesMaster1.xml" Id="R86b9096d671641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dcb75c4d464007" /><Relationship Type="http://schemas.openxmlformats.org/officeDocument/2006/relationships/notesMaster" Target="/ppt/notesMasters/notesMaster1.xml" Id="R1dc83818616940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fb207ac07e4002" /><Relationship Type="http://schemas.openxmlformats.org/officeDocument/2006/relationships/notesMaster" Target="/ppt/notesMasters/notesMaster1.xml" Id="R6bc3cd4634a74f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2cf7aaf4074ec5" /><Relationship Type="http://schemas.openxmlformats.org/officeDocument/2006/relationships/notesMaster" Target="/ppt/notesMasters/notesMaster1.xml" Id="R3656672d9a4540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286758b41e4c4b" /><Relationship Type="http://schemas.openxmlformats.org/officeDocument/2006/relationships/notesMaster" Target="/ppt/notesMasters/notesMaster1.xml" Id="Re58846d28ab644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2b47274902403a" /><Relationship Type="http://schemas.openxmlformats.org/officeDocument/2006/relationships/notesMaster" Target="/ppt/notesMasters/notesMaster1.xml" Id="R2de1e21248e04c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45146b2c484e81" /><Relationship Type="http://schemas.openxmlformats.org/officeDocument/2006/relationships/notesMaster" Target="/ppt/notesMasters/notesMaster1.xml" Id="Red2f6e0a0fc147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81cb6871434fef" /><Relationship Type="http://schemas.openxmlformats.org/officeDocument/2006/relationships/notesMaster" Target="/ppt/notesMasters/notesMaster1.xml" Id="R4a202d83e35347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465e5dcf8a4496" /><Relationship Type="http://schemas.openxmlformats.org/officeDocument/2006/relationships/notesMaster" Target="/ppt/notesMasters/notesMaster1.xml" Id="R4824db5c410e47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f8b94eb29845d9" /><Relationship Type="http://schemas.openxmlformats.org/officeDocument/2006/relationships/notesMaster" Target="/ppt/notesMasters/notesMaster1.xml" Id="R97373147ee8b4d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97b6384d6d4d93" /><Relationship Type="http://schemas.openxmlformats.org/officeDocument/2006/relationships/notesMaster" Target="/ppt/notesMasters/notesMaster1.xml" Id="R2b5646f51e3748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17986dacae46d1" /><Relationship Type="http://schemas.openxmlformats.org/officeDocument/2006/relationships/notesMaster" Target="/ppt/notesMasters/notesMaster1.xml" Id="R0baee800c5944b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5e6a54b98e4b09" /><Relationship Type="http://schemas.openxmlformats.org/officeDocument/2006/relationships/notesMaster" Target="/ppt/notesMasters/notesMaster1.xml" Id="R9728560e083e41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a54ebceef6447f" /><Relationship Type="http://schemas.openxmlformats.org/officeDocument/2006/relationships/notesMaster" Target="/ppt/notesMasters/notesMaster1.xml" Id="Re4832a0e15234c8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f4795baed14802" /><Relationship Type="http://schemas.openxmlformats.org/officeDocument/2006/relationships/notesMaster" Target="/ppt/notesMasters/notesMaster1.xml" Id="Rb2adc5d2199a42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asks whether a recurrent Transformer can retain the benefits of shared parameters while scaling its capacity economically. We will separate the shared-depth backbone, sparse selection of computation, and learned stopping. The final table will compare these structural choices across related architectures. This deck covers the paper, not results from our toy experiment.</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vanilla Transformer allocates different parameters to successive layers. A UT reuses a block. At the same width, reuse reduces parameters but does not remove repeated computation. At matched total parameter count, a dense UT may require a larger repeated block. SUT activates only selected attention and FFN experts at each step. The original Figure 1 is a schematic, not a FLOP or runtime measurement. Avoid interpreting its illustrative scaling factors as universal laws.</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original UT Figure 4 as the architectural anchor. Encoder and decoder each reuse their own block across refinement steps; this does not mean the encoder and decoder have identical parameters. Token positions update in parallel within a step, while refinement steps depend on earlier steps. Residual connections are not the source of recurrence. ACT is optional. This full diagram includes position and step signals, dropout, normalization and decoder cross-attention. We do not need to derive their details in this presentation.</a:t>
            </a:r>
          </a:p>
          <a:p xmlns:a="http://schemas.openxmlformats.org/drawingml/2006/main">
            <a:r>
              <a:t/>
            </a:r>
          </a:p>
          <a:p xmlns:a="http://schemas.openxmlformats.org/drawingml/2006/main">
            <a:r>
              <a:t>Sources:</a:t>
            </a:r>
          </a:p>
          <a:p xmlns:a="http://schemas.openxmlformats.org/drawingml/2006/main">
            <a:r>
              <a:t>Dehghani et al., Universal Transformers, ICLR 2019. Figure 4 and Appendix C. https://arxiv.org/html/1807.03819v3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left locates the changes on the UT scaffold. SUT routes attention and FFN computation separately and reuses this block across depth. For a token state h, the router picks top-k experts and weights their outputs. The E experts are different parameter sets, reused across tokens and refinement steps. A token does not receive its own independently learned parameter matrix. The attention unit is a multi-head expert, which is detailed next. Auxiliary losses train these choices but are not extra inference blocks.</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MoA Figure 2 shows shared K/V projections, expert-specific query and output projections, and router-weighted output aggregation. These are paired projection banks with the same expert indices, not an extra FFN mixture. In MoA each expert is one head. SUT MoMHA uses H heads per expert: E sets of query projections and one H-head set of K/V projections shared across experts. The displayed equations describe the MoA head calculation; SUT extends the expert to multiple heads and uses relative positions. W is the relative-position range, not a hard restriction that attention can only see nearby tokens.</a:t>
            </a:r>
          </a:p>
          <a:p xmlns:a="http://schemas.openxmlformats.org/drawingml/2006/main">
            <a:r>
              <a:t/>
            </a:r>
          </a:p>
          <a:p xmlns:a="http://schemas.openxmlformats.org/drawingml/2006/main">
            <a:r>
              <a:t>Sources:</a:t>
            </a:r>
          </a:p>
          <a:p xmlns:a="http://schemas.openxmlformats.org/drawingml/2006/main">
            <a:r>
              <a:t>Zhang et al., Mixture of Attention Heads, 2022. Figure 2, Equations 6–12. https://arxiv.org/html/2210.05144</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Minimize the printed negative mutual-information expression: minus marginal entropy plus conditional entropy. High marginal entropy distributes routing probability across the expert pool. Low conditional entropy encourages confident input-specific choices. This does not guarantee semantic specialization or perfectly equal discrete top-k loads. The toy numbers use natural logs and two experts. The paper prose says maximized beside the negative-MI equation; present the mathematically consistent minimization interpretation. Our reading audit also found that the current public repository appears to combine entropy signs differently. This slide explains the paper objective, not a verified reproduction of its implementation; resolve that discrepancy before implementing a comparison.</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common notation: l is refinement depth and q_l is the gate output for one token. UT adds raw gate scores until their sum crosses a threshold; at the last step it uses a remainder. SUT interprets q_l conditionally on surviving earlier decisions, so alpha_l equals q_l times the preceding survival product. Both use a cumulative stopping criterion. The example fixes q=.5 and threshold=.9 to isolate arithmetic; actual SUT threshold is .999. It does not show that trained SUT is inherently slower. UT ACT uses N+R; SUT uses expected depth. At a finite cap, remaining mass needs a terminal assignment. Expected depth is not executed depth or FLOPs.</a:t>
            </a:r>
          </a:p>
          <a:p xmlns:a="http://schemas.openxmlformats.org/drawingml/2006/main">
            <a:r>
              <a:t/>
            </a:r>
          </a:p>
          <a:p xmlns:a="http://schemas.openxmlformats.org/drawingml/2006/main">
            <a:r>
              <a:t>Sources:</a:t>
            </a:r>
          </a:p>
          <a:p xmlns:a="http://schemas.openxmlformats.org/drawingml/2006/main">
            <a:r>
              <a:t>Dehghani et al., Universal Transformers, ICLR 2019. Figure 4 and Appendix C. https://arxiv.org/html/1807.03819v3</a:t>
            </a:r>
          </a:p>
          <a:p xmlns:a="http://schemas.openxmlformats.org/drawingml/2006/main">
            <a:r>
              <a:t>Graves, Adaptive Computation Time for Recurrent Neural Networks, 2016. https://arxiv.org/html/1603.08983</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recurrence of the shared block from recursion in the output combination. UT Appendix C recursively interpolates a transformed state v_l and the previous accumulated output u_(l-1); repeated later gates change earlier contributions. SUT explicitly weights prior raw states by stopping probabilities, with survival mass on the current raw state. Its active token uses h_(l-1) as query input and S_(l-1) as K/V input, where capital S stacks halt-aware states for all tokens. Other token positions may already have stopped updating but their information remains readable. No-op means preserve state and skip its own update. Decoder masks still apply. Original Graves ACT has a direct weighted sum, so do not conflate it with UT Appendix C.</a:t>
            </a:r>
          </a:p>
          <a:p xmlns:a="http://schemas.openxmlformats.org/drawingml/2006/main">
            <a:r>
              <a:t/>
            </a:r>
          </a:p>
          <a:p xmlns:a="http://schemas.openxmlformats.org/drawingml/2006/main">
            <a:r>
              <a:t>Sources:</a:t>
            </a:r>
          </a:p>
          <a:p xmlns:a="http://schemas.openxmlformats.org/drawingml/2006/main">
            <a:r>
              <a:t>Dehghani et al., Universal Transformers, ICLR 2019. Figure 4 and Appendix C. https://arxiv.org/html/1807.03819v3</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is English text, target is German text. Table 1 is reproduced completely, with abbreviated labels. MACs are the reported multiply–accumulate estimates, not wall-clock speed or FLOPs. LightConv and DynamicConv estimates are undercounted by the tool used, as the paper notes. Model configurations on the right come from the arXiv Appendix Table 6, absent from the supplied proceedings PDF. E is the number of experts in each pool; Datt is the table’s total attention-expert dimension, not the per-head D in the five-tuple. All four listed UT/SUT models use six encoder and six decoder steps. SUT big uses 110M parameters and 787M MACs versus dense UT big 105M and 3707M, at 29.4 versus 29.6 BLEU: approximately 4.7 times lower MACs, not a measured 4.7-times speedup. Relative to Transformer big, SUT big uses about half parameters and 38% of MACs. Training uses Adam, inverse-square-root learning-rate scheduling, label smoothing .1, 100 epochs and averaging the five best NLL checkpoints. Main paper Section 4.1 says vocabularies/embeddings are shared. Keep quality and cost trade-offs visible.</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a:p xmlns:a="http://schemas.openxmlformats.org/drawingml/2006/main">
            <a:r>
              <a:t>Tan et al., arXiv version, Appendix A and Table 6. https://arxiv.org/pdf/2310.07096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 2: removing MIM means replacing it with a load-balancing loss, not removing every routing regularizer. Minus MoMHA means replacement with MoA, not MoE. The reported replacement reduces BLEU by .5, the largest of these ablations, but does not isolate H alone while holding every design choice fixed. FFN experts remain. Halting removal costs .1 BLEU, ACT loss removal .2, MIM replacement .3. Table 3 explicitly concerns FFD/FFN expert–word co-occurrences across layers. The authors selected four experts showing patterns. Associations suggest specialization, but neither demonstrate causal functions nor quantify redundancy. Retain that distinction when connecting to our experiment.</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CFQ stands for Compositional Freebase Questions. The original Google Research animation illustrates how grammar building blocks compose into a sentence. The prediction task in SUT is semantic parsing: natural-language question to SPARQL query text. It is not predicting the parse tree shown by the animation, and the database answer is not the training target in this benchmark. MCD splits keep atomic distributions similar while changing combinations. The original CFQ Figure 1 at the bottom describes dataset generation, with an intermediate logical form. This logical form is not an extra required neural output. The animation is embedded as GIF; if the presentation viewer shows a still image, open the linked original article. SUT uses transformed query targets, so its preprocessing differs from an unmodified raw target comparison.</a:t>
            </a:r>
          </a:p>
          <a:p xmlns:a="http://schemas.openxmlformats.org/drawingml/2006/main">
            <a:r>
              <a:t/>
            </a:r>
          </a:p>
          <a:p xmlns:a="http://schemas.openxmlformats.org/drawingml/2006/main">
            <a:r>
              <a:t>Sources:</a:t>
            </a:r>
          </a:p>
          <a:p xmlns:a="http://schemas.openxmlformats.org/drawingml/2006/main">
            <a:r>
              <a:t>Google Research, Measuring Compositional Generalization, 6 March 2020. Original animation: https://research.google/blog/measuring-compositional-generalization/</a:t>
            </a:r>
          </a:p>
          <a:p xmlns:a="http://schemas.openxmlformats.org/drawingml/2006/main">
            <a:r>
              <a:t>Keysers et al., Measuring Compositional Generalization, ICLR 2020. Figure 1. https://arxiv.org/pdf/1912.09713</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Table 4 models and means are shown. Original full uncertainty for our rows: T5-based UT MCD1 68.3±2.9, MCD2 43.1±1.5, MCD3 45.7±1.8, average52.3±1.6; UT without halting71.0±3.5,48.6±2.3,51.3±.2,average56.9±1.5; UT with halting72.4±3.5,51.1±1.8,51.7±2.3,average58.4±1.2. Those UT results average five seeds. Hyperparameters were selected on MCD1 validation. Attention (E=1,k=1,H=8,D=64,W=1), FFN(E=1,k=1,D=1024), embedding512, 8 encoder/8 decoder steps, 7.2M with halting and6.7M without. Thus the winning CFQ model is a UT special case, not evidence that multiple sparse experts are needed on CFQ. Target preprocessing and positional/norm implementation details improve baselines. Dangle is better at66.1 but pretrained and much more expensive in reported MACs. Avoid presenting all rows as a controlled architectural-only comparison.</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a:p xmlns:a="http://schemas.openxmlformats.org/drawingml/2006/main">
            <a:r>
              <a:t>Tan et al., arXiv version, Appendix A and Table 6. https://arxiv.org/pdf/2310.07096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takes two propositional-logic expressions and predicts their semantic relation as a single label. Example a entails a OR b. The model receives sentence1 #SEP# sentence2, not a parse tree. Training has0–6 logical operators, evaluation7–12. The separate compositional splits A/B/C increase difficulty. Original SUT Figure2 illustrates a withheld combination of operations; it is not a literal input format for the model. The paper uses a12-layer encoder and12-layer decoder with attention(12,4,2,32,1), FFN(12,4,128), embedding512 and7.6M parameters. Halting is enabled. This is genuine multiple-expert SUT, unlike the CFQ winner.</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a:p xmlns:a="http://schemas.openxmlformats.org/drawingml/2006/main">
            <a:r>
              <a:t>Tan et al., arXiv version, Appendix A and Table 6. https://arxiv.org/pdf/2310.07096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Table5 values are accuracy percentages. SUT substantially exceeds the Transformer and LSTM on length extrapolation here. It also improves A and B, but C remains52 compared with LSTM59. Do not call compositional generalization solved. The source Figure4 shows average halting depth increasing with operator count. Operator count also correlates with length, so this does not isolate reasoning difficulty from sequence length. Baseline references: LSTM Bowman2015, Transformer Shen2019. The paper says a newly trained12-layer vanilla Transformer achieves approximately the same result as the cited baseline. The original figure caption says UT, while the surrounding setting and Table5 call the model SUT; describe it as the paper model without silently changing the source image.</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Section4.4 is valuable because it turns halting into a post-training control. Adjust the cumulative threshold and evaluate quality again. The original plots show fraction computed in blue and task quality in green. The estimates are based on decoder halting patterns with ground-truth source-target pairs, so these are skipped SUT block-step estimates, not measured end-to-end speedups. Logical inference has near-constant roughly50% skipped steps. CFQ text reports roughly33% skipped atthreshold.8 with stable quality in.8–.999, and about50% for a small .2% accuracy decrease; plots and prose have some inconsistencies, so avoid unsupported precision. Translation text reports9% less computation while retaining29.1 BLEU. Lowering threshold can alter token representations and subsequently other tokens’ halting, so monotonicity is not guaranteed. The cited images retain original axes.</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structural hypothesis is that routing granularity, reuse across depth and stopping are separable choices. SUT combines them, but its experiments do not establish a universal principle. WMT supports parameter efficiency with a quality-cost trade-off; CFQ selects the one-expert UT setting; logical inference exposes failure on splitC. Token-expert associations are observational. For our controlled toy experiments, isolate changes, match parameter budgets and measure actual compute separately, select checkpoints on validation MSE, never expose regime labels to non-oracle models, and preserve negative results. These are proposed controls, not experimental findings. Toy-program results have not been added because they need a fresh audit and discussion; insert validated result slides before the final structural table later.</a:t>
            </a:r>
          </a:p>
          <a:p xmlns:a="http://schemas.openxmlformats.org/drawingml/2006/main">
            <a:r>
              <a:t/>
            </a:r>
          </a:p>
          <a:p xmlns:a="http://schemas.openxmlformats.org/drawingml/2006/main">
            <a:r>
              <a:t>Sources:</a:t>
            </a:r>
          </a:p>
          <a:p xmlns:a="http://schemas.openxmlformats.org/drawingml/2006/main">
            <a:r>
              <a:t>Tan et al., Sparse Universal Transformer, EMNLP 2023. Sections 1–5, Tables 1–5. https://aclanthology.org/2023.emnlp-main.12.pdf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comparison slide for the planned SUT presentation. MHA means multi-head attention, including routed variants; it does not imply a full MHA block inside every MoA expert. MoA routes single heads, SUT MoMHA has H heads per expert. FFN MoE means a separately routed FFN expert pool. Router lists the selected unit, blank means no expert/head router (UT still has a halting gate). Recurrence means reuse of parameters across depth, not recursive state interpolation. Typical FFN-MoE shown uses separate layer pools. UT halting is optional. MoM reuses a module pool rather than one fixed block, and SKIP is optional; skipping does not imply permanent halting. MoM attention assembles projection parameters. MoH shared heads are always active, not necessarily shared KV projections. MoH and MoM are later 2024 comparisons, not predecessors of SUT.</a:t>
            </a:r>
          </a:p>
          <a:p xmlns:a="http://schemas.openxmlformats.org/drawingml/2006/main">
            <a:r>
              <a:t>Sources:</a:t>
            </a:r>
          </a:p>
          <a:p xmlns:a="http://schemas.openxmlformats.org/drawingml/2006/main">
            <a:r>
              <a:t>Transformer: https://arxiv.org/html/1706.03762</a:t>
            </a:r>
          </a:p>
          <a:p xmlns:a="http://schemas.openxmlformats.org/drawingml/2006/main">
            <a:r>
              <a:t>Switch: https://arxiv.org/html/2101.03961</a:t>
            </a:r>
          </a:p>
          <a:p xmlns:a="http://schemas.openxmlformats.org/drawingml/2006/main">
            <a:r>
              <a:t>UT: https://arxiv.org/html/1807.03819v3</a:t>
            </a:r>
          </a:p>
          <a:p xmlns:a="http://schemas.openxmlformats.org/drawingml/2006/main">
            <a:r>
              <a:t>MoA Sections 4-5: https://arxiv.org/html/2210.05144</a:t>
            </a:r>
          </a:p>
          <a:p xmlns:a="http://schemas.openxmlformats.org/drawingml/2006/main">
            <a:r>
              <a:t>MoH Section 3.2: https://arxiv.org/html/2410.11842</a:t>
            </a:r>
          </a:p>
          <a:p xmlns:a="http://schemas.openxmlformats.org/drawingml/2006/main">
            <a:r>
              <a:t>SUT Sections 3.1-3.2: https://aclanthology.org/2023.emnlp-main.12.pdf</a:t>
            </a:r>
          </a:p>
          <a:p xmlns:a="http://schemas.openxmlformats.org/drawingml/2006/main">
            <a:r>
              <a:t>MoM Sections 3.1-3.3: https://arxiv.org/html/2407.06677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6bc9d1d3824d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8a0f8bb68e47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040bf9be3a47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aca33db6eb42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cbe262b8344ea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bfc77e752142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69A08B-63F3-4B60-A062-45FA54EC47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E4E954-4597-45DE-938F-B1132CEE85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3CA36-4D19-4818-A8B9-484F335E0D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CE5F12-4D63-44D3-9742-1FD2D727F0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338EB7-2492-472F-A1A9-06DC25B202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28AD31-E119-476D-8CD4-76B2F21135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F212BA-75EC-4452-B763-D2698BD807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ACD26E-D4DC-4177-BDAB-9D5A70A6AE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6ECF47-189B-41A6-8011-B6D81C02B2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8CBBE4-66B0-40AD-8FED-2A5FE67659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8242b9f5924913" /><Relationship Type="http://schemas.openxmlformats.org/officeDocument/2006/relationships/slideLayout" Target="/ppt/slideLayouts/slideLayout1.xml" Id="Re231d6732d4f4f23" /><Relationship Type="http://schemas.openxmlformats.org/officeDocument/2006/relationships/slideLayout" Target="/ppt/slideLayouts/slideLayout2.xml" Id="R197dc95bd87f4503" /><Relationship Type="http://schemas.openxmlformats.org/officeDocument/2006/relationships/slideLayout" Target="/ppt/slideLayouts/slideLayout3.xml" Id="Rd1971615dc5345ef" /><Relationship Type="http://schemas.openxmlformats.org/officeDocument/2006/relationships/slideLayout" Target="/ppt/slideLayouts/slideLayout4.xml" Id="Rd676cf066f88456e" /><Relationship Type="http://schemas.openxmlformats.org/officeDocument/2006/relationships/slideLayout" Target="/ppt/slideLayouts/slideLayout5.xml" Id="R3fe7d17bffe3488b" /><Relationship Type="http://schemas.openxmlformats.org/officeDocument/2006/relationships/slideLayout" Target="/ppt/slideLayouts/slideLayout6.xml" Id="R9739a4b3ccde46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31d6732d4f4f23"/>
    <p:sldLayoutId xmlns:r="http://schemas.openxmlformats.org/officeDocument/2006/relationships" id="2147483650" r:id="R197dc95bd87f4503"/>
    <p:sldLayoutId xmlns:r="http://schemas.openxmlformats.org/officeDocument/2006/relationships" id="2147483651" r:id="Rd1971615dc5345ef"/>
    <p:sldLayoutId xmlns:r="http://schemas.openxmlformats.org/officeDocument/2006/relationships" id="2147483652" r:id="Rd676cf066f88456e"/>
    <p:sldLayoutId xmlns:r="http://schemas.openxmlformats.org/officeDocument/2006/relationships" id="2147483653" r:id="R3fe7d17bffe3488b"/>
    <p:sldLayoutId xmlns:r="http://schemas.openxmlformats.org/officeDocument/2006/relationships" id="2147483654" r:id="R9739a4b3ccde46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efe7ef1fb94955" /><Relationship Type="http://schemas.openxmlformats.org/officeDocument/2006/relationships/notesSlide" Target="/ppt/notesSlides/notesSlide1.xml" Id="R6920b186729342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490ceea9084f5d" /><Relationship Type="http://schemas.openxmlformats.org/officeDocument/2006/relationships/image" Target="/ppt/media/image.png" Id="R4943112db2cf4f45" /><Relationship Type="http://schemas.openxmlformats.org/officeDocument/2006/relationships/notesSlide" Target="/ppt/notesSlides/notesSlide2.xml" Id="R541df0817a0049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9323741b0b49b5" /><Relationship Type="http://schemas.openxmlformats.org/officeDocument/2006/relationships/image" Target="/ppt/media/image2.png" Id="R93716b4d01454c43" /><Relationship Type="http://schemas.openxmlformats.org/officeDocument/2006/relationships/notesSlide" Target="/ppt/notesSlides/notesSlide3.xml" Id="R99586dc4570b4f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f6be0392df4e1d" /><Relationship Type="http://schemas.openxmlformats.org/officeDocument/2006/relationships/image" Target="/ppt/media/image3.png" Id="R25920827ec0245a8" /><Relationship Type="http://schemas.openxmlformats.org/officeDocument/2006/relationships/notesSlide" Target="/ppt/notesSlides/notesSlide4.xml" Id="R3134e448bcb14a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285e7852344828" /><Relationship Type="http://schemas.openxmlformats.org/officeDocument/2006/relationships/image" Target="/ppt/media/image4.png" Id="R5e6bf6e37bc74762" /><Relationship Type="http://schemas.openxmlformats.org/officeDocument/2006/relationships/notesSlide" Target="/ppt/notesSlides/notesSlide5.xml" Id="R20fd3cd89c104d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45c32b8e714bc6" /><Relationship Type="http://schemas.openxmlformats.org/officeDocument/2006/relationships/notesSlide" Target="/ppt/notesSlides/notesSlide6.xml" Id="R05f6a556b2b940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8978d941d44832" /><Relationship Type="http://schemas.openxmlformats.org/officeDocument/2006/relationships/notesSlide" Target="/ppt/notesSlides/notesSlide7.xml" Id="R10c3b98aa7fa47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0f496dc3834a9f" /><Relationship Type="http://schemas.openxmlformats.org/officeDocument/2006/relationships/image" Target="/ppt/media/image5.png" Id="Re05e1a852a3a413b" /><Relationship Type="http://schemas.openxmlformats.org/officeDocument/2006/relationships/notesSlide" Target="/ppt/notesSlides/notesSlide8.xml" Id="R766a76231f694d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d19a24cd934cdb" /><Relationship Type="http://schemas.openxmlformats.org/officeDocument/2006/relationships/notesSlide" Target="/ppt/notesSlides/notesSlide9.xml" Id="Rfc5c95600e1d46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232f68c9884b0c" /><Relationship Type="http://schemas.openxmlformats.org/officeDocument/2006/relationships/notesSlide" Target="/ppt/notesSlides/notesSlide10.xml" Id="Rf9eca6bd050c4f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271df76f4946b7" /><Relationship Type="http://schemas.openxmlformats.org/officeDocument/2006/relationships/image" Target="/ppt/media/image.gif" Id="Rd5ba1bd8b86e4976" /><Relationship Type="http://schemas.openxmlformats.org/officeDocument/2006/relationships/image" Target="/ppt/media/image6.png" Id="Ra4c239f824f64df2" /><Relationship Type="http://schemas.openxmlformats.org/officeDocument/2006/relationships/notesSlide" Target="/ppt/notesSlides/notesSlide11.xml" Id="Rb66ec151a7904d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738a5f4b1749e7" /><Relationship Type="http://schemas.openxmlformats.org/officeDocument/2006/relationships/notesSlide" Target="/ppt/notesSlides/notesSlide12.xml" Id="R87672e4a27a444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a4223e1b264284" /><Relationship Type="http://schemas.openxmlformats.org/officeDocument/2006/relationships/image" Target="/ppt/media/image7.png" Id="Rec94f5c804ac4f10" /><Relationship Type="http://schemas.openxmlformats.org/officeDocument/2006/relationships/notesSlide" Target="/ppt/notesSlides/notesSlide13.xml" Id="R3fc8e4f0467144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2d23f490d6e4a43" /><Relationship Type="http://schemas.openxmlformats.org/officeDocument/2006/relationships/image" Target="/ppt/media/image8.png" Id="Rb6060877440747bf" /><Relationship Type="http://schemas.openxmlformats.org/officeDocument/2006/relationships/notesSlide" Target="/ppt/notesSlides/notesSlide14.xml" Id="R2fedf70beff84f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e254b6bdb754e42" /><Relationship Type="http://schemas.openxmlformats.org/officeDocument/2006/relationships/image" Target="/ppt/media/image9.png" Id="R5561081c19634644" /><Relationship Type="http://schemas.openxmlformats.org/officeDocument/2006/relationships/image" Target="/ppt/media/image10.png" Id="R35092f2668cf4cfd" /><Relationship Type="http://schemas.openxmlformats.org/officeDocument/2006/relationships/image" Target="/ppt/media/image11.png" Id="Ra904195fb5854294" /><Relationship Type="http://schemas.openxmlformats.org/officeDocument/2006/relationships/notesSlide" Target="/ppt/notesSlides/notesSlide15.xml" Id="R700cb860e13d48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f7c45083a7e42aa" /><Relationship Type="http://schemas.openxmlformats.org/officeDocument/2006/relationships/notesSlide" Target="/ppt/notesSlides/notesSlide16.xml" Id="Rdb499a8e6c3341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6eff41e9093480d" /><Relationship Type="http://schemas.openxmlformats.org/officeDocument/2006/relationships/notesSlide" Target="/ppt/notesSlides/notesSlide17.xml" Id="R83918ae08c9340a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90A7DB-6350-44AC-B18A-C88A7D4E39BF}"/>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PAPER DISCUSSION</a:t>
            </a:r>
          </a:p>
        </p:txBody>
      </p:sp>
      <p:sp>
        <p:nvSpPr>
          <p:cNvPr id="2" name="">
            <a:extLst xmlns:a="http://schemas.openxmlformats.org/drawingml/2006/main">
              <a:ext uri="{FF2B5EF4-FFF2-40B4-BE49-F238E27FC236}">
                <a16:creationId xmlns:a16="http://schemas.microsoft.com/office/drawing/2014/main" id="{BAD35AC2-B20B-488E-85DB-ED38CB6786EC}"/>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Sparse Universal Transformer</a:t>
            </a:r>
          </a:p>
        </p:txBody>
      </p:sp>
      <p:sp>
        <p:nvSpPr>
          <p:cNvPr id="3" name="">
            <a:extLst xmlns:a="http://schemas.openxmlformats.org/drawingml/2006/main">
              <a:ext uri="{FF2B5EF4-FFF2-40B4-BE49-F238E27FC236}">
                <a16:creationId xmlns:a16="http://schemas.microsoft.com/office/drawing/2014/main" id="{B098E785-BEF8-4722-95D5-884D359CEE8E}"/>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2DAB36B-D60E-43C0-BDD6-C80A2348753D}"/>
              </a:ext>
            </a:extLst>
          </p:cNvPr>
          <p:cNvSpPr>
            <a:spLocks xmlns:a="http://schemas.openxmlformats.org/drawingml/2006/main" noGrp="1"/>
          </p:cNvSpPr>
          <p:nvPr/>
        </p:nvSpPr>
        <p:spPr>
          <a:xfrm xmlns:a="http://schemas.openxmlformats.org/drawingml/2006/main">
            <a:off x="457200" y="167640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18352D"/>
                </a:solidFill>
                <a:latin typeface="Arial"/>
                <a:ea typeface="Arial"/>
                <a:cs typeface="Arial"/>
              </a:defRPr>
            </a:defPPr>
          </a:lstStyle>
          <a:p xmlns:a="http://schemas.openxmlformats.org/drawingml/2006/main">
            <a:pPr>
              <a:defRPr sz="3300" b="0">
                <a:solidFill>
                  <a:srgbClr val="18352D"/>
                </a:solidFill>
                <a:latin typeface="Arial"/>
                <a:ea typeface="Arial"/>
                <a:cs typeface="Arial"/>
              </a:defRPr>
            </a:pPr>
            <a:r>
              <a:rPr sz="3300" b="0">
                <a:solidFill>
                  <a:srgbClr val="18352D"/>
                </a:solidFill>
                <a:latin typeface="Arial"/>
                <a:ea typeface="Arial"/>
                <a:cs typeface="Arial"/>
              </a:rPr>
              <a:t>Shared refinement with sparse experts</a:t>
            </a:r>
          </a:p>
          <a:p xmlns:a="http://schemas.openxmlformats.org/drawingml/2006/main">
            <a:pPr>
              <a:defRPr sz="3300" b="0">
                <a:solidFill>
                  <a:srgbClr val="18352D"/>
                </a:solidFill>
                <a:latin typeface="Arial"/>
                <a:ea typeface="Arial"/>
                <a:cs typeface="Arial"/>
              </a:defRPr>
            </a:pPr>
            <a:r>
              <a:rPr sz="3300" b="0">
                <a:solidFill>
                  <a:srgbClr val="18352D"/>
                </a:solidFill>
                <a:latin typeface="Arial"/>
                <a:ea typeface="Arial"/>
                <a:cs typeface="Arial"/>
              </a:rPr>
              <a:t>and adaptive computation</a:t>
            </a:r>
          </a:p>
        </p:txBody>
      </p:sp>
      <p:sp>
        <p:nvSpPr>
          <p:cNvPr id="5" name="">
            <a:extLst xmlns:a="http://schemas.openxmlformats.org/drawingml/2006/main">
              <a:ext uri="{FF2B5EF4-FFF2-40B4-BE49-F238E27FC236}">
                <a16:creationId xmlns:a16="http://schemas.microsoft.com/office/drawing/2014/main" id="{F7341307-B5D1-41C0-89D6-6ACCDA3811CA}"/>
              </a:ext>
            </a:extLst>
          </p:cNvPr>
          <p:cNvSpPr>
            <a:spLocks xmlns:a="http://schemas.openxmlformats.org/drawingml/2006/main" noGrp="1"/>
          </p:cNvSpPr>
          <p:nvPr/>
        </p:nvSpPr>
        <p:spPr>
          <a:xfrm xmlns:a="http://schemas.openxmlformats.org/drawingml/2006/main">
            <a:off x="457200" y="342900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Shawn Tan, Yikang Shen, Zhenfang Chen,</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Aaron Courville and Chuang Gan</a:t>
            </a:r>
          </a:p>
        </p:txBody>
      </p:sp>
      <p:sp>
        <p:nvSpPr>
          <p:cNvPr id="6" name="">
            <a:extLst xmlns:a="http://schemas.openxmlformats.org/drawingml/2006/main">
              <a:ext uri="{FF2B5EF4-FFF2-40B4-BE49-F238E27FC236}">
                <a16:creationId xmlns:a16="http://schemas.microsoft.com/office/drawing/2014/main" id="{CA2E2254-C133-43FB-B724-40ABEAAA5016}"/>
              </a:ext>
            </a:extLst>
          </p:cNvPr>
          <p:cNvSpPr>
            <a:spLocks xmlns:a="http://schemas.openxmlformats.org/drawingml/2006/main" noGrp="1"/>
          </p:cNvSpPr>
          <p:nvPr/>
        </p:nvSpPr>
        <p:spPr>
          <a:xfrm xmlns:a="http://schemas.openxmlformats.org/drawingml/2006/main">
            <a:off x="457200" y="4572000"/>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246648"/>
                </a:solidFill>
                <a:latin typeface="Arial"/>
                <a:ea typeface="Arial"/>
                <a:cs typeface="Arial"/>
              </a:defRPr>
            </a:defPPr>
          </a:lstStyle>
          <a:p xmlns:a="http://schemas.openxmlformats.org/drawingml/2006/main">
            <a:pPr>
              <a:defRPr sz="2250" b="1">
                <a:solidFill>
                  <a:srgbClr val="246648"/>
                </a:solidFill>
                <a:latin typeface="Arial"/>
                <a:ea typeface="Arial"/>
                <a:cs typeface="Arial"/>
              </a:defRPr>
            </a:pPr>
            <a:r>
              <a:rPr sz="2250" b="1">
                <a:solidFill>
                  <a:srgbClr val="246648"/>
                </a:solidFill>
                <a:latin typeface="Arial"/>
                <a:ea typeface="Arial"/>
                <a:cs typeface="Arial"/>
              </a:rPr>
              <a:t>EMNLP 2023</a:t>
            </a:r>
          </a:p>
        </p:txBody>
      </p:sp>
      <p:sp>
        <p:nvSpPr>
          <p:cNvPr id="7" name="">
            <a:extLst xmlns:a="http://schemas.openxmlformats.org/drawingml/2006/main">
              <a:ext uri="{FF2B5EF4-FFF2-40B4-BE49-F238E27FC236}">
                <a16:creationId xmlns:a16="http://schemas.microsoft.com/office/drawing/2014/main" id="{08DFAD85-45B7-4DC5-9FEB-13490D56800F}"/>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Methods, task-specific evidence, and structural comparison</a:t>
            </a:r>
          </a:p>
        </p:txBody>
      </p:sp>
    </p:spTree>
    <p:extLst>
      <p:ext uri="{BB962C8B-B14F-4D97-AF65-F5344CB8AC3E}">
        <p14:creationId xmlns:p14="http://schemas.microsoft.com/office/powerpoint/2010/main" val="13651233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253DEC-7197-4346-B107-935ED27277C4}"/>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MOTIVATION</a:t>
            </a:r>
          </a:p>
        </p:txBody>
      </p:sp>
      <p:sp>
        <p:nvSpPr>
          <p:cNvPr id="2" name="">
            <a:extLst xmlns:a="http://schemas.openxmlformats.org/drawingml/2006/main">
              <a:ext uri="{FF2B5EF4-FFF2-40B4-BE49-F238E27FC236}">
                <a16:creationId xmlns:a16="http://schemas.microsoft.com/office/drawing/2014/main" id="{D3C1EA6E-9B4D-460A-BC96-14E0B4BADB05}"/>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Why sparsify a Universal Transformer?</a:t>
            </a:r>
          </a:p>
        </p:txBody>
      </p:sp>
      <p:sp>
        <p:nvSpPr>
          <p:cNvPr id="3" name="">
            <a:extLst xmlns:a="http://schemas.openxmlformats.org/drawingml/2006/main">
              <a:ext uri="{FF2B5EF4-FFF2-40B4-BE49-F238E27FC236}">
                <a16:creationId xmlns:a16="http://schemas.microsoft.com/office/drawing/2014/main" id="{ADBBD7A8-29CB-4117-9EA4-6B925E9D55E3}"/>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02</a:t>
            </a:r>
          </a:p>
        </p:txBody>
      </p:sp>
      <p:pic>
        <p:nvPicPr>
          <p:cNvPr id="4" name="">
            <a:extLst xmlns:a="http://schemas.openxmlformats.org/drawingml/2006/main">
              <a:ext uri="{FF2B5EF4-FFF2-40B4-BE49-F238E27FC236}">
                <a16:creationId xmlns:a16="http://schemas.microsoft.com/office/drawing/2014/main" id="{3742CF3F-E624-4723-8559-DC32EE209DC5}"/>
              </a:ext>
            </a:extLst>
          </p:cNvPr>
          <p:cNvPicPr>
            <a:picLocks xmlns:a="http://schemas.openxmlformats.org/drawingml/2006/main" noChangeAspect="1"/>
          </p:cNvPicPr>
          <p:nvPr/>
        </p:nvPicPr>
        <p:blipFill>
          <a:blip xmlns:r="http://schemas.openxmlformats.org/officeDocument/2006/relationships" xmlns:a="http://schemas.openxmlformats.org/drawingml/2006/main" r:embed="R4943112db2cf4f45"/>
          <a:stretch xmlns:a="http://schemas.openxmlformats.org/drawingml/2006/main"/>
        </p:blipFill>
        <p:spPr>
          <a:xfrm xmlns:a="http://schemas.openxmlformats.org/drawingml/2006/main">
            <a:off x="464439" y="1457325"/>
            <a:ext cx="5414772"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B01DA2-106B-4F66-9765-603E5D8101E9}"/>
              </a:ext>
            </a:extLst>
          </p:cNvPr>
          <p:cNvSpPr>
            <a:spLocks xmlns:a="http://schemas.openxmlformats.org/drawingml/2006/main" noGrp="1"/>
          </p:cNvSpPr>
          <p:nvPr/>
        </p:nvSpPr>
        <p:spPr>
          <a:xfrm xmlns:a="http://schemas.openxmlformats.org/drawingml/2006/main">
            <a:off x="6381750" y="15049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UT: reuse an update rule</a:t>
            </a:r>
          </a:p>
        </p:txBody>
      </p:sp>
      <p:sp>
        <p:nvSpPr>
          <p:cNvPr id="6" name="">
            <a:extLst xmlns:a="http://schemas.openxmlformats.org/drawingml/2006/main">
              <a:ext uri="{FF2B5EF4-FFF2-40B4-BE49-F238E27FC236}">
                <a16:creationId xmlns:a16="http://schemas.microsoft.com/office/drawing/2014/main" id="{85E9FBE7-7B09-47F3-A335-8E8481AF25F4}"/>
              </a:ext>
            </a:extLst>
          </p:cNvPr>
          <p:cNvSpPr>
            <a:spLocks xmlns:a="http://schemas.openxmlformats.org/drawingml/2006/main" noGrp="1"/>
          </p:cNvSpPr>
          <p:nvPr/>
        </p:nvSpPr>
        <p:spPr>
          <a:xfrm xmlns:a="http://schemas.openxmlformats.org/drawingml/2006/main">
            <a:off x="6381750" y="201930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Shared weights support repeated refinement across depth.</a:t>
            </a:r>
          </a:p>
        </p:txBody>
      </p:sp>
      <p:sp>
        <p:nvSpPr>
          <p:cNvPr id="7" name="">
            <a:extLst xmlns:a="http://schemas.openxmlformats.org/drawingml/2006/main">
              <a:ext uri="{FF2B5EF4-FFF2-40B4-BE49-F238E27FC236}">
                <a16:creationId xmlns:a16="http://schemas.microsoft.com/office/drawing/2014/main" id="{336265B6-E692-4A64-815F-1A705AE2B6E9}"/>
              </a:ext>
            </a:extLst>
          </p:cNvPr>
          <p:cNvSpPr>
            <a:spLocks xmlns:a="http://schemas.openxmlformats.org/drawingml/2006/main" noGrp="1"/>
          </p:cNvSpPr>
          <p:nvPr/>
        </p:nvSpPr>
        <p:spPr>
          <a:xfrm xmlns:a="http://schemas.openxmlformats.org/drawingml/2006/main">
            <a:off x="6381750" y="30194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Scaling problem</a:t>
            </a:r>
          </a:p>
        </p:txBody>
      </p:sp>
      <p:sp>
        <p:nvSpPr>
          <p:cNvPr id="8" name="">
            <a:extLst xmlns:a="http://schemas.openxmlformats.org/drawingml/2006/main">
              <a:ext uri="{FF2B5EF4-FFF2-40B4-BE49-F238E27FC236}">
                <a16:creationId xmlns:a16="http://schemas.microsoft.com/office/drawing/2014/main" id="{32D0FE5E-5D2A-4A48-912A-028B1B0B6F67}"/>
              </a:ext>
            </a:extLst>
          </p:cNvPr>
          <p:cNvSpPr>
            <a:spLocks xmlns:a="http://schemas.openxmlformats.org/drawingml/2006/main" noGrp="1"/>
          </p:cNvSpPr>
          <p:nvPr/>
        </p:nvSpPr>
        <p:spPr>
          <a:xfrm xmlns:a="http://schemas.openxmlformats.org/drawingml/2006/main">
            <a:off x="6381750" y="35242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 larger dense block costs more every time it runs.</a:t>
            </a:r>
          </a:p>
        </p:txBody>
      </p:sp>
      <p:sp>
        <p:nvSpPr>
          <p:cNvPr id="9" name="">
            <a:extLst xmlns:a="http://schemas.openxmlformats.org/drawingml/2006/main">
              <a:ext uri="{FF2B5EF4-FFF2-40B4-BE49-F238E27FC236}">
                <a16:creationId xmlns:a16="http://schemas.microsoft.com/office/drawing/2014/main" id="{2CA5A33B-E55A-4F78-9926-9447A2E26676}"/>
              </a:ext>
            </a:extLst>
          </p:cNvPr>
          <p:cNvSpPr>
            <a:spLocks xmlns:a="http://schemas.openxmlformats.org/drawingml/2006/main" noGrp="1"/>
          </p:cNvSpPr>
          <p:nvPr/>
        </p:nvSpPr>
        <p:spPr>
          <a:xfrm xmlns:a="http://schemas.openxmlformats.org/drawingml/2006/main">
            <a:off x="6381750" y="45243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SUT: select computation</a:t>
            </a:r>
          </a:p>
        </p:txBody>
      </p:sp>
      <p:sp>
        <p:nvSpPr>
          <p:cNvPr id="10" name="">
            <a:extLst xmlns:a="http://schemas.openxmlformats.org/drawingml/2006/main">
              <a:ext uri="{FF2B5EF4-FFF2-40B4-BE49-F238E27FC236}">
                <a16:creationId xmlns:a16="http://schemas.microsoft.com/office/drawing/2014/main" id="{43FAC84F-5B6D-4B20-984E-DAA7185B4CB1}"/>
              </a:ext>
            </a:extLst>
          </p:cNvPr>
          <p:cNvSpPr>
            <a:spLocks xmlns:a="http://schemas.openxmlformats.org/drawingml/2006/main" noGrp="1"/>
          </p:cNvSpPr>
          <p:nvPr/>
        </p:nvSpPr>
        <p:spPr>
          <a:xfrm xmlns:a="http://schemas.openxmlformats.org/drawingml/2006/main">
            <a:off x="6381750" y="502920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Increase the expert pool while activating only a subset.</a:t>
            </a:r>
          </a:p>
        </p:txBody>
      </p:sp>
      <p:sp>
        <p:nvSpPr>
          <p:cNvPr id="11" name="">
            <a:extLst xmlns:a="http://schemas.openxmlformats.org/drawingml/2006/main">
              <a:ext uri="{FF2B5EF4-FFF2-40B4-BE49-F238E27FC236}">
                <a16:creationId xmlns:a16="http://schemas.microsoft.com/office/drawing/2014/main" id="{96F77F63-E941-4BF5-AD27-085722249FAD}"/>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Original SUT Figure 1. Parameter sharing alone does not reduce executed depth.</a:t>
            </a:r>
          </a:p>
        </p:txBody>
      </p:sp>
    </p:spTree>
    <p:extLst>
      <p:ext uri="{BB962C8B-B14F-4D97-AF65-F5344CB8AC3E}">
        <p14:creationId xmlns:p14="http://schemas.microsoft.com/office/powerpoint/2010/main" val="8990465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53A81C-22BF-4092-8D96-D03935012DA4}"/>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FOUNDATION</a:t>
            </a:r>
          </a:p>
        </p:txBody>
      </p:sp>
      <p:sp>
        <p:nvSpPr>
          <p:cNvPr id="2" name="">
            <a:extLst xmlns:a="http://schemas.openxmlformats.org/drawingml/2006/main">
              <a:ext uri="{FF2B5EF4-FFF2-40B4-BE49-F238E27FC236}">
                <a16:creationId xmlns:a16="http://schemas.microsoft.com/office/drawing/2014/main" id="{D05617BB-52FD-49D2-9AD5-8EE03CCAAA8F}"/>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Universal Transformer: the shared backbone</a:t>
            </a:r>
          </a:p>
        </p:txBody>
      </p:sp>
      <p:sp>
        <p:nvSpPr>
          <p:cNvPr id="3" name="">
            <a:extLst xmlns:a="http://schemas.openxmlformats.org/drawingml/2006/main">
              <a:ext uri="{FF2B5EF4-FFF2-40B4-BE49-F238E27FC236}">
                <a16:creationId xmlns:a16="http://schemas.microsoft.com/office/drawing/2014/main" id="{777D43DE-8367-4210-A3B4-A85B0A2B1A9E}"/>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542D306F-1070-431B-B1AD-8D71BA6E99E6}"/>
              </a:ext>
            </a:extLst>
          </p:cNvPr>
          <p:cNvPicPr>
            <a:picLocks xmlns:a="http://schemas.openxmlformats.org/drawingml/2006/main" noChangeAspect="1"/>
          </p:cNvPicPr>
          <p:nvPr/>
        </p:nvPicPr>
        <p:blipFill>
          <a:blip xmlns:r="http://schemas.openxmlformats.org/officeDocument/2006/relationships" xmlns:a="http://schemas.openxmlformats.org/drawingml/2006/main" r:embed="R93716b4d01454c43"/>
          <a:stretch xmlns:a="http://schemas.openxmlformats.org/drawingml/2006/main"/>
        </p:blipFill>
        <p:spPr>
          <a:xfrm xmlns:a="http://schemas.openxmlformats.org/drawingml/2006/main">
            <a:off x="934931" y="1266825"/>
            <a:ext cx="4950039" cy="485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4BBC699-212A-4AB8-A283-A10BF978132D}"/>
              </a:ext>
            </a:extLst>
          </p:cNvPr>
          <p:cNvSpPr>
            <a:spLocks xmlns:a="http://schemas.openxmlformats.org/drawingml/2006/main" noGrp="1"/>
          </p:cNvSpPr>
          <p:nvPr/>
        </p:nvSpPr>
        <p:spPr>
          <a:xfrm xmlns:a="http://schemas.openxmlformats.org/drawingml/2006/main">
            <a:off x="6762750" y="15144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8352D"/>
                </a:solidFill>
                <a:latin typeface="Arial"/>
                <a:ea typeface="Arial"/>
                <a:cs typeface="Arial"/>
              </a:defRPr>
            </a:defPPr>
          </a:lstStyle>
          <a:p xmlns:a="http://schemas.openxmlformats.org/drawingml/2006/main">
            <a:pPr>
              <a:defRPr sz="2250" b="1">
                <a:solidFill>
                  <a:srgbClr val="18352D"/>
                </a:solidFill>
                <a:latin typeface="Arial"/>
                <a:ea typeface="Arial"/>
                <a:cs typeface="Arial"/>
              </a:defRPr>
            </a:pPr>
            <a:r>
              <a:rPr sz="2250" b="1">
                <a:solidFill>
                  <a:srgbClr val="18352D"/>
                </a:solidFill>
                <a:latin typeface="Arial"/>
                <a:ea typeface="Arial"/>
                <a:cs typeface="Arial"/>
              </a:rPr>
              <a:t>Same parameters at every step</a:t>
            </a:r>
          </a:p>
        </p:txBody>
      </p:sp>
      <p:sp>
        <p:nvSpPr>
          <p:cNvPr id="6" name="">
            <a:extLst xmlns:a="http://schemas.openxmlformats.org/drawingml/2006/main">
              <a:ext uri="{FF2B5EF4-FFF2-40B4-BE49-F238E27FC236}">
                <a16:creationId xmlns:a16="http://schemas.microsoft.com/office/drawing/2014/main" id="{ED856850-CA98-465A-B7E0-CF4C0BBD5694}"/>
              </a:ext>
            </a:extLst>
          </p:cNvPr>
          <p:cNvSpPr>
            <a:spLocks xmlns:a="http://schemas.openxmlformats.org/drawingml/2006/main" noGrp="1"/>
          </p:cNvSpPr>
          <p:nvPr/>
        </p:nvSpPr>
        <p:spPr>
          <a:xfrm xmlns:a="http://schemas.openxmlformats.org/drawingml/2006/main">
            <a:off x="6762750" y="240030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246648"/>
                </a:solidFill>
                <a:latin typeface="Arial"/>
                <a:ea typeface="Arial"/>
                <a:cs typeface="Arial"/>
              </a:defRPr>
            </a:defPPr>
          </a:lstStyle>
          <a:p xmlns:a="http://schemas.openxmlformats.org/drawingml/2006/main">
            <a:pPr>
              <a:defRPr sz="2850" b="1">
                <a:solidFill>
                  <a:srgbClr val="246648"/>
                </a:solidFill>
                <a:latin typeface="Arial"/>
                <a:ea typeface="Arial"/>
                <a:cs typeface="Arial"/>
              </a:defRPr>
            </a:pPr>
            <a:r>
              <a:rPr sz="2850" b="1">
                <a:solidFill>
                  <a:srgbClr val="246648"/>
                </a:solidFill>
                <a:latin typeface="Arial"/>
                <a:ea typeface="Arial"/>
                <a:cs typeface="Arial"/>
              </a:rPr>
              <a:t>Hₗ = Bθ(Hₗ₋₁)</a:t>
            </a:r>
          </a:p>
        </p:txBody>
      </p:sp>
      <p:sp>
        <p:nvSpPr>
          <p:cNvPr id="7" name="">
            <a:extLst xmlns:a="http://schemas.openxmlformats.org/drawingml/2006/main">
              <a:ext uri="{FF2B5EF4-FFF2-40B4-BE49-F238E27FC236}">
                <a16:creationId xmlns:a16="http://schemas.microsoft.com/office/drawing/2014/main" id="{15ED2375-2C9D-40FE-9706-D64E68F01988}"/>
              </a:ext>
            </a:extLst>
          </p:cNvPr>
          <p:cNvSpPr>
            <a:spLocks xmlns:a="http://schemas.openxmlformats.org/drawingml/2006/main" noGrp="1"/>
          </p:cNvSpPr>
          <p:nvPr/>
        </p:nvSpPr>
        <p:spPr>
          <a:xfrm xmlns:a="http://schemas.openxmlformats.org/drawingml/2006/main">
            <a:off x="6762750" y="333375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Parallel across token positions</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Sequential across refinement steps</a:t>
            </a:r>
          </a:p>
        </p:txBody>
      </p:sp>
      <p:sp>
        <p:nvSpPr>
          <p:cNvPr id="8" name="">
            <a:extLst xmlns:a="http://schemas.openxmlformats.org/drawingml/2006/main">
              <a:ext uri="{FF2B5EF4-FFF2-40B4-BE49-F238E27FC236}">
                <a16:creationId xmlns:a16="http://schemas.microsoft.com/office/drawing/2014/main" id="{FEDD38C8-386C-4346-ADE5-8359374F9002}"/>
              </a:ext>
            </a:extLst>
          </p:cNvPr>
          <p:cNvSpPr>
            <a:spLocks xmlns:a="http://schemas.openxmlformats.org/drawingml/2006/main" noGrp="1"/>
          </p:cNvSpPr>
          <p:nvPr/>
        </p:nvSpPr>
        <p:spPr>
          <a:xfrm xmlns:a="http://schemas.openxmlformats.org/drawingml/2006/main">
            <a:off x="6762750" y="4600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Optional per-token halting</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controls how long refinement continues.</a:t>
            </a:r>
          </a:p>
        </p:txBody>
      </p:sp>
      <p:sp>
        <p:nvSpPr>
          <p:cNvPr id="9" name="">
            <a:extLst xmlns:a="http://schemas.openxmlformats.org/drawingml/2006/main">
              <a:ext uri="{FF2B5EF4-FFF2-40B4-BE49-F238E27FC236}">
                <a16:creationId xmlns:a16="http://schemas.microsoft.com/office/drawing/2014/main" id="{B4981277-4275-48E7-9F9C-FC1EDA90C5E2}"/>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Dehghani et al., Figure 4. Schematic equation omits positional and step signals.</a:t>
            </a:r>
          </a:p>
        </p:txBody>
      </p:sp>
    </p:spTree>
    <p:extLst>
      <p:ext uri="{BB962C8B-B14F-4D97-AF65-F5344CB8AC3E}">
        <p14:creationId xmlns:p14="http://schemas.microsoft.com/office/powerpoint/2010/main" val="13802870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B04CF9-B2AC-4B5A-A170-B8057133B1D4}"/>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SPARSE COMPUTATION</a:t>
            </a:r>
          </a:p>
        </p:txBody>
      </p:sp>
      <p:sp>
        <p:nvSpPr>
          <p:cNvPr id="2" name="">
            <a:extLst xmlns:a="http://schemas.openxmlformats.org/drawingml/2006/main">
              <a:ext uri="{FF2B5EF4-FFF2-40B4-BE49-F238E27FC236}">
                <a16:creationId xmlns:a16="http://schemas.microsoft.com/office/drawing/2014/main" id="{1AC61DF9-3A1C-42FA-B503-E2BEBA2CABAC}"/>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SUT block and sparse feedforward experts</a:t>
            </a:r>
          </a:p>
        </p:txBody>
      </p:sp>
      <p:sp>
        <p:nvSpPr>
          <p:cNvPr id="3" name="">
            <a:extLst xmlns:a="http://schemas.openxmlformats.org/drawingml/2006/main">
              <a:ext uri="{FF2B5EF4-FFF2-40B4-BE49-F238E27FC236}">
                <a16:creationId xmlns:a16="http://schemas.microsoft.com/office/drawing/2014/main" id="{3265CA17-0018-4CFB-9C0A-FDA0F3ED8B36}"/>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04</a:t>
            </a:r>
          </a:p>
        </p:txBody>
      </p:sp>
      <p:pic>
        <p:nvPicPr>
          <p:cNvPr id="4" name="">
            <a:extLst xmlns:a="http://schemas.openxmlformats.org/drawingml/2006/main">
              <a:ext uri="{FF2B5EF4-FFF2-40B4-BE49-F238E27FC236}">
                <a16:creationId xmlns:a16="http://schemas.microsoft.com/office/drawing/2014/main" id="{D30D66A4-596B-4442-A572-82D1E79DA7AD}"/>
              </a:ext>
            </a:extLst>
          </p:cNvPr>
          <p:cNvPicPr>
            <a:picLocks xmlns:a="http://schemas.openxmlformats.org/drawingml/2006/main" noChangeAspect="1"/>
          </p:cNvPicPr>
          <p:nvPr/>
        </p:nvPicPr>
        <p:blipFill>
          <a:blip xmlns:r="http://schemas.openxmlformats.org/officeDocument/2006/relationships" xmlns:a="http://schemas.openxmlformats.org/drawingml/2006/main" r:embed="R25920827ec0245a8"/>
          <a:stretch xmlns:a="http://schemas.openxmlformats.org/drawingml/2006/main"/>
        </p:blipFill>
        <p:spPr>
          <a:xfrm xmlns:a="http://schemas.openxmlformats.org/drawingml/2006/main">
            <a:off x="457200" y="1472648"/>
            <a:ext cx="3333750" cy="45223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46076C-B419-423C-B91D-14555608B3A0}"/>
              </a:ext>
            </a:extLst>
          </p:cNvPr>
          <p:cNvSpPr>
            <a:spLocks xmlns:a="http://schemas.openxmlformats.org/drawingml/2006/main" noGrp="1"/>
          </p:cNvSpPr>
          <p:nvPr/>
        </p:nvSpPr>
        <p:spPr>
          <a:xfrm xmlns:a="http://schemas.openxmlformats.org/drawingml/2006/main">
            <a:off x="4286250" y="1495425"/>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8352D"/>
                </a:solidFill>
                <a:latin typeface="Arial"/>
                <a:ea typeface="Arial"/>
                <a:cs typeface="Arial"/>
              </a:defRPr>
            </a:defPPr>
          </a:lstStyle>
          <a:p xmlns:a="http://schemas.openxmlformats.org/drawingml/2006/main">
            <a:pPr>
              <a:defRPr sz="2250" b="1">
                <a:solidFill>
                  <a:srgbClr val="18352D"/>
                </a:solidFill>
                <a:latin typeface="Arial"/>
                <a:ea typeface="Arial"/>
                <a:cs typeface="Arial"/>
              </a:defRPr>
            </a:pPr>
            <a:r>
              <a:rPr sz="2250" b="1">
                <a:solidFill>
                  <a:srgbClr val="18352D"/>
                </a:solidFill>
                <a:latin typeface="Arial"/>
                <a:ea typeface="Arial"/>
                <a:cs typeface="Arial"/>
              </a:rPr>
              <a:t>FFN expert configuration: (E, k, D)</a:t>
            </a:r>
          </a:p>
        </p:txBody>
      </p:sp>
      <p:graphicFrame>
        <p:nvGraphicFramePr>
          <p:cNvPr id="6" name="">
            <a:extLst xmlns:a="http://schemas.openxmlformats.org/drawingml/2006/main">
              <a:ext uri="{FF2B5EF4-FFF2-40B4-BE49-F238E27FC236}">
                <a16:creationId xmlns:a16="http://schemas.microsoft.com/office/drawing/2014/main" id="{6B69D210-C872-4F24-8CA6-1522147C4744}"/>
              </a:ext>
            </a:extLst>
          </p:cNvPr>
          <p:cNvGraphicFramePr/>
          <p:nvPr/>
        </p:nvGraphicFramePr>
        <p:xfrm>
          <a:off xmlns:a="http://schemas.openxmlformats.org/drawingml/2006/main" x="4286250" y="2143125"/>
          <a:ext xmlns:a="http://schemas.openxmlformats.org/drawingml/2006/main" cx="7096125" cy="1905000"/>
        </p:xfrm>
        <a:graphic xmlns:a="http://schemas.openxmlformats.org/drawingml/2006/main">
          <a:graphicData uri="http://schemas.openxmlformats.org/drawingml/2006/table">
            <a:tbl>
              <a:tblPr/>
              <a:tblGrid>
                <a:gridCol w="1190625"/>
                <a:gridCol w="5905500"/>
              </a:tblGrid>
              <a:tr h="476250">
                <a:tc>
                  <a:txBody>
                    <a:bodyPr lIns="76200" tIns="38100" rIns="76200" bIns="38100"/>
                    <a:lstStyle/>
                    <a:p>
                      <a:pPr algn="l"/>
                      <a:r>
                        <a:rPr sz="1800" b="1">
                          <a:solidFill>
                            <a:srgbClr val="FFFFFF"/>
                          </a:solidFill>
                          <a:latin typeface="Arial"/>
                          <a:ea typeface="Arial"/>
                          <a:cs typeface="Arial"/>
                        </a:rPr>
                        <a:t>Symbol</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00" b="1">
                          <a:solidFill>
                            <a:srgbClr val="FFFFFF"/>
                          </a:solidFill>
                          <a:latin typeface="Arial"/>
                          <a:ea typeface="Arial"/>
                          <a:cs typeface="Arial"/>
                        </a:rPr>
                        <a:t>Meaning</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476250">
                <a:tc>
                  <a:txBody>
                    <a:bodyPr lIns="76200" tIns="38100" rIns="76200" bIns="38100"/>
                    <a:lstStyle/>
                    <a:p>
                      <a:pPr algn="l"/>
                      <a:r>
                        <a:rPr sz="1800" b="0">
                          <a:solidFill>
                            <a:srgbClr val="18352D"/>
                          </a:solidFill>
                          <a:latin typeface="Arial"/>
                          <a:ea typeface="Arial"/>
                          <a:cs typeface="Arial"/>
                        </a:rPr>
                        <a:t>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00" b="0">
                          <a:solidFill>
                            <a:srgbClr val="18352D"/>
                          </a:solidFill>
                          <a:latin typeface="Arial"/>
                          <a:ea typeface="Arial"/>
                          <a:cs typeface="Arial"/>
                        </a:rPr>
                        <a:t>Number of FFN experts</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476250">
                <a:tc>
                  <a:txBody>
                    <a:bodyPr lIns="76200" tIns="38100" rIns="76200" bIns="38100"/>
                    <a:lstStyle/>
                    <a:p>
                      <a:pPr algn="l"/>
                      <a:r>
                        <a:rPr sz="1800" b="0">
                          <a:solidFill>
                            <a:srgbClr val="18352D"/>
                          </a:solidFill>
                          <a:latin typeface="Arial"/>
                          <a:ea typeface="Arial"/>
                          <a:cs typeface="Arial"/>
                        </a:rPr>
                        <a:t>k</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00" b="0">
                          <a:solidFill>
                            <a:srgbClr val="18352D"/>
                          </a:solidFill>
                          <a:latin typeface="Arial"/>
                          <a:ea typeface="Arial"/>
                          <a:cs typeface="Arial"/>
                        </a:rPr>
                        <a:t>Experts selected per token</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476250">
                <a:tc>
                  <a:txBody>
                    <a:bodyPr lIns="76200" tIns="38100" rIns="76200" bIns="38100"/>
                    <a:lstStyle/>
                    <a:p>
                      <a:pPr algn="l"/>
                      <a:r>
                        <a:rPr sz="1800" b="0">
                          <a:solidFill>
                            <a:srgbClr val="18352D"/>
                          </a:solidFill>
                          <a:latin typeface="Arial"/>
                          <a:ea typeface="Arial"/>
                          <a:cs typeface="Arial"/>
                        </a:rPr>
                        <a:t>D</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00" b="0">
                          <a:solidFill>
                            <a:srgbClr val="18352D"/>
                          </a:solidFill>
                          <a:latin typeface="Arial"/>
                          <a:ea typeface="Arial"/>
                          <a:cs typeface="Arial"/>
                        </a:rPr>
                        <a:t>Hidden width of each expert</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FD6F3A-9BE0-4561-816B-EF13A21FD89F}"/>
              </a:ext>
            </a:extLst>
          </p:cNvPr>
          <p:cNvSpPr>
            <a:spLocks xmlns:a="http://schemas.openxmlformats.org/drawingml/2006/main" noGrp="1"/>
          </p:cNvSpPr>
          <p:nvPr/>
        </p:nvSpPr>
        <p:spPr>
          <a:xfrm xmlns:a="http://schemas.openxmlformats.org/drawingml/2006/main">
            <a:off x="4286250" y="436245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1">
                <a:solidFill>
                  <a:srgbClr val="246648"/>
                </a:solidFill>
                <a:latin typeface="Arial"/>
                <a:ea typeface="Arial"/>
                <a:cs typeface="Arial"/>
              </a:defRPr>
            </a:defPPr>
          </a:lstStyle>
          <a:p xmlns:a="http://schemas.openxmlformats.org/drawingml/2006/main">
            <a:pPr>
              <a:defRPr sz="2625" b="1">
                <a:solidFill>
                  <a:srgbClr val="246648"/>
                </a:solidFill>
                <a:latin typeface="Arial"/>
                <a:ea typeface="Arial"/>
                <a:cs typeface="Arial"/>
              </a:defRPr>
            </a:pPr>
            <a:r>
              <a:rPr sz="2625" b="1">
                <a:solidFill>
                  <a:srgbClr val="246648"/>
                </a:solidFill>
                <a:latin typeface="Arial"/>
                <a:ea typeface="Arial"/>
                <a:cs typeface="Arial"/>
              </a:rPr>
              <a:t>y = ∑ₑ g(e | h) fₑ(h)</a:t>
            </a:r>
          </a:p>
        </p:txBody>
      </p:sp>
      <p:sp>
        <p:nvSpPr>
          <p:cNvPr id="8" name="">
            <a:extLst xmlns:a="http://schemas.openxmlformats.org/drawingml/2006/main">
              <a:ext uri="{FF2B5EF4-FFF2-40B4-BE49-F238E27FC236}">
                <a16:creationId xmlns:a16="http://schemas.microsoft.com/office/drawing/2014/main" id="{5141681E-DBDA-4613-BF60-A59FA5D333AE}"/>
              </a:ext>
            </a:extLst>
          </p:cNvPr>
          <p:cNvSpPr>
            <a:spLocks xmlns:a="http://schemas.openxmlformats.org/drawingml/2006/main" noGrp="1"/>
          </p:cNvSpPr>
          <p:nvPr/>
        </p:nvSpPr>
        <p:spPr>
          <a:xfrm xmlns:a="http://schemas.openxmlformats.org/drawingml/2006/main">
            <a:off x="4286250" y="5153025"/>
            <a:ext cx="723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Only selected experts have nonzero routing weights.</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Attention and FFN use separate expert pools.</a:t>
            </a:r>
          </a:p>
        </p:txBody>
      </p:sp>
      <p:sp>
        <p:nvSpPr>
          <p:cNvPr id="9" name="">
            <a:extLst xmlns:a="http://schemas.openxmlformats.org/drawingml/2006/main">
              <a:ext uri="{FF2B5EF4-FFF2-40B4-BE49-F238E27FC236}">
                <a16:creationId xmlns:a16="http://schemas.microsoft.com/office/drawing/2014/main" id="{D820FF93-F713-4555-9E76-7466C31A61E6}"/>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SUT Section 3.1 and original Figure 3, left panel</a:t>
            </a:r>
          </a:p>
        </p:txBody>
      </p:sp>
    </p:spTree>
    <p:extLst>
      <p:ext uri="{BB962C8B-B14F-4D97-AF65-F5344CB8AC3E}">
        <p14:creationId xmlns:p14="http://schemas.microsoft.com/office/powerpoint/2010/main" val="13940619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8CB8DB-270C-400F-ABA5-BB6FFE5ED77E}"/>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ATTENTION ROUTING</a:t>
            </a:r>
          </a:p>
        </p:txBody>
      </p:sp>
      <p:sp>
        <p:nvSpPr>
          <p:cNvPr id="2" name="">
            <a:extLst xmlns:a="http://schemas.openxmlformats.org/drawingml/2006/main">
              <a:ext uri="{FF2B5EF4-FFF2-40B4-BE49-F238E27FC236}">
                <a16:creationId xmlns:a16="http://schemas.microsoft.com/office/drawing/2014/main" id="{7D066E41-0903-4403-80E5-FCC5761045F3}"/>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Attention experts: MoA and SUT’s MoMHA</a:t>
            </a:r>
          </a:p>
        </p:txBody>
      </p:sp>
      <p:sp>
        <p:nvSpPr>
          <p:cNvPr id="3" name="">
            <a:extLst xmlns:a="http://schemas.openxmlformats.org/drawingml/2006/main">
              <a:ext uri="{FF2B5EF4-FFF2-40B4-BE49-F238E27FC236}">
                <a16:creationId xmlns:a16="http://schemas.microsoft.com/office/drawing/2014/main" id="{6BF75942-D4BD-4723-87D7-ABB7B006EDEC}"/>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1EA3FB25-50AE-41B1-AEE5-4AA944FABA0C}"/>
              </a:ext>
            </a:extLst>
          </p:cNvPr>
          <p:cNvPicPr>
            <a:picLocks xmlns:a="http://schemas.openxmlformats.org/drawingml/2006/main" noChangeAspect="1"/>
          </p:cNvPicPr>
          <p:nvPr/>
        </p:nvPicPr>
        <p:blipFill>
          <a:blip xmlns:r="http://schemas.openxmlformats.org/officeDocument/2006/relationships" xmlns:a="http://schemas.openxmlformats.org/drawingml/2006/main" r:embed="R5e6bf6e37bc74762"/>
          <a:stretch xmlns:a="http://schemas.openxmlformats.org/drawingml/2006/main"/>
        </p:blipFill>
        <p:spPr>
          <a:xfrm xmlns:a="http://schemas.openxmlformats.org/drawingml/2006/main">
            <a:off x="457200" y="1435610"/>
            <a:ext cx="5762625" cy="341528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4B64C10-7FAA-407B-83A8-B518513F7CD6}"/>
              </a:ext>
            </a:extLst>
          </p:cNvPr>
          <p:cNvSpPr>
            <a:spLocks xmlns:a="http://schemas.openxmlformats.org/drawingml/2006/main" noGrp="1"/>
          </p:cNvSpPr>
          <p:nvPr/>
        </p:nvSpPr>
        <p:spPr>
          <a:xfrm xmlns:a="http://schemas.openxmlformats.org/drawingml/2006/main">
            <a:off x="457200" y="5162550"/>
            <a:ext cx="5762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MoA: one head per expert</a:t>
            </a:r>
          </a:p>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MoMHA: H heads per expert</a:t>
            </a:r>
          </a:p>
        </p:txBody>
      </p:sp>
      <p:sp>
        <p:nvSpPr>
          <p:cNvPr id="6" name="">
            <a:extLst xmlns:a="http://schemas.openxmlformats.org/drawingml/2006/main">
              <a:ext uri="{FF2B5EF4-FFF2-40B4-BE49-F238E27FC236}">
                <a16:creationId xmlns:a16="http://schemas.microsoft.com/office/drawing/2014/main" id="{5D8212D1-2A4E-4F8E-B338-237E0B52566A}"/>
              </a:ext>
            </a:extLst>
          </p:cNvPr>
          <p:cNvSpPr>
            <a:spLocks xmlns:a="http://schemas.openxmlformats.org/drawingml/2006/main" noGrp="1"/>
          </p:cNvSpPr>
          <p:nvPr/>
        </p:nvSpPr>
        <p:spPr>
          <a:xfrm xmlns:a="http://schemas.openxmlformats.org/drawingml/2006/main">
            <a:off x="6667500" y="147637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Shared K and V</a:t>
            </a:r>
          </a:p>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Expert-specific Qₑ and Oₑ</a:t>
            </a:r>
          </a:p>
        </p:txBody>
      </p:sp>
      <p:sp>
        <p:nvSpPr>
          <p:cNvPr id="7" name="">
            <a:extLst xmlns:a="http://schemas.openxmlformats.org/drawingml/2006/main">
              <a:ext uri="{FF2B5EF4-FFF2-40B4-BE49-F238E27FC236}">
                <a16:creationId xmlns:a16="http://schemas.microsoft.com/office/drawing/2014/main" id="{1C9E88F9-C67E-48FB-BA44-51B6B70E1F67}"/>
              </a:ext>
            </a:extLst>
          </p:cNvPr>
          <p:cNvSpPr>
            <a:spLocks xmlns:a="http://schemas.openxmlformats.org/drawingml/2006/main" noGrp="1"/>
          </p:cNvSpPr>
          <p:nvPr/>
        </p:nvSpPr>
        <p:spPr>
          <a:xfrm xmlns:a="http://schemas.openxmlformats.org/drawingml/2006/main">
            <a:off x="6667500" y="2619375"/>
            <a:ext cx="5048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46648"/>
                </a:solidFill>
                <a:latin typeface="Arial"/>
                <a:ea typeface="Arial"/>
                <a:cs typeface="Arial"/>
              </a:defRPr>
            </a:defPPr>
          </a:lstStyle>
          <a:p xmlns:a="http://schemas.openxmlformats.org/drawingml/2006/main">
            <a:pPr>
              <a:defRPr sz="2175" b="0">
                <a:solidFill>
                  <a:srgbClr val="246648"/>
                </a:solidFill>
                <a:latin typeface="Arial"/>
                <a:ea typeface="Arial"/>
                <a:cs typeface="Arial"/>
              </a:defRPr>
            </a:pPr>
            <a:r>
              <a:rPr sz="2175" b="0">
                <a:solidFill>
                  <a:srgbClr val="246648"/>
                </a:solidFill>
                <a:latin typeface="Arial"/>
                <a:ea typeface="Arial"/>
                <a:cs typeface="Arial"/>
              </a:rPr>
              <a:t>Aₑ = softmax(QₑKᵀ / √d)</a:t>
            </a:r>
          </a:p>
          <a:p xmlns:a="http://schemas.openxmlformats.org/drawingml/2006/main">
            <a:pPr>
              <a:defRPr sz="2175" b="0">
                <a:solidFill>
                  <a:srgbClr val="246648"/>
                </a:solidFill>
                <a:latin typeface="Arial"/>
                <a:ea typeface="Arial"/>
                <a:cs typeface="Arial"/>
              </a:defRPr>
            </a:pPr>
            <a:r>
              <a:rPr sz="2175" b="0">
                <a:solidFill>
                  <a:srgbClr val="246648"/>
                </a:solidFill>
                <a:latin typeface="Arial"/>
                <a:ea typeface="Arial"/>
                <a:cs typeface="Arial"/>
              </a:rPr>
              <a:t>y = ∑ₑ gₑ (AₑV) Wᴼₑ</a:t>
            </a:r>
          </a:p>
        </p:txBody>
      </p:sp>
      <p:sp>
        <p:nvSpPr>
          <p:cNvPr id="8" name="">
            <a:extLst xmlns:a="http://schemas.openxmlformats.org/drawingml/2006/main">
              <a:ext uri="{FF2B5EF4-FFF2-40B4-BE49-F238E27FC236}">
                <a16:creationId xmlns:a16="http://schemas.microsoft.com/office/drawing/2014/main" id="{D711E196-23D1-4AF8-B012-728208A233D7}"/>
              </a:ext>
            </a:extLst>
          </p:cNvPr>
          <p:cNvSpPr>
            <a:spLocks xmlns:a="http://schemas.openxmlformats.org/drawingml/2006/main" noGrp="1"/>
          </p:cNvSpPr>
          <p:nvPr/>
        </p:nvSpPr>
        <p:spPr>
          <a:xfrm xmlns:a="http://schemas.openxmlformats.org/drawingml/2006/main">
            <a:off x="6667500" y="40386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MoMHA: (E, k, H, D, W)</a:t>
            </a:r>
          </a:p>
        </p:txBody>
      </p:sp>
      <p:sp>
        <p:nvSpPr>
          <p:cNvPr id="9" name="">
            <a:extLst xmlns:a="http://schemas.openxmlformats.org/drawingml/2006/main">
              <a:ext uri="{FF2B5EF4-FFF2-40B4-BE49-F238E27FC236}">
                <a16:creationId xmlns:a16="http://schemas.microsoft.com/office/drawing/2014/main" id="{FEFD2E9D-1280-4175-861E-24124D7B212B}"/>
              </a:ext>
            </a:extLst>
          </p:cNvPr>
          <p:cNvSpPr>
            <a:spLocks xmlns:a="http://schemas.openxmlformats.org/drawingml/2006/main" noGrp="1"/>
          </p:cNvSpPr>
          <p:nvPr/>
        </p:nvSpPr>
        <p:spPr>
          <a:xfrm xmlns:a="http://schemas.openxmlformats.org/drawingml/2006/main">
            <a:off x="6667500" y="468630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8352D"/>
                </a:solidFill>
                <a:latin typeface="Arial"/>
                <a:ea typeface="Arial"/>
                <a:cs typeface="Arial"/>
              </a:defRPr>
            </a:defPPr>
          </a:lstStyle>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H: heads per expert</a:t>
            </a:r>
          </a:p>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D: dimension per head</a:t>
            </a:r>
          </a:p>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W: relative-position range</a:t>
            </a:r>
          </a:p>
        </p:txBody>
      </p:sp>
      <p:sp>
        <p:nvSpPr>
          <p:cNvPr id="10" name="">
            <a:extLst xmlns:a="http://schemas.openxmlformats.org/drawingml/2006/main">
              <a:ext uri="{FF2B5EF4-FFF2-40B4-BE49-F238E27FC236}">
                <a16:creationId xmlns:a16="http://schemas.microsoft.com/office/drawing/2014/main" id="{06939B03-AFF7-41C8-B595-07493332C058}"/>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Original MoA Figure 2. Displayed attention equations omit relative-position terms.</a:t>
            </a:r>
          </a:p>
        </p:txBody>
      </p:sp>
    </p:spTree>
    <p:extLst>
      <p:ext uri="{BB962C8B-B14F-4D97-AF65-F5344CB8AC3E}">
        <p14:creationId xmlns:p14="http://schemas.microsoft.com/office/powerpoint/2010/main" val="7349765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3F0947-3A58-43FA-8EB8-82CEC9B93192}"/>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AUXILIARY OBJECTIVE</a:t>
            </a:r>
          </a:p>
        </p:txBody>
      </p:sp>
      <p:sp>
        <p:nvSpPr>
          <p:cNvPr id="2" name="">
            <a:extLst xmlns:a="http://schemas.openxmlformats.org/drawingml/2006/main">
              <a:ext uri="{FF2B5EF4-FFF2-40B4-BE49-F238E27FC236}">
                <a16:creationId xmlns:a16="http://schemas.microsoft.com/office/drawing/2014/main" id="{58B1E918-6175-4C46-8148-533DDC2F3FB3}"/>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Mutual-information maximization for routing</a:t>
            </a:r>
          </a:p>
        </p:txBody>
      </p:sp>
      <p:sp>
        <p:nvSpPr>
          <p:cNvPr id="3" name="">
            <a:extLst xmlns:a="http://schemas.openxmlformats.org/drawingml/2006/main">
              <a:ext uri="{FF2B5EF4-FFF2-40B4-BE49-F238E27FC236}">
                <a16:creationId xmlns:a16="http://schemas.microsoft.com/office/drawing/2014/main" id="{4788665D-64B5-431F-BD8E-F986AA0F5E2D}"/>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D319D52-4BF3-43E1-B8EC-87DD6190CC13}"/>
              </a:ext>
            </a:extLst>
          </p:cNvPr>
          <p:cNvSpPr>
            <a:spLocks xmlns:a="http://schemas.openxmlformats.org/drawingml/2006/main" noGrp="1"/>
          </p:cNvSpPr>
          <p:nvPr/>
        </p:nvSpPr>
        <p:spPr>
          <a:xfrm xmlns:a="http://schemas.openxmlformats.org/drawingml/2006/main">
            <a:off x="457200" y="1447800"/>
            <a:ext cx="11277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246648"/>
                </a:solidFill>
                <a:latin typeface="Arial"/>
                <a:ea typeface="Arial"/>
                <a:cs typeface="Arial"/>
              </a:defRPr>
            </a:defPPr>
          </a:lstStyle>
          <a:p xmlns:a="http://schemas.openxmlformats.org/drawingml/2006/main">
            <a:pPr>
              <a:defRPr sz="2925" b="1">
                <a:solidFill>
                  <a:srgbClr val="246648"/>
                </a:solidFill>
                <a:latin typeface="Arial"/>
                <a:ea typeface="Arial"/>
                <a:cs typeface="Arial"/>
              </a:defRPr>
            </a:pPr>
            <a:r>
              <a:rPr sz="2925" b="1">
                <a:solidFill>
                  <a:srgbClr val="246648"/>
                </a:solidFill>
                <a:latin typeface="Arial"/>
                <a:ea typeface="Arial"/>
                <a:cs typeface="Arial"/>
              </a:rPr>
              <a:t>Minimize  Lᴍɪᴍ = −H(E) + H(E | X)</a:t>
            </a:r>
          </a:p>
        </p:txBody>
      </p:sp>
      <p:sp>
        <p:nvSpPr>
          <p:cNvPr id="5" name="">
            <a:extLst xmlns:a="http://schemas.openxmlformats.org/drawingml/2006/main">
              <a:ext uri="{FF2B5EF4-FFF2-40B4-BE49-F238E27FC236}">
                <a16:creationId xmlns:a16="http://schemas.microsoft.com/office/drawing/2014/main" id="{E03C88E4-2D55-450F-9540-7858CC9C0F18}"/>
              </a:ext>
            </a:extLst>
          </p:cNvPr>
          <p:cNvSpPr>
            <a:spLocks xmlns:a="http://schemas.openxmlformats.org/drawingml/2006/main" noGrp="1"/>
          </p:cNvSpPr>
          <p:nvPr/>
        </p:nvSpPr>
        <p:spPr>
          <a:xfrm xmlns:a="http://schemas.openxmlformats.org/drawingml/2006/main">
            <a:off x="457200" y="25146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Across inputs: use the pool</a:t>
            </a:r>
          </a:p>
        </p:txBody>
      </p:sp>
      <p:sp>
        <p:nvSpPr>
          <p:cNvPr id="6" name="">
            <a:extLst xmlns:a="http://schemas.openxmlformats.org/drawingml/2006/main">
              <a:ext uri="{FF2B5EF4-FFF2-40B4-BE49-F238E27FC236}">
                <a16:creationId xmlns:a16="http://schemas.microsoft.com/office/drawing/2014/main" id="{D75801C9-768E-4252-AFA5-152E61B026AE}"/>
              </a:ext>
            </a:extLst>
          </p:cNvPr>
          <p:cNvSpPr>
            <a:spLocks xmlns:a="http://schemas.openxmlformats.org/drawingml/2006/main" noGrp="1"/>
          </p:cNvSpPr>
          <p:nvPr/>
        </p:nvSpPr>
        <p:spPr>
          <a:xfrm xmlns:a="http://schemas.openxmlformats.org/drawingml/2006/main">
            <a:off x="457200" y="3057525"/>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8352D"/>
                </a:solidFill>
                <a:latin typeface="Arial"/>
                <a:ea typeface="Arial"/>
                <a:cs typeface="Arial"/>
              </a:defRPr>
            </a:defPPr>
          </a:lstStyle>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Maximize H(E): avoid routing everything</a:t>
            </a:r>
          </a:p>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to the same expert.</a:t>
            </a:r>
          </a:p>
        </p:txBody>
      </p:sp>
      <p:sp>
        <p:nvSpPr>
          <p:cNvPr id="7" name="">
            <a:extLst xmlns:a="http://schemas.openxmlformats.org/drawingml/2006/main">
              <a:ext uri="{FF2B5EF4-FFF2-40B4-BE49-F238E27FC236}">
                <a16:creationId xmlns:a16="http://schemas.microsoft.com/office/drawing/2014/main" id="{9DCF9A74-BA4A-4924-AD0E-BB602837A72E}"/>
              </a:ext>
            </a:extLst>
          </p:cNvPr>
          <p:cNvSpPr>
            <a:spLocks xmlns:a="http://schemas.openxmlformats.org/drawingml/2006/main" noGrp="1"/>
          </p:cNvSpPr>
          <p:nvPr/>
        </p:nvSpPr>
        <p:spPr>
          <a:xfrm xmlns:a="http://schemas.openxmlformats.org/drawingml/2006/main">
            <a:off x="6334125" y="2514600"/>
            <a:ext cx="5400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For each input: make a clear choice</a:t>
            </a:r>
          </a:p>
        </p:txBody>
      </p:sp>
      <p:sp>
        <p:nvSpPr>
          <p:cNvPr id="8" name="">
            <a:extLst xmlns:a="http://schemas.openxmlformats.org/drawingml/2006/main">
              <a:ext uri="{FF2B5EF4-FFF2-40B4-BE49-F238E27FC236}">
                <a16:creationId xmlns:a16="http://schemas.microsoft.com/office/drawing/2014/main" id="{B6627482-EEF7-40AA-922C-3ADC616A7385}"/>
              </a:ext>
            </a:extLst>
          </p:cNvPr>
          <p:cNvSpPr>
            <a:spLocks xmlns:a="http://schemas.openxmlformats.org/drawingml/2006/main" noGrp="1"/>
          </p:cNvSpPr>
          <p:nvPr/>
        </p:nvSpPr>
        <p:spPr>
          <a:xfrm xmlns:a="http://schemas.openxmlformats.org/drawingml/2006/main">
            <a:off x="6334125" y="3057525"/>
            <a:ext cx="5400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8352D"/>
                </a:solidFill>
                <a:latin typeface="Arial"/>
                <a:ea typeface="Arial"/>
                <a:cs typeface="Arial"/>
              </a:defRPr>
            </a:defPPr>
          </a:lstStyle>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Minimize H(E | X): avoid uniform</a:t>
            </a:r>
          </a:p>
          <a:p xmlns:a="http://schemas.openxmlformats.org/drawingml/2006/main">
            <a:pPr>
              <a:defRPr sz="1950" b="0">
                <a:solidFill>
                  <a:srgbClr val="18352D"/>
                </a:solidFill>
                <a:latin typeface="Arial"/>
                <a:ea typeface="Arial"/>
                <a:cs typeface="Arial"/>
              </a:defRPr>
            </a:pPr>
            <a:r>
              <a:rPr sz="1950" b="0">
                <a:solidFill>
                  <a:srgbClr val="18352D"/>
                </a:solidFill>
                <a:latin typeface="Arial"/>
                <a:ea typeface="Arial"/>
                <a:cs typeface="Arial"/>
              </a:rPr>
              <a:t>routing for every token.</a:t>
            </a:r>
          </a:p>
        </p:txBody>
      </p:sp>
      <p:graphicFrame>
        <p:nvGraphicFramePr>
          <p:cNvPr id="9" name="">
            <a:extLst xmlns:a="http://schemas.openxmlformats.org/drawingml/2006/main">
              <a:ext uri="{FF2B5EF4-FFF2-40B4-BE49-F238E27FC236}">
                <a16:creationId xmlns:a16="http://schemas.microsoft.com/office/drawing/2014/main" id="{8EFC1989-C6F6-4EE8-B719-FF361BC6551A}"/>
              </a:ext>
            </a:extLst>
          </p:cNvPr>
          <p:cNvGraphicFramePr/>
          <p:nvPr/>
        </p:nvGraphicFramePr>
        <p:xfrm>
          <a:off xmlns:a="http://schemas.openxmlformats.org/drawingml/2006/main" x="457200" y="4152900"/>
          <a:ext xmlns:a="http://schemas.openxmlformats.org/drawingml/2006/main" cx="11277600" cy="1752600"/>
        </p:xfrm>
        <a:graphic xmlns:a="http://schemas.openxmlformats.org/drawingml/2006/main">
          <a:graphicData uri="http://schemas.openxmlformats.org/drawingml/2006/table">
            <a:tbl>
              <a:tblPr/>
              <a:tblGrid>
                <a:gridCol w="6191250"/>
                <a:gridCol w="1619250"/>
                <a:gridCol w="1809750"/>
                <a:gridCol w="1657350"/>
              </a:tblGrid>
              <a:tr h="438150">
                <a:tc>
                  <a:txBody>
                    <a:bodyPr lIns="76200" tIns="38100" rIns="76200" bIns="38100"/>
                    <a:lstStyle/>
                    <a:p>
                      <a:pPr algn="l"/>
                      <a:r>
                        <a:rPr sz="1800" b="1">
                          <a:solidFill>
                            <a:srgbClr val="FFFFFF"/>
                          </a:solidFill>
                          <a:latin typeface="Arial"/>
                          <a:ea typeface="Arial"/>
                          <a:cs typeface="Arial"/>
                        </a:rPr>
                        <a:t>Two-expert illustration</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00" b="1">
                          <a:solidFill>
                            <a:srgbClr val="FFFFFF"/>
                          </a:solidFill>
                          <a:latin typeface="Arial"/>
                          <a:ea typeface="Arial"/>
                          <a:cs typeface="Arial"/>
                        </a:rPr>
                        <a:t>−H(E)</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00" b="1">
                          <a:solidFill>
                            <a:srgbClr val="FFFFFF"/>
                          </a:solidFill>
                          <a:latin typeface="Arial"/>
                          <a:ea typeface="Arial"/>
                          <a:cs typeface="Arial"/>
                        </a:rPr>
                        <a:t>H(E | X)</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00" b="1">
                          <a:solidFill>
                            <a:srgbClr val="FFFFFF"/>
                          </a:solidFill>
                          <a:latin typeface="Arial"/>
                          <a:ea typeface="Arial"/>
                          <a:cs typeface="Arial"/>
                        </a:rPr>
                        <a:t>Loss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438150">
                <a:tc>
                  <a:txBody>
                    <a:bodyPr lIns="76200" tIns="38100" rIns="76200" bIns="38100"/>
                    <a:lstStyle/>
                    <a:p>
                      <a:pPr algn="l"/>
                      <a:r>
                        <a:rPr sz="1800" b="0">
                          <a:solidFill>
                            <a:srgbClr val="18352D"/>
                          </a:solidFill>
                          <a:latin typeface="Arial"/>
                          <a:ea typeface="Arial"/>
                          <a:cs typeface="Arial"/>
                        </a:rPr>
                        <a:t>All inputs choose expert 1</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00" b="0">
                          <a:solidFill>
                            <a:srgbClr val="18352D"/>
                          </a:solidFill>
                          <a:latin typeface="Arial"/>
                          <a:ea typeface="Arial"/>
                          <a:cs typeface="Arial"/>
                        </a:rPr>
                        <a:t>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00" b="0">
                          <a:solidFill>
                            <a:srgbClr val="18352D"/>
                          </a:solidFill>
                          <a:latin typeface="Arial"/>
                          <a:ea typeface="Arial"/>
                          <a:cs typeface="Arial"/>
                        </a:rPr>
                        <a:t>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00" b="0">
                          <a:solidFill>
                            <a:srgbClr val="18352D"/>
                          </a:solidFill>
                          <a:latin typeface="Arial"/>
                          <a:ea typeface="Arial"/>
                          <a:cs typeface="Arial"/>
                        </a:rPr>
                        <a:t>0</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438150">
                <a:tc>
                  <a:txBody>
                    <a:bodyPr lIns="76200" tIns="38100" rIns="76200" bIns="38100"/>
                    <a:lstStyle/>
                    <a:p>
                      <a:pPr algn="l"/>
                      <a:r>
                        <a:rPr sz="1800" b="0">
                          <a:solidFill>
                            <a:srgbClr val="18352D"/>
                          </a:solidFill>
                          <a:latin typeface="Arial"/>
                          <a:ea typeface="Arial"/>
                          <a:cs typeface="Arial"/>
                        </a:rPr>
                        <a:t>Every input routes 50 / 50</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00" b="0">
                          <a:solidFill>
                            <a:srgbClr val="18352D"/>
                          </a:solidFill>
                          <a:latin typeface="Arial"/>
                          <a:ea typeface="Arial"/>
                          <a:cs typeface="Arial"/>
                        </a:rPr>
                        <a:t>−0.693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00" b="0">
                          <a:solidFill>
                            <a:srgbClr val="18352D"/>
                          </a:solidFill>
                          <a:latin typeface="Arial"/>
                          <a:ea typeface="Arial"/>
                          <a:cs typeface="Arial"/>
                        </a:rPr>
                        <a:t>0.693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00" b="0">
                          <a:solidFill>
                            <a:srgbClr val="18352D"/>
                          </a:solidFill>
                          <a:latin typeface="Arial"/>
                          <a:ea typeface="Arial"/>
                          <a:cs typeface="Arial"/>
                        </a:rPr>
                        <a:t>0</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438150">
                <a:tc>
                  <a:txBody>
                    <a:bodyPr lIns="76200" tIns="38100" rIns="76200" bIns="38100"/>
                    <a:lstStyle/>
                    <a:p>
                      <a:pPr algn="l"/>
                      <a:r>
                        <a:rPr sz="1800" b="1">
                          <a:solidFill>
                            <a:srgbClr val="18352D"/>
                          </a:solidFill>
                          <a:latin typeface="Arial"/>
                          <a:ea typeface="Arial"/>
                          <a:cs typeface="Arial"/>
                        </a:rPr>
                        <a:t>Half choose 1, half choose 2</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00" b="1">
                          <a:solidFill>
                            <a:srgbClr val="18352D"/>
                          </a:solidFill>
                          <a:latin typeface="Arial"/>
                          <a:ea typeface="Arial"/>
                          <a:cs typeface="Arial"/>
                        </a:rPr>
                        <a:t>−0.693</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00" b="1">
                          <a:solidFill>
                            <a:srgbClr val="18352D"/>
                          </a:solidFill>
                          <a:latin typeface="Arial"/>
                          <a:ea typeface="Arial"/>
                          <a:cs typeface="Arial"/>
                        </a:rPr>
                        <a:t>0</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00" b="1">
                          <a:solidFill>
                            <a:srgbClr val="18352D"/>
                          </a:solidFill>
                          <a:latin typeface="Arial"/>
                          <a:ea typeface="Arial"/>
                          <a:cs typeface="Arial"/>
                        </a:rPr>
                        <a:t>−0.693</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bl>
          </a:graphicData>
        </a:graphic>
      </p:graphicFrame>
      <p:sp>
        <p:nvSpPr>
          <p:cNvPr id="10" name="">
            <a:extLst xmlns:a="http://schemas.openxmlformats.org/drawingml/2006/main">
              <a:ext uri="{FF2B5EF4-FFF2-40B4-BE49-F238E27FC236}">
                <a16:creationId xmlns:a16="http://schemas.microsoft.com/office/drawing/2014/main" id="{8CDCF568-A51A-4D98-8409-C991B48144F5}"/>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X denotes router inputs. This is the negative-MI form of SUT Equation 1.</a:t>
            </a:r>
          </a:p>
        </p:txBody>
      </p:sp>
    </p:spTree>
    <p:extLst>
      <p:ext uri="{BB962C8B-B14F-4D97-AF65-F5344CB8AC3E}">
        <p14:creationId xmlns:p14="http://schemas.microsoft.com/office/powerpoint/2010/main" val="16820173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28DA76-543A-479E-B59E-280D9900559A}"/>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ADAPTIVE DEPTH</a:t>
            </a:r>
          </a:p>
        </p:txBody>
      </p:sp>
      <p:sp>
        <p:nvSpPr>
          <p:cNvPr id="2" name="">
            <a:extLst xmlns:a="http://schemas.openxmlformats.org/drawingml/2006/main">
              <a:ext uri="{FF2B5EF4-FFF2-40B4-BE49-F238E27FC236}">
                <a16:creationId xmlns:a16="http://schemas.microsoft.com/office/drawing/2014/main" id="{066BF86F-F024-40AE-BE05-854EDCD7AE17}"/>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Dynamic halting: addition versus stick breaking</a:t>
            </a:r>
          </a:p>
        </p:txBody>
      </p:sp>
      <p:sp>
        <p:nvSpPr>
          <p:cNvPr id="3" name="">
            <a:extLst xmlns:a="http://schemas.openxmlformats.org/drawingml/2006/main">
              <a:ext uri="{FF2B5EF4-FFF2-40B4-BE49-F238E27FC236}">
                <a16:creationId xmlns:a16="http://schemas.microsoft.com/office/drawing/2014/main" id="{911CB433-D167-427B-9090-9A4D7D0C1F9D}"/>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1EEF585B-96C2-4948-99A7-107DD8C94998}"/>
              </a:ext>
            </a:extLst>
          </p:cNvPr>
          <p:cNvGraphicFramePr/>
          <p:nvPr/>
        </p:nvGraphicFramePr>
        <p:xfrm>
          <a:off xmlns:a="http://schemas.openxmlformats.org/drawingml/2006/main" x="457200" y="1428750"/>
          <a:ext xmlns:a="http://schemas.openxmlformats.org/drawingml/2006/main" cx="11277600" cy="3000375"/>
        </p:xfrm>
        <a:graphic xmlns:a="http://schemas.openxmlformats.org/drawingml/2006/main">
          <a:graphicData uri="http://schemas.openxmlformats.org/drawingml/2006/table">
            <a:tbl>
              <a:tblPr/>
              <a:tblGrid>
                <a:gridCol w="2667000"/>
                <a:gridCol w="3952875"/>
                <a:gridCol w="4657725"/>
              </a:tblGrid>
              <a:tr h="600075">
                <a:tc>
                  <a:txBody>
                    <a:bodyPr lIns="76200" tIns="38100" rIns="76200" bIns="38100"/>
                    <a:lstStyle/>
                    <a:p>
                      <a:r>
                        <a:rPr sz="1950" b="1">
                          <a:solidFill>
                            <a:srgbClr val="FFFFFF"/>
                          </a:solidFill>
                          <a:latin typeface="Arial"/>
                          <a:ea typeface="Arial"/>
                          <a:cs typeface="Arial"/>
                        </a:rPr>
                        <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950" b="1">
                          <a:solidFill>
                            <a:srgbClr val="FFFFFF"/>
                          </a:solidFill>
                          <a:latin typeface="Arial"/>
                          <a:ea typeface="Arial"/>
                          <a:cs typeface="Arial"/>
                        </a:rPr>
                        <a:t>UT</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950" b="1">
                          <a:solidFill>
                            <a:srgbClr val="FFFFFF"/>
                          </a:solidFill>
                          <a:latin typeface="Arial"/>
                          <a:ea typeface="Arial"/>
                          <a:cs typeface="Arial"/>
                        </a:rPr>
                        <a:t>SUT</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600075">
                <a:tc>
                  <a:txBody>
                    <a:bodyPr lIns="76200" tIns="38100" rIns="76200" bIns="38100"/>
                    <a:lstStyle/>
                    <a:p>
                      <a:pPr algn="l"/>
                      <a:r>
                        <a:rPr sz="1950" b="0">
                          <a:solidFill>
                            <a:srgbClr val="18352D"/>
                          </a:solidFill>
                          <a:latin typeface="Arial"/>
                          <a:ea typeface="Arial"/>
                          <a:cs typeface="Arial"/>
                        </a:rPr>
                        <a:t>Gate output</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950" b="0">
                          <a:solidFill>
                            <a:srgbClr val="18352D"/>
                          </a:solidFill>
                          <a:latin typeface="Arial"/>
                          <a:ea typeface="Arial"/>
                          <a:cs typeface="Arial"/>
                        </a:rPr>
                        <a:t>qₗ</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950" b="0">
                          <a:solidFill>
                            <a:srgbClr val="18352D"/>
                          </a:solidFill>
                          <a:latin typeface="Arial"/>
                          <a:ea typeface="Arial"/>
                          <a:cs typeface="Arial"/>
                        </a:rPr>
                        <a:t>qₗ</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600075">
                <a:tc>
                  <a:txBody>
                    <a:bodyPr lIns="76200" tIns="38100" rIns="76200" bIns="38100"/>
                    <a:lstStyle/>
                    <a:p>
                      <a:pPr algn="l"/>
                      <a:r>
                        <a:rPr sz="1950" b="0">
                          <a:solidFill>
                            <a:srgbClr val="18352D"/>
                          </a:solidFill>
                          <a:latin typeface="Arial"/>
                          <a:ea typeface="Arial"/>
                          <a:cs typeface="Arial"/>
                        </a:rPr>
                        <a:t>Stopping accumulation</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950" b="0">
                          <a:solidFill>
                            <a:srgbClr val="18352D"/>
                          </a:solidFill>
                          <a:latin typeface="Arial"/>
                          <a:ea typeface="Arial"/>
                          <a:cs typeface="Arial"/>
                        </a:rPr>
                        <a:t>∑ⱼ≤ₗ qⱼ</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950" b="0">
                          <a:solidFill>
                            <a:srgbClr val="18352D"/>
                          </a:solidFill>
                          <a:latin typeface="Arial"/>
                          <a:ea typeface="Arial"/>
                          <a:cs typeface="Arial"/>
                        </a:rPr>
                        <a:t>αₗ = qₗ ∏ⱼ&lt;ₗ (1 − qⱼ)</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600075">
                <a:tc>
                  <a:txBody>
                    <a:bodyPr lIns="76200" tIns="38100" rIns="76200" bIns="38100"/>
                    <a:lstStyle/>
                    <a:p>
                      <a:pPr algn="l"/>
                      <a:r>
                        <a:rPr sz="1950" b="0">
                          <a:solidFill>
                            <a:srgbClr val="18352D"/>
                          </a:solidFill>
                          <a:latin typeface="Arial"/>
                          <a:ea typeface="Arial"/>
                          <a:cs typeface="Arial"/>
                        </a:rPr>
                        <a:t>Stop criterion</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950" b="0">
                          <a:solidFill>
                            <a:srgbClr val="18352D"/>
                          </a:solidFill>
                          <a:latin typeface="Arial"/>
                          <a:ea typeface="Arial"/>
                          <a:cs typeface="Arial"/>
                        </a:rPr>
                        <a:t>First sum &gt; τ</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950" b="0">
                          <a:solidFill>
                            <a:srgbClr val="18352D"/>
                          </a:solidFill>
                          <a:latin typeface="Arial"/>
                          <a:ea typeface="Arial"/>
                          <a:cs typeface="Arial"/>
                        </a:rPr>
                        <a:t>First ∑ⱼ≤ₗ αⱼ &gt; τ</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600075">
                <a:tc>
                  <a:txBody>
                    <a:bodyPr lIns="76200" tIns="38100" rIns="76200" bIns="38100"/>
                    <a:lstStyle/>
                    <a:p>
                      <a:pPr algn="l"/>
                      <a:r>
                        <a:rPr sz="1950" b="0">
                          <a:solidFill>
                            <a:srgbClr val="18352D"/>
                          </a:solidFill>
                          <a:latin typeface="Arial"/>
                          <a:ea typeface="Arial"/>
                          <a:cs typeface="Arial"/>
                        </a:rPr>
                        <a:t>ACT penalty</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950" b="0">
                          <a:solidFill>
                            <a:srgbClr val="18352D"/>
                          </a:solidFill>
                          <a:latin typeface="Arial"/>
                          <a:ea typeface="Arial"/>
                          <a:cs typeface="Arial"/>
                        </a:rPr>
                        <a:t>N + R</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950" b="0">
                          <a:solidFill>
                            <a:srgbClr val="18352D"/>
                          </a:solidFill>
                          <a:latin typeface="Arial"/>
                          <a:ea typeface="Arial"/>
                          <a:cs typeface="Arial"/>
                        </a:rPr>
                        <a:t>∑ₗ l αₗ</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bl>
          </a:graphicData>
        </a:graphic>
      </p:graphicFrame>
      <p:sp>
        <p:nvSpPr>
          <p:cNvPr id="5" name="">
            <a:extLst xmlns:a="http://schemas.openxmlformats.org/drawingml/2006/main">
              <a:ext uri="{FF2B5EF4-FFF2-40B4-BE49-F238E27FC236}">
                <a16:creationId xmlns:a16="http://schemas.microsoft.com/office/drawing/2014/main" id="{3CE77E0E-E776-41EE-A6EC-8C02CC6925CE}"/>
              </a:ext>
            </a:extLst>
          </p:cNvPr>
          <p:cNvSpPr>
            <a:spLocks xmlns:a="http://schemas.openxmlformats.org/drawingml/2006/main" noGrp="1"/>
          </p:cNvSpPr>
          <p:nvPr/>
        </p:nvSpPr>
        <p:spPr>
          <a:xfrm xmlns:a="http://schemas.openxmlformats.org/drawingml/2006/main">
            <a:off x="457200" y="4733925"/>
            <a:ext cx="11277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Example: qₗ = 0.5 at every step, τ = 0.9</a:t>
            </a:r>
          </a:p>
        </p:txBody>
      </p:sp>
      <p:sp>
        <p:nvSpPr>
          <p:cNvPr id="6" name="">
            <a:extLst xmlns:a="http://schemas.openxmlformats.org/drawingml/2006/main">
              <a:ext uri="{FF2B5EF4-FFF2-40B4-BE49-F238E27FC236}">
                <a16:creationId xmlns:a16="http://schemas.microsoft.com/office/drawing/2014/main" id="{EB441517-3394-45A2-8427-5C5AA159F6ED}"/>
              </a:ext>
            </a:extLst>
          </p:cNvPr>
          <p:cNvSpPr>
            <a:spLocks xmlns:a="http://schemas.openxmlformats.org/drawingml/2006/main" noGrp="1"/>
          </p:cNvSpPr>
          <p:nvPr/>
        </p:nvSpPr>
        <p:spPr>
          <a:xfrm xmlns:a="http://schemas.openxmlformats.org/drawingml/2006/main">
            <a:off x="457200" y="5276850"/>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UT cumulative: 0.50, 1.00</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Stops at step 2</a:t>
            </a:r>
          </a:p>
        </p:txBody>
      </p:sp>
      <p:sp>
        <p:nvSpPr>
          <p:cNvPr id="7" name="">
            <a:extLst xmlns:a="http://schemas.openxmlformats.org/drawingml/2006/main">
              <a:ext uri="{FF2B5EF4-FFF2-40B4-BE49-F238E27FC236}">
                <a16:creationId xmlns:a16="http://schemas.microsoft.com/office/drawing/2014/main" id="{43AEB5B6-46DE-4F08-B7FF-A427ADDDFF08}"/>
              </a:ext>
            </a:extLst>
          </p:cNvPr>
          <p:cNvSpPr>
            <a:spLocks xmlns:a="http://schemas.openxmlformats.org/drawingml/2006/main" noGrp="1"/>
          </p:cNvSpPr>
          <p:nvPr/>
        </p:nvSpPr>
        <p:spPr>
          <a:xfrm xmlns:a="http://schemas.openxmlformats.org/drawingml/2006/main">
            <a:off x="6191250" y="5276850"/>
            <a:ext cx="5543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SUT cumulative: 0.50, 0.75, 0.875, 0.9375</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Stops at step 4</a:t>
            </a:r>
          </a:p>
        </p:txBody>
      </p:sp>
      <p:sp>
        <p:nvSpPr>
          <p:cNvPr id="8" name="">
            <a:extLst xmlns:a="http://schemas.openxmlformats.org/drawingml/2006/main">
              <a:ext uri="{FF2B5EF4-FFF2-40B4-BE49-F238E27FC236}">
                <a16:creationId xmlns:a16="http://schemas.microsoft.com/office/drawing/2014/main" id="{BC0B5B38-9BD4-4F76-A888-8DE665267AC9}"/>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N = first stopping step. R = UT’s final remainder. Actual SUT uses τ = 0.999.</a:t>
            </a:r>
          </a:p>
        </p:txBody>
      </p:sp>
    </p:spTree>
    <p:extLst>
      <p:ext uri="{BB962C8B-B14F-4D97-AF65-F5344CB8AC3E}">
        <p14:creationId xmlns:p14="http://schemas.microsoft.com/office/powerpoint/2010/main" val="1182858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B46122D-41D5-4F3F-AAA2-5878EA6267F2}"/>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METHOD / STATE AGGREGATION</a:t>
            </a:r>
          </a:p>
        </p:txBody>
      </p:sp>
      <p:sp>
        <p:nvSpPr>
          <p:cNvPr id="2" name="">
            <a:extLst xmlns:a="http://schemas.openxmlformats.org/drawingml/2006/main">
              <a:ext uri="{FF2B5EF4-FFF2-40B4-BE49-F238E27FC236}">
                <a16:creationId xmlns:a16="http://schemas.microsoft.com/office/drawing/2014/main" id="{2F951C2C-177C-4FA6-8CB9-918C1AAD2503}"/>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Combining states across refinement steps</a:t>
            </a:r>
          </a:p>
        </p:txBody>
      </p:sp>
      <p:sp>
        <p:nvSpPr>
          <p:cNvPr id="3" name="">
            <a:extLst xmlns:a="http://schemas.openxmlformats.org/drawingml/2006/main">
              <a:ext uri="{FF2B5EF4-FFF2-40B4-BE49-F238E27FC236}">
                <a16:creationId xmlns:a16="http://schemas.microsoft.com/office/drawing/2014/main" id="{949B018C-E22A-48C4-8495-A20B81683A80}"/>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B23BC601-18FE-4803-ACD9-AB752D1D1DB1}"/>
              </a:ext>
            </a:extLst>
          </p:cNvPr>
          <p:cNvSpPr>
            <a:spLocks xmlns:a="http://schemas.openxmlformats.org/drawingml/2006/main" noGrp="1"/>
          </p:cNvSpPr>
          <p:nvPr/>
        </p:nvSpPr>
        <p:spPr>
          <a:xfrm xmlns:a="http://schemas.openxmlformats.org/drawingml/2006/main">
            <a:off x="457200" y="1419225"/>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UT: recursive interpolation</a:t>
            </a:r>
          </a:p>
        </p:txBody>
      </p:sp>
      <p:sp>
        <p:nvSpPr>
          <p:cNvPr id="5" name="">
            <a:extLst xmlns:a="http://schemas.openxmlformats.org/drawingml/2006/main">
              <a:ext uri="{FF2B5EF4-FFF2-40B4-BE49-F238E27FC236}">
                <a16:creationId xmlns:a16="http://schemas.microsoft.com/office/drawing/2014/main" id="{65D5E754-944F-4CC6-BABA-6B7952FE15C6}"/>
              </a:ext>
            </a:extLst>
          </p:cNvPr>
          <p:cNvSpPr>
            <a:spLocks xmlns:a="http://schemas.openxmlformats.org/drawingml/2006/main" noGrp="1"/>
          </p:cNvSpPr>
          <p:nvPr/>
        </p:nvSpPr>
        <p:spPr>
          <a:xfrm xmlns:a="http://schemas.openxmlformats.org/drawingml/2006/main">
            <a:off x="457200" y="2000250"/>
            <a:ext cx="714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246648"/>
                </a:solidFill>
                <a:latin typeface="Arial"/>
                <a:ea typeface="Arial"/>
                <a:cs typeface="Arial"/>
              </a:defRPr>
            </a:defPPr>
          </a:lstStyle>
          <a:p xmlns:a="http://schemas.openxmlformats.org/drawingml/2006/main">
            <a:pPr>
              <a:defRPr sz="2550" b="0">
                <a:solidFill>
                  <a:srgbClr val="246648"/>
                </a:solidFill>
                <a:latin typeface="Arial"/>
                <a:ea typeface="Arial"/>
                <a:cs typeface="Arial"/>
              </a:defRPr>
            </a:pPr>
            <a:r>
              <a:rPr sz="2550" b="0">
                <a:solidFill>
                  <a:srgbClr val="246648"/>
                </a:solidFill>
                <a:latin typeface="Arial"/>
                <a:ea typeface="Arial"/>
                <a:cs typeface="Arial"/>
              </a:rPr>
              <a:t>uₗ = wₗvₗ + (1 − wₗ)uₗ₋₁</a:t>
            </a:r>
          </a:p>
        </p:txBody>
      </p:sp>
      <p:sp>
        <p:nvSpPr>
          <p:cNvPr id="6" name="">
            <a:extLst xmlns:a="http://schemas.openxmlformats.org/drawingml/2006/main">
              <a:ext uri="{FF2B5EF4-FFF2-40B4-BE49-F238E27FC236}">
                <a16:creationId xmlns:a16="http://schemas.microsoft.com/office/drawing/2014/main" id="{36A119A1-FCF9-4B0E-8952-F9C669C26DA7}"/>
              </a:ext>
            </a:extLst>
          </p:cNvPr>
          <p:cNvSpPr>
            <a:spLocks xmlns:a="http://schemas.openxmlformats.org/drawingml/2006/main" noGrp="1"/>
          </p:cNvSpPr>
          <p:nvPr/>
        </p:nvSpPr>
        <p:spPr>
          <a:xfrm xmlns:a="http://schemas.openxmlformats.org/drawingml/2006/main">
            <a:off x="457200" y="2705100"/>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Later gates rescale earlier contributions.</a:t>
            </a:r>
          </a:p>
        </p:txBody>
      </p:sp>
      <p:sp>
        <p:nvSpPr>
          <p:cNvPr id="7" name="">
            <a:extLst xmlns:a="http://schemas.openxmlformats.org/drawingml/2006/main">
              <a:ext uri="{FF2B5EF4-FFF2-40B4-BE49-F238E27FC236}">
                <a16:creationId xmlns:a16="http://schemas.microsoft.com/office/drawing/2014/main" id="{A500D446-565F-4943-8038-CBE2C9A4D06A}"/>
              </a:ext>
            </a:extLst>
          </p:cNvPr>
          <p:cNvSpPr>
            <a:spLocks xmlns:a="http://schemas.openxmlformats.org/drawingml/2006/main" noGrp="1"/>
          </p:cNvSpPr>
          <p:nvPr/>
        </p:nvSpPr>
        <p:spPr>
          <a:xfrm xmlns:a="http://schemas.openxmlformats.org/drawingml/2006/main">
            <a:off x="457200" y="3524250"/>
            <a:ext cx="714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SUT: expected halted state</a:t>
            </a:r>
          </a:p>
        </p:txBody>
      </p:sp>
      <p:sp>
        <p:nvSpPr>
          <p:cNvPr id="8" name="">
            <a:extLst xmlns:a="http://schemas.openxmlformats.org/drawingml/2006/main">
              <a:ext uri="{FF2B5EF4-FFF2-40B4-BE49-F238E27FC236}">
                <a16:creationId xmlns:a16="http://schemas.microsoft.com/office/drawing/2014/main" id="{498E877C-AEC7-4DD2-B9FA-48A755E1F742}"/>
              </a:ext>
            </a:extLst>
          </p:cNvPr>
          <p:cNvSpPr>
            <a:spLocks xmlns:a="http://schemas.openxmlformats.org/drawingml/2006/main" noGrp="1"/>
          </p:cNvSpPr>
          <p:nvPr/>
        </p:nvSpPr>
        <p:spPr>
          <a:xfrm xmlns:a="http://schemas.openxmlformats.org/drawingml/2006/main">
            <a:off x="457200" y="4105275"/>
            <a:ext cx="714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246648"/>
                </a:solidFill>
                <a:latin typeface="Arial"/>
                <a:ea typeface="Arial"/>
                <a:cs typeface="Arial"/>
              </a:defRPr>
            </a:defPPr>
          </a:lstStyle>
          <a:p xmlns:a="http://schemas.openxmlformats.org/drawingml/2006/main">
            <a:pPr>
              <a:defRPr sz="2325" b="0">
                <a:solidFill>
                  <a:srgbClr val="246648"/>
                </a:solidFill>
                <a:latin typeface="Arial"/>
                <a:ea typeface="Arial"/>
                <a:cs typeface="Arial"/>
              </a:defRPr>
            </a:pPr>
            <a:r>
              <a:rPr sz="2325" b="0">
                <a:solidFill>
                  <a:srgbClr val="246648"/>
                </a:solidFill>
                <a:latin typeface="Arial"/>
                <a:ea typeface="Arial"/>
                <a:cs typeface="Arial"/>
              </a:rPr>
              <a:t>sₗ = ∑ⱼ&lt;ₗ αⱼhⱼ + (1 − ∑ⱼ&lt;ₗ αⱼ)hₗ</a:t>
            </a:r>
          </a:p>
        </p:txBody>
      </p:sp>
      <p:sp>
        <p:nvSpPr>
          <p:cNvPr id="9" name="">
            <a:extLst xmlns:a="http://schemas.openxmlformats.org/drawingml/2006/main">
              <a:ext uri="{FF2B5EF4-FFF2-40B4-BE49-F238E27FC236}">
                <a16:creationId xmlns:a16="http://schemas.microsoft.com/office/drawing/2014/main" id="{1D13C5DB-A60E-4DE0-A5BA-20AE9F90ED00}"/>
              </a:ext>
            </a:extLst>
          </p:cNvPr>
          <p:cNvSpPr>
            <a:spLocks xmlns:a="http://schemas.openxmlformats.org/drawingml/2006/main" noGrp="1"/>
          </p:cNvSpPr>
          <p:nvPr/>
        </p:nvSpPr>
        <p:spPr>
          <a:xfrm xmlns:a="http://schemas.openxmlformats.org/drawingml/2006/main">
            <a:off x="457200" y="50577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Active query: hₗ₋₁</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Readable keys and values: Sₗ₋₁</a:t>
            </a:r>
          </a:p>
        </p:txBody>
      </p:sp>
      <p:pic>
        <p:nvPicPr>
          <p:cNvPr id="10" name="">
            <a:extLst xmlns:a="http://schemas.openxmlformats.org/drawingml/2006/main">
              <a:ext uri="{FF2B5EF4-FFF2-40B4-BE49-F238E27FC236}">
                <a16:creationId xmlns:a16="http://schemas.microsoft.com/office/drawing/2014/main" id="{48E7D3CA-DD2E-424B-87BD-04EC0BDBBF75}"/>
              </a:ext>
            </a:extLst>
          </p:cNvPr>
          <p:cNvPicPr>
            <a:picLocks xmlns:a="http://schemas.openxmlformats.org/drawingml/2006/main" noChangeAspect="1"/>
          </p:cNvPicPr>
          <p:nvPr/>
        </p:nvPicPr>
        <p:blipFill>
          <a:blip xmlns:r="http://schemas.openxmlformats.org/officeDocument/2006/relationships" xmlns:a="http://schemas.openxmlformats.org/drawingml/2006/main" r:embed="Re05e1a852a3a413b"/>
          <a:stretch xmlns:a="http://schemas.openxmlformats.org/drawingml/2006/main"/>
        </p:blipFill>
        <p:spPr>
          <a:xfrm xmlns:a="http://schemas.openxmlformats.org/drawingml/2006/main">
            <a:off x="8096250" y="1685319"/>
            <a:ext cx="3638550" cy="287776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2EE2026-28AF-4138-B2FB-6CD05C666FEE}"/>
              </a:ext>
            </a:extLst>
          </p:cNvPr>
          <p:cNvSpPr>
            <a:spLocks xmlns:a="http://schemas.openxmlformats.org/drawingml/2006/main" noGrp="1"/>
          </p:cNvSpPr>
          <p:nvPr/>
        </p:nvSpPr>
        <p:spPr>
          <a:xfrm xmlns:a="http://schemas.openxmlformats.org/drawingml/2006/main">
            <a:off x="8096250" y="5095875"/>
            <a:ext cx="3638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 halted token remains</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readable by other tokens.</a:t>
            </a:r>
          </a:p>
        </p:txBody>
      </p:sp>
      <p:sp>
        <p:nvSpPr>
          <p:cNvPr id="12" name="">
            <a:extLst xmlns:a="http://schemas.openxmlformats.org/drawingml/2006/main">
              <a:ext uri="{FF2B5EF4-FFF2-40B4-BE49-F238E27FC236}">
                <a16:creationId xmlns:a16="http://schemas.microsoft.com/office/drawing/2014/main" id="{3D8D7446-D435-47F7-9007-9BE7451C4B54}"/>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Original SUT Figure 3, right panel. A no-op preserves a halted token’s state.</a:t>
            </a:r>
          </a:p>
        </p:txBody>
      </p:sp>
    </p:spTree>
    <p:extLst>
      <p:ext uri="{BB962C8B-B14F-4D97-AF65-F5344CB8AC3E}">
        <p14:creationId xmlns:p14="http://schemas.microsoft.com/office/powerpoint/2010/main" val="12192311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8AF2DA-AD65-46A7-8DEC-2B3BD7AA823B}"/>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WMT’14</a:t>
            </a:r>
          </a:p>
        </p:txBody>
      </p:sp>
      <p:sp>
        <p:nvSpPr>
          <p:cNvPr id="2" name="">
            <a:extLst xmlns:a="http://schemas.openxmlformats.org/drawingml/2006/main">
              <a:ext uri="{FF2B5EF4-FFF2-40B4-BE49-F238E27FC236}">
                <a16:creationId xmlns:a16="http://schemas.microsoft.com/office/drawing/2014/main" id="{85890F06-ED2B-4B1C-8941-3454391D4AA9}"/>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English–German translation: scale and cost</a:t>
            </a:r>
          </a:p>
        </p:txBody>
      </p:sp>
      <p:sp>
        <p:nvSpPr>
          <p:cNvPr id="3" name="">
            <a:extLst xmlns:a="http://schemas.openxmlformats.org/drawingml/2006/main">
              <a:ext uri="{FF2B5EF4-FFF2-40B4-BE49-F238E27FC236}">
                <a16:creationId xmlns:a16="http://schemas.microsoft.com/office/drawing/2014/main" id="{7FF9B989-31BD-4DB5-9601-A7D5BDE114F3}"/>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36D3CB34-4DF2-41CB-8340-A855DE422B4A}"/>
              </a:ext>
            </a:extLst>
          </p:cNvPr>
          <p:cNvGraphicFramePr/>
          <p:nvPr/>
        </p:nvGraphicFramePr>
        <p:xfrm>
          <a:off xmlns:a="http://schemas.openxmlformats.org/drawingml/2006/main" x="457200" y="1381125"/>
          <a:ext xmlns:a="http://schemas.openxmlformats.org/drawingml/2006/main" cx="6191250" cy="4572000"/>
        </p:xfrm>
        <a:graphic xmlns:a="http://schemas.openxmlformats.org/drawingml/2006/main">
          <a:graphicData uri="http://schemas.openxmlformats.org/drawingml/2006/table">
            <a:tbl>
              <a:tblPr/>
              <a:tblGrid>
                <a:gridCol w="2857500"/>
                <a:gridCol w="1095375"/>
                <a:gridCol w="1000125"/>
                <a:gridCol w="1238250"/>
              </a:tblGrid>
              <a:tr h="285750">
                <a:tc>
                  <a:txBody>
                    <a:bodyPr lIns="76200" tIns="38100" rIns="76200" bIns="38100"/>
                    <a:lstStyle/>
                    <a:p>
                      <a:pPr algn="l"/>
                      <a:r>
                        <a:rPr sz="1350" b="1">
                          <a:solidFill>
                            <a:srgbClr val="FFFFFF"/>
                          </a:solidFill>
                          <a:latin typeface="Arial"/>
                          <a:ea typeface="Arial"/>
                          <a:cs typeface="Arial"/>
                        </a:rPr>
                        <a:t>Model</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350" b="1">
                          <a:solidFill>
                            <a:srgbClr val="FFFFFF"/>
                          </a:solidFill>
                          <a:latin typeface="Arial"/>
                          <a:ea typeface="Arial"/>
                          <a:cs typeface="Arial"/>
                        </a:rPr>
                        <a:t>Params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350" b="1">
                          <a:solidFill>
                            <a:srgbClr val="FFFFFF"/>
                          </a:solidFill>
                          <a:latin typeface="Arial"/>
                          <a:ea typeface="Arial"/>
                          <a:cs typeface="Arial"/>
                        </a:rPr>
                        <a:t>BLEU</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350" b="1">
                          <a:solidFill>
                            <a:srgbClr val="FFFFFF"/>
                          </a:solidFill>
                          <a:latin typeface="Arial"/>
                          <a:ea typeface="Arial"/>
                          <a:cs typeface="Arial"/>
                        </a:rPr>
                        <a:t>MACs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285750">
                <a:tc>
                  <a:txBody>
                    <a:bodyPr lIns="76200" tIns="38100" rIns="76200" bIns="38100"/>
                    <a:lstStyle/>
                    <a:p>
                      <a:pPr algn="l"/>
                      <a:r>
                        <a:rPr sz="1350" b="0">
                          <a:solidFill>
                            <a:srgbClr val="18352D"/>
                          </a:solidFill>
                          <a:latin typeface="Arial"/>
                          <a:ea typeface="Arial"/>
                          <a:cs typeface="Arial"/>
                        </a:rPr>
                        <a:t>Transformer base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65M</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27.3</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604M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285750">
                <a:tc>
                  <a:txBody>
                    <a:bodyPr lIns="76200" tIns="38100" rIns="76200" bIns="38100"/>
                    <a:lstStyle/>
                    <a:p>
                      <a:pPr algn="l"/>
                      <a:r>
                        <a:rPr sz="1350" b="0">
                          <a:solidFill>
                            <a:srgbClr val="18352D"/>
                          </a:solidFill>
                          <a:latin typeface="Arial"/>
                          <a:ea typeface="Arial"/>
                          <a:cs typeface="Arial"/>
                        </a:rPr>
                        <a:t>Admin 6L–6L</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61M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27.7</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604M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0">
                          <a:solidFill>
                            <a:srgbClr val="18352D"/>
                          </a:solidFill>
                          <a:latin typeface="Arial"/>
                          <a:ea typeface="Arial"/>
                          <a:cs typeface="Arial"/>
                        </a:rPr>
                        <a:t>MAE-7</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63M</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28.4</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285750">
                <a:tc>
                  <a:txBody>
                    <a:bodyPr lIns="76200" tIns="38100" rIns="76200" bIns="38100"/>
                    <a:lstStyle/>
                    <a:p>
                      <a:pPr algn="l"/>
                      <a:r>
                        <a:rPr sz="1350" b="0">
                          <a:solidFill>
                            <a:srgbClr val="18352D"/>
                          </a:solidFill>
                          <a:latin typeface="Arial"/>
                          <a:ea typeface="Arial"/>
                          <a:cs typeface="Arial"/>
                        </a:rPr>
                        <a:t>MoA base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65M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28.4</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628M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0">
                          <a:solidFill>
                            <a:srgbClr val="18352D"/>
                          </a:solidFill>
                          <a:latin typeface="Arial"/>
                          <a:ea typeface="Arial"/>
                          <a:cs typeface="Arial"/>
                        </a:rPr>
                        <a:t>UT (published)</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65M</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28.9</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285750">
                <a:tc>
                  <a:txBody>
                    <a:bodyPr lIns="76200" tIns="38100" rIns="76200" bIns="38100"/>
                    <a:lstStyle/>
                    <a:p>
                      <a:pPr algn="l"/>
                      <a:r>
                        <a:rPr sz="1350" b="0">
                          <a:solidFill>
                            <a:srgbClr val="18352D"/>
                          </a:solidFill>
                          <a:latin typeface="Arial"/>
                          <a:ea typeface="Arial"/>
                          <a:cs typeface="Arial"/>
                        </a:rPr>
                        <a:t>UT base + SB</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64M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29.3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1998M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1">
                          <a:solidFill>
                            <a:srgbClr val="18352D"/>
                          </a:solidFill>
                          <a:latin typeface="Arial"/>
                          <a:ea typeface="Arial"/>
                          <a:cs typeface="Arial"/>
                        </a:rPr>
                        <a:t>SUT base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350" b="1">
                          <a:solidFill>
                            <a:srgbClr val="18352D"/>
                          </a:solidFill>
                          <a:latin typeface="Arial"/>
                          <a:ea typeface="Arial"/>
                          <a:cs typeface="Arial"/>
                        </a:rPr>
                        <a:t>66M</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350" b="1">
                          <a:solidFill>
                            <a:srgbClr val="18352D"/>
                          </a:solidFill>
                          <a:latin typeface="Arial"/>
                          <a:ea typeface="Arial"/>
                          <a:cs typeface="Arial"/>
                        </a:rPr>
                        <a:t>29.2</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350" b="1">
                          <a:solidFill>
                            <a:srgbClr val="18352D"/>
                          </a:solidFill>
                          <a:latin typeface="Arial"/>
                          <a:ea typeface="Arial"/>
                          <a:cs typeface="Arial"/>
                        </a:rPr>
                        <a:t>787M</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r h="285750">
                <a:tc>
                  <a:txBody>
                    <a:bodyPr lIns="76200" tIns="38100" rIns="76200" bIns="38100"/>
                    <a:lstStyle/>
                    <a:p>
                      <a:pPr algn="l"/>
                      <a:r>
                        <a:rPr sz="1350" b="0">
                          <a:solidFill>
                            <a:srgbClr val="18352D"/>
                          </a:solidFill>
                          <a:latin typeface="Arial"/>
                          <a:ea typeface="Arial"/>
                          <a:cs typeface="Arial"/>
                        </a:rPr>
                        <a:t>Transformer big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210M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29.3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2090M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0">
                          <a:solidFill>
                            <a:srgbClr val="18352D"/>
                          </a:solidFill>
                          <a:latin typeface="Arial"/>
                          <a:ea typeface="Arial"/>
                          <a:cs typeface="Arial"/>
                        </a:rPr>
                        <a:t>LightConv</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202M</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28.9</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1750M*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285750">
                <a:tc>
                  <a:txBody>
                    <a:bodyPr lIns="76200" tIns="38100" rIns="76200" bIns="38100"/>
                    <a:lstStyle/>
                    <a:p>
                      <a:pPr algn="l"/>
                      <a:r>
                        <a:rPr sz="1350" b="0">
                          <a:solidFill>
                            <a:srgbClr val="18352D"/>
                          </a:solidFill>
                          <a:latin typeface="Arial"/>
                          <a:ea typeface="Arial"/>
                          <a:cs typeface="Arial"/>
                        </a:rPr>
                        <a:t>DynamicConv</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213M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29.7</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1790M*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0">
                          <a:solidFill>
                            <a:srgbClr val="18352D"/>
                          </a:solidFill>
                          <a:latin typeface="Arial"/>
                          <a:ea typeface="Arial"/>
                          <a:cs typeface="Arial"/>
                        </a:rPr>
                        <a:t>Admin 18L–18L</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151M</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29.0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1490M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285750">
                <a:tc>
                  <a:txBody>
                    <a:bodyPr lIns="76200" tIns="38100" rIns="76200" bIns="38100"/>
                    <a:lstStyle/>
                    <a:p>
                      <a:pPr algn="l"/>
                      <a:r>
                        <a:rPr sz="1350" b="0">
                          <a:solidFill>
                            <a:srgbClr val="18352D"/>
                          </a:solidFill>
                          <a:latin typeface="Arial"/>
                          <a:ea typeface="Arial"/>
                          <a:cs typeface="Arial"/>
                        </a:rPr>
                        <a:t>Admin 60L–12L</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256M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30.1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2550M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0">
                          <a:solidFill>
                            <a:srgbClr val="18352D"/>
                          </a:solidFill>
                          <a:latin typeface="Arial"/>
                          <a:ea typeface="Arial"/>
                          <a:cs typeface="Arial"/>
                        </a:rPr>
                        <a:t>MoA big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200M</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29.4</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350" b="0">
                          <a:solidFill>
                            <a:srgbClr val="18352D"/>
                          </a:solidFill>
                          <a:latin typeface="Arial"/>
                          <a:ea typeface="Arial"/>
                          <a:cs typeface="Arial"/>
                        </a:rPr>
                        <a:t>1220M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285750">
                <a:tc>
                  <a:txBody>
                    <a:bodyPr lIns="76200" tIns="38100" rIns="76200" bIns="38100"/>
                    <a:lstStyle/>
                    <a:p>
                      <a:pPr algn="l"/>
                      <a:r>
                        <a:rPr sz="1350" b="0">
                          <a:solidFill>
                            <a:srgbClr val="18352D"/>
                          </a:solidFill>
                          <a:latin typeface="Arial"/>
                          <a:ea typeface="Arial"/>
                          <a:cs typeface="Arial"/>
                        </a:rPr>
                        <a:t>UT big + SB</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105M</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29.6</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350" b="0">
                          <a:solidFill>
                            <a:srgbClr val="18352D"/>
                          </a:solidFill>
                          <a:latin typeface="Arial"/>
                          <a:ea typeface="Arial"/>
                          <a:cs typeface="Arial"/>
                        </a:rPr>
                        <a:t>3707M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285750">
                <a:tc>
                  <a:txBody>
                    <a:bodyPr lIns="76200" tIns="38100" rIns="76200" bIns="38100"/>
                    <a:lstStyle/>
                    <a:p>
                      <a:pPr algn="l"/>
                      <a:r>
                        <a:rPr sz="1350" b="1">
                          <a:solidFill>
                            <a:srgbClr val="18352D"/>
                          </a:solidFill>
                          <a:latin typeface="Arial"/>
                          <a:ea typeface="Arial"/>
                          <a:cs typeface="Arial"/>
                        </a:rPr>
                        <a:t>SUT big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350" b="1">
                          <a:solidFill>
                            <a:srgbClr val="18352D"/>
                          </a:solidFill>
                          <a:latin typeface="Arial"/>
                          <a:ea typeface="Arial"/>
                          <a:cs typeface="Arial"/>
                        </a:rPr>
                        <a:t>110M</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350" b="1">
                          <a:solidFill>
                            <a:srgbClr val="18352D"/>
                          </a:solidFill>
                          <a:latin typeface="Arial"/>
                          <a:ea typeface="Arial"/>
                          <a:cs typeface="Arial"/>
                        </a:rPr>
                        <a:t>29.4</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350" b="1">
                          <a:solidFill>
                            <a:srgbClr val="18352D"/>
                          </a:solidFill>
                          <a:latin typeface="Arial"/>
                          <a:ea typeface="Arial"/>
                          <a:cs typeface="Arial"/>
                        </a:rPr>
                        <a:t>787M</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bl>
          </a:graphicData>
        </a:graphic>
      </p:graphicFrame>
      <p:sp>
        <p:nvSpPr>
          <p:cNvPr id="5" name="">
            <a:extLst xmlns:a="http://schemas.openxmlformats.org/drawingml/2006/main">
              <a:ext uri="{FF2B5EF4-FFF2-40B4-BE49-F238E27FC236}">
                <a16:creationId xmlns:a16="http://schemas.microsoft.com/office/drawing/2014/main" id="{4245E6B7-1B30-4531-B6B1-B93CED2692F6}"/>
              </a:ext>
            </a:extLst>
          </p:cNvPr>
          <p:cNvSpPr>
            <a:spLocks xmlns:a="http://schemas.openxmlformats.org/drawingml/2006/main" noGrp="1"/>
          </p:cNvSpPr>
          <p:nvPr/>
        </p:nvSpPr>
        <p:spPr>
          <a:xfrm xmlns:a="http://schemas.openxmlformats.org/drawingml/2006/main">
            <a:off x="7048500" y="1428750"/>
            <a:ext cx="468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8352D"/>
                </a:solidFill>
                <a:latin typeface="Arial"/>
                <a:ea typeface="Arial"/>
                <a:cs typeface="Arial"/>
              </a:defRPr>
            </a:defPPr>
          </a:lstStyle>
          <a:p xmlns:a="http://schemas.openxmlformats.org/drawingml/2006/main">
            <a:pPr>
              <a:defRPr sz="2025" b="1">
                <a:solidFill>
                  <a:srgbClr val="18352D"/>
                </a:solidFill>
                <a:latin typeface="Arial"/>
                <a:ea typeface="Arial"/>
                <a:cs typeface="Arial"/>
              </a:defRPr>
            </a:pPr>
            <a:r>
              <a:rPr sz="2025" b="1">
                <a:solidFill>
                  <a:srgbClr val="18352D"/>
                </a:solidFill>
                <a:latin typeface="Arial"/>
                <a:ea typeface="Arial"/>
                <a:cs typeface="Arial"/>
              </a:rPr>
              <a:t>Matched-depth configurations</a:t>
            </a:r>
          </a:p>
        </p:txBody>
      </p:sp>
      <p:graphicFrame>
        <p:nvGraphicFramePr>
          <p:cNvPr id="6" name="">
            <a:extLst xmlns:a="http://schemas.openxmlformats.org/drawingml/2006/main">
              <a:ext uri="{FF2B5EF4-FFF2-40B4-BE49-F238E27FC236}">
                <a16:creationId xmlns:a16="http://schemas.microsoft.com/office/drawing/2014/main" id="{B4A9805E-FBB3-41C9-B168-3CAE3A1EA79F}"/>
              </a:ext>
            </a:extLst>
          </p:cNvPr>
          <p:cNvGraphicFramePr/>
          <p:nvPr/>
        </p:nvGraphicFramePr>
        <p:xfrm>
          <a:off xmlns:a="http://schemas.openxmlformats.org/drawingml/2006/main" x="7048500" y="1971675"/>
          <a:ext xmlns:a="http://schemas.openxmlformats.org/drawingml/2006/main" cx="4686300" cy="2333625"/>
        </p:xfrm>
        <a:graphic xmlns:a="http://schemas.openxmlformats.org/drawingml/2006/main">
          <a:graphicData uri="http://schemas.openxmlformats.org/drawingml/2006/table">
            <a:tbl>
              <a:tblPr/>
              <a:tblGrid>
                <a:gridCol w="1333500"/>
                <a:gridCol w="571500"/>
                <a:gridCol w="857250"/>
                <a:gridCol w="857250"/>
                <a:gridCol w="1066800"/>
              </a:tblGrid>
              <a:tr h="466725">
                <a:tc>
                  <a:txBody>
                    <a:bodyPr lIns="76200" tIns="38100" rIns="76200" bIns="38100"/>
                    <a:lstStyle/>
                    <a:p>
                      <a:pPr algn="l"/>
                      <a:r>
                        <a:rPr sz="1500" b="1">
                          <a:solidFill>
                            <a:srgbClr val="FFFFFF"/>
                          </a:solidFill>
                          <a:latin typeface="Arial"/>
                          <a:ea typeface="Arial"/>
                          <a:cs typeface="Arial"/>
                        </a:rPr>
                        <a:t>Model</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00" b="1">
                          <a:solidFill>
                            <a:srgbClr val="FFFFFF"/>
                          </a:solidFill>
                          <a:latin typeface="Arial"/>
                          <a:ea typeface="Arial"/>
                          <a:cs typeface="Arial"/>
                        </a:rPr>
                        <a:t>E</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00" b="1">
                          <a:solidFill>
                            <a:srgbClr val="FFFFFF"/>
                          </a:solidFill>
                          <a:latin typeface="Arial"/>
                          <a:ea typeface="Arial"/>
                          <a:cs typeface="Arial"/>
                        </a:rPr>
                        <a:t>Embed</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00" b="1">
                          <a:solidFill>
                            <a:srgbClr val="FFFFFF"/>
                          </a:solidFill>
                          <a:latin typeface="Arial"/>
                          <a:ea typeface="Arial"/>
                          <a:cs typeface="Arial"/>
                        </a:rPr>
                        <a:t>Datt</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00" b="1">
                          <a:solidFill>
                            <a:srgbClr val="FFFFFF"/>
                          </a:solidFill>
                          <a:latin typeface="Arial"/>
                          <a:ea typeface="Arial"/>
                          <a:cs typeface="Arial"/>
                        </a:rPr>
                        <a:t>Dff</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466725">
                <a:tc>
                  <a:txBody>
                    <a:bodyPr lIns="76200" tIns="38100" rIns="76200" bIns="38100"/>
                    <a:lstStyle/>
                    <a:p>
                      <a:pPr algn="l"/>
                      <a:r>
                        <a:rPr sz="1500" b="0">
                          <a:solidFill>
                            <a:srgbClr val="18352D"/>
                          </a:solidFill>
                          <a:latin typeface="Arial"/>
                          <a:ea typeface="Arial"/>
                          <a:cs typeface="Arial"/>
                        </a:rPr>
                        <a:t>UT base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00" b="0">
                          <a:solidFill>
                            <a:srgbClr val="18352D"/>
                          </a:solidFill>
                          <a:latin typeface="Arial"/>
                          <a:ea typeface="Arial"/>
                          <a:cs typeface="Arial"/>
                        </a:rPr>
                        <a:t>1</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00" b="0">
                          <a:solidFill>
                            <a:srgbClr val="18352D"/>
                          </a:solidFill>
                          <a:latin typeface="Arial"/>
                          <a:ea typeface="Arial"/>
                          <a:cs typeface="Arial"/>
                        </a:rPr>
                        <a:t>960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00" b="0">
                          <a:solidFill>
                            <a:srgbClr val="18352D"/>
                          </a:solidFill>
                          <a:latin typeface="Arial"/>
                          <a:ea typeface="Arial"/>
                          <a:cs typeface="Arial"/>
                        </a:rPr>
                        <a:t>960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00" b="0">
                          <a:solidFill>
                            <a:srgbClr val="18352D"/>
                          </a:solidFill>
                          <a:latin typeface="Arial"/>
                          <a:ea typeface="Arial"/>
                          <a:cs typeface="Arial"/>
                        </a:rPr>
                        <a:t>3840</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466725">
                <a:tc>
                  <a:txBody>
                    <a:bodyPr lIns="76200" tIns="38100" rIns="76200" bIns="38100"/>
                    <a:lstStyle/>
                    <a:p>
                      <a:pPr algn="l"/>
                      <a:r>
                        <a:rPr sz="1500" b="0">
                          <a:solidFill>
                            <a:srgbClr val="18352D"/>
                          </a:solidFill>
                          <a:latin typeface="Arial"/>
                          <a:ea typeface="Arial"/>
                          <a:cs typeface="Arial"/>
                        </a:rPr>
                        <a:t>UT big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00" b="0">
                          <a:solidFill>
                            <a:srgbClr val="18352D"/>
                          </a:solidFill>
                          <a:latin typeface="Arial"/>
                          <a:ea typeface="Arial"/>
                          <a:cs typeface="Arial"/>
                        </a:rPr>
                        <a:t>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00" b="0">
                          <a:solidFill>
                            <a:srgbClr val="18352D"/>
                          </a:solidFill>
                          <a:latin typeface="Arial"/>
                          <a:ea typeface="Arial"/>
                          <a:cs typeface="Arial"/>
                        </a:rPr>
                        <a:t>1344</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00" b="0">
                          <a:solidFill>
                            <a:srgbClr val="18352D"/>
                          </a:solidFill>
                          <a:latin typeface="Arial"/>
                          <a:ea typeface="Arial"/>
                          <a:cs typeface="Arial"/>
                        </a:rPr>
                        <a:t>1344</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00" b="0">
                          <a:solidFill>
                            <a:srgbClr val="18352D"/>
                          </a:solidFill>
                          <a:latin typeface="Arial"/>
                          <a:ea typeface="Arial"/>
                          <a:cs typeface="Arial"/>
                        </a:rPr>
                        <a:t>5376</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466725">
                <a:tc>
                  <a:txBody>
                    <a:bodyPr lIns="76200" tIns="38100" rIns="76200" bIns="38100"/>
                    <a:lstStyle/>
                    <a:p>
                      <a:pPr algn="l"/>
                      <a:r>
                        <a:rPr sz="1500" b="1">
                          <a:solidFill>
                            <a:srgbClr val="18352D"/>
                          </a:solidFill>
                          <a:latin typeface="Arial"/>
                          <a:ea typeface="Arial"/>
                          <a:cs typeface="Arial"/>
                        </a:rPr>
                        <a:t>SUT base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24</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512</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256</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512</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r h="466725">
                <a:tc>
                  <a:txBody>
                    <a:bodyPr lIns="76200" tIns="38100" rIns="76200" bIns="38100"/>
                    <a:lstStyle/>
                    <a:p>
                      <a:pPr algn="l"/>
                      <a:r>
                        <a:rPr sz="1500" b="1">
                          <a:solidFill>
                            <a:srgbClr val="18352D"/>
                          </a:solidFill>
                          <a:latin typeface="Arial"/>
                          <a:ea typeface="Arial"/>
                          <a:cs typeface="Arial"/>
                        </a:rPr>
                        <a:t>SUT big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48</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512</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256</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00" b="1">
                          <a:solidFill>
                            <a:srgbClr val="18352D"/>
                          </a:solidFill>
                          <a:latin typeface="Arial"/>
                          <a:ea typeface="Arial"/>
                          <a:cs typeface="Arial"/>
                        </a:rPr>
                        <a:t>512</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bl>
          </a:graphicData>
        </a:graphic>
      </p:graphicFrame>
      <p:sp>
        <p:nvSpPr>
          <p:cNvPr id="7" name="">
            <a:extLst xmlns:a="http://schemas.openxmlformats.org/drawingml/2006/main">
              <a:ext uri="{FF2B5EF4-FFF2-40B4-BE49-F238E27FC236}">
                <a16:creationId xmlns:a16="http://schemas.microsoft.com/office/drawing/2014/main" id="{40C4A761-4442-4963-97C1-7A186E7E1D0E}"/>
              </a:ext>
            </a:extLst>
          </p:cNvPr>
          <p:cNvSpPr>
            <a:spLocks xmlns:a="http://schemas.openxmlformats.org/drawingml/2006/main" noGrp="1"/>
          </p:cNvSpPr>
          <p:nvPr/>
        </p:nvSpPr>
        <p:spPr>
          <a:xfrm xmlns:a="http://schemas.openxmlformats.org/drawingml/2006/main">
            <a:off x="7048500" y="4514850"/>
            <a:ext cx="468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8352D"/>
                </a:solidFill>
                <a:latin typeface="Arial"/>
                <a:ea typeface="Arial"/>
                <a:cs typeface="Arial"/>
              </a:defRPr>
            </a:defPPr>
          </a:lstStyle>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All four: 6 encoder / 6 decoder steps</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E applies to both expert pools.</a:t>
            </a:r>
          </a:p>
        </p:txBody>
      </p:sp>
      <p:sp>
        <p:nvSpPr>
          <p:cNvPr id="8" name="">
            <a:extLst xmlns:a="http://schemas.openxmlformats.org/drawingml/2006/main">
              <a:ext uri="{FF2B5EF4-FFF2-40B4-BE49-F238E27FC236}">
                <a16:creationId xmlns:a16="http://schemas.microsoft.com/office/drawing/2014/main" id="{145A4A74-9298-4D58-A155-F0BFABAB569F}"/>
              </a:ext>
            </a:extLst>
          </p:cNvPr>
          <p:cNvSpPr>
            <a:spLocks xmlns:a="http://schemas.openxmlformats.org/drawingml/2006/main" noGrp="1"/>
          </p:cNvSpPr>
          <p:nvPr/>
        </p:nvSpPr>
        <p:spPr>
          <a:xfrm xmlns:a="http://schemas.openxmlformats.org/drawingml/2006/main">
            <a:off x="7048500" y="5353050"/>
            <a:ext cx="4686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8352D"/>
                </a:solidFill>
                <a:latin typeface="Arial"/>
                <a:ea typeface="Arial"/>
                <a:cs typeface="Arial"/>
              </a:defRPr>
            </a:defPPr>
          </a:lstStyle>
          <a:p xmlns:a="http://schemas.openxmlformats.org/drawingml/2006/main">
            <a:pPr>
              <a:defRPr sz="1950" b="1">
                <a:solidFill>
                  <a:srgbClr val="18352D"/>
                </a:solidFill>
                <a:latin typeface="Arial"/>
                <a:ea typeface="Arial"/>
                <a:cs typeface="Arial"/>
              </a:defRPr>
            </a:pPr>
            <a:r>
              <a:rPr sz="1950" b="1">
                <a:solidFill>
                  <a:srgbClr val="18352D"/>
                </a:solidFill>
                <a:latin typeface="Arial"/>
                <a:ea typeface="Arial"/>
                <a:cs typeface="Arial"/>
              </a:rPr>
              <a:t>SUT big versus UT big</a:t>
            </a:r>
          </a:p>
        </p:txBody>
      </p:sp>
      <p:sp>
        <p:nvSpPr>
          <p:cNvPr id="9" name="">
            <a:extLst xmlns:a="http://schemas.openxmlformats.org/drawingml/2006/main">
              <a:ext uri="{FF2B5EF4-FFF2-40B4-BE49-F238E27FC236}">
                <a16:creationId xmlns:a16="http://schemas.microsoft.com/office/drawing/2014/main" id="{85305CE4-9485-47F8-A578-04182C184A5E}"/>
              </a:ext>
            </a:extLst>
          </p:cNvPr>
          <p:cNvSpPr>
            <a:spLocks xmlns:a="http://schemas.openxmlformats.org/drawingml/2006/main" noGrp="1"/>
          </p:cNvSpPr>
          <p:nvPr/>
        </p:nvSpPr>
        <p:spPr>
          <a:xfrm xmlns:a="http://schemas.openxmlformats.org/drawingml/2006/main">
            <a:off x="7048500" y="5800725"/>
            <a:ext cx="468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246648"/>
                </a:solidFill>
                <a:latin typeface="Arial"/>
                <a:ea typeface="Arial"/>
                <a:cs typeface="Arial"/>
              </a:defRPr>
            </a:defPPr>
          </a:lstStyle>
          <a:p xmlns:a="http://schemas.openxmlformats.org/drawingml/2006/main">
            <a:pPr>
              <a:defRPr sz="1725" b="0">
                <a:solidFill>
                  <a:srgbClr val="246648"/>
                </a:solidFill>
                <a:latin typeface="Arial"/>
                <a:ea typeface="Arial"/>
                <a:cs typeface="Arial"/>
              </a:defRPr>
            </a:pPr>
            <a:r>
              <a:rPr sz="1725" b="0">
                <a:solidFill>
                  <a:srgbClr val="246648"/>
                </a:solidFill>
                <a:latin typeface="Arial"/>
                <a:ea typeface="Arial"/>
                <a:cs typeface="Arial"/>
              </a:rPr>
              <a:t>≈4.7× fewer MACs, 0.2 lower BLEU</a:t>
            </a:r>
          </a:p>
        </p:txBody>
      </p:sp>
      <p:sp>
        <p:nvSpPr>
          <p:cNvPr id="10" name="">
            <a:extLst xmlns:a="http://schemas.openxmlformats.org/drawingml/2006/main">
              <a:ext uri="{FF2B5EF4-FFF2-40B4-BE49-F238E27FC236}">
                <a16:creationId xmlns:a16="http://schemas.microsoft.com/office/drawing/2014/main" id="{952B67BC-B9FB-4508-B5CC-92C9E3F30533}"/>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Table 1 and Appendix Table 6. SB = stick breaking. *Known MAC undercounts for convolutions.</a:t>
            </a:r>
          </a:p>
        </p:txBody>
      </p:sp>
    </p:spTree>
    <p:extLst>
      <p:ext uri="{BB962C8B-B14F-4D97-AF65-F5344CB8AC3E}">
        <p14:creationId xmlns:p14="http://schemas.microsoft.com/office/powerpoint/2010/main" val="1453819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BF86DD-227D-420F-B6A0-9E1FE2F3B86B}"/>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WMT’14</a:t>
            </a:r>
          </a:p>
        </p:txBody>
      </p:sp>
      <p:sp>
        <p:nvSpPr>
          <p:cNvPr id="2" name="">
            <a:extLst xmlns:a="http://schemas.openxmlformats.org/drawingml/2006/main">
              <a:ext uri="{FF2B5EF4-FFF2-40B4-BE49-F238E27FC236}">
                <a16:creationId xmlns:a16="http://schemas.microsoft.com/office/drawing/2014/main" id="{7FD07DD3-C37D-4BAE-AB3F-0BCD04EB82C0}"/>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Translation: ablations and FFN specialization</a:t>
            </a:r>
          </a:p>
        </p:txBody>
      </p:sp>
      <p:sp>
        <p:nvSpPr>
          <p:cNvPr id="3" name="">
            <a:extLst xmlns:a="http://schemas.openxmlformats.org/drawingml/2006/main">
              <a:ext uri="{FF2B5EF4-FFF2-40B4-BE49-F238E27FC236}">
                <a16:creationId xmlns:a16="http://schemas.microsoft.com/office/drawing/2014/main" id="{5C7894F1-D252-476B-A924-BDBCFCEB08A7}"/>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05CFFE0F-D0E6-44BA-926D-AD4BE2F40E97}"/>
              </a:ext>
            </a:extLst>
          </p:cNvPr>
          <p:cNvGraphicFramePr/>
          <p:nvPr/>
        </p:nvGraphicFramePr>
        <p:xfrm>
          <a:off xmlns:a="http://schemas.openxmlformats.org/drawingml/2006/main" x="457200" y="1476375"/>
          <a:ext xmlns:a="http://schemas.openxmlformats.org/drawingml/2006/main" cx="6096000" cy="3143250"/>
        </p:xfrm>
        <a:graphic xmlns:a="http://schemas.openxmlformats.org/drawingml/2006/main">
          <a:graphicData uri="http://schemas.openxmlformats.org/drawingml/2006/table">
            <a:tbl>
              <a:tblPr/>
              <a:tblGrid>
                <a:gridCol w="2857500"/>
                <a:gridCol w="1238250"/>
                <a:gridCol w="952500"/>
                <a:gridCol w="1047750"/>
              </a:tblGrid>
              <a:tr h="523875">
                <a:tc>
                  <a:txBody>
                    <a:bodyPr lIns="76200" tIns="38100" rIns="76200" bIns="38100"/>
                    <a:lstStyle/>
                    <a:p>
                      <a:pPr algn="l"/>
                      <a:r>
                        <a:rPr sz="1725" b="1">
                          <a:solidFill>
                            <a:srgbClr val="FFFFFF"/>
                          </a:solidFill>
                          <a:latin typeface="Arial"/>
                          <a:ea typeface="Arial"/>
                          <a:cs typeface="Arial"/>
                        </a:rPr>
                        <a:t>Variant</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725" b="1">
                          <a:solidFill>
                            <a:srgbClr val="FFFFFF"/>
                          </a:solidFill>
                          <a:latin typeface="Arial"/>
                          <a:ea typeface="Arial"/>
                          <a:cs typeface="Arial"/>
                        </a:rPr>
                        <a:t>Valid loss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725" b="1">
                          <a:solidFill>
                            <a:srgbClr val="FFFFFF"/>
                          </a:solidFill>
                          <a:latin typeface="Arial"/>
                          <a:ea typeface="Arial"/>
                          <a:cs typeface="Arial"/>
                        </a:rPr>
                        <a:t>BLEU</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725" b="1">
                          <a:solidFill>
                            <a:srgbClr val="FFFFFF"/>
                          </a:solidFill>
                          <a:latin typeface="Arial"/>
                          <a:ea typeface="Arial"/>
                          <a:cs typeface="Arial"/>
                        </a:rPr>
                        <a:t>Params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523875">
                <a:tc>
                  <a:txBody>
                    <a:bodyPr lIns="76200" tIns="38100" rIns="76200" bIns="38100"/>
                    <a:lstStyle/>
                    <a:p>
                      <a:pPr algn="l"/>
                      <a:r>
                        <a:rPr sz="1725" b="1">
                          <a:solidFill>
                            <a:srgbClr val="18352D"/>
                          </a:solidFill>
                          <a:latin typeface="Arial"/>
                          <a:ea typeface="Arial"/>
                          <a:cs typeface="Arial"/>
                        </a:rPr>
                        <a:t>SUT base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725" b="1">
                          <a:solidFill>
                            <a:srgbClr val="18352D"/>
                          </a:solidFill>
                          <a:latin typeface="Arial"/>
                          <a:ea typeface="Arial"/>
                          <a:cs typeface="Arial"/>
                        </a:rPr>
                        <a:t>2.192</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725" b="1">
                          <a:solidFill>
                            <a:srgbClr val="18352D"/>
                          </a:solidFill>
                          <a:latin typeface="Arial"/>
                          <a:ea typeface="Arial"/>
                          <a:cs typeface="Arial"/>
                        </a:rPr>
                        <a:t>29.2</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725" b="1">
                          <a:solidFill>
                            <a:srgbClr val="18352D"/>
                          </a:solidFill>
                          <a:latin typeface="Arial"/>
                          <a:ea typeface="Arial"/>
                          <a:cs typeface="Arial"/>
                        </a:rPr>
                        <a:t>66M</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r h="523875">
                <a:tc>
                  <a:txBody>
                    <a:bodyPr lIns="76200" tIns="38100" rIns="76200" bIns="38100"/>
                    <a:lstStyle/>
                    <a:p>
                      <a:pPr algn="l"/>
                      <a:r>
                        <a:rPr sz="1725" b="0">
                          <a:solidFill>
                            <a:srgbClr val="18352D"/>
                          </a:solidFill>
                          <a:latin typeface="Arial"/>
                          <a:ea typeface="Arial"/>
                          <a:cs typeface="Arial"/>
                        </a:rPr>
                        <a:t>− MIM loss</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725" b="0">
                          <a:solidFill>
                            <a:srgbClr val="18352D"/>
                          </a:solidFill>
                          <a:latin typeface="Arial"/>
                          <a:ea typeface="Arial"/>
                          <a:cs typeface="Arial"/>
                        </a:rPr>
                        <a:t>2.221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725" b="0">
                          <a:solidFill>
                            <a:srgbClr val="18352D"/>
                          </a:solidFill>
                          <a:latin typeface="Arial"/>
                          <a:ea typeface="Arial"/>
                          <a:cs typeface="Arial"/>
                        </a:rPr>
                        <a:t>28.9</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725" b="0">
                          <a:solidFill>
                            <a:srgbClr val="18352D"/>
                          </a:solidFill>
                          <a:latin typeface="Arial"/>
                          <a:ea typeface="Arial"/>
                          <a:cs typeface="Arial"/>
                        </a:rPr>
                        <a:t>66M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523875">
                <a:tc>
                  <a:txBody>
                    <a:bodyPr lIns="76200" tIns="38100" rIns="76200" bIns="38100"/>
                    <a:lstStyle/>
                    <a:p>
                      <a:pPr algn="l"/>
                      <a:r>
                        <a:rPr sz="1725" b="0">
                          <a:solidFill>
                            <a:srgbClr val="18352D"/>
                          </a:solidFill>
                          <a:latin typeface="Arial"/>
                          <a:ea typeface="Arial"/>
                          <a:cs typeface="Arial"/>
                        </a:rPr>
                        <a:t>− MoMHA</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725" b="0">
                          <a:solidFill>
                            <a:srgbClr val="18352D"/>
                          </a:solidFill>
                          <a:latin typeface="Arial"/>
                          <a:ea typeface="Arial"/>
                          <a:cs typeface="Arial"/>
                        </a:rPr>
                        <a:t>2.232</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725" b="0">
                          <a:solidFill>
                            <a:srgbClr val="18352D"/>
                          </a:solidFill>
                          <a:latin typeface="Arial"/>
                          <a:ea typeface="Arial"/>
                          <a:cs typeface="Arial"/>
                        </a:rPr>
                        <a:t>28.7</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725" b="0">
                          <a:solidFill>
                            <a:srgbClr val="18352D"/>
                          </a:solidFill>
                          <a:latin typeface="Arial"/>
                          <a:ea typeface="Arial"/>
                          <a:cs typeface="Arial"/>
                        </a:rPr>
                        <a:t>66M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523875">
                <a:tc>
                  <a:txBody>
                    <a:bodyPr lIns="76200" tIns="38100" rIns="76200" bIns="38100"/>
                    <a:lstStyle/>
                    <a:p>
                      <a:pPr algn="l"/>
                      <a:r>
                        <a:rPr sz="1725" b="0">
                          <a:solidFill>
                            <a:srgbClr val="18352D"/>
                          </a:solidFill>
                          <a:latin typeface="Arial"/>
                          <a:ea typeface="Arial"/>
                          <a:cs typeface="Arial"/>
                        </a:rPr>
                        <a:t>− ACT loss</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725" b="0">
                          <a:solidFill>
                            <a:srgbClr val="18352D"/>
                          </a:solidFill>
                          <a:latin typeface="Arial"/>
                          <a:ea typeface="Arial"/>
                          <a:cs typeface="Arial"/>
                        </a:rPr>
                        <a:t>2.217</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725" b="0">
                          <a:solidFill>
                            <a:srgbClr val="18352D"/>
                          </a:solidFill>
                          <a:latin typeface="Arial"/>
                          <a:ea typeface="Arial"/>
                          <a:cs typeface="Arial"/>
                        </a:rPr>
                        <a:t>29.0</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725" b="0">
                          <a:solidFill>
                            <a:srgbClr val="18352D"/>
                          </a:solidFill>
                          <a:latin typeface="Arial"/>
                          <a:ea typeface="Arial"/>
                          <a:cs typeface="Arial"/>
                        </a:rPr>
                        <a:t>66M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523875">
                <a:tc>
                  <a:txBody>
                    <a:bodyPr lIns="76200" tIns="38100" rIns="76200" bIns="38100"/>
                    <a:lstStyle/>
                    <a:p>
                      <a:pPr algn="l"/>
                      <a:r>
                        <a:rPr sz="1725" b="0">
                          <a:solidFill>
                            <a:srgbClr val="18352D"/>
                          </a:solidFill>
                          <a:latin typeface="Arial"/>
                          <a:ea typeface="Arial"/>
                          <a:cs typeface="Arial"/>
                        </a:rPr>
                        <a:t>− Halting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725" b="0">
                          <a:solidFill>
                            <a:srgbClr val="18352D"/>
                          </a:solidFill>
                          <a:latin typeface="Arial"/>
                          <a:ea typeface="Arial"/>
                          <a:cs typeface="Arial"/>
                        </a:rPr>
                        <a:t>2.219</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725" b="0">
                          <a:solidFill>
                            <a:srgbClr val="18352D"/>
                          </a:solidFill>
                          <a:latin typeface="Arial"/>
                          <a:ea typeface="Arial"/>
                          <a:cs typeface="Arial"/>
                        </a:rPr>
                        <a:t>29.1</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725" b="0">
                          <a:solidFill>
                            <a:srgbClr val="18352D"/>
                          </a:solidFill>
                          <a:latin typeface="Arial"/>
                          <a:ea typeface="Arial"/>
                          <a:cs typeface="Arial"/>
                        </a:rPr>
                        <a:t>65M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4021051-28D7-46F1-8E59-5E6AF48B7570}"/>
              </a:ext>
            </a:extLst>
          </p:cNvPr>
          <p:cNvSpPr>
            <a:spLocks xmlns:a="http://schemas.openxmlformats.org/drawingml/2006/main" noGrp="1"/>
          </p:cNvSpPr>
          <p:nvPr/>
        </p:nvSpPr>
        <p:spPr>
          <a:xfrm xmlns:a="http://schemas.openxmlformats.org/drawingml/2006/main">
            <a:off x="7048500" y="1476375"/>
            <a:ext cx="468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8352D"/>
                </a:solidFill>
                <a:latin typeface="Arial"/>
                <a:ea typeface="Arial"/>
                <a:cs typeface="Arial"/>
              </a:defRPr>
            </a:defPPr>
          </a:lstStyle>
          <a:p xmlns:a="http://schemas.openxmlformats.org/drawingml/2006/main">
            <a:pPr>
              <a:defRPr sz="2025" b="1">
                <a:solidFill>
                  <a:srgbClr val="18352D"/>
                </a:solidFill>
                <a:latin typeface="Arial"/>
                <a:ea typeface="Arial"/>
                <a:cs typeface="Arial"/>
              </a:defRPr>
            </a:pPr>
            <a:r>
              <a:rPr sz="2025" b="1">
                <a:solidFill>
                  <a:srgbClr val="18352D"/>
                </a:solidFill>
                <a:latin typeface="Arial"/>
                <a:ea typeface="Arial"/>
                <a:cs typeface="Arial"/>
              </a:rPr>
              <a:t>FFN expert–token associations</a:t>
            </a:r>
          </a:p>
        </p:txBody>
      </p:sp>
      <p:graphicFrame>
        <p:nvGraphicFramePr>
          <p:cNvPr id="6" name="">
            <a:extLst xmlns:a="http://schemas.openxmlformats.org/drawingml/2006/main">
              <a:ext uri="{FF2B5EF4-FFF2-40B4-BE49-F238E27FC236}">
                <a16:creationId xmlns:a16="http://schemas.microsoft.com/office/drawing/2014/main" id="{125605AA-ED5A-4AC8-97CB-699486659AE7}"/>
              </a:ext>
            </a:extLst>
          </p:cNvPr>
          <p:cNvGraphicFramePr/>
          <p:nvPr/>
        </p:nvGraphicFramePr>
        <p:xfrm>
          <a:off xmlns:a="http://schemas.openxmlformats.org/drawingml/2006/main" x="7048500" y="2076450"/>
          <a:ext xmlns:a="http://schemas.openxmlformats.org/drawingml/2006/main" cx="4686300" cy="2762250"/>
        </p:xfrm>
        <a:graphic xmlns:a="http://schemas.openxmlformats.org/drawingml/2006/main">
          <a:graphicData uri="http://schemas.openxmlformats.org/drawingml/2006/table">
            <a:tbl>
              <a:tblPr/>
              <a:tblGrid>
                <a:gridCol w="904875"/>
                <a:gridCol w="3781425"/>
              </a:tblGrid>
              <a:tr h="552450">
                <a:tc>
                  <a:txBody>
                    <a:bodyPr lIns="76200" tIns="38100" rIns="76200" bIns="38100"/>
                    <a:lstStyle/>
                    <a:p>
                      <a:pPr algn="l"/>
                      <a:r>
                        <a:rPr sz="1650" b="1">
                          <a:solidFill>
                            <a:srgbClr val="FFFFFF"/>
                          </a:solidFill>
                          <a:latin typeface="Arial"/>
                          <a:ea typeface="Arial"/>
                          <a:cs typeface="Arial"/>
                        </a:rPr>
                        <a:t>Expert</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650" b="1">
                          <a:solidFill>
                            <a:srgbClr val="FFFFFF"/>
                          </a:solidFill>
                          <a:latin typeface="Arial"/>
                          <a:ea typeface="Arial"/>
                          <a:cs typeface="Arial"/>
                        </a:rPr>
                        <a:t>Top five tokens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552450">
                <a:tc>
                  <a:txBody>
                    <a:bodyPr lIns="76200" tIns="38100" rIns="76200" bIns="38100"/>
                    <a:lstStyle/>
                    <a:p>
                      <a:pPr algn="l"/>
                      <a:r>
                        <a:rPr sz="1650" b="0">
                          <a:solidFill>
                            <a:srgbClr val="18352D"/>
                          </a:solidFill>
                          <a:latin typeface="Arial"/>
                          <a:ea typeface="Arial"/>
                          <a:cs typeface="Arial"/>
                        </a:rPr>
                        <a:t>6</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650" b="0">
                          <a:solidFill>
                            <a:srgbClr val="18352D"/>
                          </a:solidFill>
                          <a:latin typeface="Arial"/>
                          <a:ea typeface="Arial"/>
                          <a:cs typeface="Arial"/>
                        </a:rPr>
                        <a:t>a, their, his, this, an</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552450">
                <a:tc>
                  <a:txBody>
                    <a:bodyPr lIns="76200" tIns="38100" rIns="76200" bIns="38100"/>
                    <a:lstStyle/>
                    <a:p>
                      <a:pPr algn="l"/>
                      <a:r>
                        <a:rPr sz="1650" b="0">
                          <a:solidFill>
                            <a:srgbClr val="18352D"/>
                          </a:solidFill>
                          <a:latin typeface="Arial"/>
                          <a:ea typeface="Arial"/>
                          <a:cs typeface="Arial"/>
                        </a:rPr>
                        <a:t>17</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650" b="0">
                          <a:solidFill>
                            <a:srgbClr val="18352D"/>
                          </a:solidFill>
                          <a:latin typeface="Arial"/>
                          <a:ea typeface="Arial"/>
                          <a:cs typeface="Arial"/>
                        </a:rPr>
                        <a:t>he, they, his, He, you</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552450">
                <a:tc>
                  <a:txBody>
                    <a:bodyPr lIns="76200" tIns="38100" rIns="76200" bIns="38100"/>
                    <a:lstStyle/>
                    <a:p>
                      <a:pPr algn="l"/>
                      <a:r>
                        <a:rPr sz="1650" b="0">
                          <a:solidFill>
                            <a:srgbClr val="18352D"/>
                          </a:solidFill>
                          <a:latin typeface="Arial"/>
                          <a:ea typeface="Arial"/>
                          <a:cs typeface="Arial"/>
                        </a:rPr>
                        <a:t>41</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650" b="0">
                          <a:solidFill>
                            <a:srgbClr val="18352D"/>
                          </a:solidFill>
                          <a:latin typeface="Arial"/>
                          <a:ea typeface="Arial"/>
                          <a:cs typeface="Arial"/>
                        </a:rPr>
                        <a:t>ed, ing, ted, y, red</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552450">
                <a:tc>
                  <a:txBody>
                    <a:bodyPr lIns="76200" tIns="38100" rIns="76200" bIns="38100"/>
                    <a:lstStyle/>
                    <a:p>
                      <a:pPr algn="l"/>
                      <a:r>
                        <a:rPr sz="1650" b="0">
                          <a:solidFill>
                            <a:srgbClr val="18352D"/>
                          </a:solidFill>
                          <a:latin typeface="Arial"/>
                          <a:ea typeface="Arial"/>
                          <a:cs typeface="Arial"/>
                        </a:rPr>
                        <a:t>46</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650" b="0">
                          <a:solidFill>
                            <a:srgbClr val="18352D"/>
                          </a:solidFill>
                          <a:latin typeface="Arial"/>
                          <a:ea typeface="Arial"/>
                          <a:cs typeface="Arial"/>
                        </a:rPr>
                        <a:t>team, children, police,</a:t>
                      </a:r>
                    </a:p>
                    <a:p>
                      <a:pPr algn="ctr"/>
                      <a:r>
                        <a:rPr sz="1650" b="0">
                          <a:solidFill>
                            <a:srgbClr val="18352D"/>
                          </a:solidFill>
                          <a:latin typeface="Arial"/>
                          <a:ea typeface="Arial"/>
                          <a:cs typeface="Arial"/>
                        </a:rPr>
                        <a:t>devices, system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bl>
          </a:graphicData>
        </a:graphic>
      </p:graphicFrame>
      <p:sp>
        <p:nvSpPr>
          <p:cNvPr id="7" name="">
            <a:extLst xmlns:a="http://schemas.openxmlformats.org/drawingml/2006/main">
              <a:ext uri="{FF2B5EF4-FFF2-40B4-BE49-F238E27FC236}">
                <a16:creationId xmlns:a16="http://schemas.microsoft.com/office/drawing/2014/main" id="{2C461D95-5D06-4E9A-A0A4-63B034DF0A11}"/>
              </a:ext>
            </a:extLst>
          </p:cNvPr>
          <p:cNvSpPr>
            <a:spLocks xmlns:a="http://schemas.openxmlformats.org/drawingml/2006/main" noGrp="1"/>
          </p:cNvSpPr>
          <p:nvPr/>
        </p:nvSpPr>
        <p:spPr>
          <a:xfrm xmlns:a="http://schemas.openxmlformats.org/drawingml/2006/main">
            <a:off x="457200" y="5019675"/>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 MoMHA” replaces it with MoA.</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FFN-MoE remains in the model.</a:t>
            </a:r>
          </a:p>
        </p:txBody>
      </p:sp>
      <p:sp>
        <p:nvSpPr>
          <p:cNvPr id="8" name="">
            <a:extLst xmlns:a="http://schemas.openxmlformats.org/drawingml/2006/main">
              <a:ext uri="{FF2B5EF4-FFF2-40B4-BE49-F238E27FC236}">
                <a16:creationId xmlns:a16="http://schemas.microsoft.com/office/drawing/2014/main" id="{9BBF5F62-EC6D-4E34-B81D-FC5CD48759D5}"/>
              </a:ext>
            </a:extLst>
          </p:cNvPr>
          <p:cNvSpPr>
            <a:spLocks xmlns:a="http://schemas.openxmlformats.org/drawingml/2006/main" noGrp="1"/>
          </p:cNvSpPr>
          <p:nvPr/>
        </p:nvSpPr>
        <p:spPr>
          <a:xfrm xmlns:a="http://schemas.openxmlformats.org/drawingml/2006/main">
            <a:off x="7048500" y="5181600"/>
            <a:ext cx="4686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8352D"/>
                </a:solidFill>
                <a:latin typeface="Arial"/>
                <a:ea typeface="Arial"/>
                <a:cs typeface="Arial"/>
              </a:defRPr>
            </a:defPPr>
          </a:lstStyle>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Selected examples suggest specialization.</a:t>
            </a:r>
          </a:p>
          <a:p xmlns:a="http://schemas.openxmlformats.org/drawingml/2006/main">
            <a:pPr>
              <a:defRPr sz="1800" b="0">
                <a:solidFill>
                  <a:srgbClr val="18352D"/>
                </a:solidFill>
                <a:latin typeface="Arial"/>
                <a:ea typeface="Arial"/>
                <a:cs typeface="Arial"/>
              </a:defRPr>
            </a:pPr>
            <a:r>
              <a:rPr sz="1800" b="0">
                <a:solidFill>
                  <a:srgbClr val="18352D"/>
                </a:solidFill>
                <a:latin typeface="Arial"/>
                <a:ea typeface="Arial"/>
                <a:cs typeface="Arial"/>
              </a:rPr>
              <a:t>They do not measure redundancy.</a:t>
            </a:r>
          </a:p>
        </p:txBody>
      </p:sp>
      <p:sp>
        <p:nvSpPr>
          <p:cNvPr id="9" name="">
            <a:extLst xmlns:a="http://schemas.openxmlformats.org/drawingml/2006/main">
              <a:ext uri="{FF2B5EF4-FFF2-40B4-BE49-F238E27FC236}">
                <a16:creationId xmlns:a16="http://schemas.microsoft.com/office/drawing/2014/main" id="{D24FC2D8-301C-4DFD-B045-2CCE68640EA9}"/>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SUT Tables 2–3. FFN experts are called FFD experts in the paper.</a:t>
            </a:r>
          </a:p>
        </p:txBody>
      </p:sp>
    </p:spTree>
    <p:extLst>
      <p:ext uri="{BB962C8B-B14F-4D97-AF65-F5344CB8AC3E}">
        <p14:creationId xmlns:p14="http://schemas.microsoft.com/office/powerpoint/2010/main" val="12722324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0D11E90-BC56-4BDB-8AF9-765101F29869}"/>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TASK DEFINITION</a:t>
            </a:r>
          </a:p>
        </p:txBody>
      </p:sp>
      <p:sp>
        <p:nvSpPr>
          <p:cNvPr id="2" name="">
            <a:extLst xmlns:a="http://schemas.openxmlformats.org/drawingml/2006/main">
              <a:ext uri="{FF2B5EF4-FFF2-40B4-BE49-F238E27FC236}">
                <a16:creationId xmlns:a16="http://schemas.microsoft.com/office/drawing/2014/main" id="{7946E5ED-0508-4E72-A69A-B91B85A053E8}"/>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CFQ: familiar pieces, unfamiliar combinations</a:t>
            </a:r>
          </a:p>
        </p:txBody>
      </p:sp>
      <p:sp>
        <p:nvSpPr>
          <p:cNvPr id="3" name="">
            <a:extLst xmlns:a="http://schemas.openxmlformats.org/drawingml/2006/main">
              <a:ext uri="{FF2B5EF4-FFF2-40B4-BE49-F238E27FC236}">
                <a16:creationId xmlns:a16="http://schemas.microsoft.com/office/drawing/2014/main" id="{BFB65D73-CA19-4A7D-A3EA-B97442AE521E}"/>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98F2CCF6-721E-43D4-B739-589F9817B5C7}"/>
              </a:ext>
            </a:extLst>
          </p:cNvPr>
          <p:cNvPicPr>
            <a:picLocks xmlns:a="http://schemas.openxmlformats.org/drawingml/2006/main" noChangeAspect="1"/>
          </p:cNvPicPr>
          <p:nvPr/>
        </p:nvPicPr>
        <p:blipFill>
          <a:blip xmlns:r="http://schemas.openxmlformats.org/officeDocument/2006/relationships" xmlns:a="http://schemas.openxmlformats.org/drawingml/2006/main" r:embed="Rd5ba1bd8b86e4976"/>
          <a:stretch xmlns:a="http://schemas.openxmlformats.org/drawingml/2006/main"/>
        </p:blipFill>
        <p:spPr>
          <a:xfrm xmlns:a="http://schemas.openxmlformats.org/drawingml/2006/main">
            <a:off x="457200" y="1401961"/>
            <a:ext cx="6191250" cy="34825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C2BE70-9F9C-4D7C-9F30-DB2928E8AA34}"/>
              </a:ext>
            </a:extLst>
          </p:cNvPr>
          <p:cNvSpPr>
            <a:spLocks xmlns:a="http://schemas.openxmlformats.org/drawingml/2006/main" noGrp="1"/>
          </p:cNvSpPr>
          <p:nvPr/>
        </p:nvSpPr>
        <p:spPr>
          <a:xfrm xmlns:a="http://schemas.openxmlformats.org/drawingml/2006/main">
            <a:off x="7181850" y="1457325"/>
            <a:ext cx="455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Model input</a:t>
            </a:r>
          </a:p>
        </p:txBody>
      </p:sp>
      <p:sp>
        <p:nvSpPr>
          <p:cNvPr id="6" name="">
            <a:extLst xmlns:a="http://schemas.openxmlformats.org/drawingml/2006/main">
              <a:ext uri="{FF2B5EF4-FFF2-40B4-BE49-F238E27FC236}">
                <a16:creationId xmlns:a16="http://schemas.microsoft.com/office/drawing/2014/main" id="{F431AEDF-5CDE-4745-BEF0-34A4B43D82A6}"/>
              </a:ext>
            </a:extLst>
          </p:cNvPr>
          <p:cNvSpPr>
            <a:spLocks xmlns:a="http://schemas.openxmlformats.org/drawingml/2006/main" noGrp="1"/>
          </p:cNvSpPr>
          <p:nvPr/>
        </p:nvSpPr>
        <p:spPr>
          <a:xfrm xmlns:a="http://schemas.openxmlformats.org/drawingml/2006/main">
            <a:off x="7181850" y="1952625"/>
            <a:ext cx="45529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Natural-language question</a:t>
            </a:r>
          </a:p>
        </p:txBody>
      </p:sp>
      <p:sp>
        <p:nvSpPr>
          <p:cNvPr id="7" name="">
            <a:extLst xmlns:a="http://schemas.openxmlformats.org/drawingml/2006/main">
              <a:ext uri="{FF2B5EF4-FFF2-40B4-BE49-F238E27FC236}">
                <a16:creationId xmlns:a16="http://schemas.microsoft.com/office/drawing/2014/main" id="{7E935648-917C-4B76-900E-FA2191C3B937}"/>
              </a:ext>
            </a:extLst>
          </p:cNvPr>
          <p:cNvSpPr>
            <a:spLocks xmlns:a="http://schemas.openxmlformats.org/drawingml/2006/main" noGrp="1"/>
          </p:cNvSpPr>
          <p:nvPr/>
        </p:nvSpPr>
        <p:spPr>
          <a:xfrm xmlns:a="http://schemas.openxmlformats.org/drawingml/2006/main">
            <a:off x="7181850" y="2857500"/>
            <a:ext cx="455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Prediction target</a:t>
            </a:r>
          </a:p>
        </p:txBody>
      </p:sp>
      <p:sp>
        <p:nvSpPr>
          <p:cNvPr id="8" name="">
            <a:extLst xmlns:a="http://schemas.openxmlformats.org/drawingml/2006/main">
              <a:ext uri="{FF2B5EF4-FFF2-40B4-BE49-F238E27FC236}">
                <a16:creationId xmlns:a16="http://schemas.microsoft.com/office/drawing/2014/main" id="{599CD3B1-4CEE-468A-9652-53A86C0A5AA2}"/>
              </a:ext>
            </a:extLst>
          </p:cNvPr>
          <p:cNvSpPr>
            <a:spLocks xmlns:a="http://schemas.openxmlformats.org/drawingml/2006/main" noGrp="1"/>
          </p:cNvSpPr>
          <p:nvPr/>
        </p:nvSpPr>
        <p:spPr>
          <a:xfrm xmlns:a="http://schemas.openxmlformats.org/drawingml/2006/main">
            <a:off x="7181850" y="3352800"/>
            <a:ext cx="455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246648"/>
                </a:solidFill>
                <a:latin typeface="Arial"/>
                <a:ea typeface="Arial"/>
                <a:cs typeface="Arial"/>
              </a:defRPr>
            </a:defPPr>
          </a:lstStyle>
          <a:p xmlns:a="http://schemas.openxmlformats.org/drawingml/2006/main">
            <a:pPr>
              <a:defRPr sz="2175" b="1">
                <a:solidFill>
                  <a:srgbClr val="246648"/>
                </a:solidFill>
                <a:latin typeface="Arial"/>
                <a:ea typeface="Arial"/>
                <a:cs typeface="Arial"/>
              </a:defRPr>
            </a:pPr>
            <a:r>
              <a:rPr sz="2175" b="1">
                <a:solidFill>
                  <a:srgbClr val="246648"/>
                </a:solidFill>
                <a:latin typeface="Arial"/>
                <a:ea typeface="Arial"/>
                <a:cs typeface="Arial"/>
              </a:rPr>
              <a:t>SPARQL query text</a:t>
            </a:r>
          </a:p>
        </p:txBody>
      </p:sp>
      <p:sp>
        <p:nvSpPr>
          <p:cNvPr id="9" name="">
            <a:extLst xmlns:a="http://schemas.openxmlformats.org/drawingml/2006/main">
              <a:ext uri="{FF2B5EF4-FFF2-40B4-BE49-F238E27FC236}">
                <a16:creationId xmlns:a16="http://schemas.microsoft.com/office/drawing/2014/main" id="{B187603B-354F-4D0E-BE41-BF250FF7DC1F}"/>
              </a:ext>
            </a:extLst>
          </p:cNvPr>
          <p:cNvSpPr>
            <a:spLocks xmlns:a="http://schemas.openxmlformats.org/drawingml/2006/main" noGrp="1"/>
          </p:cNvSpPr>
          <p:nvPr/>
        </p:nvSpPr>
        <p:spPr>
          <a:xfrm xmlns:a="http://schemas.openxmlformats.org/drawingml/2006/main">
            <a:off x="7181850" y="4171950"/>
            <a:ext cx="4552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MCD: familiar building blocks</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in unfamiliar combinations</a:t>
            </a:r>
          </a:p>
        </p:txBody>
      </p:sp>
      <p:pic>
        <p:nvPicPr>
          <p:cNvPr id="10" name="">
            <a:extLst xmlns:a="http://schemas.openxmlformats.org/drawingml/2006/main">
              <a:ext uri="{FF2B5EF4-FFF2-40B4-BE49-F238E27FC236}">
                <a16:creationId xmlns:a16="http://schemas.microsoft.com/office/drawing/2014/main" id="{68661FF7-F099-44C2-81BB-771A4CA7C40C}"/>
              </a:ext>
            </a:extLst>
          </p:cNvPr>
          <p:cNvPicPr>
            <a:picLocks xmlns:a="http://schemas.openxmlformats.org/drawingml/2006/main" noChangeAspect="1"/>
          </p:cNvPicPr>
          <p:nvPr/>
        </p:nvPicPr>
        <p:blipFill>
          <a:blip xmlns:r="http://schemas.openxmlformats.org/officeDocument/2006/relationships" xmlns:a="http://schemas.openxmlformats.org/drawingml/2006/main" r:embed="Ra4c239f824f64df2"/>
          <a:stretch xmlns:a="http://schemas.openxmlformats.org/drawingml/2006/main"/>
        </p:blipFill>
        <p:spPr>
          <a:xfrm xmlns:a="http://schemas.openxmlformats.org/drawingml/2006/main">
            <a:off x="1468041" y="5229225"/>
            <a:ext cx="9255919" cy="990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6F1C66C-6D12-4219-B557-E6B81FB64056}"/>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Google Research animation and Keysers et al., Figure 1. The logical form belongs to data generation.</a:t>
            </a:r>
          </a:p>
        </p:txBody>
      </p:sp>
    </p:spTree>
    <p:extLst>
      <p:ext uri="{BB962C8B-B14F-4D97-AF65-F5344CB8AC3E}">
        <p14:creationId xmlns:p14="http://schemas.microsoft.com/office/powerpoint/2010/main" val="15817011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5262D3-847D-477E-B5E1-24093BBE9E36}"/>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COMPOSITIONAL GENERALIZATION</a:t>
            </a:r>
          </a:p>
        </p:txBody>
      </p:sp>
      <p:sp>
        <p:nvSpPr>
          <p:cNvPr id="2" name="">
            <a:extLst xmlns:a="http://schemas.openxmlformats.org/drawingml/2006/main">
              <a:ext uri="{FF2B5EF4-FFF2-40B4-BE49-F238E27FC236}">
                <a16:creationId xmlns:a16="http://schemas.microsoft.com/office/drawing/2014/main" id="{9E8FFEBA-C44C-4E59-BDA8-C98C5DFE6BAC}"/>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CFQ results: the best setting uses one expert</a:t>
            </a:r>
          </a:p>
        </p:txBody>
      </p:sp>
      <p:sp>
        <p:nvSpPr>
          <p:cNvPr id="3" name="">
            <a:extLst xmlns:a="http://schemas.openxmlformats.org/drawingml/2006/main">
              <a:ext uri="{FF2B5EF4-FFF2-40B4-BE49-F238E27FC236}">
                <a16:creationId xmlns:a16="http://schemas.microsoft.com/office/drawing/2014/main" id="{C4E55323-1E8A-49F0-9A46-36C14DDE6145}"/>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1D3625F9-9BDE-45FB-8699-87F6798A152C}"/>
              </a:ext>
            </a:extLst>
          </p:cNvPr>
          <p:cNvGraphicFramePr/>
          <p:nvPr/>
        </p:nvGraphicFramePr>
        <p:xfrm>
          <a:off xmlns:a="http://schemas.openxmlformats.org/drawingml/2006/main" x="457200" y="1419225"/>
          <a:ext xmlns:a="http://schemas.openxmlformats.org/drawingml/2006/main" cx="11277600" cy="3810000"/>
        </p:xfrm>
        <a:graphic xmlns:a="http://schemas.openxmlformats.org/drawingml/2006/main">
          <a:graphicData uri="http://schemas.openxmlformats.org/drawingml/2006/table">
            <a:tbl>
              <a:tblPr/>
              <a:tblGrid>
                <a:gridCol w="3381375"/>
                <a:gridCol w="1190625"/>
                <a:gridCol w="1143000"/>
                <a:gridCol w="1143000"/>
                <a:gridCol w="1143000"/>
                <a:gridCol w="1333500"/>
                <a:gridCol w="1943100"/>
              </a:tblGrid>
              <a:tr h="381000">
                <a:tc>
                  <a:txBody>
                    <a:bodyPr lIns="76200" tIns="38100" rIns="76200" bIns="38100"/>
                    <a:lstStyle/>
                    <a:p>
                      <a:pPr algn="l"/>
                      <a:r>
                        <a:rPr sz="1575" b="1">
                          <a:solidFill>
                            <a:srgbClr val="FFFFFF"/>
                          </a:solidFill>
                          <a:latin typeface="Arial"/>
                          <a:ea typeface="Arial"/>
                          <a:cs typeface="Arial"/>
                        </a:rPr>
                        <a:t>Model</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75" b="1">
                          <a:solidFill>
                            <a:srgbClr val="FFFFFF"/>
                          </a:solidFill>
                          <a:latin typeface="Arial"/>
                          <a:ea typeface="Arial"/>
                          <a:cs typeface="Arial"/>
                        </a:rPr>
                        <a:t>Pretrained</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75" b="1">
                          <a:solidFill>
                            <a:srgbClr val="FFFFFF"/>
                          </a:solidFill>
                          <a:latin typeface="Arial"/>
                          <a:ea typeface="Arial"/>
                          <a:cs typeface="Arial"/>
                        </a:rPr>
                        <a:t>MCD1</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75" b="1">
                          <a:solidFill>
                            <a:srgbClr val="FFFFFF"/>
                          </a:solidFill>
                          <a:latin typeface="Arial"/>
                          <a:ea typeface="Arial"/>
                          <a:cs typeface="Arial"/>
                        </a:rPr>
                        <a:t>MCD2</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75" b="1">
                          <a:solidFill>
                            <a:srgbClr val="FFFFFF"/>
                          </a:solidFill>
                          <a:latin typeface="Arial"/>
                          <a:ea typeface="Arial"/>
                          <a:cs typeface="Arial"/>
                        </a:rPr>
                        <a:t>MCD3</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75" b="1">
                          <a:solidFill>
                            <a:srgbClr val="FFFFFF"/>
                          </a:solidFill>
                          <a:latin typeface="Arial"/>
                          <a:ea typeface="Arial"/>
                          <a:cs typeface="Arial"/>
                        </a:rPr>
                        <a:t>Average</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575" b="1">
                          <a:solidFill>
                            <a:srgbClr val="FFFFFF"/>
                          </a:solidFill>
                          <a:latin typeface="Arial"/>
                          <a:ea typeface="Arial"/>
                          <a:cs typeface="Arial"/>
                        </a:rPr>
                        <a:t>MACs</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381000">
                <a:tc>
                  <a:txBody>
                    <a:bodyPr lIns="76200" tIns="38100" rIns="76200" bIns="38100"/>
                    <a:lstStyle/>
                    <a:p>
                      <a:pPr algn="l"/>
                      <a:r>
                        <a:rPr sz="1575" b="0">
                          <a:solidFill>
                            <a:srgbClr val="18352D"/>
                          </a:solidFill>
                          <a:latin typeface="Arial"/>
                          <a:ea typeface="Arial"/>
                          <a:cs typeface="Arial"/>
                        </a:rPr>
                        <a:t>T5-based UT (Bergen)</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No</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42.7</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9.5</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11.6</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21.3</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1154M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381000">
                <a:tc>
                  <a:txBody>
                    <a:bodyPr lIns="76200" tIns="38100" rIns="76200" bIns="38100"/>
                    <a:lstStyle/>
                    <a:p>
                      <a:pPr algn="l"/>
                      <a:r>
                        <a:rPr sz="1575" b="0">
                          <a:solidFill>
                            <a:srgbClr val="18352D"/>
                          </a:solidFill>
                          <a:latin typeface="Arial"/>
                          <a:ea typeface="Arial"/>
                          <a:cs typeface="Arial"/>
                        </a:rPr>
                        <a:t>Edge Transformer</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No</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47.7</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13.1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13.2</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24.7</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6504M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381000">
                <a:tc>
                  <a:txBody>
                    <a:bodyPr lIns="76200" tIns="38100" rIns="76200" bIns="38100"/>
                    <a:lstStyle/>
                    <a:p>
                      <a:pPr algn="l"/>
                      <a:r>
                        <a:rPr sz="1575" b="0">
                          <a:solidFill>
                            <a:srgbClr val="18352D"/>
                          </a:solidFill>
                          <a:latin typeface="Arial"/>
                          <a:ea typeface="Arial"/>
                          <a:cs typeface="Arial"/>
                        </a:rPr>
                        <a:t>Transformer (Keysers)</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No</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42.5</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11.2</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10.6</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21.4</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1154M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381000">
                <a:tc>
                  <a:txBody>
                    <a:bodyPr lIns="76200" tIns="38100" rIns="76200" bIns="38100"/>
                    <a:lstStyle/>
                    <a:p>
                      <a:pPr algn="l"/>
                      <a:r>
                        <a:rPr sz="1575" b="0">
                          <a:solidFill>
                            <a:srgbClr val="18352D"/>
                          </a:solidFill>
                          <a:latin typeface="Arial"/>
                          <a:ea typeface="Arial"/>
                          <a:cs typeface="Arial"/>
                        </a:rPr>
                        <a:t>T5</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Yes</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61.6</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31.3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33.3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42.1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1154M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381000">
                <a:tc>
                  <a:txBody>
                    <a:bodyPr lIns="76200" tIns="38100" rIns="76200" bIns="38100"/>
                    <a:lstStyle/>
                    <a:p>
                      <a:pPr algn="l"/>
                      <a:r>
                        <a:rPr sz="1575" b="0">
                          <a:solidFill>
                            <a:srgbClr val="18352D"/>
                          </a:solidFill>
                          <a:latin typeface="Arial"/>
                          <a:ea typeface="Arial"/>
                          <a:cs typeface="Arial"/>
                        </a:rPr>
                        <a:t>RoBERTa</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Yes</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60.6</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33.6</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36.0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43.4</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1660M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381000">
                <a:tc>
                  <a:txBody>
                    <a:bodyPr lIns="76200" tIns="38100" rIns="76200" bIns="38100"/>
                    <a:lstStyle/>
                    <a:p>
                      <a:pPr algn="l"/>
                      <a:r>
                        <a:rPr sz="1575" b="0">
                          <a:solidFill>
                            <a:srgbClr val="18352D"/>
                          </a:solidFill>
                          <a:latin typeface="Arial"/>
                          <a:ea typeface="Arial"/>
                          <a:cs typeface="Arial"/>
                        </a:rPr>
                        <a:t>Dangle</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Yes</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78.3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59.5</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60.4</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66.1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51033M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381000">
                <a:tc>
                  <a:txBody>
                    <a:bodyPr lIns="76200" tIns="38100" rIns="76200" bIns="38100"/>
                    <a:lstStyle/>
                    <a:p>
                      <a:pPr algn="l"/>
                      <a:r>
                        <a:rPr sz="1575" b="0">
                          <a:solidFill>
                            <a:srgbClr val="18352D"/>
                          </a:solidFill>
                          <a:latin typeface="Arial"/>
                          <a:ea typeface="Arial"/>
                          <a:cs typeface="Arial"/>
                        </a:rPr>
                        <a:t>T5-based UT (SUT paper)</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No</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68.3</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43.1</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45.7</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52.3 ± 1.6</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575" b="0">
                          <a:solidFill>
                            <a:srgbClr val="18352D"/>
                          </a:solidFill>
                          <a:latin typeface="Arial"/>
                          <a:ea typeface="Arial"/>
                          <a:cs typeface="Arial"/>
                        </a:rPr>
                        <a:t>441M</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381000">
                <a:tc>
                  <a:txBody>
                    <a:bodyPr lIns="76200" tIns="38100" rIns="76200" bIns="38100"/>
                    <a:lstStyle/>
                    <a:p>
                      <a:pPr algn="l"/>
                      <a:r>
                        <a:rPr sz="1575" b="0">
                          <a:solidFill>
                            <a:srgbClr val="18352D"/>
                          </a:solidFill>
                          <a:latin typeface="Arial"/>
                          <a:ea typeface="Arial"/>
                          <a:cs typeface="Arial"/>
                        </a:rPr>
                        <a:t>UT without halting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No</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71.0</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48.6</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51.3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56.9 ± 1.5</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575" b="0">
                          <a:solidFill>
                            <a:srgbClr val="18352D"/>
                          </a:solidFill>
                          <a:latin typeface="Arial"/>
                          <a:ea typeface="Arial"/>
                          <a:cs typeface="Arial"/>
                        </a:rPr>
                        <a:t>654M</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381000">
                <a:tc>
                  <a:txBody>
                    <a:bodyPr lIns="76200" tIns="38100" rIns="76200" bIns="38100"/>
                    <a:lstStyle/>
                    <a:p>
                      <a:pPr algn="l"/>
                      <a:r>
                        <a:rPr sz="1575" b="1">
                          <a:solidFill>
                            <a:srgbClr val="18352D"/>
                          </a:solidFill>
                          <a:latin typeface="Arial"/>
                          <a:ea typeface="Arial"/>
                          <a:cs typeface="Arial"/>
                        </a:rPr>
                        <a:t>UT with halting</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75" b="1">
                          <a:solidFill>
                            <a:srgbClr val="18352D"/>
                          </a:solidFill>
                          <a:latin typeface="Arial"/>
                          <a:ea typeface="Arial"/>
                          <a:cs typeface="Arial"/>
                        </a:rPr>
                        <a:t>No</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75" b="1">
                          <a:solidFill>
                            <a:srgbClr val="18352D"/>
                          </a:solidFill>
                          <a:latin typeface="Arial"/>
                          <a:ea typeface="Arial"/>
                          <a:cs typeface="Arial"/>
                        </a:rPr>
                        <a:t>72.4</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75" b="1">
                          <a:solidFill>
                            <a:srgbClr val="18352D"/>
                          </a:solidFill>
                          <a:latin typeface="Arial"/>
                          <a:ea typeface="Arial"/>
                          <a:cs typeface="Arial"/>
                        </a:rPr>
                        <a:t>51.1</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75" b="1">
                          <a:solidFill>
                            <a:srgbClr val="18352D"/>
                          </a:solidFill>
                          <a:latin typeface="Arial"/>
                          <a:ea typeface="Arial"/>
                          <a:cs typeface="Arial"/>
                        </a:rPr>
                        <a:t>51.7</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75" b="1">
                          <a:solidFill>
                            <a:srgbClr val="18352D"/>
                          </a:solidFill>
                          <a:latin typeface="Arial"/>
                          <a:ea typeface="Arial"/>
                          <a:cs typeface="Arial"/>
                        </a:rPr>
                        <a:t>58.4 ± 1.2</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575" b="1">
                          <a:solidFill>
                            <a:srgbClr val="18352D"/>
                          </a:solidFill>
                          <a:latin typeface="Arial"/>
                          <a:ea typeface="Arial"/>
                          <a:cs typeface="Arial"/>
                        </a:rPr>
                        <a:t>654M</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bl>
          </a:graphicData>
        </a:graphic>
      </p:graphicFrame>
      <p:sp>
        <p:nvSpPr>
          <p:cNvPr id="5" name="">
            <a:extLst xmlns:a="http://schemas.openxmlformats.org/drawingml/2006/main">
              <a:ext uri="{FF2B5EF4-FFF2-40B4-BE49-F238E27FC236}">
                <a16:creationId xmlns:a16="http://schemas.microsoft.com/office/drawing/2014/main" id="{579F95D8-6C87-446F-B2A5-BF4A3A94132D}"/>
              </a:ext>
            </a:extLst>
          </p:cNvPr>
          <p:cNvSpPr>
            <a:spLocks xmlns:a="http://schemas.openxmlformats.org/drawingml/2006/main" noGrp="1"/>
          </p:cNvSpPr>
          <p:nvPr/>
        </p:nvSpPr>
        <p:spPr>
          <a:xfrm xmlns:a="http://schemas.openxmlformats.org/drawingml/2006/main">
            <a:off x="457200" y="55340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246648"/>
                </a:solidFill>
                <a:latin typeface="Arial"/>
                <a:ea typeface="Arial"/>
                <a:cs typeface="Arial"/>
              </a:defRPr>
            </a:defPPr>
          </a:lstStyle>
          <a:p xmlns:a="http://schemas.openxmlformats.org/drawingml/2006/main">
            <a:pPr>
              <a:defRPr sz="2025" b="1">
                <a:solidFill>
                  <a:srgbClr val="246648"/>
                </a:solidFill>
                <a:latin typeface="Arial"/>
                <a:ea typeface="Arial"/>
                <a:cs typeface="Arial"/>
              </a:defRPr>
            </a:pPr>
            <a:r>
              <a:rPr sz="2025" b="1">
                <a:solidFill>
                  <a:srgbClr val="246648"/>
                </a:solidFill>
                <a:latin typeface="Arial"/>
                <a:ea typeface="Arial"/>
                <a:cs typeface="Arial"/>
              </a:rPr>
              <a:t>Attention (1, 1, 8, 64, 1)     FFN (1, 1, 1024)     Depth 8 / 8</a:t>
            </a:r>
          </a:p>
        </p:txBody>
      </p:sp>
      <p:sp>
        <p:nvSpPr>
          <p:cNvPr id="6" name="">
            <a:extLst xmlns:a="http://schemas.openxmlformats.org/drawingml/2006/main">
              <a:ext uri="{FF2B5EF4-FFF2-40B4-BE49-F238E27FC236}">
                <a16:creationId xmlns:a16="http://schemas.microsoft.com/office/drawing/2014/main" id="{FAB09AA4-9D24-4526-ABE6-89F9BFE99F99}"/>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Table 4. Accuracy (%). UT rows: five seeds. Per-split uncertainties and preprocessing details in notes.</a:t>
            </a:r>
          </a:p>
        </p:txBody>
      </p:sp>
    </p:spTree>
    <p:extLst>
      <p:ext uri="{BB962C8B-B14F-4D97-AF65-F5344CB8AC3E}">
        <p14:creationId xmlns:p14="http://schemas.microsoft.com/office/powerpoint/2010/main" val="5467370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819917-EE1E-4ECC-8935-396EB25EB91C}"/>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TASK AND CONFIGURATION</a:t>
            </a:r>
          </a:p>
        </p:txBody>
      </p:sp>
      <p:sp>
        <p:nvSpPr>
          <p:cNvPr id="2" name="">
            <a:extLst xmlns:a="http://schemas.openxmlformats.org/drawingml/2006/main">
              <a:ext uri="{FF2B5EF4-FFF2-40B4-BE49-F238E27FC236}">
                <a16:creationId xmlns:a16="http://schemas.microsoft.com/office/drawing/2014/main" id="{B07F1280-D9B7-4BC5-AFA8-D61E2C06C547}"/>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Logical inference: relational reasoning beyond training</a:t>
            </a:r>
          </a:p>
        </p:txBody>
      </p:sp>
      <p:sp>
        <p:nvSpPr>
          <p:cNvPr id="3" name="">
            <a:extLst xmlns:a="http://schemas.openxmlformats.org/drawingml/2006/main">
              <a:ext uri="{FF2B5EF4-FFF2-40B4-BE49-F238E27FC236}">
                <a16:creationId xmlns:a16="http://schemas.microsoft.com/office/drawing/2014/main" id="{440CBEC2-14ED-4E98-8596-280F7D42DF5E}"/>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75D84A5C-B5AB-4DF9-B24B-AB341F05C18E}"/>
              </a:ext>
            </a:extLst>
          </p:cNvPr>
          <p:cNvSpPr>
            <a:spLocks xmlns:a="http://schemas.openxmlformats.org/drawingml/2006/main" noGrp="1"/>
          </p:cNvSpPr>
          <p:nvPr/>
        </p:nvSpPr>
        <p:spPr>
          <a:xfrm xmlns:a="http://schemas.openxmlformats.org/drawingml/2006/main">
            <a:off x="457200" y="1457325"/>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8352D"/>
                </a:solidFill>
                <a:latin typeface="Arial"/>
                <a:ea typeface="Arial"/>
                <a:cs typeface="Arial"/>
              </a:defRPr>
            </a:defPPr>
          </a:lstStyle>
          <a:p xmlns:a="http://schemas.openxmlformats.org/drawingml/2006/main">
            <a:pPr>
              <a:defRPr sz="2325" b="1">
                <a:solidFill>
                  <a:srgbClr val="18352D"/>
                </a:solidFill>
                <a:latin typeface="Arial"/>
                <a:ea typeface="Arial"/>
                <a:cs typeface="Arial"/>
              </a:defRPr>
            </a:pPr>
            <a:r>
              <a:rPr sz="2325" b="1">
                <a:solidFill>
                  <a:srgbClr val="18352D"/>
                </a:solidFill>
                <a:latin typeface="Arial"/>
                <a:ea typeface="Arial"/>
                <a:cs typeface="Arial"/>
              </a:rPr>
              <a:t>Input:  expression 1  #SEP#  expression 2</a:t>
            </a:r>
          </a:p>
        </p:txBody>
      </p:sp>
      <p:sp>
        <p:nvSpPr>
          <p:cNvPr id="5" name="">
            <a:extLst xmlns:a="http://schemas.openxmlformats.org/drawingml/2006/main">
              <a:ext uri="{FF2B5EF4-FFF2-40B4-BE49-F238E27FC236}">
                <a16:creationId xmlns:a16="http://schemas.microsoft.com/office/drawing/2014/main" id="{57461612-A457-4685-86FB-F033A273C954}"/>
              </a:ext>
            </a:extLst>
          </p:cNvPr>
          <p:cNvSpPr>
            <a:spLocks xmlns:a="http://schemas.openxmlformats.org/drawingml/2006/main" noGrp="1"/>
          </p:cNvSpPr>
          <p:nvPr/>
        </p:nvSpPr>
        <p:spPr>
          <a:xfrm xmlns:a="http://schemas.openxmlformats.org/drawingml/2006/main">
            <a:off x="457200" y="2133600"/>
            <a:ext cx="1127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46648"/>
                </a:solidFill>
                <a:latin typeface="Arial"/>
                <a:ea typeface="Arial"/>
                <a:cs typeface="Arial"/>
              </a:defRPr>
            </a:defPPr>
          </a:lstStyle>
          <a:p xmlns:a="http://schemas.openxmlformats.org/drawingml/2006/main">
            <a:pPr>
              <a:defRPr sz="2250" b="0">
                <a:solidFill>
                  <a:srgbClr val="246648"/>
                </a:solidFill>
                <a:latin typeface="Arial"/>
                <a:ea typeface="Arial"/>
                <a:cs typeface="Arial"/>
              </a:defRPr>
            </a:pPr>
            <a:r>
              <a:rPr sz="2250" b="0">
                <a:solidFill>
                  <a:srgbClr val="246648"/>
                </a:solidFill>
                <a:latin typeface="Arial"/>
                <a:ea typeface="Arial"/>
                <a:cs typeface="Arial"/>
              </a:rPr>
              <a:t>Example:  a  #SEP#  (a or b)</a:t>
            </a:r>
          </a:p>
          <a:p xmlns:a="http://schemas.openxmlformats.org/drawingml/2006/main">
            <a:pPr>
              <a:defRPr sz="2250" b="0">
                <a:solidFill>
                  <a:srgbClr val="246648"/>
                </a:solidFill>
                <a:latin typeface="Arial"/>
                <a:ea typeface="Arial"/>
                <a:cs typeface="Arial"/>
              </a:defRPr>
            </a:pPr>
            <a:r>
              <a:rPr sz="2250" b="0">
                <a:solidFill>
                  <a:srgbClr val="246648"/>
                </a:solidFill>
                <a:latin typeface="Arial"/>
                <a:ea typeface="Arial"/>
                <a:cs typeface="Arial"/>
              </a:rPr>
              <a:t>Target:  forward entailment</a:t>
            </a:r>
          </a:p>
        </p:txBody>
      </p:sp>
      <p:sp>
        <p:nvSpPr>
          <p:cNvPr id="6" name="">
            <a:extLst xmlns:a="http://schemas.openxmlformats.org/drawingml/2006/main">
              <a:ext uri="{FF2B5EF4-FFF2-40B4-BE49-F238E27FC236}">
                <a16:creationId xmlns:a16="http://schemas.microsoft.com/office/drawing/2014/main" id="{637097BB-C65E-41B7-9569-BAEBB3D050A9}"/>
              </a:ext>
            </a:extLst>
          </p:cNvPr>
          <p:cNvSpPr>
            <a:spLocks xmlns:a="http://schemas.openxmlformats.org/drawingml/2006/main" noGrp="1"/>
          </p:cNvSpPr>
          <p:nvPr/>
        </p:nvSpPr>
        <p:spPr>
          <a:xfrm xmlns:a="http://schemas.openxmlformats.org/drawingml/2006/main">
            <a:off x="457200" y="347662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Length generalization</a:t>
            </a:r>
          </a:p>
        </p:txBody>
      </p:sp>
      <p:sp>
        <p:nvSpPr>
          <p:cNvPr id="7" name="">
            <a:extLst xmlns:a="http://schemas.openxmlformats.org/drawingml/2006/main">
              <a:ext uri="{FF2B5EF4-FFF2-40B4-BE49-F238E27FC236}">
                <a16:creationId xmlns:a16="http://schemas.microsoft.com/office/drawing/2014/main" id="{E9D4D473-B634-4101-BBDA-46CD0C3A2169}"/>
              </a:ext>
            </a:extLst>
          </p:cNvPr>
          <p:cNvSpPr>
            <a:spLocks xmlns:a="http://schemas.openxmlformats.org/drawingml/2006/main" noGrp="1"/>
          </p:cNvSpPr>
          <p:nvPr/>
        </p:nvSpPr>
        <p:spPr>
          <a:xfrm xmlns:a="http://schemas.openxmlformats.org/drawingml/2006/main">
            <a:off x="457200" y="399097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Train: 0–6 logical operators</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Test: 7–12 logical operators</a:t>
            </a:r>
          </a:p>
        </p:txBody>
      </p:sp>
      <p:sp>
        <p:nvSpPr>
          <p:cNvPr id="8" name="">
            <a:extLst xmlns:a="http://schemas.openxmlformats.org/drawingml/2006/main">
              <a:ext uri="{FF2B5EF4-FFF2-40B4-BE49-F238E27FC236}">
                <a16:creationId xmlns:a16="http://schemas.microsoft.com/office/drawing/2014/main" id="{625D9878-AFCD-4A36-9858-032D8DB0FA45}"/>
              </a:ext>
            </a:extLst>
          </p:cNvPr>
          <p:cNvSpPr>
            <a:spLocks xmlns:a="http://schemas.openxmlformats.org/drawingml/2006/main" noGrp="1"/>
          </p:cNvSpPr>
          <p:nvPr/>
        </p:nvSpPr>
        <p:spPr>
          <a:xfrm xmlns:a="http://schemas.openxmlformats.org/drawingml/2006/main">
            <a:off x="457200" y="5057775"/>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8352D"/>
                </a:solidFill>
                <a:latin typeface="Arial"/>
                <a:ea typeface="Arial"/>
                <a:cs typeface="Arial"/>
              </a:defRPr>
            </a:defPPr>
          </a:lstStyle>
          <a:p xmlns:a="http://schemas.openxmlformats.org/drawingml/2006/main">
            <a:pPr>
              <a:defRPr sz="2025" b="1">
                <a:solidFill>
                  <a:srgbClr val="18352D"/>
                </a:solidFill>
                <a:latin typeface="Arial"/>
                <a:ea typeface="Arial"/>
                <a:cs typeface="Arial"/>
              </a:defRPr>
            </a:pPr>
            <a:r>
              <a:rPr sz="2025" b="1">
                <a:solidFill>
                  <a:srgbClr val="18352D"/>
                </a:solidFill>
                <a:latin typeface="Arial"/>
                <a:ea typeface="Arial"/>
                <a:cs typeface="Arial"/>
              </a:rPr>
              <a:t>SUT configuration</a:t>
            </a:r>
          </a:p>
        </p:txBody>
      </p:sp>
      <p:sp>
        <p:nvSpPr>
          <p:cNvPr id="9" name="">
            <a:extLst xmlns:a="http://schemas.openxmlformats.org/drawingml/2006/main">
              <a:ext uri="{FF2B5EF4-FFF2-40B4-BE49-F238E27FC236}">
                <a16:creationId xmlns:a16="http://schemas.microsoft.com/office/drawing/2014/main" id="{60AED74A-D670-41E5-8E84-C2F6185E86F5}"/>
              </a:ext>
            </a:extLst>
          </p:cNvPr>
          <p:cNvSpPr>
            <a:spLocks xmlns:a="http://schemas.openxmlformats.org/drawingml/2006/main" noGrp="1"/>
          </p:cNvSpPr>
          <p:nvPr/>
        </p:nvSpPr>
        <p:spPr>
          <a:xfrm xmlns:a="http://schemas.openxmlformats.org/drawingml/2006/main">
            <a:off x="457200" y="54959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Attention (12, 4, 2, 32, 1)</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FFN (12, 4, 128), depth 12 / 12</a:t>
            </a:r>
          </a:p>
        </p:txBody>
      </p:sp>
      <p:pic>
        <p:nvPicPr>
          <p:cNvPr id="10" name="">
            <a:extLst xmlns:a="http://schemas.openxmlformats.org/drawingml/2006/main">
              <a:ext uri="{FF2B5EF4-FFF2-40B4-BE49-F238E27FC236}">
                <a16:creationId xmlns:a16="http://schemas.microsoft.com/office/drawing/2014/main" id="{E9674E0E-0EE9-4FF5-AA8F-432CAA321C94}"/>
              </a:ext>
            </a:extLst>
          </p:cNvPr>
          <p:cNvPicPr>
            <a:picLocks xmlns:a="http://schemas.openxmlformats.org/drawingml/2006/main" noChangeAspect="1"/>
          </p:cNvPicPr>
          <p:nvPr/>
        </p:nvPicPr>
        <p:blipFill>
          <a:blip xmlns:r="http://schemas.openxmlformats.org/officeDocument/2006/relationships" xmlns:a="http://schemas.openxmlformats.org/drawingml/2006/main" r:embed="Rec94f5c804ac4f10"/>
          <a:stretch xmlns:a="http://schemas.openxmlformats.org/drawingml/2006/main"/>
        </p:blipFill>
        <p:spPr>
          <a:xfrm xmlns:a="http://schemas.openxmlformats.org/drawingml/2006/main">
            <a:off x="6705600" y="3406581"/>
            <a:ext cx="5029200" cy="268326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6BAB155-DBAC-44B2-A6EF-9DABBFD0B4C5}"/>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SUT Section 4.3, Figure 2 and Appendix Table 6. Output is one relation label.</a:t>
            </a:r>
          </a:p>
        </p:txBody>
      </p:sp>
    </p:spTree>
    <p:extLst>
      <p:ext uri="{BB962C8B-B14F-4D97-AF65-F5344CB8AC3E}">
        <p14:creationId xmlns:p14="http://schemas.microsoft.com/office/powerpoint/2010/main" val="146077576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5902EA-3F06-4445-BC60-620C29BCEB39}"/>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GENERALIZATION RESULTS</a:t>
            </a:r>
          </a:p>
        </p:txBody>
      </p:sp>
      <p:sp>
        <p:nvSpPr>
          <p:cNvPr id="2" name="">
            <a:extLst xmlns:a="http://schemas.openxmlformats.org/drawingml/2006/main">
              <a:ext uri="{FF2B5EF4-FFF2-40B4-BE49-F238E27FC236}">
                <a16:creationId xmlns:a16="http://schemas.microsoft.com/office/drawing/2014/main" id="{8E046202-C5F8-412A-8641-264CA54ABEAE}"/>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Logical inference: gains and remaining failures</a:t>
            </a:r>
          </a:p>
        </p:txBody>
      </p:sp>
      <p:sp>
        <p:nvSpPr>
          <p:cNvPr id="3" name="">
            <a:extLst xmlns:a="http://schemas.openxmlformats.org/drawingml/2006/main">
              <a:ext uri="{FF2B5EF4-FFF2-40B4-BE49-F238E27FC236}">
                <a16:creationId xmlns:a16="http://schemas.microsoft.com/office/drawing/2014/main" id="{D4D7D102-83F2-4641-8EC3-CA7024412B63}"/>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6954136E-C7C3-4E95-A49C-4432B1E3AC17}"/>
              </a:ext>
            </a:extLst>
          </p:cNvPr>
          <p:cNvGraphicFramePr/>
          <p:nvPr/>
        </p:nvGraphicFramePr>
        <p:xfrm>
          <a:off xmlns:a="http://schemas.openxmlformats.org/drawingml/2006/main" x="457200" y="1438275"/>
          <a:ext xmlns:a="http://schemas.openxmlformats.org/drawingml/2006/main" cx="11258550" cy="2095500"/>
        </p:xfrm>
        <a:graphic xmlns:a="http://schemas.openxmlformats.org/drawingml/2006/main">
          <a:graphicData uri="http://schemas.openxmlformats.org/drawingml/2006/table">
            <a:tbl>
              <a:tblPr/>
              <a:tblGrid>
                <a:gridCol w="2857500"/>
                <a:gridCol w="933450"/>
                <a:gridCol w="933450"/>
                <a:gridCol w="933450"/>
                <a:gridCol w="933450"/>
                <a:gridCol w="933450"/>
                <a:gridCol w="933450"/>
                <a:gridCol w="933450"/>
                <a:gridCol w="933450"/>
                <a:gridCol w="933450"/>
              </a:tblGrid>
              <a:tr h="523875">
                <a:tc>
                  <a:txBody>
                    <a:bodyPr lIns="76200" tIns="38100" rIns="76200" bIns="38100"/>
                    <a:lstStyle/>
                    <a:p>
                      <a:pPr algn="l"/>
                      <a:r>
                        <a:rPr sz="1875" b="1">
                          <a:solidFill>
                            <a:srgbClr val="FFFFFF"/>
                          </a:solidFill>
                          <a:latin typeface="Arial"/>
                          <a:ea typeface="Arial"/>
                          <a:cs typeface="Arial"/>
                        </a:rPr>
                        <a:t>Accuracy (%)</a:t>
                      </a:r>
                    </a:p>
                  </a:txBody>
                  <a:tcPr marL="91440" marR="91440" marT="45720" marB="45720" anchor="ctr">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7</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8</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9</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10</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11</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12</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A</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B</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c>
                  <a:txBody>
                    <a:bodyPr lIns="76200" tIns="38100" rIns="76200" bIns="38100"/>
                    <a:lstStyle/>
                    <a:p>
                      <a:pPr algn="ctr"/>
                      <a:r>
                        <a:rPr sz="1875" b="1">
                          <a:solidFill>
                            <a:srgbClr val="FFFFFF"/>
                          </a:solidFill>
                          <a:latin typeface="Arial"/>
                          <a:ea typeface="Arial"/>
                          <a:cs typeface="Arial"/>
                        </a:rPr>
                        <a:t>C</a:t>
                      </a:r>
                    </a:p>
                  </a:txBody>
                  <a:tcPr marL="91440" marR="91440" marT="45720" marB="45720" anchor="ctr">
                    <a:lnR w="9525">
                      <a:solidFill>
                        <a:srgbClr val="D9E3DE"/>
                      </a:solidFill>
                      <a:prstDash val="solid"/>
                    </a:lnR>
                    <a:lnT w="9525">
                      <a:solidFill>
                        <a:srgbClr val="D9E3DE"/>
                      </a:solidFill>
                      <a:prstDash val="solid"/>
                    </a:lnT>
                    <a:lnB w="9525">
                      <a:solidFill>
                        <a:srgbClr val="D9E3DE"/>
                      </a:solidFill>
                      <a:prstDash val="solid"/>
                    </a:lnB>
                    <a:solidFill>
                      <a:srgbClr val="18352D"/>
                    </a:solidFill>
                  </a:tcPr>
                </a:tc>
              </a:tr>
              <a:tr h="523875">
                <a:tc>
                  <a:txBody>
                    <a:bodyPr lIns="76200" tIns="38100" rIns="76200" bIns="38100"/>
                    <a:lstStyle/>
                    <a:p>
                      <a:pPr algn="l"/>
                      <a:r>
                        <a:rPr sz="1875" b="0">
                          <a:solidFill>
                            <a:srgbClr val="18352D"/>
                          </a:solidFill>
                          <a:latin typeface="Arial"/>
                          <a:ea typeface="Arial"/>
                          <a:cs typeface="Arial"/>
                        </a:rPr>
                        <a:t>LSTM</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88</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84</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80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78</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71</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69</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80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60</a:t>
                      </a:r>
                    </a:p>
                  </a:txBody>
                  <a:tcPr marL="91440" marR="91440" marT="45720" marB="45720" anchor="ctr">
                    <a:lnR w="9525">
                      <a:solidFill>
                        <a:srgbClr val="D9E3DE"/>
                      </a:solidFill>
                      <a:prstDash val="solid"/>
                    </a:lnR>
                    <a:lnB w="9525">
                      <a:solidFill>
                        <a:srgbClr val="D9E3DE"/>
                      </a:solidFill>
                      <a:prstDash val="solid"/>
                    </a:lnB>
                    <a:solidFill>
                      <a:srgbClr val="FFFFFF"/>
                    </a:solidFill>
                  </a:tcPr>
                </a:tc>
                <a:tc>
                  <a:txBody>
                    <a:bodyPr lIns="76200" tIns="38100" rIns="76200" bIns="38100"/>
                    <a:lstStyle/>
                    <a:p>
                      <a:pPr algn="ctr"/>
                      <a:r>
                        <a:rPr sz="1875" b="0">
                          <a:solidFill>
                            <a:srgbClr val="18352D"/>
                          </a:solidFill>
                          <a:latin typeface="Arial"/>
                          <a:ea typeface="Arial"/>
                          <a:cs typeface="Arial"/>
                        </a:rPr>
                        <a:t>59</a:t>
                      </a:r>
                    </a:p>
                  </a:txBody>
                  <a:tcPr marL="91440" marR="91440" marT="45720" marB="45720" anchor="ctr">
                    <a:lnR w="9525">
                      <a:solidFill>
                        <a:srgbClr val="D9E3DE"/>
                      </a:solidFill>
                      <a:prstDash val="solid"/>
                    </a:lnR>
                    <a:lnB w="9525">
                      <a:solidFill>
                        <a:srgbClr val="D9E3DE"/>
                      </a:solidFill>
                      <a:prstDash val="solid"/>
                    </a:lnB>
                    <a:solidFill>
                      <a:srgbClr val="FFFFFF"/>
                    </a:solidFill>
                  </a:tcPr>
                </a:tc>
              </a:tr>
              <a:tr h="523875">
                <a:tc>
                  <a:txBody>
                    <a:bodyPr lIns="76200" tIns="38100" rIns="76200" bIns="38100"/>
                    <a:lstStyle/>
                    <a:p>
                      <a:pPr algn="l"/>
                      <a:r>
                        <a:rPr sz="1875" b="0">
                          <a:solidFill>
                            <a:srgbClr val="18352D"/>
                          </a:solidFill>
                          <a:latin typeface="Arial"/>
                          <a:ea typeface="Arial"/>
                          <a:cs typeface="Arial"/>
                        </a:rPr>
                        <a:t>Transformer</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52</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48</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53</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51</a:t>
                      </a:r>
                    </a:p>
                  </a:txBody>
                  <a:tcPr marL="91440" marR="91440" marT="45720" marB="45720" anchor="ctr">
                    <a:lnR w="9525">
                      <a:solidFill>
                        <a:srgbClr val="D9E3DE"/>
                      </a:solidFill>
                      <a:prstDash val="solid"/>
                    </a:lnR>
                    <a:lnB w="9525">
                      <a:solidFill>
                        <a:srgbClr val="D9E3DE"/>
                      </a:solidFill>
                      <a:prstDash val="solid"/>
                    </a:lnB>
                    <a:solidFill>
                      <a:srgbClr val="F2F5F3"/>
                    </a:solidFill>
                  </a:tcPr>
                </a:tc>
                <a:tc>
                  <a:txBody>
                    <a:bodyPr lIns="76200" tIns="38100" rIns="76200" bIns="38100"/>
                    <a:lstStyle/>
                    <a:p>
                      <a:pPr algn="ctr"/>
                      <a:r>
                        <a:rPr sz="1875" b="0">
                          <a:solidFill>
                            <a:srgbClr val="18352D"/>
                          </a:solidFill>
                          <a:latin typeface="Arial"/>
                          <a:ea typeface="Arial"/>
                          <a:cs typeface="Arial"/>
                        </a:rPr>
                        <a:t>51</a:t>
                      </a:r>
                    </a:p>
                  </a:txBody>
                  <a:tcPr marL="91440" marR="91440" marT="45720" marB="45720" anchor="ctr">
                    <a:lnR w="9525">
                      <a:solidFill>
                        <a:srgbClr val="D9E3DE"/>
                      </a:solidFill>
                      <a:prstDash val="solid"/>
                    </a:lnR>
                    <a:lnB w="9525">
                      <a:solidFill>
                        <a:srgbClr val="D9E3DE"/>
                      </a:solidFill>
                      <a:prstDash val="solid"/>
                    </a:lnB>
                    <a:solidFill>
                      <a:srgbClr val="F2F5F3"/>
                    </a:solidFill>
                  </a:tcPr>
                </a:tc>
              </a:tr>
              <a:tr h="523875">
                <a:tc>
                  <a:txBody>
                    <a:bodyPr lIns="76200" tIns="38100" rIns="76200" bIns="38100"/>
                    <a:lstStyle/>
                    <a:p>
                      <a:pPr algn="l"/>
                      <a:r>
                        <a:rPr sz="1875" b="1">
                          <a:solidFill>
                            <a:srgbClr val="18352D"/>
                          </a:solidFill>
                          <a:latin typeface="Arial"/>
                          <a:ea typeface="Arial"/>
                          <a:cs typeface="Arial"/>
                        </a:rPr>
                        <a:t>SUT</a:t>
                      </a:r>
                    </a:p>
                  </a:txBody>
                  <a:tcPr marL="91440" marR="91440" marT="45720" marB="45720" anchor="ctr">
                    <a:lnL w="9525">
                      <a:solidFill>
                        <a:srgbClr val="D9E3DE"/>
                      </a:solidFill>
                      <a:prstDash val="solid"/>
                    </a:lnL>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98</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97</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94</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90</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88</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81</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97</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94</a:t>
                      </a:r>
                    </a:p>
                  </a:txBody>
                  <a:tcPr marL="91440" marR="91440" marT="45720" marB="45720" anchor="ctr">
                    <a:lnR w="9525">
                      <a:solidFill>
                        <a:srgbClr val="D9E3DE"/>
                      </a:solidFill>
                      <a:prstDash val="solid"/>
                    </a:lnR>
                    <a:lnB w="9525">
                      <a:solidFill>
                        <a:srgbClr val="D9E3DE"/>
                      </a:solidFill>
                      <a:prstDash val="solid"/>
                    </a:lnB>
                    <a:solidFill>
                      <a:srgbClr val="E3F1E5"/>
                    </a:solidFill>
                  </a:tcPr>
                </a:tc>
                <a:tc>
                  <a:txBody>
                    <a:bodyPr lIns="76200" tIns="38100" rIns="76200" bIns="38100"/>
                    <a:lstStyle/>
                    <a:p>
                      <a:pPr algn="ctr"/>
                      <a:r>
                        <a:rPr sz="1875" b="1">
                          <a:solidFill>
                            <a:srgbClr val="18352D"/>
                          </a:solidFill>
                          <a:latin typeface="Arial"/>
                          <a:ea typeface="Arial"/>
                          <a:cs typeface="Arial"/>
                        </a:rPr>
                        <a:t>52</a:t>
                      </a:r>
                    </a:p>
                  </a:txBody>
                  <a:tcPr marL="91440" marR="91440" marT="45720" marB="45720" anchor="ctr">
                    <a:lnR w="9525">
                      <a:solidFill>
                        <a:srgbClr val="D9E3DE"/>
                      </a:solidFill>
                      <a:prstDash val="solid"/>
                    </a:lnR>
                    <a:lnB w="9525">
                      <a:solidFill>
                        <a:srgbClr val="D9E3DE"/>
                      </a:solidFill>
                      <a:prstDash val="solid"/>
                    </a:lnB>
                    <a:solidFill>
                      <a:srgbClr val="E3F1E5"/>
                    </a:solidFill>
                  </a:tcPr>
                </a:tc>
              </a:tr>
            </a:tbl>
          </a:graphicData>
        </a:graphic>
      </p:graphicFrame>
      <p:pic>
        <p:nvPicPr>
          <p:cNvPr id="5" name="">
            <a:extLst xmlns:a="http://schemas.openxmlformats.org/drawingml/2006/main">
              <a:ext uri="{FF2B5EF4-FFF2-40B4-BE49-F238E27FC236}">
                <a16:creationId xmlns:a16="http://schemas.microsoft.com/office/drawing/2014/main" id="{4F20D187-D3CF-4602-823F-62135FFF1562}"/>
              </a:ext>
            </a:extLst>
          </p:cNvPr>
          <p:cNvPicPr>
            <a:picLocks xmlns:a="http://schemas.openxmlformats.org/drawingml/2006/main" noChangeAspect="1"/>
          </p:cNvPicPr>
          <p:nvPr/>
        </p:nvPicPr>
        <p:blipFill>
          <a:blip xmlns:r="http://schemas.openxmlformats.org/officeDocument/2006/relationships" xmlns:a="http://schemas.openxmlformats.org/drawingml/2006/main" r:embed="Rb6060877440747bf"/>
          <a:stretch xmlns:a="http://schemas.openxmlformats.org/drawingml/2006/main"/>
        </p:blipFill>
        <p:spPr>
          <a:xfrm xmlns:a="http://schemas.openxmlformats.org/drawingml/2006/main">
            <a:off x="1155998" y="3867150"/>
            <a:ext cx="3936405" cy="2276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EAFF1B1-A58C-4AD0-B88C-C6BB7F4992DE}"/>
              </a:ext>
            </a:extLst>
          </p:cNvPr>
          <p:cNvSpPr>
            <a:spLocks xmlns:a="http://schemas.openxmlformats.org/drawingml/2006/main" noGrp="1"/>
          </p:cNvSpPr>
          <p:nvPr/>
        </p:nvSpPr>
        <p:spPr>
          <a:xfrm xmlns:a="http://schemas.openxmlformats.org/drawingml/2006/main">
            <a:off x="6477000" y="4048125"/>
            <a:ext cx="5257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8352D"/>
                </a:solidFill>
                <a:latin typeface="Arial"/>
                <a:ea typeface="Arial"/>
                <a:cs typeface="Arial"/>
              </a:defRPr>
            </a:defPPr>
          </a:lstStyle>
          <a:p xmlns:a="http://schemas.openxmlformats.org/drawingml/2006/main">
            <a:pPr>
              <a:defRPr sz="2100" b="1">
                <a:solidFill>
                  <a:srgbClr val="18352D"/>
                </a:solidFill>
                <a:latin typeface="Arial"/>
                <a:ea typeface="Arial"/>
                <a:cs typeface="Arial"/>
              </a:defRPr>
            </a:pPr>
            <a:r>
              <a:rPr sz="2100" b="1">
                <a:solidFill>
                  <a:srgbClr val="18352D"/>
                </a:solidFill>
                <a:latin typeface="Arial"/>
                <a:ea typeface="Arial"/>
                <a:cs typeface="Arial"/>
              </a:rPr>
              <a:t>More operators, deeper computation</a:t>
            </a:r>
          </a:p>
        </p:txBody>
      </p:sp>
      <p:sp>
        <p:nvSpPr>
          <p:cNvPr id="7" name="">
            <a:extLst xmlns:a="http://schemas.openxmlformats.org/drawingml/2006/main">
              <a:ext uri="{FF2B5EF4-FFF2-40B4-BE49-F238E27FC236}">
                <a16:creationId xmlns:a16="http://schemas.microsoft.com/office/drawing/2014/main" id="{898F20A9-14A4-40E2-AFA3-7F6C8100143A}"/>
              </a:ext>
            </a:extLst>
          </p:cNvPr>
          <p:cNvSpPr>
            <a:spLocks xmlns:a="http://schemas.openxmlformats.org/drawingml/2006/main" noGrp="1"/>
          </p:cNvSpPr>
          <p:nvPr/>
        </p:nvSpPr>
        <p:spPr>
          <a:xfrm xmlns:a="http://schemas.openxmlformats.org/drawingml/2006/main">
            <a:off x="6477000" y="4838700"/>
            <a:ext cx="5257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Depth rises with operator count.</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Length and complexity are correlated.</a:t>
            </a:r>
          </a:p>
        </p:txBody>
      </p:sp>
      <p:sp>
        <p:nvSpPr>
          <p:cNvPr id="8" name="">
            <a:extLst xmlns:a="http://schemas.openxmlformats.org/drawingml/2006/main">
              <a:ext uri="{FF2B5EF4-FFF2-40B4-BE49-F238E27FC236}">
                <a16:creationId xmlns:a16="http://schemas.microsoft.com/office/drawing/2014/main" id="{BC7A65E6-0B1E-4FB1-AB46-9EAB82D17A85}"/>
              </a:ext>
            </a:extLst>
          </p:cNvPr>
          <p:cNvSpPr>
            <a:spLocks xmlns:a="http://schemas.openxmlformats.org/drawingml/2006/main" noGrp="1"/>
          </p:cNvSpPr>
          <p:nvPr/>
        </p:nvSpPr>
        <p:spPr>
          <a:xfrm xmlns:a="http://schemas.openxmlformats.org/drawingml/2006/main">
            <a:off x="6477000" y="579120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46648"/>
                </a:solidFill>
                <a:latin typeface="Arial"/>
                <a:ea typeface="Arial"/>
                <a:cs typeface="Arial"/>
              </a:defRPr>
            </a:defPPr>
          </a:lstStyle>
          <a:p xmlns:a="http://schemas.openxmlformats.org/drawingml/2006/main">
            <a:pPr>
              <a:defRPr sz="1875" b="1">
                <a:solidFill>
                  <a:srgbClr val="246648"/>
                </a:solidFill>
                <a:latin typeface="Arial"/>
                <a:ea typeface="Arial"/>
                <a:cs typeface="Arial"/>
              </a:defRPr>
            </a:pPr>
            <a:r>
              <a:rPr sz="1875" b="1">
                <a:solidFill>
                  <a:srgbClr val="246648"/>
                </a:solidFill>
                <a:latin typeface="Arial"/>
                <a:ea typeface="Arial"/>
                <a:cs typeface="Arial"/>
              </a:rPr>
              <a:t>Split C remains difficult: 52% accuracy</a:t>
            </a:r>
          </a:p>
        </p:txBody>
      </p:sp>
      <p:sp>
        <p:nvSpPr>
          <p:cNvPr id="9" name="">
            <a:extLst xmlns:a="http://schemas.openxmlformats.org/drawingml/2006/main">
              <a:ext uri="{FF2B5EF4-FFF2-40B4-BE49-F238E27FC236}">
                <a16:creationId xmlns:a16="http://schemas.microsoft.com/office/drawing/2014/main" id="{6390D2FF-423D-40C5-8025-DA1B2CF6EF22}"/>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SUT Table 5 and original Figure 4. Columns 7–12 are operator counts; A–C are composition splits.</a:t>
            </a:r>
          </a:p>
        </p:txBody>
      </p:sp>
    </p:spTree>
    <p:extLst>
      <p:ext uri="{BB962C8B-B14F-4D97-AF65-F5344CB8AC3E}">
        <p14:creationId xmlns:p14="http://schemas.microsoft.com/office/powerpoint/2010/main" val="8123559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DD64C3-2CFB-4E32-94F8-D1D921CD8522}"/>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EXPERIMENTS / INFERENCE TRADE-OFF</a:t>
            </a:r>
          </a:p>
        </p:txBody>
      </p:sp>
      <p:sp>
        <p:nvSpPr>
          <p:cNvPr id="2" name="">
            <a:extLst xmlns:a="http://schemas.openxmlformats.org/drawingml/2006/main">
              <a:ext uri="{FF2B5EF4-FFF2-40B4-BE49-F238E27FC236}">
                <a16:creationId xmlns:a16="http://schemas.microsoft.com/office/drawing/2014/main" id="{77ADDB1A-E2A2-473D-8CF9-9ECE216451A2}"/>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Post-training computation reduction</a:t>
            </a:r>
          </a:p>
        </p:txBody>
      </p:sp>
      <p:sp>
        <p:nvSpPr>
          <p:cNvPr id="3" name="">
            <a:extLst xmlns:a="http://schemas.openxmlformats.org/drawingml/2006/main">
              <a:ext uri="{FF2B5EF4-FFF2-40B4-BE49-F238E27FC236}">
                <a16:creationId xmlns:a16="http://schemas.microsoft.com/office/drawing/2014/main" id="{123EBD37-FD1A-433B-BEB0-E3B5E4314C33}"/>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35561FB-4599-43A4-A906-EDEC359B9D31}"/>
              </a:ext>
            </a:extLst>
          </p:cNvPr>
          <p:cNvSpPr>
            <a:spLocks xmlns:a="http://schemas.openxmlformats.org/drawingml/2006/main" noGrp="1"/>
          </p:cNvSpPr>
          <p:nvPr/>
        </p:nvSpPr>
        <p:spPr>
          <a:xfrm xmlns:a="http://schemas.openxmlformats.org/drawingml/2006/main">
            <a:off x="457200" y="14668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Logical inference</a:t>
            </a:r>
          </a:p>
        </p:txBody>
      </p:sp>
      <p:sp>
        <p:nvSpPr>
          <p:cNvPr id="5" name="">
            <a:extLst xmlns:a="http://schemas.openxmlformats.org/drawingml/2006/main">
              <a:ext uri="{FF2B5EF4-FFF2-40B4-BE49-F238E27FC236}">
                <a16:creationId xmlns:a16="http://schemas.microsoft.com/office/drawing/2014/main" id="{C0360D54-37BC-4765-B8DA-00C7368AC5E9}"/>
              </a:ext>
            </a:extLst>
          </p:cNvPr>
          <p:cNvSpPr>
            <a:spLocks xmlns:a="http://schemas.openxmlformats.org/drawingml/2006/main" noGrp="1"/>
          </p:cNvSpPr>
          <p:nvPr/>
        </p:nvSpPr>
        <p:spPr>
          <a:xfrm xmlns:a="http://schemas.openxmlformats.org/drawingml/2006/main">
            <a:off x="4381500" y="14668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CFQ</a:t>
            </a:r>
          </a:p>
        </p:txBody>
      </p:sp>
      <p:sp>
        <p:nvSpPr>
          <p:cNvPr id="6" name="">
            <a:extLst xmlns:a="http://schemas.openxmlformats.org/drawingml/2006/main">
              <a:ext uri="{FF2B5EF4-FFF2-40B4-BE49-F238E27FC236}">
                <a16:creationId xmlns:a16="http://schemas.microsoft.com/office/drawing/2014/main" id="{98436955-4A75-4A37-83F8-5E47539A7674}"/>
              </a:ext>
            </a:extLst>
          </p:cNvPr>
          <p:cNvSpPr>
            <a:spLocks xmlns:a="http://schemas.openxmlformats.org/drawingml/2006/main" noGrp="1"/>
          </p:cNvSpPr>
          <p:nvPr/>
        </p:nvSpPr>
        <p:spPr>
          <a:xfrm xmlns:a="http://schemas.openxmlformats.org/drawingml/2006/main">
            <a:off x="8305800" y="14668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352D"/>
                </a:solidFill>
                <a:latin typeface="Arial"/>
                <a:ea typeface="Arial"/>
                <a:cs typeface="Arial"/>
              </a:defRPr>
            </a:defPPr>
          </a:lstStyle>
          <a:p xmlns:a="http://schemas.openxmlformats.org/drawingml/2006/main">
            <a:pPr>
              <a:defRPr sz="2175" b="1">
                <a:solidFill>
                  <a:srgbClr val="18352D"/>
                </a:solidFill>
                <a:latin typeface="Arial"/>
                <a:ea typeface="Arial"/>
                <a:cs typeface="Arial"/>
              </a:defRPr>
            </a:pPr>
            <a:r>
              <a:rPr sz="2175" b="1">
                <a:solidFill>
                  <a:srgbClr val="18352D"/>
                </a:solidFill>
                <a:latin typeface="Arial"/>
                <a:ea typeface="Arial"/>
                <a:cs typeface="Arial"/>
              </a:rPr>
              <a:t>English–German</a:t>
            </a:r>
          </a:p>
        </p:txBody>
      </p:sp>
      <p:pic>
        <p:nvPicPr>
          <p:cNvPr id="7" name="">
            <a:extLst xmlns:a="http://schemas.openxmlformats.org/drawingml/2006/main">
              <a:ext uri="{FF2B5EF4-FFF2-40B4-BE49-F238E27FC236}">
                <a16:creationId xmlns:a16="http://schemas.microsoft.com/office/drawing/2014/main" id="{7A9E0554-8143-44F2-8F6D-6043AC97027E}"/>
              </a:ext>
            </a:extLst>
          </p:cNvPr>
          <p:cNvPicPr>
            <a:picLocks xmlns:a="http://schemas.openxmlformats.org/drawingml/2006/main" noChangeAspect="1"/>
          </p:cNvPicPr>
          <p:nvPr/>
        </p:nvPicPr>
        <p:blipFill>
          <a:blip xmlns:r="http://schemas.openxmlformats.org/officeDocument/2006/relationships" xmlns:a="http://schemas.openxmlformats.org/drawingml/2006/main" r:embed="R5561081c19634644"/>
          <a:stretch xmlns:a="http://schemas.openxmlformats.org/drawingml/2006/main"/>
        </p:blipFill>
        <p:spPr>
          <a:xfrm xmlns:a="http://schemas.openxmlformats.org/drawingml/2006/main">
            <a:off x="457200" y="2112823"/>
            <a:ext cx="3429000" cy="2289453"/>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A9E73EE-B2EC-43AA-AEFA-4FEA43087C23}"/>
              </a:ext>
            </a:extLst>
          </p:cNvPr>
          <p:cNvPicPr>
            <a:picLocks xmlns:a="http://schemas.openxmlformats.org/drawingml/2006/main" noChangeAspect="1"/>
          </p:cNvPicPr>
          <p:nvPr/>
        </p:nvPicPr>
        <p:blipFill>
          <a:blip xmlns:r="http://schemas.openxmlformats.org/officeDocument/2006/relationships" xmlns:a="http://schemas.openxmlformats.org/drawingml/2006/main" r:embed="R35092f2668cf4cfd"/>
          <a:stretch xmlns:a="http://schemas.openxmlformats.org/drawingml/2006/main"/>
        </p:blipFill>
        <p:spPr>
          <a:xfrm xmlns:a="http://schemas.openxmlformats.org/drawingml/2006/main">
            <a:off x="4381500" y="2164621"/>
            <a:ext cx="3429000" cy="21858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A35338C-1368-4B61-B16A-74377AB6C062}"/>
              </a:ext>
            </a:extLst>
          </p:cNvPr>
          <p:cNvPicPr>
            <a:picLocks xmlns:a="http://schemas.openxmlformats.org/drawingml/2006/main" noChangeAspect="1"/>
          </p:cNvPicPr>
          <p:nvPr/>
        </p:nvPicPr>
        <p:blipFill>
          <a:blip xmlns:r="http://schemas.openxmlformats.org/officeDocument/2006/relationships" xmlns:a="http://schemas.openxmlformats.org/drawingml/2006/main" r:embed="Ra904195fb5854294"/>
          <a:stretch xmlns:a="http://schemas.openxmlformats.org/drawingml/2006/main"/>
        </p:blipFill>
        <p:spPr>
          <a:xfrm xmlns:a="http://schemas.openxmlformats.org/drawingml/2006/main">
            <a:off x="8305800" y="2164621"/>
            <a:ext cx="3429000" cy="218585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3439CCE-AC85-4890-B039-A69FD545940A}"/>
              </a:ext>
            </a:extLst>
          </p:cNvPr>
          <p:cNvSpPr>
            <a:spLocks xmlns:a="http://schemas.openxmlformats.org/drawingml/2006/main" noGrp="1"/>
          </p:cNvSpPr>
          <p:nvPr/>
        </p:nvSpPr>
        <p:spPr>
          <a:xfrm xmlns:a="http://schemas.openxmlformats.org/drawingml/2006/main">
            <a:off x="457200" y="47053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About 50% skipped steps</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with stable accuracy</a:t>
            </a:r>
          </a:p>
        </p:txBody>
      </p:sp>
      <p:sp>
        <p:nvSpPr>
          <p:cNvPr id="11" name="">
            <a:extLst xmlns:a="http://schemas.openxmlformats.org/drawingml/2006/main">
              <a:ext uri="{FF2B5EF4-FFF2-40B4-BE49-F238E27FC236}">
                <a16:creationId xmlns:a16="http://schemas.microsoft.com/office/drawing/2014/main" id="{0264D11B-A3A2-4FBE-A5D1-01DD2E4A7C4E}"/>
              </a:ext>
            </a:extLst>
          </p:cNvPr>
          <p:cNvSpPr>
            <a:spLocks xmlns:a="http://schemas.openxmlformats.org/drawingml/2006/main" noGrp="1"/>
          </p:cNvSpPr>
          <p:nvPr/>
        </p:nvSpPr>
        <p:spPr>
          <a:xfrm xmlns:a="http://schemas.openxmlformats.org/drawingml/2006/main">
            <a:off x="4381500" y="47053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About 33% skipped</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at threshold 0.8</a:t>
            </a:r>
          </a:p>
        </p:txBody>
      </p:sp>
      <p:sp>
        <p:nvSpPr>
          <p:cNvPr id="12" name="">
            <a:extLst xmlns:a="http://schemas.openxmlformats.org/drawingml/2006/main">
              <a:ext uri="{FF2B5EF4-FFF2-40B4-BE49-F238E27FC236}">
                <a16:creationId xmlns:a16="http://schemas.microsoft.com/office/drawing/2014/main" id="{668F9CFD-8231-4D7A-9339-AB6377C91226}"/>
              </a:ext>
            </a:extLst>
          </p:cNvPr>
          <p:cNvSpPr>
            <a:spLocks xmlns:a="http://schemas.openxmlformats.org/drawingml/2006/main" noGrp="1"/>
          </p:cNvSpPr>
          <p:nvPr/>
        </p:nvSpPr>
        <p:spPr>
          <a:xfrm xmlns:a="http://schemas.openxmlformats.org/drawingml/2006/main">
            <a:off x="8305800" y="4705350"/>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352D"/>
                </a:solidFill>
                <a:latin typeface="Arial"/>
                <a:ea typeface="Arial"/>
                <a:cs typeface="Arial"/>
              </a:defRPr>
            </a:defPPr>
          </a:lstStyle>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9% less computation</a:t>
            </a:r>
          </a:p>
          <a:p xmlns:a="http://schemas.openxmlformats.org/drawingml/2006/main">
            <a:pPr>
              <a:defRPr sz="1875" b="0">
                <a:solidFill>
                  <a:srgbClr val="18352D"/>
                </a:solidFill>
                <a:latin typeface="Arial"/>
                <a:ea typeface="Arial"/>
                <a:cs typeface="Arial"/>
              </a:defRPr>
            </a:pPr>
            <a:r>
              <a:rPr sz="1875" b="0">
                <a:solidFill>
                  <a:srgbClr val="18352D"/>
                </a:solidFill>
                <a:latin typeface="Arial"/>
                <a:ea typeface="Arial"/>
                <a:cs typeface="Arial"/>
              </a:rPr>
              <a:t>while retaining 29.1 BLEU</a:t>
            </a:r>
          </a:p>
        </p:txBody>
      </p:sp>
      <p:sp>
        <p:nvSpPr>
          <p:cNvPr id="13" name="">
            <a:extLst xmlns:a="http://schemas.openxmlformats.org/drawingml/2006/main">
              <a:ext uri="{FF2B5EF4-FFF2-40B4-BE49-F238E27FC236}">
                <a16:creationId xmlns:a16="http://schemas.microsoft.com/office/drawing/2014/main" id="{F6429794-A319-424C-BD08-6ABD482A8EA3}"/>
              </a:ext>
            </a:extLst>
          </p:cNvPr>
          <p:cNvSpPr>
            <a:spLocks xmlns:a="http://schemas.openxmlformats.org/drawingml/2006/main" noGrp="1"/>
          </p:cNvSpPr>
          <p:nvPr/>
        </p:nvSpPr>
        <p:spPr>
          <a:xfrm xmlns:a="http://schemas.openxmlformats.org/drawingml/2006/main">
            <a:off x="457200" y="573405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246648"/>
                </a:solidFill>
                <a:latin typeface="Arial"/>
                <a:ea typeface="Arial"/>
                <a:cs typeface="Arial"/>
              </a:defRPr>
            </a:defPPr>
          </a:lstStyle>
          <a:p xmlns:a="http://schemas.openxmlformats.org/drawingml/2006/main">
            <a:pPr>
              <a:defRPr sz="1875" b="1">
                <a:solidFill>
                  <a:srgbClr val="246648"/>
                </a:solidFill>
                <a:latin typeface="Arial"/>
                <a:ea typeface="Arial"/>
                <a:cs typeface="Arial"/>
              </a:defRPr>
            </a:pPr>
            <a:r>
              <a:rPr sz="1875" b="1">
                <a:solidFill>
                  <a:srgbClr val="246648"/>
                </a:solidFill>
                <a:latin typeface="Arial"/>
                <a:ea typeface="Arial"/>
                <a:cs typeface="Arial"/>
              </a:rPr>
              <a:t>Skipped block steps are an estimate of computation savings, not a measured speedup.</a:t>
            </a:r>
          </a:p>
        </p:txBody>
      </p:sp>
      <p:sp>
        <p:nvSpPr>
          <p:cNvPr id="14" name="">
            <a:extLst xmlns:a="http://schemas.openxmlformats.org/drawingml/2006/main">
              <a:ext uri="{FF2B5EF4-FFF2-40B4-BE49-F238E27FC236}">
                <a16:creationId xmlns:a16="http://schemas.microsoft.com/office/drawing/2014/main" id="{8D695E65-9DA6-4F23-938A-3EFA81394208}"/>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Section 4.4 and original Figures 5–7. Blue: fraction computed. Green: task quality.</a:t>
            </a:r>
          </a:p>
        </p:txBody>
      </p:sp>
    </p:spTree>
    <p:extLst>
      <p:ext uri="{BB962C8B-B14F-4D97-AF65-F5344CB8AC3E}">
        <p14:creationId xmlns:p14="http://schemas.microsoft.com/office/powerpoint/2010/main" val="16151626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DCE59E-54A7-4605-A25F-B636528D1E2F}"/>
              </a:ext>
            </a:extLst>
          </p:cNvPr>
          <p:cNvSpPr>
            <a:spLocks xmlns:a="http://schemas.openxmlformats.org/drawingml/2006/main" noGrp="1"/>
          </p:cNvSpPr>
          <p:nvPr/>
        </p:nvSpPr>
        <p:spPr>
          <a:xfrm xmlns:a="http://schemas.openxmlformats.org/drawingml/2006/main">
            <a:off x="457200" y="22860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1">
                <a:solidFill>
                  <a:srgbClr val="246648"/>
                </a:solidFill>
                <a:latin typeface="Arial"/>
                <a:ea typeface="Arial"/>
                <a:cs typeface="Arial"/>
              </a:defRPr>
            </a:defPPr>
          </a:lstStyle>
          <a:p xmlns:a="http://schemas.openxmlformats.org/drawingml/2006/main">
            <a:pPr>
              <a:defRPr sz="1275" b="1">
                <a:solidFill>
                  <a:srgbClr val="246648"/>
                </a:solidFill>
                <a:latin typeface="Arial"/>
                <a:ea typeface="Arial"/>
                <a:cs typeface="Arial"/>
              </a:defRPr>
            </a:pPr>
            <a:r>
              <a:rPr sz="1275" b="1">
                <a:solidFill>
                  <a:srgbClr val="246648"/>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09332E85-5B0C-4738-9343-2E4FAEAA2E0D}"/>
              </a:ext>
            </a:extLst>
          </p:cNvPr>
          <p:cNvSpPr>
            <a:spLocks xmlns:a="http://schemas.openxmlformats.org/drawingml/2006/main" noGrp="1"/>
          </p:cNvSpPr>
          <p:nvPr/>
        </p:nvSpPr>
        <p:spPr>
          <a:xfrm xmlns:a="http://schemas.openxmlformats.org/drawingml/2006/main">
            <a:off x="457200" y="581025"/>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8352D"/>
                </a:solidFill>
                <a:latin typeface="Arial"/>
                <a:ea typeface="Arial"/>
                <a:cs typeface="Arial"/>
              </a:defRPr>
            </a:defPPr>
          </a:lstStyle>
          <a:p xmlns:a="http://schemas.openxmlformats.org/drawingml/2006/main">
            <a:pPr>
              <a:defRPr sz="3000" b="1">
                <a:solidFill>
                  <a:srgbClr val="18352D"/>
                </a:solidFill>
                <a:latin typeface="Arial"/>
                <a:ea typeface="Arial"/>
                <a:cs typeface="Arial"/>
              </a:defRPr>
            </a:pPr>
            <a:r>
              <a:rPr sz="3000" b="1">
                <a:solidFill>
                  <a:srgbClr val="18352D"/>
                </a:solidFill>
                <a:latin typeface="Arial"/>
                <a:ea typeface="Arial"/>
                <a:cs typeface="Arial"/>
              </a:rPr>
              <a:t>Conclusions and questions for our experiments</a:t>
            </a:r>
          </a:p>
        </p:txBody>
      </p:sp>
      <p:sp>
        <p:nvSpPr>
          <p:cNvPr id="3" name="">
            <a:extLst xmlns:a="http://schemas.openxmlformats.org/drawingml/2006/main">
              <a:ext uri="{FF2B5EF4-FFF2-40B4-BE49-F238E27FC236}">
                <a16:creationId xmlns:a16="http://schemas.microsoft.com/office/drawing/2014/main" id="{60884BB9-05D6-475C-AF07-91211C0545B0}"/>
              </a:ext>
            </a:extLst>
          </p:cNvPr>
          <p:cNvSpPr>
            <a:spLocks xmlns:a="http://schemas.openxmlformats.org/drawingml/2006/main" noGrp="1"/>
          </p:cNvSpPr>
          <p:nvPr/>
        </p:nvSpPr>
        <p:spPr>
          <a:xfrm xmlns:a="http://schemas.openxmlformats.org/drawingml/2006/main">
            <a:off x="11334750" y="64960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467CC49-4216-4B5A-A106-748833A5EA7D}"/>
              </a:ext>
            </a:extLst>
          </p:cNvPr>
          <p:cNvSpPr>
            <a:spLocks xmlns:a="http://schemas.openxmlformats.org/drawingml/2006/main" noGrp="1"/>
          </p:cNvSpPr>
          <p:nvPr/>
        </p:nvSpPr>
        <p:spPr>
          <a:xfrm xmlns:a="http://schemas.openxmlformats.org/drawingml/2006/main">
            <a:off x="457200" y="1476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8352D"/>
                </a:solidFill>
                <a:latin typeface="Arial"/>
                <a:ea typeface="Arial"/>
                <a:cs typeface="Arial"/>
              </a:defRPr>
            </a:defPPr>
          </a:lstStyle>
          <a:p xmlns:a="http://schemas.openxmlformats.org/drawingml/2006/main">
            <a:pPr>
              <a:defRPr sz="2250" b="1">
                <a:solidFill>
                  <a:srgbClr val="18352D"/>
                </a:solidFill>
                <a:latin typeface="Arial"/>
                <a:ea typeface="Arial"/>
                <a:cs typeface="Arial"/>
              </a:defRPr>
            </a:pPr>
            <a:r>
              <a:rPr sz="2250" b="1">
                <a:solidFill>
                  <a:srgbClr val="18352D"/>
                </a:solidFill>
                <a:latin typeface="Arial"/>
                <a:ea typeface="Arial"/>
                <a:cs typeface="Arial"/>
              </a:rPr>
              <a:t>What the paper supports</a:t>
            </a:r>
          </a:p>
        </p:txBody>
      </p:sp>
      <p:sp>
        <p:nvSpPr>
          <p:cNvPr id="5" name="">
            <a:extLst xmlns:a="http://schemas.openxmlformats.org/drawingml/2006/main">
              <a:ext uri="{FF2B5EF4-FFF2-40B4-BE49-F238E27FC236}">
                <a16:creationId xmlns:a16="http://schemas.microsoft.com/office/drawing/2014/main" id="{941655AA-2AC6-4D0E-B2D3-A2C6C356B3E5}"/>
              </a:ext>
            </a:extLst>
          </p:cNvPr>
          <p:cNvSpPr>
            <a:spLocks xmlns:a="http://schemas.openxmlformats.org/drawingml/2006/main" noGrp="1"/>
          </p:cNvSpPr>
          <p:nvPr/>
        </p:nvSpPr>
        <p:spPr>
          <a:xfrm xmlns:a="http://schemas.openxmlformats.org/drawingml/2006/main">
            <a:off x="457200" y="21336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Sparse experts make a shared block</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cheaper to scale on translation.</a:t>
            </a:r>
          </a:p>
        </p:txBody>
      </p:sp>
      <p:sp>
        <p:nvSpPr>
          <p:cNvPr id="6" name="">
            <a:extLst xmlns:a="http://schemas.openxmlformats.org/drawingml/2006/main">
              <a:ext uri="{FF2B5EF4-FFF2-40B4-BE49-F238E27FC236}">
                <a16:creationId xmlns:a16="http://schemas.microsoft.com/office/drawing/2014/main" id="{D10CB29D-B90C-47EA-96FF-1EA480A5B9A0}"/>
              </a:ext>
            </a:extLst>
          </p:cNvPr>
          <p:cNvSpPr>
            <a:spLocks xmlns:a="http://schemas.openxmlformats.org/drawingml/2006/main" noGrp="1"/>
          </p:cNvSpPr>
          <p:nvPr/>
        </p:nvSpPr>
        <p:spPr>
          <a:xfrm xmlns:a="http://schemas.openxmlformats.org/drawingml/2006/main">
            <a:off x="457200" y="32385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Repeated refinement helps on several</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generalization tests.</a:t>
            </a:r>
          </a:p>
        </p:txBody>
      </p:sp>
      <p:sp>
        <p:nvSpPr>
          <p:cNvPr id="7" name="">
            <a:extLst xmlns:a="http://schemas.openxmlformats.org/drawingml/2006/main">
              <a:ext uri="{FF2B5EF4-FFF2-40B4-BE49-F238E27FC236}">
                <a16:creationId xmlns:a16="http://schemas.microsoft.com/office/drawing/2014/main" id="{FF234469-AA71-4EB1-BB42-417F8EB49F0B}"/>
              </a:ext>
            </a:extLst>
          </p:cNvPr>
          <p:cNvSpPr>
            <a:spLocks xmlns:a="http://schemas.openxmlformats.org/drawingml/2006/main" noGrp="1"/>
          </p:cNvSpPr>
          <p:nvPr/>
        </p:nvSpPr>
        <p:spPr>
          <a:xfrm xmlns:a="http://schemas.openxmlformats.org/drawingml/2006/main">
            <a:off x="457200" y="43434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Halting provides a tunable</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accuracy–computation trade-off.</a:t>
            </a:r>
          </a:p>
        </p:txBody>
      </p:sp>
      <p:sp>
        <p:nvSpPr>
          <p:cNvPr id="8" name="">
            <a:extLst xmlns:a="http://schemas.openxmlformats.org/drawingml/2006/main">
              <a:ext uri="{FF2B5EF4-FFF2-40B4-BE49-F238E27FC236}">
                <a16:creationId xmlns:a16="http://schemas.microsoft.com/office/drawing/2014/main" id="{7E92A48B-6B9D-4009-9796-790411BEADCD}"/>
              </a:ext>
            </a:extLst>
          </p:cNvPr>
          <p:cNvSpPr>
            <a:spLocks xmlns:a="http://schemas.openxmlformats.org/drawingml/2006/main" noGrp="1"/>
          </p:cNvSpPr>
          <p:nvPr/>
        </p:nvSpPr>
        <p:spPr>
          <a:xfrm xmlns:a="http://schemas.openxmlformats.org/drawingml/2006/main">
            <a:off x="6496050" y="1476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8352D"/>
                </a:solidFill>
                <a:latin typeface="Arial"/>
                <a:ea typeface="Arial"/>
                <a:cs typeface="Arial"/>
              </a:defRPr>
            </a:defPPr>
          </a:lstStyle>
          <a:p xmlns:a="http://schemas.openxmlformats.org/drawingml/2006/main">
            <a:pPr>
              <a:defRPr sz="2250" b="1">
                <a:solidFill>
                  <a:srgbClr val="18352D"/>
                </a:solidFill>
                <a:latin typeface="Arial"/>
                <a:ea typeface="Arial"/>
                <a:cs typeface="Arial"/>
              </a:defRPr>
            </a:pPr>
            <a:r>
              <a:rPr sz="2250" b="1">
                <a:solidFill>
                  <a:srgbClr val="18352D"/>
                </a:solidFill>
                <a:latin typeface="Arial"/>
                <a:ea typeface="Arial"/>
                <a:cs typeface="Arial"/>
              </a:rPr>
              <a:t>What remains unresolved</a:t>
            </a:r>
          </a:p>
        </p:txBody>
      </p:sp>
      <p:sp>
        <p:nvSpPr>
          <p:cNvPr id="9" name="">
            <a:extLst xmlns:a="http://schemas.openxmlformats.org/drawingml/2006/main">
              <a:ext uri="{FF2B5EF4-FFF2-40B4-BE49-F238E27FC236}">
                <a16:creationId xmlns:a16="http://schemas.microsoft.com/office/drawing/2014/main" id="{2898CFCC-5F16-4C48-B84C-182F4DA7A6E1}"/>
              </a:ext>
            </a:extLst>
          </p:cNvPr>
          <p:cNvSpPr>
            <a:spLocks xmlns:a="http://schemas.openxmlformats.org/drawingml/2006/main" noGrp="1"/>
          </p:cNvSpPr>
          <p:nvPr/>
        </p:nvSpPr>
        <p:spPr>
          <a:xfrm xmlns:a="http://schemas.openxmlformats.org/drawingml/2006/main">
            <a:off x="6496050" y="21336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CFQ favors one expert.</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Logical split C remains difficult.</a:t>
            </a:r>
          </a:p>
        </p:txBody>
      </p:sp>
      <p:sp>
        <p:nvSpPr>
          <p:cNvPr id="10" name="">
            <a:extLst xmlns:a="http://schemas.openxmlformats.org/drawingml/2006/main">
              <a:ext uri="{FF2B5EF4-FFF2-40B4-BE49-F238E27FC236}">
                <a16:creationId xmlns:a16="http://schemas.microsoft.com/office/drawing/2014/main" id="{9C55C8B6-6169-4ED8-946D-1BDB4DAEB0E0}"/>
              </a:ext>
            </a:extLst>
          </p:cNvPr>
          <p:cNvSpPr>
            <a:spLocks xmlns:a="http://schemas.openxmlformats.org/drawingml/2006/main" noGrp="1"/>
          </p:cNvSpPr>
          <p:nvPr/>
        </p:nvSpPr>
        <p:spPr>
          <a:xfrm xmlns:a="http://schemas.openxmlformats.org/drawingml/2006/main">
            <a:off x="6496050" y="32385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Expert associations do not establish</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causal specialization or redundancy.</a:t>
            </a:r>
          </a:p>
        </p:txBody>
      </p:sp>
      <p:sp>
        <p:nvSpPr>
          <p:cNvPr id="11" name="">
            <a:extLst xmlns:a="http://schemas.openxmlformats.org/drawingml/2006/main">
              <a:ext uri="{FF2B5EF4-FFF2-40B4-BE49-F238E27FC236}">
                <a16:creationId xmlns:a16="http://schemas.microsoft.com/office/drawing/2014/main" id="{35D49877-ABCA-43CF-B8DD-8DC07AD456B8}"/>
              </a:ext>
            </a:extLst>
          </p:cNvPr>
          <p:cNvSpPr>
            <a:spLocks xmlns:a="http://schemas.openxmlformats.org/drawingml/2006/main" noGrp="1"/>
          </p:cNvSpPr>
          <p:nvPr/>
        </p:nvSpPr>
        <p:spPr>
          <a:xfrm xmlns:a="http://schemas.openxmlformats.org/drawingml/2006/main">
            <a:off x="6496050" y="434340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352D"/>
                </a:solidFill>
                <a:latin typeface="Arial"/>
                <a:ea typeface="Arial"/>
                <a:cs typeface="Arial"/>
              </a:defRPr>
            </a:defPPr>
          </a:lstStyle>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Our tests should isolate routing, reuse</a:t>
            </a:r>
          </a:p>
          <a:p xmlns:a="http://schemas.openxmlformats.org/drawingml/2006/main">
            <a:pPr>
              <a:defRPr sz="2025" b="0">
                <a:solidFill>
                  <a:srgbClr val="18352D"/>
                </a:solidFill>
                <a:latin typeface="Arial"/>
                <a:ea typeface="Arial"/>
                <a:cs typeface="Arial"/>
              </a:defRPr>
            </a:pPr>
            <a:r>
              <a:rPr sz="2025" b="0">
                <a:solidFill>
                  <a:srgbClr val="18352D"/>
                </a:solidFill>
                <a:latin typeface="Arial"/>
                <a:ea typeface="Arial"/>
                <a:cs typeface="Arial"/>
              </a:rPr>
              <a:t>and depth with controlled budgets.</a:t>
            </a:r>
          </a:p>
        </p:txBody>
      </p:sp>
      <p:sp>
        <p:nvSpPr>
          <p:cNvPr id="12" name="">
            <a:extLst xmlns:a="http://schemas.openxmlformats.org/drawingml/2006/main">
              <a:ext uri="{FF2B5EF4-FFF2-40B4-BE49-F238E27FC236}">
                <a16:creationId xmlns:a16="http://schemas.microsoft.com/office/drawing/2014/main" id="{82616F7C-1BF5-4811-ABE7-321408DD08BA}"/>
              </a:ext>
            </a:extLst>
          </p:cNvPr>
          <p:cNvSpPr>
            <a:spLocks xmlns:a="http://schemas.openxmlformats.org/drawingml/2006/main" noGrp="1"/>
          </p:cNvSpPr>
          <p:nvPr/>
        </p:nvSpPr>
        <p:spPr>
          <a:xfrm xmlns:a="http://schemas.openxmlformats.org/drawingml/2006/main">
            <a:off x="457200" y="5724525"/>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246648"/>
                </a:solidFill>
                <a:latin typeface="Arial"/>
                <a:ea typeface="Arial"/>
                <a:cs typeface="Arial"/>
              </a:defRPr>
            </a:defPPr>
          </a:lstStyle>
          <a:p xmlns:a="http://schemas.openxmlformats.org/drawingml/2006/main">
            <a:pPr>
              <a:defRPr sz="1950" b="1">
                <a:solidFill>
                  <a:srgbClr val="246648"/>
                </a:solidFill>
                <a:latin typeface="Arial"/>
                <a:ea typeface="Arial"/>
                <a:cs typeface="Arial"/>
              </a:defRPr>
            </a:pPr>
            <a:r>
              <a:rPr sz="1950" b="1">
                <a:solidFill>
                  <a:srgbClr val="246648"/>
                </a:solidFill>
                <a:latin typeface="Arial"/>
                <a:ea typeface="Arial"/>
                <a:cs typeface="Arial"/>
              </a:rPr>
              <a:t>Discussion hypothesis: compare structural choices independently before combining them.</a:t>
            </a:r>
          </a:p>
        </p:txBody>
      </p:sp>
      <p:sp>
        <p:nvSpPr>
          <p:cNvPr id="13" name="">
            <a:extLst xmlns:a="http://schemas.openxmlformats.org/drawingml/2006/main">
              <a:ext uri="{FF2B5EF4-FFF2-40B4-BE49-F238E27FC236}">
                <a16:creationId xmlns:a16="http://schemas.microsoft.com/office/drawing/2014/main" id="{CAC939CA-4FD9-4979-808A-B5F4CE5C4E8F}"/>
              </a:ext>
            </a:extLst>
          </p:cNvPr>
          <p:cNvSpPr>
            <a:spLocks xmlns:a="http://schemas.openxmlformats.org/drawingml/2006/main" noGrp="1"/>
          </p:cNvSpPr>
          <p:nvPr/>
        </p:nvSpPr>
        <p:spPr>
          <a:xfrm xmlns:a="http://schemas.openxmlformats.org/drawingml/2006/main">
            <a:off x="457200" y="6448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3655E"/>
                </a:solidFill>
                <a:latin typeface="Arial"/>
                <a:ea typeface="Arial"/>
                <a:cs typeface="Arial"/>
              </a:defRPr>
            </a:defPPr>
          </a:lstStyle>
          <a:p xmlns:a="http://schemas.openxmlformats.org/drawingml/2006/main">
            <a:pPr>
              <a:defRPr sz="1200" b="0">
                <a:solidFill>
                  <a:srgbClr val="53655E"/>
                </a:solidFill>
                <a:latin typeface="Arial"/>
                <a:ea typeface="Arial"/>
                <a:cs typeface="Arial"/>
              </a:defRPr>
            </a:pPr>
            <a:r>
              <a:rPr sz="1200" b="0">
                <a:solidFill>
                  <a:srgbClr val="53655E"/>
                </a:solidFill>
                <a:latin typeface="Arial"/>
                <a:ea typeface="Arial"/>
                <a:cs typeface="Arial"/>
              </a:rPr>
              <a:t>Paper conclusions and limitations. Proposed experiment questions are not new results.</a:t>
            </a:r>
          </a:p>
        </p:txBody>
      </p:sp>
    </p:spTree>
    <p:extLst>
      <p:ext uri="{BB962C8B-B14F-4D97-AF65-F5344CB8AC3E}">
        <p14:creationId xmlns:p14="http://schemas.microsoft.com/office/powerpoint/2010/main" val="8518310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A3EA55-5E74-46B3-BC50-C81D1992E13B}"/>
              </a:ext>
            </a:extLst>
          </p:cNvPr>
          <p:cNvSpPr>
            <a:spLocks xmlns:a="http://schemas.openxmlformats.org/drawingml/2006/main" noGrp="1"/>
          </p:cNvSpPr>
          <p:nvPr/>
        </p:nvSpPr>
        <p:spPr>
          <a:xfrm xmlns:a="http://schemas.openxmlformats.org/drawingml/2006/main">
            <a:off x="457200" y="285750"/>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2D"/>
                </a:solidFill>
                <a:latin typeface="Arial"/>
                <a:ea typeface="Arial"/>
                <a:cs typeface="Arial"/>
              </a:defRPr>
            </a:defPPr>
          </a:lstStyle>
          <a:p xmlns:a="http://schemas.openxmlformats.org/drawingml/2006/main">
            <a:pPr>
              <a:buNone/>
              <a:defRPr sz="3300" b="1">
                <a:solidFill>
                  <a:srgbClr val="18352D"/>
                </a:solidFill>
                <a:latin typeface="Arial"/>
                <a:ea typeface="Arial"/>
                <a:cs typeface="Arial"/>
              </a:defRPr>
            </a:pPr>
            <a:r>
              <a:rPr sz="3300" b="1">
                <a:solidFill>
                  <a:srgbClr val="18352D"/>
                </a:solidFill>
                <a:latin typeface="Arial"/>
                <a:ea typeface="Arial"/>
                <a:cs typeface="Arial"/>
              </a:rPr>
              <a:t>Structural comparison</a:t>
            </a:r>
          </a:p>
        </p:txBody>
      </p:sp>
      <p:sp>
        <p:nvSpPr>
          <p:cNvPr id="2" name="">
            <a:extLst xmlns:a="http://schemas.openxmlformats.org/drawingml/2006/main">
              <a:ext uri="{FF2B5EF4-FFF2-40B4-BE49-F238E27FC236}">
                <a16:creationId xmlns:a16="http://schemas.microsoft.com/office/drawing/2014/main" id="{68DDDB35-6D8B-489D-877B-ABD379C29682}"/>
              </a:ext>
            </a:extLst>
          </p:cNvPr>
          <p:cNvSpPr>
            <a:spLocks xmlns:a="http://schemas.openxmlformats.org/drawingml/2006/main" noGrp="1"/>
          </p:cNvSpPr>
          <p:nvPr/>
        </p:nvSpPr>
        <p:spPr>
          <a:xfrm xmlns:a="http://schemas.openxmlformats.org/drawingml/2006/main">
            <a:off x="457200" y="942975"/>
            <a:ext cx="1127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55E"/>
                </a:solidFill>
                <a:latin typeface="Arial"/>
                <a:ea typeface="Arial"/>
                <a:cs typeface="Arial"/>
              </a:defRPr>
            </a:defPPr>
          </a:lstStyle>
          <a:p xmlns:a="http://schemas.openxmlformats.org/drawingml/2006/main">
            <a:pPr>
              <a:buNone/>
              <a:defRPr sz="1650" b="0">
                <a:solidFill>
                  <a:srgbClr val="53655E"/>
                </a:solidFill>
                <a:latin typeface="Arial"/>
                <a:ea typeface="Arial"/>
                <a:cs typeface="Arial"/>
              </a:defRPr>
            </a:pPr>
            <a:r>
              <a:rPr sz="1650" b="0">
                <a:solidFill>
                  <a:srgbClr val="53655E"/>
                </a:solidFill>
                <a:latin typeface="Arial"/>
                <a:ea typeface="Arial"/>
                <a:cs typeface="Arial"/>
              </a:rPr>
              <a:t>Green: Yes     Light green: qualified Yes*     White: No or no router</a:t>
            </a:r>
          </a:p>
        </p:txBody>
      </p:sp>
      <p:graphicFrame>
        <p:nvGraphicFramePr>
          <p:cNvPr id="3" name="">
            <a:extLst xmlns:a="http://schemas.openxmlformats.org/drawingml/2006/main">
              <a:ext uri="{FF2B5EF4-FFF2-40B4-BE49-F238E27FC236}">
                <a16:creationId xmlns:a16="http://schemas.microsoft.com/office/drawing/2014/main" id="{F8F4DA16-4913-44B4-BCF7-D8AA8BBB5068}"/>
              </a:ext>
            </a:extLst>
          </p:cNvPr>
          <p:cNvGraphicFramePr/>
          <p:nvPr/>
        </p:nvGraphicFramePr>
        <p:xfrm>
          <a:off xmlns:a="http://schemas.openxmlformats.org/drawingml/2006/main" x="457200" y="1428750"/>
          <a:ext xmlns:a="http://schemas.openxmlformats.org/drawingml/2006/main" cx="11277600" cy="4114800"/>
        </p:xfrm>
        <a:graphic xmlns:a="http://schemas.openxmlformats.org/drawingml/2006/main">
          <a:graphicData uri="http://schemas.openxmlformats.org/drawingml/2006/table">
            <a:tbl>
              <a:tblPr/>
              <a:tblGrid>
                <a:gridCol w="2381250"/>
                <a:gridCol w="857250"/>
                <a:gridCol w="1190625"/>
                <a:gridCol w="2857500"/>
                <a:gridCol w="1619250"/>
                <a:gridCol w="2371725"/>
              </a:tblGrid>
              <a:tr h="514350">
                <a:tc>
                  <a:txBody>
                    <a:bodyPr/>
                    <a:lstStyle/>
                    <a:p>
                      <a:pPr algn="l">
                        <a:buNone/>
                      </a:pPr>
                      <a:r>
                        <a:rPr sz="1725" b="1">
                          <a:solidFill>
                            <a:srgbClr val="FFFFFF"/>
                          </a:solidFill>
                          <a:latin typeface="Arial"/>
                          <a:ea typeface="Arial"/>
                          <a:cs typeface="Arial"/>
                        </a:rPr>
                        <a:t>Architecture</a:t>
                      </a:r>
                    </a:p>
                  </a:txBody>
                  <a:tcPr marL="91440" marR="91440" marT="45720" marB="45720">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a:ea typeface="Arial"/>
                          <a:cs typeface="Arial"/>
                        </a:rPr>
                        <a:t>MHA</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a:ea typeface="Arial"/>
                          <a:cs typeface="Arial"/>
                        </a:rPr>
                        <a:t>FFN MoE</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l">
                        <a:buNone/>
                      </a:pPr>
                      <a:r>
                        <a:rPr sz="1725" b="1">
                          <a:solidFill>
                            <a:srgbClr val="FFFFFF"/>
                          </a:solidFill>
                          <a:latin typeface="Arial"/>
                          <a:ea typeface="Arial"/>
                          <a:cs typeface="Arial"/>
                        </a:rPr>
                        <a:t>Router</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a:ea typeface="Arial"/>
                          <a:cs typeface="Arial"/>
                        </a:rPr>
                        <a:t>Recurrence</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buNone/>
                      </a:pPr>
                      <a:r>
                        <a:rPr sz="1725" b="1">
                          <a:solidFill>
                            <a:srgbClr val="FFFFFF"/>
                          </a:solidFill>
                          <a:latin typeface="Arial"/>
                          <a:ea typeface="Arial"/>
                          <a:cs typeface="Arial"/>
                        </a:rPr>
                        <a:t>Halting / skipping</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r>
              <a:tr h="514350">
                <a:tc>
                  <a:txBody>
                    <a:bodyPr/>
                    <a:lstStyle/>
                    <a:p>
                      <a:pPr algn="l">
                        <a:buNone/>
                      </a:pPr>
                      <a:r>
                        <a:rPr sz="1725" b="1">
                          <a:solidFill>
                            <a:srgbClr val="18352D"/>
                          </a:solidFill>
                          <a:latin typeface="Arial"/>
                          <a:ea typeface="Arial"/>
                          <a:cs typeface="Arial"/>
                        </a:rPr>
                        <a:t>Vanilla Transformer</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r>
                        <a:rPr sz="1725" b="0">
                          <a:solidFill>
                            <a:srgbClr val="18352D"/>
                          </a:solidFill>
                          <a:latin typeface="Arial"/>
                          <a:ea typeface="Arial"/>
                          <a:cs typeface="Arial"/>
                        </a:rPr>
                        <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a:ea typeface="Arial"/>
                          <a:cs typeface="Arial"/>
                        </a:rPr>
                        <a:t>FFN-MoE Transformer</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l">
                        <a:buNone/>
                      </a:pPr>
                      <a:r>
                        <a:rPr sz="1725" b="0">
                          <a:solidFill>
                            <a:srgbClr val="18352D"/>
                          </a:solidFill>
                          <a:latin typeface="Arial"/>
                          <a:ea typeface="Arial"/>
                          <a:cs typeface="Arial"/>
                        </a:rPr>
                        <a:t>FFN</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a:ea typeface="Arial"/>
                          <a:cs typeface="Arial"/>
                        </a:rPr>
                        <a:t>UT</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r>
                        <a:rPr sz="1725" b="0">
                          <a:solidFill>
                            <a:srgbClr val="18352D"/>
                          </a:solidFill>
                          <a:latin typeface="Arial"/>
                          <a:ea typeface="Arial"/>
                          <a:cs typeface="Arial"/>
                        </a:rPr>
                        <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r>
              <a:tr h="514350">
                <a:tc>
                  <a:txBody>
                    <a:bodyPr/>
                    <a:lstStyle/>
                    <a:p>
                      <a:pPr algn="l">
                        <a:buNone/>
                      </a:pPr>
                      <a:r>
                        <a:rPr sz="1725" b="1">
                          <a:solidFill>
                            <a:srgbClr val="18352D"/>
                          </a:solidFill>
                          <a:latin typeface="Arial"/>
                          <a:ea typeface="Arial"/>
                          <a:cs typeface="Arial"/>
                        </a:rPr>
                        <a:t>MoA</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l">
                        <a:buNone/>
                      </a:pPr>
                      <a:r>
                        <a:rPr sz="1725" b="0">
                          <a:solidFill>
                            <a:srgbClr val="18352D"/>
                          </a:solidFill>
                          <a:latin typeface="Arial"/>
                          <a:ea typeface="Arial"/>
                          <a:cs typeface="Arial"/>
                        </a:rPr>
                        <a:t>Attention head</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a:ea typeface="Arial"/>
                          <a:cs typeface="Arial"/>
                        </a:rPr>
                        <a:t>MoH</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l">
                        <a:buNone/>
                      </a:pPr>
                      <a:r>
                        <a:rPr sz="1725" b="0">
                          <a:solidFill>
                            <a:srgbClr val="18352D"/>
                          </a:solidFill>
                          <a:latin typeface="Arial"/>
                          <a:ea typeface="Arial"/>
                          <a:cs typeface="Arial"/>
                        </a:rPr>
                        <a:t>Attention head</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buNone/>
                      </a:pPr>
                      <a:r>
                        <a:rPr sz="1725" b="1">
                          <a:solidFill>
                            <a:srgbClr val="18352D"/>
                          </a:solidFill>
                          <a:latin typeface="Arial"/>
                          <a:ea typeface="Arial"/>
                          <a:cs typeface="Arial"/>
                        </a:rPr>
                        <a:t>SUT</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l">
                        <a:buNone/>
                      </a:pPr>
                      <a:r>
                        <a:rPr sz="1725" b="0">
                          <a:solidFill>
                            <a:srgbClr val="18352D"/>
                          </a:solidFill>
                          <a:latin typeface="Arial"/>
                          <a:ea typeface="Arial"/>
                          <a:cs typeface="Arial"/>
                        </a:rPr>
                        <a:t>Attention expert + FFN</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r>
              <a:tr h="514350">
                <a:tc>
                  <a:txBody>
                    <a:bodyPr/>
                    <a:lstStyle/>
                    <a:p>
                      <a:pPr algn="l">
                        <a:buNone/>
                      </a:pPr>
                      <a:r>
                        <a:rPr sz="1725" b="1">
                          <a:solidFill>
                            <a:srgbClr val="18352D"/>
                          </a:solidFill>
                          <a:latin typeface="Arial"/>
                          <a:ea typeface="Arial"/>
                          <a:cs typeface="Arial"/>
                        </a:rPr>
                        <a:t>MoM</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l">
                        <a:buNone/>
                      </a:pPr>
                      <a:r>
                        <a:rPr sz="1725" b="0">
                          <a:solidFill>
                            <a:srgbClr val="18352D"/>
                          </a:solidFill>
                          <a:latin typeface="Arial"/>
                          <a:ea typeface="Arial"/>
                          <a:cs typeface="Arial"/>
                        </a:rPr>
                        <a:t>MHA module + FFN</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c>
                  <a:txBody>
                    <a:bodyPr/>
                    <a:lstStyle/>
                    <a:p>
                      <a:pPr algn="ctr">
                        <a:buNone/>
                      </a:pP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r>
            </a:tbl>
          </a:graphicData>
        </a:graphic>
      </p:graphicFrame>
      <p:sp>
        <p:nvSpPr>
          <p:cNvPr id="4" name="">
            <a:extLst xmlns:a="http://schemas.openxmlformats.org/drawingml/2006/main">
              <a:ext uri="{FF2B5EF4-FFF2-40B4-BE49-F238E27FC236}">
                <a16:creationId xmlns:a16="http://schemas.microsoft.com/office/drawing/2014/main" id="{AF32A4BE-4496-4932-AFA7-5E89AC90F4C5}"/>
              </a:ext>
            </a:extLst>
          </p:cNvPr>
          <p:cNvSpPr>
            <a:spLocks xmlns:a="http://schemas.openxmlformats.org/drawingml/2006/main" noGrp="1"/>
          </p:cNvSpPr>
          <p:nvPr/>
        </p:nvSpPr>
        <p:spPr>
          <a:xfrm xmlns:a="http://schemas.openxmlformats.org/drawingml/2006/main">
            <a:off x="457200" y="57150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5E"/>
                </a:solidFill>
                <a:latin typeface="Arial"/>
                <a:ea typeface="Arial"/>
                <a:cs typeface="Arial"/>
              </a:defRPr>
            </a:defPPr>
          </a:lstStyle>
          <a:p xmlns:a="http://schemas.openxmlformats.org/drawingml/2006/main">
            <a:pPr>
              <a:buNone/>
              <a:defRPr sz="1500" b="0">
                <a:solidFill>
                  <a:srgbClr val="53655E"/>
                </a:solidFill>
                <a:latin typeface="Arial"/>
                <a:ea typeface="Arial"/>
                <a:cs typeface="Arial"/>
              </a:defRPr>
            </a:pPr>
            <a:r>
              <a:rPr sz="1500" b="0">
                <a:solidFill>
                  <a:srgbClr val="53655E"/>
                </a:solidFill>
                <a:latin typeface="Arial"/>
                <a:ea typeface="Arial"/>
                <a:cs typeface="Arial"/>
              </a:rPr>
              <a:t>* MHA includes routed variants (MoA, MoH). UT halting is optional.</a:t>
            </a:r>
          </a:p>
        </p:txBody>
      </p:sp>
      <p:sp>
        <p:nvSpPr>
          <p:cNvPr id="5" name="">
            <a:extLst xmlns:a="http://schemas.openxmlformats.org/drawingml/2006/main">
              <a:ext uri="{FF2B5EF4-FFF2-40B4-BE49-F238E27FC236}">
                <a16:creationId xmlns:a16="http://schemas.microsoft.com/office/drawing/2014/main" id="{0C47F135-2533-415B-BF49-EFE943BE47A3}"/>
              </a:ext>
            </a:extLst>
          </p:cNvPr>
          <p:cNvSpPr>
            <a:spLocks xmlns:a="http://schemas.openxmlformats.org/drawingml/2006/main" noGrp="1"/>
          </p:cNvSpPr>
          <p:nvPr/>
        </p:nvSpPr>
        <p:spPr>
          <a:xfrm xmlns:a="http://schemas.openxmlformats.org/drawingml/2006/main">
            <a:off x="457200" y="60198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5E"/>
                </a:solidFill>
                <a:latin typeface="Arial"/>
                <a:ea typeface="Arial"/>
                <a:cs typeface="Arial"/>
              </a:defRPr>
            </a:defPPr>
          </a:lstStyle>
          <a:p xmlns:a="http://schemas.openxmlformats.org/drawingml/2006/main">
            <a:pPr>
              <a:buNone/>
              <a:defRPr sz="1500" b="0">
                <a:solidFill>
                  <a:srgbClr val="53655E"/>
                </a:solidFill>
                <a:latin typeface="Arial"/>
                <a:ea typeface="Arial"/>
                <a:cs typeface="Arial"/>
              </a:defRPr>
            </a:pPr>
            <a:r>
              <a:rPr sz="1500" b="0">
                <a:solidFill>
                  <a:srgbClr val="53655E"/>
                </a:solidFill>
                <a:latin typeface="Arial"/>
                <a:ea typeface="Arial"/>
                <a:cs typeface="Arial"/>
              </a:rPr>
              <a:t>Recurrence = reuse across depth. MoM reuses modules and optionally skips steps.</a:t>
            </a:r>
          </a:p>
        </p:txBody>
      </p:sp>
      <p:sp>
        <p:nvSpPr>
          <p:cNvPr id="6" name="">
            <a:extLst xmlns:a="http://schemas.openxmlformats.org/drawingml/2006/main">
              <a:ext uri="{FF2B5EF4-FFF2-40B4-BE49-F238E27FC236}">
                <a16:creationId xmlns:a16="http://schemas.microsoft.com/office/drawing/2014/main" id="{822EC7FF-D0C0-4C71-9DF8-8A4B00DFAF6F}"/>
              </a:ext>
            </a:extLst>
          </p:cNvPr>
          <p:cNvSpPr>
            <a:spLocks xmlns:a="http://schemas.openxmlformats.org/drawingml/2006/main" noGrp="1"/>
          </p:cNvSpPr>
          <p:nvPr/>
        </p:nvSpPr>
        <p:spPr>
          <a:xfrm xmlns:a="http://schemas.openxmlformats.org/drawingml/2006/main">
            <a:off x="457200" y="6438900"/>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87B72"/>
                </a:solidFill>
                <a:latin typeface="Arial"/>
                <a:ea typeface="Arial"/>
                <a:cs typeface="Arial"/>
              </a:defRPr>
            </a:defPPr>
          </a:lstStyle>
          <a:p xmlns:a="http://schemas.openxmlformats.org/drawingml/2006/main">
            <a:pPr>
              <a:buNone/>
              <a:defRPr sz="1200" b="0">
                <a:solidFill>
                  <a:srgbClr val="687B72"/>
                </a:solidFill>
                <a:latin typeface="Arial"/>
                <a:ea typeface="Arial"/>
                <a:cs typeface="Arial"/>
              </a:defRPr>
            </a:pPr>
            <a:r>
              <a:rPr sz="1200" b="0">
                <a:solidFill>
                  <a:srgbClr val="687B72"/>
                </a:solidFill>
                <a:latin typeface="Arial"/>
                <a:ea typeface="Arial"/>
                <a:cs typeface="Arial"/>
              </a:rPr>
              <a:t>Configurations shown follow the cited papers. Sources and qualifications are in the slide notes.</a:t>
            </a:r>
          </a:p>
        </p:txBody>
      </p:sp>
    </p:spTree>
    <p:extLst>
      <p:ext uri="{BB962C8B-B14F-4D97-AF65-F5344CB8AC3E}">
        <p14:creationId xmlns:p14="http://schemas.microsoft.com/office/powerpoint/2010/main" val="1517056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2026-10-15T18:01:22.9900000Z</dcterms:created>
  <dcterms:modified xsi:type="dcterms:W3CDTF">2026-10-15T18:01:22.9900000Z</dcterms:modified>
</coreProperties>
</file>