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c3460f398643f8" /><Relationship Type="http://schemas.openxmlformats.org/officeDocument/2006/relationships/extended-properties" Target="/docProps/app.xml" Id="R68fb07b3a45544d1" /><Relationship Type="http://schemas.openxmlformats.org/officeDocument/2006/relationships/officeDocument" Target="/ppt/presentation.xml" Id="R40e00a55d64e44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bdac71bb504412"/>
  </p:sldMasterIdLst>
  <p:notesMasterIdLst>
    <p:notesMasterId xmlns:r="http://schemas.openxmlformats.org/officeDocument/2006/relationships" r:id="R45c460d55b02497b"/>
  </p:notesMasterIdLst>
  <p:sldIdLst>
    <p:sldId xmlns:r="http://schemas.openxmlformats.org/officeDocument/2006/relationships" id="256" r:id="R68d01e0ba9c94455"/>
    <p:sldId xmlns:r="http://schemas.openxmlformats.org/officeDocument/2006/relationships" id="257" r:id="Ra7db32cb2883417c"/>
    <p:sldId xmlns:r="http://schemas.openxmlformats.org/officeDocument/2006/relationships" id="258" r:id="R5f0060dea28549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186e30994147ed" /><Relationship Type="http://schemas.openxmlformats.org/officeDocument/2006/relationships/slideMaster" Target="/ppt/slideMasters/slideMaster1.xml" Id="Rc5bdac71bb504412" /><Relationship Type="http://schemas.openxmlformats.org/officeDocument/2006/relationships/notesMaster" Target="/ppt/notesMasters/notesMaster1.xml" Id="R45c460d55b02497b" /><Relationship Type="http://schemas.openxmlformats.org/officeDocument/2006/relationships/presProps" Target="/ppt/presProps.xml" Id="R47dae39864f44b55" /><Relationship Type="http://schemas.openxmlformats.org/officeDocument/2006/relationships/tableStyles" Target="/ppt/tableStyles.xml" Id="Rb13becfc13ad40c1" /><Relationship Type="http://schemas.openxmlformats.org/officeDocument/2006/relationships/slide" Target="/ppt/slides/slide1.xml" Id="R68d01e0ba9c94455" /><Relationship Type="http://schemas.openxmlformats.org/officeDocument/2006/relationships/slide" Target="/ppt/slides/slide2.xml" Id="Ra7db32cb2883417c" /><Relationship Type="http://schemas.openxmlformats.org/officeDocument/2006/relationships/slide" Target="/ppt/slides/slide3.xml" Id="R5f0060dea28549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ec944892534a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74e1b1ee5e4ecf" /><Relationship Type="http://schemas.openxmlformats.org/officeDocument/2006/relationships/notesMaster" Target="/ppt/notesMasters/notesMaster1.xml" Id="Rfc4f2fcfe9b148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4ddfb37ec7411b" /><Relationship Type="http://schemas.openxmlformats.org/officeDocument/2006/relationships/notesMaster" Target="/ppt/notesMasters/notesMaster1.xml" Id="R2f561bbc322f48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8a6d0c9b0a4c1a" /><Relationship Type="http://schemas.openxmlformats.org/officeDocument/2006/relationships/notesMaster" Target="/ppt/notesMasters/notesMaster1.xml" Id="R68db255a070b46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align notation by role, not by pretending the original papers use the same letters. i is a token position; ell is recurrent depth; T is sequence length; each matrix has T rows and model-width columns. u is the entering state, h the new raw block output, z the halting-combined state. H_0 is the embedding matrix. UT Appendix C maps state to u, transformed_state to h, previous_state to z_(ell-1), new_state to z_ell. Its accumulator starts at zero. UT H^t maps to H_ell. SUT h_ell^(t) maps to h_ell^(i), s_ell^(t) to z_ell^(i), and S_ell to I_ell. SUT p=alpha-hat and b=alpha. UT p is the sigmoid gate and a is update_weights. These are per-token scalars; a is not the attention representation A^t in UT Equation 5, and p is not positional encoding P^t. The block contains attention, transition/FFN, residual, dropout and normalization. Shared weights mean the same block parameters are reused across depth. UT gate reads the entering raw state. SUT Algorithm 1 gates h_(ell-1) before computing h_ell; its p_j names the hazard associated with raw state h_j, preserving Equation 2 indexing. SUT gate is MLP-based; UT is sigmoid-affine. We do not force identical timing labels.</a:t>
            </a:r>
          </a:p>
          <a:p xmlns:a="http://schemas.openxmlformats.org/drawingml/2006/main">
            <a:r>
              <a:t>Sources: https://arxiv.org/html/1807.03819v3#A3 ; https://aclanthology.org/2023.emnlp-main.12.pdf (Section 3.2, Equations 2–4, Algorithm 1).</a:t>
            </a:r>
          </a:p>
          <a:p xmlns:a="http://schemas.openxmlformats.org/drawingml/2006/main">
            <a:r>
              <a:t>LaTeX states: \mathbf{u}_{\ell}=H_{\ell-1}[i,:],\qquad \mathbf{h}_{\ell}=H_{\ell}[i,:],\qquad \mathbf{z}_{\ell}=I_{\ell}[i,:]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Mathematical transcription of UT Appendix C, Listing 2, with aligned notation. For an active token, compute the sigmoid-affine gate from entering u_ell = H_(ell-1)[i,:]. Choose a_ell=p_ell when C_prev+p&lt;=tau, otherwise use 1-C_prev. Thus C is the running halting accumulator, not a separate learned gate; the final update fills C to 1. The appendix uses strict greater-than for threshold crossing; equality continues. Already-halted tokens use a=0 and keep z. The newly computed h is transformed_state. z=a*h+(1-a)*zprev is the appendix interpolation and z0=0. The final token output is z_N, the corresponding row of I, not the raw block output h_N. Under natural threshold crossing, N=min{n:sum p&gt;tau}, R=1-sum_(j=1)^(N-1)p_j, and a_N=R. A maximum-depth cap is a separate implementation condition; the displayed N/R expressions describe threshold-triggered stopping. Mean N+R is the UT ponder penalty, scaled in the total training objective. Ponder penalty need not be integer. State recurrence feeds raw transformed_state to the next block; the separate combined accumulator is returned as output.</a:t>
            </a:r>
          </a:p>
          <a:p xmlns:a="http://schemas.openxmlformats.org/drawingml/2006/main">
            <a:r>
              <a:t>Sources: https://arxiv.org/html/1807.03819v3#A3 ; https://aclanthology.org/2023.emnlp-main.12.pdf (Section 3.2, Equations 2–4, Algorithm 1).</a:t>
            </a:r>
          </a:p>
          <a:p xmlns:a="http://schemas.openxmlformats.org/drawingml/2006/main">
            <a:r>
              <a:t>LaTeX utgate: p_{\ell}=\sigma(\mathbf{w}^{\mathsf T}\mathbf{u}_{\ell}+b),\qquad C_0=0</a:t>
            </a:r>
          </a:p>
          <a:p xmlns:a="http://schemas.openxmlformats.org/drawingml/2006/main">
            <a:r>
              <a:t>LaTeX utweight: a_{\ell}=\begin{cases}p_{\ell},&amp;C_{\ell-1}+p_{\ell}\leq\tau\quad\text{(continue)},\\1-C_{\ell-1},&amp;C_{\ell-1}+p_{\ell}&gt;\tau\quad\text{(halt)}.\end{cases}</a:t>
            </a:r>
          </a:p>
          <a:p xmlns:a="http://schemas.openxmlformats.org/drawingml/2006/main">
            <a:r>
              <a:t>LaTeX utacc: C_{\ell}=C_{\ell-1}+a_{\ell},\qquad C_N=1</a:t>
            </a:r>
          </a:p>
          <a:p xmlns:a="http://schemas.openxmlformats.org/drawingml/2006/main">
            <a:r>
              <a:t>LaTeX utmix: \mathbf{z}_{\ell}=a_{\ell}\mathbf{h}_{\ell}+(1-a_{\ell})\mathbf{z}_{\ell-1}</a:t>
            </a:r>
          </a:p>
          <a:p xmlns:a="http://schemas.openxmlformats.org/drawingml/2006/main">
            <a:r>
              <a:t>LaTeX utcost: N=\min\!\left\{n:\sum_{j=1}^{n}p_j&gt;\tau\right\},\qquad R=1-\sum_{j=1}^{N-1}p_j,\qquad\rho_{\rm UT}=N+R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Uses the same H/h (raw block output) and I/z (combined output) as the UT slide. To match SUT Equation 2, p_ell=halt(h_ell) is the conditional hazard associated with layer ell; b_ell=p_ell product_(j&lt;ell)(1-p_j) is the unconditional stopping probability at that depth. This gate is evaluated on h_ell before the next block update in Algorithm 1. The original source uses alpha-hat for p and alpha for b, and S for our I matrix. This preserves the source timing rather than moving the SUT gate to UT's entering-state index. m0=1, m_ell=(1-p_ell)m_prev, C=sum b=1-m. Thresholding is on cumulative b, not cumulative p. Original Equation 3 is z_ell=m_(ell-1)h_ell+sum_(j=1)^(ell-1)b_j h_j. Its current term carries the entire survival mass before depth ell; do not replace it by b_ell h_ell or include b_ell again in the earlier-state sum. Current p_ell is used in the next depth's accumulation. Algorithm 1 uses the raw token state h_(ell-1) for query input and the combined matrix I_(ell-1) for key/value input. Projection matrices are omitted. Halted tokens are copied and remain readable subject to attention masks. ACT equation is the paper's expected depth objective; finite caps require residual survival accounting, implemented in the authors' ACTWrapper. In UT earlier z is repeatedly rescaled, whereas SUT keeps explicit weights on earlier raw h states. Full scalar bookkeeping starts with empty sums=0 and empty products=1. Both methods average per-token ACT costs; coefficients weight them in the total task objective.</a:t>
            </a:r>
          </a:p>
          <a:p xmlns:a="http://schemas.openxmlformats.org/drawingml/2006/main">
            <a:r>
              <a:t>Sources: https://arxiv.org/html/1807.03819v3#A3 ; https://aclanthology.org/2023.emnlp-main.12.pdf (Section 3.2, Equations 2–4, Algorithm 1).</a:t>
            </a:r>
          </a:p>
          <a:p xmlns:a="http://schemas.openxmlformats.org/drawingml/2006/main">
            <a:r>
              <a:t>LaTeX sutgate: p_{\ell}=\mathrm{halt}(\mathbf{h}_{\ell}),\qquad b_{\ell}=p_{\ell}\prod\nolimits_{j=1}^{\ell-1}(1-p_j)=p_{\ell}m_{\ell-1}</a:t>
            </a:r>
          </a:p>
          <a:p xmlns:a="http://schemas.openxmlformats.org/drawingml/2006/main">
            <a:r>
              <a:t>LaTeX sutmass: m_0=1,\qquad m_{\ell}=(1-p_{\ell})m_{\ell-1},\qquad C_{\ell}=\sum_{j=1}^{\ell}b_j=1-m_{\ell}</a:t>
            </a:r>
          </a:p>
          <a:p xmlns:a="http://schemas.openxmlformats.org/drawingml/2006/main">
            <a:r>
              <a:t>LaTeX sutmix: \mathbf{z}_{\ell}=\underbrace{m_{\ell-1}\mathbf{h}_{\ell}}_{\text{current surviving mass}}+\underbrace{\sum_{j=1}^{\ell-1}b_j\mathbf{h}_j}_{\text{earlier stopped states}}</a:t>
            </a:r>
          </a:p>
          <a:p xmlns:a="http://schemas.openxmlformats.org/drawingml/2006/main">
            <a:r>
              <a:t>LaTeX att: \mathrm{Attention}\!\left(\underbrace{\mathbf{h}_{\ell-1}^{(i)}}_{Q\text{ input}},\underbrace{I_{\ell-1}}_{K,V\text{ inputs}}\right)</a:t>
            </a:r>
          </a:p>
          <a:p xmlns:a="http://schemas.openxmlformats.org/drawingml/2006/main">
            <a:r>
              <a:t>LaTeX sutcost: \rho_{\rm SUT}=\sum_{\ell=1}^{L}\ell\,b_{\ell},\qquad \mathcal{L}_{\rm ACT}=\frac{1}{T}\sum_{i=1}^{T}\rho^{(i)}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dc9190cb1e48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d5338a811c45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2a781f0d24c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ca6d3bb27443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24faeb682645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945572d80e4a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BC0CEF-69C0-4D73-8B7F-2528267ED5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7B8B24-2CB5-4C87-93C5-FCF804F6A5D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48EE24B-CF33-4151-8E3C-1D7F52C95D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626A3E-5CF8-4DD7-B190-201FA355BE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8E0358-44FC-4CF6-9E53-86413966D3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53B7C7-9C52-46C7-BC00-4684687CC7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931022-C49F-48E2-ABF9-EDCE87E429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B9BD348-518B-44E7-BDEF-B410960143B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21B618-1F8E-4BB7-8566-0282558DD1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1F0CD3-1325-4C26-9E90-D1B505A296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447dbe1f9b4229" /><Relationship Type="http://schemas.openxmlformats.org/officeDocument/2006/relationships/slideLayout" Target="/ppt/slideLayouts/slideLayout1.xml" Id="R7cd9241fdc9b413c" /><Relationship Type="http://schemas.openxmlformats.org/officeDocument/2006/relationships/slideLayout" Target="/ppt/slideLayouts/slideLayout2.xml" Id="R379090805ab84987" /><Relationship Type="http://schemas.openxmlformats.org/officeDocument/2006/relationships/slideLayout" Target="/ppt/slideLayouts/slideLayout3.xml" Id="Rd1f15facd1df447a" /><Relationship Type="http://schemas.openxmlformats.org/officeDocument/2006/relationships/slideLayout" Target="/ppt/slideLayouts/slideLayout4.xml" Id="Rdade8f0fa7bf4c37" /><Relationship Type="http://schemas.openxmlformats.org/officeDocument/2006/relationships/slideLayout" Target="/ppt/slideLayouts/slideLayout5.xml" Id="R75b50d132f614ace" /><Relationship Type="http://schemas.openxmlformats.org/officeDocument/2006/relationships/slideLayout" Target="/ppt/slideLayouts/slideLayout6.xml" Id="R1d5615b6897240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d9241fdc9b413c"/>
    <p:sldLayoutId xmlns:r="http://schemas.openxmlformats.org/officeDocument/2006/relationships" id="2147483650" r:id="R379090805ab84987"/>
    <p:sldLayoutId xmlns:r="http://schemas.openxmlformats.org/officeDocument/2006/relationships" id="2147483651" r:id="Rd1f15facd1df447a"/>
    <p:sldLayoutId xmlns:r="http://schemas.openxmlformats.org/officeDocument/2006/relationships" id="2147483652" r:id="Rdade8f0fa7bf4c37"/>
    <p:sldLayoutId xmlns:r="http://schemas.openxmlformats.org/officeDocument/2006/relationships" id="2147483653" r:id="R75b50d132f614ace"/>
    <p:sldLayoutId xmlns:r="http://schemas.openxmlformats.org/officeDocument/2006/relationships" id="2147483654" r:id="R1d5615b6897240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da9a2a660e4c8f" /><Relationship Type="http://schemas.openxmlformats.org/officeDocument/2006/relationships/image" Target="/ppt/media/image.png" Id="R7e41718b7c974964" /><Relationship Type="http://schemas.openxmlformats.org/officeDocument/2006/relationships/notesSlide" Target="/ppt/notesSlides/notesSlide1.xml" Id="R8b93ec16a5d542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d334d8643443bf" /><Relationship Type="http://schemas.openxmlformats.org/officeDocument/2006/relationships/image" Target="/ppt/media/image2.png" Id="R310824433be4424b" /><Relationship Type="http://schemas.openxmlformats.org/officeDocument/2006/relationships/image" Target="/ppt/media/image3.png" Id="Rc5365bf5e0bd4f61" /><Relationship Type="http://schemas.openxmlformats.org/officeDocument/2006/relationships/image" Target="/ppt/media/image4.png" Id="R7a06a9f00f724d9f" /><Relationship Type="http://schemas.openxmlformats.org/officeDocument/2006/relationships/image" Target="/ppt/media/image5.png" Id="R58bd001e77504091" /><Relationship Type="http://schemas.openxmlformats.org/officeDocument/2006/relationships/image" Target="/ppt/media/image6.png" Id="Re18a114a07d64be7" /><Relationship Type="http://schemas.openxmlformats.org/officeDocument/2006/relationships/notesSlide" Target="/ppt/notesSlides/notesSlide2.xml" Id="R75c11bfa977a4f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b76ad706ee4a63" /><Relationship Type="http://schemas.openxmlformats.org/officeDocument/2006/relationships/image" Target="/ppt/media/image7.png" Id="R21e38833e6cf4d55" /><Relationship Type="http://schemas.openxmlformats.org/officeDocument/2006/relationships/image" Target="/ppt/media/image8.png" Id="R94eec368b2a84b3f" /><Relationship Type="http://schemas.openxmlformats.org/officeDocument/2006/relationships/image" Target="/ppt/media/image9.png" Id="R51d750f4c1fa4872" /><Relationship Type="http://schemas.openxmlformats.org/officeDocument/2006/relationships/image" Target="/ppt/media/image10.png" Id="R802cfaedbb6d4b6a" /><Relationship Type="http://schemas.openxmlformats.org/officeDocument/2006/relationships/image" Target="/ppt/media/image11.png" Id="R8cb9114825134dd1" /><Relationship Type="http://schemas.openxmlformats.org/officeDocument/2006/relationships/notesSlide" Target="/ppt/notesSlides/notesSlide3.xml" Id="Rc7814b10e76640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7BDCB-36E5-42B2-966B-1F827749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6648"/>
                </a:solidFill>
                <a:latin typeface="Arial"/>
                <a:ea typeface="Arial"/>
                <a:cs typeface="Arial"/>
              </a:rPr>
              <a:t>METHOD / HALTING AND SHARED DEPTH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0D16C-C408-45E0-88F1-61B2F47D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1277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52D"/>
                </a:solidFill>
                <a:latin typeface="Arial"/>
                <a:ea typeface="Arial"/>
                <a:cs typeface="Arial"/>
              </a:rPr>
              <a:t>Shared notation: block output and combined state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450E9-370D-448C-8E2A-674AE1A442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1718b7c974964"/>
          <a:stretch xmlns:a="http://schemas.openxmlformats.org/drawingml/2006/main"/>
        </p:blipFill>
        <p:spPr>
          <a:xfrm xmlns:a="http://schemas.openxmlformats.org/drawingml/2006/main">
            <a:off x="457200" y="1398792"/>
            <a:ext cx="11277600" cy="54569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A601D-DDAA-41DF-ACFA-543A4406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52D"/>
                </a:solidFill>
                <a:latin typeface="Arial"/>
                <a:ea typeface="Arial"/>
                <a:cs typeface="Arial"/>
              </a:rPr>
              <a:t>Entering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A111A-DDC5-4C0C-854C-59E5B93C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One row of the previous block’s H matrix.</a:t>
            </a:r>
          </a:p>
          <a:p xmlns:a="http://schemas.openxmlformats.org/drawingml/2006/main">
            <a:pPr>
              <a:defRPr sz="180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At the first step: the token embedding.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1D2E7-9CE5-49D7-9A33-E3BD432A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3837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52D"/>
                </a:solidFill>
                <a:latin typeface="Arial"/>
                <a:ea typeface="Arial"/>
                <a:cs typeface="Arial"/>
              </a:rPr>
              <a:t>New block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70BE2-3382-447C-987F-345B54A3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14625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One row of the new H matrix.</a:t>
            </a:r>
          </a:p>
          <a:p xmlns:a="http://schemas.openxmlformats.org/drawingml/2006/main">
            <a:pPr>
              <a:defRPr sz="180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Computed before halting aggregation.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B2D3B-51D7-4065-B9C8-7DE00BC0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3837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52D"/>
                </a:solidFill>
                <a:latin typeface="Arial"/>
                <a:ea typeface="Arial"/>
                <a:cs typeface="Arial"/>
              </a:rPr>
              <a:t>Combined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9CFB6-7E44-4D64-9897-F6FA92C8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14625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One row of the I matrix.</a:t>
            </a:r>
          </a:p>
          <a:p xmlns:a="http://schemas.openxmlformats.org/drawingml/2006/main">
            <a:pPr>
              <a:defRPr sz="180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Combines outputs from different depths.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1D235-C880-48C0-925A-49FED83E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5287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6648"/>
                </a:solidFill>
                <a:latin typeface="Arial"/>
                <a:ea typeface="Arial"/>
                <a:cs typeface="Arial"/>
              </a:rPr>
              <a:t>Where is H measured?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C1F58-8965-408E-B5E6-5DFFF1AC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48175"/>
            <a:ext cx="5381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UT: after the final residual + LayerNorm.</a:t>
            </a:r>
          </a:p>
          <a:p xmlns:a="http://schemas.openxmlformats.org/drawingml/2006/main">
            <a:pPr>
              <a:defRPr sz="180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SUT: at the complete block’s output;</a:t>
            </a:r>
          </a:p>
          <a:p xmlns:a="http://schemas.openxmlformats.org/drawingml/2006/main">
            <a:pPr>
              <a:defRPr sz="180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pre-norm ends at the residual addition.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B3C8B-1B15-47F6-9AE0-E23953F0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5287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6648"/>
                </a:solidFill>
                <a:latin typeface="Arial"/>
                <a:ea typeface="Arial"/>
                <a:cs typeface="Arial"/>
              </a:rPr>
              <a:t>Original notation → shared notation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750ED-F6B3-4C1D-9D59-3C74975C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48175"/>
            <a:ext cx="533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UT: transformed_state → h; new_state → z</a:t>
            </a:r>
          </a:p>
          <a:p xmlns:a="http://schemas.openxmlformats.org/drawingml/2006/main">
            <a:pPr>
              <a:defRPr sz="172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SUT: h → h; s → z; matrix S → matrix I</a:t>
            </a:r>
          </a:p>
          <a:p xmlns:a="http://schemas.openxmlformats.org/drawingml/2006/main">
            <a:pPr>
              <a:defRPr sz="172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All halting probabilities below are per token.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B51B3-243C-47E1-80B6-2182BC28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52D"/>
                </a:solidFill>
                <a:latin typeface="Arial"/>
                <a:ea typeface="Arial"/>
                <a:cs typeface="Arial"/>
              </a:rPr>
              <a:t>Recurrence repeats the shared block. Aggregation combines its outputs.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62EBE2-5854-42A5-860C-CEFD76F7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5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5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5E"/>
                </a:solidFill>
                <a:latin typeface="Arial"/>
                <a:ea typeface="Arial"/>
                <a:cs typeface="Arial"/>
              </a:rPr>
              <a:t>Aligned teaching notation; original operations preserved. Depth = ℓ; token index i is suppressed on the next slides.</a:t>
            </a:r>
          </a:p>
        </p:txBody>
      </p:sp>
    </p:spTree>
    <p:extLst>
      <p:ext uri="{BB962C8B-B14F-4D97-AF65-F5344CB8AC3E}">
        <p14:creationId xmlns:p14="http://schemas.microsoft.com/office/powerpoint/2010/main" val="12372245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C75FFE-9DF0-4B19-A445-C6C50456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6648"/>
                </a:solidFill>
                <a:latin typeface="Arial"/>
                <a:ea typeface="Arial"/>
                <a:cs typeface="Arial"/>
              </a:rPr>
              <a:t>METHOD / HALTING AND SHARED DEPTH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154EF-3CFF-4C15-A4EC-AE44DC91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1277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52D"/>
                </a:solidFill>
                <a:latin typeface="Arial"/>
                <a:ea typeface="Arial"/>
                <a:cs typeface="Arial"/>
              </a:rPr>
              <a:t>UT: the complete halting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DF064-E4C6-4AEE-A93C-50026ED4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11277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52D"/>
                </a:solidFill>
                <a:latin typeface="Arial"/>
                <a:ea typeface="Arial"/>
                <a:cs typeface="Arial"/>
              </a:rPr>
              <a:t>1  Read the entering state and predict a gate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A31B3-E488-4D52-A8EA-8C2D2A9D07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824433be4424b"/>
          <a:stretch xmlns:a="http://schemas.openxmlformats.org/drawingml/2006/main"/>
        </p:blipFill>
        <p:spPr>
          <a:xfrm xmlns:a="http://schemas.openxmlformats.org/drawingml/2006/main">
            <a:off x="457200" y="1731185"/>
            <a:ext cx="5143500" cy="45240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A711C-1620-4B02-A0A4-7EF68E85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62125"/>
            <a:ext cx="533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p is a scalar in (0, 1); C is the running total.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CF051-F7DB-450A-9AD2-73C89A8E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11277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52D"/>
                </a:solidFill>
                <a:latin typeface="Arial"/>
                <a:ea typeface="Arial"/>
                <a:cs typeface="Arial"/>
              </a:rPr>
              <a:t>2  Choose the update weight; then update the total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4AFC1-36C9-40AD-966A-0C849EE361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65bf5e0bd4f61"/>
          <a:stretch xmlns:a="http://schemas.openxmlformats.org/drawingml/2006/main"/>
        </p:blipFill>
        <p:spPr>
          <a:xfrm xmlns:a="http://schemas.openxmlformats.org/drawingml/2006/main">
            <a:off x="457200" y="2802251"/>
            <a:ext cx="6762750" cy="824874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91AAD-8B68-4809-8F23-012C078C2E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6a9f00f724d9f"/>
          <a:stretch xmlns:a="http://schemas.openxmlformats.org/drawingml/2006/main"/>
        </p:blipFill>
        <p:spPr>
          <a:xfrm xmlns:a="http://schemas.openxmlformats.org/drawingml/2006/main">
            <a:off x="7648575" y="3018518"/>
            <a:ext cx="4086225" cy="30661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5E578-0265-476F-A9B7-CB03CA09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11277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52D"/>
                </a:solidFill>
                <a:latin typeface="Arial"/>
                <a:ea typeface="Arial"/>
                <a:cs typeface="Arial"/>
              </a:rPr>
              <a:t>3  Compute the block output h; interpolate with the previous combined state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E70D5-522D-42EF-9B8E-25C73ECE66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d001e77504091"/>
          <a:stretch xmlns:a="http://schemas.openxmlformats.org/drawingml/2006/main"/>
        </p:blipFill>
        <p:spPr>
          <a:xfrm xmlns:a="http://schemas.openxmlformats.org/drawingml/2006/main">
            <a:off x="800100" y="4286250"/>
            <a:ext cx="5695950" cy="5429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69A09-9A95-4DBB-9A78-41515ED5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57675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Start with z₀ = 0. After halting: a = 0.</a:t>
            </a:r>
          </a:p>
          <a:p xmlns:a="http://schemas.openxmlformats.org/drawingml/2006/main">
            <a:pPr>
              <a:defRPr sz="165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The final output is z at the halting step.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59C74-8350-4834-88C8-A3BCF1AC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6648"/>
                </a:solidFill>
                <a:latin typeface="Arial"/>
                <a:ea typeface="Arial"/>
                <a:cs typeface="Arial"/>
              </a:rPr>
              <a:t>Stopping depth, final remainder, and ACT cost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7E51C-BDBE-4E3D-96C1-3D98461913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a114a07d64be7"/>
          <a:stretch xmlns:a="http://schemas.openxmlformats.org/drawingml/2006/main"/>
        </p:blipFill>
        <p:spPr>
          <a:xfrm xmlns:a="http://schemas.openxmlformats.org/drawingml/2006/main">
            <a:off x="3062944" y="5591175"/>
            <a:ext cx="6066111" cy="6572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93E77-EB9C-4645-839F-62B792D5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5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5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5E"/>
                </a:solidFill>
                <a:latin typeface="Arial"/>
                <a:ea typeface="Arial"/>
                <a:cs typeface="Arial"/>
              </a:rPr>
              <a:t>UT Appendix C, translated into equations. Threshold-crossing case shown; the maximum-depth cap is a separate safeguard.</a:t>
            </a:r>
          </a:p>
        </p:txBody>
      </p:sp>
    </p:spTree>
    <p:extLst>
      <p:ext uri="{BB962C8B-B14F-4D97-AF65-F5344CB8AC3E}">
        <p14:creationId xmlns:p14="http://schemas.microsoft.com/office/powerpoint/2010/main" val="17970602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BC58F5-27CB-467F-B0EB-77FAD35B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6648"/>
                </a:solidFill>
                <a:latin typeface="Arial"/>
                <a:ea typeface="Arial"/>
                <a:cs typeface="Arial"/>
              </a:rPr>
              <a:t>METHOD / HALTING AND SHARED DEPTH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C3560-C0CB-4D53-9669-FB66F66E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11277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352D"/>
                </a:solidFill>
                <a:latin typeface="Arial"/>
                <a:ea typeface="Arial"/>
                <a:cs typeface="Arial"/>
              </a:rPr>
              <a:t>SUT: stick-breaking weights and the combined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676BA-87F9-4937-8330-E01291D0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11277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52D"/>
                </a:solidFill>
                <a:latin typeface="Arial"/>
                <a:ea typeface="Arial"/>
                <a:cs typeface="Arial"/>
              </a:rPr>
              <a:t>1  Assign part of the remaining mass to stopping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B658A-62D9-461C-8BF0-6DBDD31356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38833e6cf4d55"/>
          <a:stretch xmlns:a="http://schemas.openxmlformats.org/drawingml/2006/main"/>
        </p:blipFill>
        <p:spPr>
          <a:xfrm xmlns:a="http://schemas.openxmlformats.org/drawingml/2006/main">
            <a:off x="2088963" y="1685925"/>
            <a:ext cx="8014074" cy="6667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E1EC6-27B6-445E-9B4A-284ACD324D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ec368b2a84b3f"/>
          <a:stretch xmlns:a="http://schemas.openxmlformats.org/drawingml/2006/main"/>
        </p:blipFill>
        <p:spPr>
          <a:xfrm xmlns:a="http://schemas.openxmlformats.org/drawingml/2006/main">
            <a:off x="3156388" y="2371725"/>
            <a:ext cx="5879224" cy="714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A20FC-2DA7-4B76-8A2E-FA25AAD7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p = conditional gate; b = stopping mass. Halt when cumulative C exceeds the threshold.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4D8C1-1BB2-4B7F-AC83-882C1852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9975"/>
            <a:ext cx="11277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52D"/>
                </a:solidFill>
                <a:latin typeface="Arial"/>
                <a:ea typeface="Arial"/>
                <a:cs typeface="Arial"/>
              </a:rPr>
              <a:t>2  Combine raw block outputs using explicit stopping weights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A3985-3E56-4C1D-97A8-2A4CACE643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750f4c1fa4872"/>
          <a:stretch xmlns:a="http://schemas.openxmlformats.org/drawingml/2006/main"/>
        </p:blipFill>
        <p:spPr>
          <a:xfrm xmlns:a="http://schemas.openxmlformats.org/drawingml/2006/main">
            <a:off x="1899944" y="4000500"/>
            <a:ext cx="4115386" cy="11239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29482-3772-42FC-A1BC-294E7FA0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057650"/>
            <a:ext cx="38385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UT recursively rescales its previous mixture.</a:t>
            </a:r>
          </a:p>
          <a:p xmlns:a="http://schemas.openxmlformats.org/drawingml/2006/main">
            <a:pPr>
              <a:defRPr sz="172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SUT keeps earlier stopping contributions.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E616A-BCD0-4800-84FC-61F33CD0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6648"/>
                </a:solidFill>
                <a:latin typeface="Arial"/>
                <a:ea typeface="Arial"/>
                <a:cs typeface="Arial"/>
              </a:rPr>
              <a:t>3  Use the combined matrix in attention; penalize expected depth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F1CD1-D8CD-4F65-AF6C-1350D6AB2C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cfaedbb6d4b6a"/>
          <a:stretch xmlns:a="http://schemas.openxmlformats.org/drawingml/2006/main"/>
        </p:blipFill>
        <p:spPr>
          <a:xfrm xmlns:a="http://schemas.openxmlformats.org/drawingml/2006/main">
            <a:off x="2003061" y="5619750"/>
            <a:ext cx="1766029" cy="619125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CBCF4-BE29-4D7F-9E58-A1EDE534FD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9114825134dd1"/>
          <a:stretch xmlns:a="http://schemas.openxmlformats.org/drawingml/2006/main"/>
        </p:blipFill>
        <p:spPr>
          <a:xfrm xmlns:a="http://schemas.openxmlformats.org/drawingml/2006/main">
            <a:off x="7115875" y="5619750"/>
            <a:ext cx="3456174" cy="6191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4EA50-6E70-4A01-8E2B-87EA154E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5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5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5E"/>
                </a:solidFill>
                <a:latin typeface="Arial"/>
                <a:ea typeface="Arial"/>
                <a:cs typeface="Arial"/>
              </a:rPr>
              <a:t>SUT Eqs. 2–4: p = α̂; b = α; z = s; I = S. Gate pℓ reads hℓ before the next block update (Algorithm 1).</a:t>
            </a:r>
          </a:p>
        </p:txBody>
      </p:sp>
    </p:spTree>
    <p:extLst>
      <p:ext uri="{BB962C8B-B14F-4D97-AF65-F5344CB8AC3E}">
        <p14:creationId xmlns:p14="http://schemas.microsoft.com/office/powerpoint/2010/main" val="17934580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2026-10-16T02:23:49.9550000Z</dcterms:created>
  <dcterms:modified xsi:type="dcterms:W3CDTF">2026-10-16T02:23:49.9550000Z</dcterms:modified>
</coreProperties>
</file>