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72945efd7412b" /><Relationship Type="http://schemas.openxmlformats.org/officeDocument/2006/relationships/extended-properties" Target="/docProps/app.xml" Id="Rd3c27dabe6ff4aff" /><Relationship Type="http://schemas.openxmlformats.org/officeDocument/2006/relationships/officeDocument" Target="/ppt/presentation.xml" Id="R77b42ebd0cd3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1b788f606e4160"/>
  </p:sldMasterIdLst>
  <p:notesMasterIdLst>
    <p:notesMasterId xmlns:r="http://schemas.openxmlformats.org/officeDocument/2006/relationships" r:id="Rbadba1ef558c471c"/>
  </p:notesMasterIdLst>
  <p:sldIdLst>
    <p:sldId xmlns:r="http://schemas.openxmlformats.org/officeDocument/2006/relationships" id="256" r:id="R5973661cf0e7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97594010e44ee" /><Relationship Type="http://schemas.openxmlformats.org/officeDocument/2006/relationships/slideMaster" Target="/ppt/slideMasters/slideMaster1.xml" Id="R8e1b788f606e4160" /><Relationship Type="http://schemas.openxmlformats.org/officeDocument/2006/relationships/notesMaster" Target="/ppt/notesMasters/notesMaster1.xml" Id="Rbadba1ef558c471c" /><Relationship Type="http://schemas.openxmlformats.org/officeDocument/2006/relationships/presProps" Target="/ppt/presProps.xml" Id="R96a62095195845e4" /><Relationship Type="http://schemas.openxmlformats.org/officeDocument/2006/relationships/tableStyles" Target="/ppt/tableStyles.xml" Id="R5b463d3594064107" /><Relationship Type="http://schemas.openxmlformats.org/officeDocument/2006/relationships/slide" Target="/ppt/slides/slide1.xml" Id="R5973661cf0e7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b4e106cafd42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3d34218ac4fc9" /><Relationship Type="http://schemas.openxmlformats.org/officeDocument/2006/relationships/notesMaster" Target="/ppt/notesMasters/notesMaster1.xml" Id="R442bf14134cd48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immediately after slide 6 of the revised deck. Standalone supplementary slide; the existing deck is unchanged.</a:t>
            </a:r>
          </a:p>
          <a:p xmlns:a="http://schemas.openxmlformats.org/drawingml/2006/main">
            <a:r>
              <a:t>W describes the relative-position embedding range in SUT's five-tuple (E,K,H,D,W). It is not the length of the token sequence or the top-K expert selection parameter. At each query position i, every allowed key position j has a pairwise offset. The relative-position vector selected by that offset contributes a query-dependent dot product to the attention logit, before softmax over keys. The sequence remains intact. Decoder causality and padding masks still apply.</a:t>
            </a:r>
          </a:p>
          <a:p xmlns:a="http://schemas.openxmlformats.org/drawingml/2006/main">
            <a:r>
              <a:t>The equations are a pedagogical one-head notation, not verbatim numbered equations in SUT. The paper states 2W+1 relative embeddings. The example uses the standard inclusive clipping convention [-W,W] to make the concept visible. In the public WMT code inspected on 2026-10-16, max_positions is 64, the lookup has 129 entries, and rel_pos_logits clips to [-63,63] before adding offset 64. Hence its extreme table slots are unused. Do not claim the illustrative W=2 example is that literal released-code configuration or infer all paper task configurations from the WMT implementation.</a:t>
            </a:r>
          </a:p>
          <a:p xmlns:a="http://schemas.openxmlformats.org/drawingml/2006/main">
            <a:r>
              <a:t>The code scales q by head_dim**-0.5 before both the content dot product and the relative-position dot product, consistent with the schematic score formula. rel_pos_logits computes j-i and gathers relative logits; forward adds them to attn_weights before softmax. For a new query position, the offset labels shift, so these are pairwise relations rather than one absolute vector added during sequence preprocessing.</a:t>
            </a:r>
          </a:p>
          <a:p xmlns:a="http://schemas.openxmlformats.org/drawingml/2006/main">
            <a:r>
              <a:t>Positive offsets select a different learned vector; they do not supply a positive scalar bias by themselves. This prevents the misconception that later tokens always receive more probability.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https://aclanthology.org/2023.emnlp-main.12.pdf (Section 3.1)</a:t>
            </a:r>
          </a:p>
          <a:p xmlns:a="http://schemas.openxmlformats.org/drawingml/2006/main">
            <a:r>
              <a:t>https://github.com/shawntan/SUT/blob/main/sut_layer/moa_attention.py (rel_pos_logits and forward)</a:t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score: z_{ij}=\frac{\overbrace{q_i^{\mathsf T}k_j}^{\text{content}}+\overbrace{q_i^{\mathsf T}r_{\delta_{ij}}}^{\text{relative position}}}{\sqrt{D}},\qquad a_{ij}=\operatorname{softmax}_{j}(z_{ij})</a:t>
            </a:r>
          </a:p>
          <a:p xmlns:a="http://schemas.openxmlformats.org/drawingml/2006/main">
            <a:r>
              <a:t>offset: \delta_{ij}=\operatorname{clip}(j-i,-W,W),\qquad r_{-W},\ldots,r_0,\ldots,r_W\quad(2W+1\text{ learned vectors})</a:t>
            </a:r>
          </a:p>
          <a:p xmlns:a="http://schemas.openxmlformats.org/drawingml/2006/main">
            <a:r>
              <a:t>example: W=2,\quad i=3\quad\Longrightarrow\quad 2W+1=5\text{ relative-position vectors}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e6820f0684f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e5bb2a85848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9903df1ed4d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1f99fcb2e49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4a5f14ea9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106b39758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7EFA19-C8A4-473F-B9CD-DF4092CF4C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D271D7-766D-4294-AB00-39801A5936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804894-5A6E-40B2-862E-1CD94DBCA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2F36B7-5CA6-4848-B504-64E106519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D38A04-2E91-44B1-A460-2DF97958E6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587DC3-DDFF-4EC9-BEFB-635DE0A8F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E1BED6-E91D-44DF-AE9A-ACBE510DE7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6523B1-4DED-4801-8FC4-0FE5A1F529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EB673-85E9-4FB4-918A-C7FC30FA8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026B08-F5DF-4F46-B1A8-093443054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eb72dd32d04fe7" /><Relationship Type="http://schemas.openxmlformats.org/officeDocument/2006/relationships/slideLayout" Target="/ppt/slideLayouts/slideLayout1.xml" Id="R49aa9bf7322e4d54" /><Relationship Type="http://schemas.openxmlformats.org/officeDocument/2006/relationships/slideLayout" Target="/ppt/slideLayouts/slideLayout2.xml" Id="R14d9501de8fa455d" /><Relationship Type="http://schemas.openxmlformats.org/officeDocument/2006/relationships/slideLayout" Target="/ppt/slideLayouts/slideLayout3.xml" Id="R082732f1a8c44db3" /><Relationship Type="http://schemas.openxmlformats.org/officeDocument/2006/relationships/slideLayout" Target="/ppt/slideLayouts/slideLayout4.xml" Id="Rae5b50ce1f0f4aa1" /><Relationship Type="http://schemas.openxmlformats.org/officeDocument/2006/relationships/slideLayout" Target="/ppt/slideLayouts/slideLayout5.xml" Id="R307e9159e8d8496c" /><Relationship Type="http://schemas.openxmlformats.org/officeDocument/2006/relationships/slideLayout" Target="/ppt/slideLayouts/slideLayout6.xml" Id="R171244cdbcc2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aa9bf7322e4d54"/>
    <p:sldLayoutId xmlns:r="http://schemas.openxmlformats.org/officeDocument/2006/relationships" id="2147483650" r:id="R14d9501de8fa455d"/>
    <p:sldLayoutId xmlns:r="http://schemas.openxmlformats.org/officeDocument/2006/relationships" id="2147483651" r:id="R082732f1a8c44db3"/>
    <p:sldLayoutId xmlns:r="http://schemas.openxmlformats.org/officeDocument/2006/relationships" id="2147483652" r:id="Rae5b50ce1f0f4aa1"/>
    <p:sldLayoutId xmlns:r="http://schemas.openxmlformats.org/officeDocument/2006/relationships" id="2147483653" r:id="R307e9159e8d8496c"/>
    <p:sldLayoutId xmlns:r="http://schemas.openxmlformats.org/officeDocument/2006/relationships" id="2147483654" r:id="R171244cdbcc2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27bf154f24d14" /><Relationship Type="http://schemas.openxmlformats.org/officeDocument/2006/relationships/image" Target="/ppt/media/image.png" Id="R21871f44e640499a" /><Relationship Type="http://schemas.openxmlformats.org/officeDocument/2006/relationships/image" Target="/ppt/media/image2.png" Id="Ra386284b53664dd4" /><Relationship Type="http://schemas.openxmlformats.org/officeDocument/2006/relationships/image" Target="/ppt/media/image3.png" Id="R71886ada6c2e4770" /><Relationship Type="http://schemas.openxmlformats.org/officeDocument/2006/relationships/notesSlide" Target="/ppt/notesSlides/notesSlide1.xml" Id="R5ccf3d647078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47A7B-3D2B-4E09-AF46-A72CD5C5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RELATIVE POSITION IN MoMHA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6A951-7D5A-4C92-9F0D-786D695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W: relative-position information in attention scores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B27CA-13EB-419B-AF04-358DB5740F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71f44e640499a"/>
          <a:stretch xmlns:a="http://schemas.openxmlformats.org/drawingml/2006/main"/>
        </p:blipFill>
        <p:spPr>
          <a:xfrm xmlns:a="http://schemas.openxmlformats.org/drawingml/2006/main">
            <a:off x="457200" y="1560973"/>
            <a:ext cx="11277600" cy="354679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7A1C0-B69E-4666-A5BF-D005C498E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6284b53664dd4"/>
          <a:stretch xmlns:a="http://schemas.openxmlformats.org/drawingml/2006/main"/>
        </p:blipFill>
        <p:spPr>
          <a:xfrm xmlns:a="http://schemas.openxmlformats.org/drawingml/2006/main">
            <a:off x="3017064" y="2143125"/>
            <a:ext cx="6157872" cy="1162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3AD60-6D35-4646-B54F-23DA936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i: query position    j: key position    D: head dimension    r: learned relative-position vector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7B11-BD6C-42CD-B276-E8C1D3CB6B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86ada6c2e4770"/>
          <a:stretch xmlns:a="http://schemas.openxmlformats.org/drawingml/2006/main"/>
        </p:blipFill>
        <p:spPr>
          <a:xfrm xmlns:a="http://schemas.openxmlformats.org/drawingml/2006/main">
            <a:off x="827246" y="3867150"/>
            <a:ext cx="10537508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D4C11-B046-47A7-A2EE-1C47830C0BA6}"/>
              </a:ext>
            </a:extLst>
          </p:cNvPr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112776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Key position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DE"/>
                      </a:solidFill>
                      <a:prstDash val="solid"/>
                    </a:lnL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T w="9525">
                      <a:solidFill>
                        <a:srgbClr val="D9E3DE"/>
                      </a:solidFill>
                      <a:prstDash val="solid"/>
                    </a:lnT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1835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Offset from query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DE"/>
                      </a:solidFill>
                      <a:prstDash val="solid"/>
                    </a:lnL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Clipped offset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3DE"/>
                      </a:solidFill>
                      <a:prstDash val="solid"/>
                    </a:lnL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F2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52D"/>
                          </a:solidFill>
                          <a:latin typeface="Arial"/>
                          <a:ea typeface="Arial"/>
                          <a:cs typeface="Arial"/>
                        </a:rPr>
                        <a:t>+2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3DE"/>
                      </a:solidFill>
                      <a:prstDash val="solid"/>
                    </a:lnR>
                    <a:lnB w="9525">
                      <a:solidFill>
                        <a:srgbClr val="D9E3DE"/>
                      </a:solidFill>
                      <a:prstDash val="solid"/>
                    </a:lnB>
                    <a:solidFill>
                      <a:srgbClr val="E3F1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73EFA-2A59-458A-B91C-ED14969A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All unmasked tokens remain visible. The relative term is learned and query-dependent.</a:t>
            </a:r>
          </a:p>
          <a:p xmlns:a="http://schemas.openxmlformats.org/drawingml/2006/main">
            <a:pPr>
              <a:defRPr sz="17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A positive offset does not automatically mean a higher attention score.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AAC5D-606C-482B-A9AC-7DD44280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SUT §3.1 and author code. Illustrative clipped-offset convention; batch, head, expert indices and masks omitted.</a:t>
            </a:r>
          </a:p>
        </p:txBody>
      </p:sp>
    </p:spTree>
    <p:extLst>
      <p:ext uri="{BB962C8B-B14F-4D97-AF65-F5344CB8AC3E}">
        <p14:creationId xmlns:p14="http://schemas.microsoft.com/office/powerpoint/2010/main" val="75990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2026-10-16T01:25:02.9490000Z</dcterms:created>
  <dcterms:modified xsi:type="dcterms:W3CDTF">2026-10-16T01:25:02.9490000Z</dcterms:modified>
</coreProperties>
</file>