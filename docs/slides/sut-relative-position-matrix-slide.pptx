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6bda54a1934aeb" /><Relationship Type="http://schemas.openxmlformats.org/officeDocument/2006/relationships/extended-properties" Target="/docProps/app.xml" Id="R665536ee5dfb419f" /><Relationship Type="http://schemas.openxmlformats.org/officeDocument/2006/relationships/officeDocument" Target="/ppt/presentation.xml" Id="R8a55c2f45b79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ae8422cdf4afa"/>
  </p:sldMasterIdLst>
  <p:notesMasterIdLst>
    <p:notesMasterId xmlns:r="http://schemas.openxmlformats.org/officeDocument/2006/relationships" r:id="Rf0457879774b4ca4"/>
  </p:notesMasterIdLst>
  <p:sldIdLst>
    <p:sldId xmlns:r="http://schemas.openxmlformats.org/officeDocument/2006/relationships" id="256" r:id="R8002526857b140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47537838e14781" /><Relationship Type="http://schemas.openxmlformats.org/officeDocument/2006/relationships/slideMaster" Target="/ppt/slideMasters/slideMaster1.xml" Id="R1cbae8422cdf4afa" /><Relationship Type="http://schemas.openxmlformats.org/officeDocument/2006/relationships/notesMaster" Target="/ppt/notesMasters/notesMaster1.xml" Id="Rf0457879774b4ca4" /><Relationship Type="http://schemas.openxmlformats.org/officeDocument/2006/relationships/presProps" Target="/ppt/presProps.xml" Id="R0704e47b670b4399" /><Relationship Type="http://schemas.openxmlformats.org/officeDocument/2006/relationships/tableStyles" Target="/ppt/tableStyles.xml" Id="R7dbc607198cf4c70" /><Relationship Type="http://schemas.openxmlformats.org/officeDocument/2006/relationships/slide" Target="/ppt/slides/slide1.xml" Id="R8002526857b140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12a074839f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0c7c543214ba3" /><Relationship Type="http://schemas.openxmlformats.org/officeDocument/2006/relationships/notesMaster" Target="/ppt/notesMasters/notesMaster1.xml" Id="R10df747eee9a46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immediately after slide 6 of the revised deck. Standalone supplementary slide; the existing deck is unchanged. This revision replaces the distance table with a complete five-by-five matrix. Delta_ij is a scalar matrix entry, not theta, a learned vector, or an attention score. Delta is computed from token positions and the clipping range. Capital Delta denotes the full matrix. Rows enumerate query positions i; columns enumerate key positions j. The boxed entry at row 2, column 5 has raw offset 3, clipped to 2. It selects learned vector r_2, which interacts with query q_2 to produce the relative logit contribution. The vector is learned; the offset matrix is determined by positions. The same r_2 can give different scores for different queries.</a:t>
            </a:r>
          </a:p>
          <a:p xmlns:a="http://schemas.openxmlformats.org/drawingml/2006/main">
            <a:r>
              <a:t>W describes the relative-position embedding range in SUT's five-tuple (E,K,H,D,W). It is not the length of the token sequence or the top-K expert selection parameter. At each query position i, every allowed key position j has a pairwise offset. The relative-position vector selected by that offset contributes a query-dependent dot product to the attention logit, before softmax over keys. The sequence remains intact. Decoder causality and padding masks still apply.</a:t>
            </a:r>
          </a:p>
          <a:p xmlns:a="http://schemas.openxmlformats.org/drawingml/2006/main">
            <a:r>
              <a:t>The equations are a pedagogical one-head notation, not verbatim numbered equations in SUT. The paper states 2W+1 relative embeddings. The example uses the standard inclusive clipping convention [-W,W] to make the concept visible. In the public WMT code inspected on 2026-10-16, max_positions is 64, the lookup has 129 entries, and rel_pos_logits clips to [-63,63] before adding offset 64. Hence its extreme table slots are unused. Do not claim the illustrative W=2 example is that literal released-code configuration or infer all paper task configurations from the WMT implementation.</a:t>
            </a:r>
          </a:p>
          <a:p xmlns:a="http://schemas.openxmlformats.org/drawingml/2006/main">
            <a:r>
              <a:t>The code scales q by head_dim**-0.5 before both the content dot product and the relative-position dot product, consistent with the schematic score formula. rel_pos_logits computes j-i and gathers relative logits; forward adds them to attn_weights before softmax. For a new query position, the offset labels shift, so these are pairwise relations rather than one absolute vector added during sequence preprocessing.</a:t>
            </a:r>
          </a:p>
          <a:p xmlns:a="http://schemas.openxmlformats.org/drawingml/2006/main">
            <a:r>
              <a:t>Positive offsets select a different learned vector; they do not supply a positive scalar bias by themselves. This prevents the misconception that later tokens always receive more probability.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https://aclanthology.org/2023.emnlp-main.12.pdf (Section 3.1)</a:t>
            </a:r>
          </a:p>
          <a:p xmlns:a="http://schemas.openxmlformats.org/drawingml/2006/main">
            <a:r>
              <a:t>https://github.com/shawntan/SUT/blob/main/sut_layer/moa_attention.py (rel_pos_logits and forward)</a:t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matrix: \Delta=[\delta_{ij}]=\begin{bmatrix}0&amp;1&amp;2&amp;2&amp;2\\-1&amp;0&amp;1&amp;2&amp;\boxed{2}\\-2&amp;-1&amp;0&amp;1&amp;2\\-2&amp;-2&amp;-1&amp;0&amp;1\\-2&amp;-2&amp;-2&amp;-1&amp;0\end{bmatrix}</a:t>
            </a:r>
          </a:p>
          <a:p xmlns:a="http://schemas.openxmlformats.org/drawingml/2006/main">
            <a:r>
              <a:t>offset: \delta_{ij}=\operatorname{clip}(j-i,-W,W)</a:t>
            </a:r>
          </a:p>
          <a:p xmlns:a="http://schemas.openxmlformats.org/drawingml/2006/main">
            <a:r>
              <a:t>example: \delta_{2,5}=\operatorname{clip}(5-2,-2,2)=2</a:t>
            </a:r>
          </a:p>
          <a:p xmlns:a="http://schemas.openxmlformats.org/drawingml/2006/main">
            <a:r>
              <a:t>lookup: \delta_{2,5}=2\quad\longrightarrow\quad r_2\quad\longrightarrow\quad q_2^{\mathsf T}r_2</a:t>
            </a:r>
          </a:p>
          <a:p xmlns:a="http://schemas.openxmlformats.org/drawingml/2006/main">
            <a:r>
              <a:t>score: z_{ij}=\frac{q_i^{\mathsf T}k_j+\overbrace{q_i^{\mathsf T}r_{\delta_{ij}}}^{\text{relative-position contribution}}}{\sqrt{D}},\qquad a_{ij}=\operatorname{softmax}_j(z_{ij})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df1b1e04c48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a6ecb4acb45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2463c732f44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135801682402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1d1a12bb04a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3697390bd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0BFD00-4444-4701-BFC2-194827200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46282FA-EF8A-4A60-8BFE-E923A6F76F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0DE73B-A358-46EB-AF2B-CA4D6FB1A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928CE0-3BBF-46E8-88D0-244631C576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73E490A-E9E0-489A-B948-1900F88FB3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2DF9B4-6E9F-49FD-9D42-71757DF3B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4AD935-EF42-4F13-9FF9-7D225C69C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FC91F4-A7BA-4067-904F-1AF8DFB9B10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95754E3-8C3E-42AA-B52B-56E60F6D80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167D3-6FE2-4F54-AA23-0997ABE9D0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b4f1a64564980" /><Relationship Type="http://schemas.openxmlformats.org/officeDocument/2006/relationships/slideLayout" Target="/ppt/slideLayouts/slideLayout1.xml" Id="Rc8a9a4ee85ee4c23" /><Relationship Type="http://schemas.openxmlformats.org/officeDocument/2006/relationships/slideLayout" Target="/ppt/slideLayouts/slideLayout2.xml" Id="Rb136b5f20008458d" /><Relationship Type="http://schemas.openxmlformats.org/officeDocument/2006/relationships/slideLayout" Target="/ppt/slideLayouts/slideLayout3.xml" Id="R9eca1ff4836e4a6d" /><Relationship Type="http://schemas.openxmlformats.org/officeDocument/2006/relationships/slideLayout" Target="/ppt/slideLayouts/slideLayout4.xml" Id="Rc1665f486dbb4f57" /><Relationship Type="http://schemas.openxmlformats.org/officeDocument/2006/relationships/slideLayout" Target="/ppt/slideLayouts/slideLayout5.xml" Id="R0cbccd20a50c4f9e" /><Relationship Type="http://schemas.openxmlformats.org/officeDocument/2006/relationships/slideLayout" Target="/ppt/slideLayouts/slideLayout6.xml" Id="Rb900910e2be947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a9a4ee85ee4c23"/>
    <p:sldLayoutId xmlns:r="http://schemas.openxmlformats.org/officeDocument/2006/relationships" id="2147483650" r:id="Rb136b5f20008458d"/>
    <p:sldLayoutId xmlns:r="http://schemas.openxmlformats.org/officeDocument/2006/relationships" id="2147483651" r:id="R9eca1ff4836e4a6d"/>
    <p:sldLayoutId xmlns:r="http://schemas.openxmlformats.org/officeDocument/2006/relationships" id="2147483652" r:id="Rc1665f486dbb4f57"/>
    <p:sldLayoutId xmlns:r="http://schemas.openxmlformats.org/officeDocument/2006/relationships" id="2147483653" r:id="R0cbccd20a50c4f9e"/>
    <p:sldLayoutId xmlns:r="http://schemas.openxmlformats.org/officeDocument/2006/relationships" id="2147483654" r:id="Rb900910e2be947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271457e594641" /><Relationship Type="http://schemas.openxmlformats.org/officeDocument/2006/relationships/image" Target="/ppt/media/image.png" Id="Rba0d80982d4f4007" /><Relationship Type="http://schemas.openxmlformats.org/officeDocument/2006/relationships/image" Target="/ppt/media/image2.png" Id="Rf8c51e0b25944506" /><Relationship Type="http://schemas.openxmlformats.org/officeDocument/2006/relationships/image" Target="/ppt/media/image3.png" Id="R525e24d57ead42ba" /><Relationship Type="http://schemas.openxmlformats.org/officeDocument/2006/relationships/image" Target="/ppt/media/image4.png" Id="R094571b760eb486d" /><Relationship Type="http://schemas.openxmlformats.org/officeDocument/2006/relationships/image" Target="/ppt/media/image5.png" Id="Rcec94a2632d14f09" /><Relationship Type="http://schemas.openxmlformats.org/officeDocument/2006/relationships/notesSlide" Target="/ppt/notesSlides/notesSlide1.xml" Id="Rdf7bba7b7996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BD6D1-09E7-4F0A-B62D-849A53A4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RELATIVE POSITION IN MoMHA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5DFE3-752A-444F-B998-A17CD89A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W and the relative-position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6F48E-94C5-4A39-B391-025A3301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Five tokens, W =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D4142-4CF4-44A5-92FC-193A1EAF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Rows: query position i     Columns: key position j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4EF76-3F8D-4A1C-9C58-C772F73550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d80982d4f4007"/>
          <a:stretch xmlns:a="http://schemas.openxmlformats.org/drawingml/2006/main"/>
        </p:blipFill>
        <p:spPr>
          <a:xfrm xmlns:a="http://schemas.openxmlformats.org/drawingml/2006/main">
            <a:off x="457200" y="2562195"/>
            <a:ext cx="5715000" cy="2343211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97D4C-E158-4812-A277-38D6B4C5A5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51e0b25944506"/>
          <a:stretch xmlns:a="http://schemas.openxmlformats.org/drawingml/2006/main"/>
        </p:blipFill>
        <p:spPr>
          <a:xfrm xmlns:a="http://schemas.openxmlformats.org/drawingml/2006/main">
            <a:off x="6800850" y="1478161"/>
            <a:ext cx="4933950" cy="49172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B8AB5-979A-43D4-B873-67A6D73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4933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δ (delta): one integer distance label.</a:t>
            </a:r>
          </a:p>
          <a:p xmlns:a="http://schemas.openxmlformats.org/drawingml/2006/main">
            <a:pPr>
              <a:defRPr sz="18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δᵢⱼ is the entry in row i, column j.</a:t>
            </a:r>
          </a:p>
          <a:p xmlns:a="http://schemas.openxmlformats.org/drawingml/2006/main">
            <a:pPr>
              <a:defRPr sz="18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Δ (capital delta) is the whole matrix.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92C2F-D320-4EF1-A314-AC5F222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33775"/>
            <a:ext cx="493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Boxed entry: query 2, key 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47D79F-8A0E-4914-BA0E-87ED093BA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e24d57ead42ba"/>
          <a:stretch xmlns:a="http://schemas.openxmlformats.org/drawingml/2006/main"/>
        </p:blipFill>
        <p:spPr>
          <a:xfrm xmlns:a="http://schemas.openxmlformats.org/drawingml/2006/main">
            <a:off x="6837739" y="4067175"/>
            <a:ext cx="4860172" cy="428625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B7ABB-C48A-486D-99A3-4DED23E3B4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571b760eb486d"/>
          <a:stretch xmlns:a="http://schemas.openxmlformats.org/drawingml/2006/main"/>
        </p:blipFill>
        <p:spPr>
          <a:xfrm xmlns:a="http://schemas.openxmlformats.org/drawingml/2006/main">
            <a:off x="6800850" y="4722855"/>
            <a:ext cx="4933950" cy="40314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E67CC-D9F6-44C4-ADEA-1B752898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48275"/>
            <a:ext cx="493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Distance label selects a learned vector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5A0A3-899F-44B8-AB98-EE92655C23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94a2632d14f09"/>
          <a:stretch xmlns:a="http://schemas.openxmlformats.org/drawingml/2006/main"/>
        </p:blipFill>
        <p:spPr>
          <a:xfrm xmlns:a="http://schemas.openxmlformats.org/drawingml/2006/main">
            <a:off x="558759" y="5476875"/>
            <a:ext cx="5607131" cy="904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8D95C0-3E1C-4FCD-A646-CE5544DD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743575"/>
            <a:ext cx="493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The matrix contains offsets, not attention scores.</a:t>
            </a:r>
          </a:p>
          <a:p xmlns:a="http://schemas.openxmlformats.org/drawingml/2006/main">
            <a:pPr>
              <a:defRPr sz="1650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All unmasked tokens remain available to attention.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9CEA84-6C8A-4644-864D-6E81EE66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SUT §3.1 and author code. Illustrative W = 2 clipping; batch, head, expert indices and masks omitted.</a:t>
            </a:r>
          </a:p>
        </p:txBody>
      </p:sp>
    </p:spTree>
    <p:extLst>
      <p:ext uri="{BB962C8B-B14F-4D97-AF65-F5344CB8AC3E}">
        <p14:creationId xmlns:p14="http://schemas.microsoft.com/office/powerpoint/2010/main" val="1455317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2026-10-16T01:30:26.1230000Z</dcterms:created>
  <dcterms:modified xsi:type="dcterms:W3CDTF">2026-10-16T01:30:26.1230000Z</dcterms:modified>
</coreProperties>
</file>