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116a30be0fb4acb" /><Relationship Type="http://schemas.openxmlformats.org/officeDocument/2006/relationships/extended-properties" Target="/docProps/app.xml" Id="R71ef03c750b34982" /><Relationship Type="http://schemas.openxmlformats.org/officeDocument/2006/relationships/officeDocument" Target="/ppt/presentation.xml" Id="R45ba1d3133304e83" /></Relationships>
</file>

<file path=ppt/presentation.xml><?xml version="1.0" encoding="utf-8"?>
<p:presentation xmlns:p="http://schemas.openxmlformats.org/presentationml/2006/main">
  <p:sldMasterIdLst>
    <p:sldMasterId xmlns:r="http://schemas.openxmlformats.org/officeDocument/2006/relationships" id="2147483648" r:id="Re4f6e5ee455d44d1"/>
  </p:sldMasterIdLst>
  <p:notesMasterIdLst>
    <p:notesMasterId xmlns:r="http://schemas.openxmlformats.org/officeDocument/2006/relationships" r:id="R64685922c0e74f73"/>
  </p:notesMasterIdLst>
  <p:sldIdLst>
    <p:sldId xmlns:r="http://schemas.openxmlformats.org/officeDocument/2006/relationships" id="256" r:id="R7597f56cf52b4c5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57bea7d87074b46" /><Relationship Type="http://schemas.openxmlformats.org/officeDocument/2006/relationships/slideMaster" Target="/ppt/slideMasters/slideMaster1.xml" Id="Re4f6e5ee455d44d1" /><Relationship Type="http://schemas.openxmlformats.org/officeDocument/2006/relationships/notesMaster" Target="/ppt/notesMasters/notesMaster1.xml" Id="R64685922c0e74f73" /><Relationship Type="http://schemas.openxmlformats.org/officeDocument/2006/relationships/presProps" Target="/ppt/presProps.xml" Id="Rafaff5566f354554" /><Relationship Type="http://schemas.openxmlformats.org/officeDocument/2006/relationships/tableStyles" Target="/ppt/tableStyles.xml" Id="Rb90d36e9f3134457" /><Relationship Type="http://schemas.openxmlformats.org/officeDocument/2006/relationships/slide" Target="/ppt/slides/slide1.xml" Id="R7597f56cf52b4c5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4d41051d7148e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cc2257c9a344f2" /><Relationship Type="http://schemas.openxmlformats.org/officeDocument/2006/relationships/notesMaster" Target="/ppt/notesMasters/notesMaster1.xml" Id="R9e3772ed306241c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comparison slide for the planned SUT presentation. MHA means multi-head attention, including routed variants; it does not imply a full MHA block inside every MoA expert. MoA routes single heads, SUT MoMHA has H heads per expert. FFN MoE means a separately routed FFN expert pool. Router lists the selected unit, blank means no expert/head router (UT still has a halting gate). Recurrence means reuse of parameters across depth, not recursive state interpolation. Typical FFN-MoE shown uses separate layer pools. UT halting is optional. MoM reuses a module pool rather than one fixed block, and SKIP is optional; skipping does not imply permanent halting. MoM attention assembles projection parameters. MoH shared heads are always active, not necessarily shared KV projections. MoH and MoM are later 2024 comparisons, not predecessors of SUT.</a:t>
            </a:r>
          </a:p>
          <a:p xmlns:a="http://schemas.openxmlformats.org/drawingml/2006/main">
            <a:r>
              <a:t>Sources:</a:t>
            </a:r>
          </a:p>
          <a:p xmlns:a="http://schemas.openxmlformats.org/drawingml/2006/main">
            <a:r>
              <a:t>Transformer: https://arxiv.org/html/1706.03762</a:t>
            </a:r>
          </a:p>
          <a:p xmlns:a="http://schemas.openxmlformats.org/drawingml/2006/main">
            <a:r>
              <a:t>Switch: https://arxiv.org/html/2101.03961</a:t>
            </a:r>
          </a:p>
          <a:p xmlns:a="http://schemas.openxmlformats.org/drawingml/2006/main">
            <a:r>
              <a:t>UT: https://arxiv.org/html/1807.03819v3</a:t>
            </a:r>
          </a:p>
          <a:p xmlns:a="http://schemas.openxmlformats.org/drawingml/2006/main">
            <a:r>
              <a:t>MoA Sections 4-5: https://arxiv.org/html/2210.05144</a:t>
            </a:r>
          </a:p>
          <a:p xmlns:a="http://schemas.openxmlformats.org/drawingml/2006/main">
            <a:r>
              <a:t>MoH Section 3.2: https://arxiv.org/html/2410.11842</a:t>
            </a:r>
          </a:p>
          <a:p xmlns:a="http://schemas.openxmlformats.org/drawingml/2006/main">
            <a:r>
              <a:t>SUT Sections 3.1-3.2: https://aclanthology.org/2023.emnlp-main.12.pdf</a:t>
            </a:r>
          </a:p>
          <a:p xmlns:a="http://schemas.openxmlformats.org/drawingml/2006/main">
            <a:r>
              <a:t>MoM Sections 3.1-3.3: https://arxiv.org/html/2407.06677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40c3a382214a4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b9649d617c3436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2299b7849d8407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5fe69c4545a4d2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60a158827f84d0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72437f4d8a8404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69A08B-63F3-4B60-A062-45FA54EC47B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E4E954-4597-45DE-938F-B1132CEE85A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EA3CA36-4D19-4818-A8B9-484F335E0D2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CE5F12-4D63-44D3-9742-1FD2D727F07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4338EB7-2492-472F-A1A9-06DC25B2029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428AD31-E119-476D-8CD4-76B2F21135D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5F212BA-75EC-4452-B763-D2698BD8076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7ACD26E-D4DC-4177-BDAB-9D5A70A6AEB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16ECF47-189B-41A6-8011-B6D81C02B2D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38CBBE4-66B0-40AD-8FED-2A5FE67659C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737e25f7b9413c" /><Relationship Type="http://schemas.openxmlformats.org/officeDocument/2006/relationships/slideLayout" Target="/ppt/slideLayouts/slideLayout1.xml" Id="R1a56957cd7784406" /><Relationship Type="http://schemas.openxmlformats.org/officeDocument/2006/relationships/slideLayout" Target="/ppt/slideLayouts/slideLayout2.xml" Id="R0705310ae28f4c4c" /><Relationship Type="http://schemas.openxmlformats.org/officeDocument/2006/relationships/slideLayout" Target="/ppt/slideLayouts/slideLayout3.xml" Id="R33f50ee89f144fe3" /><Relationship Type="http://schemas.openxmlformats.org/officeDocument/2006/relationships/slideLayout" Target="/ppt/slideLayouts/slideLayout4.xml" Id="R4f92a82635ae4f9d" /><Relationship Type="http://schemas.openxmlformats.org/officeDocument/2006/relationships/slideLayout" Target="/ppt/slideLayouts/slideLayout5.xml" Id="Re65326a6d0a947bc" /><Relationship Type="http://schemas.openxmlformats.org/officeDocument/2006/relationships/slideLayout" Target="/ppt/slideLayouts/slideLayout6.xml" Id="Re81cbb0ba63c4d0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a56957cd7784406"/>
    <p:sldLayoutId xmlns:r="http://schemas.openxmlformats.org/officeDocument/2006/relationships" id="2147483650" r:id="R0705310ae28f4c4c"/>
    <p:sldLayoutId xmlns:r="http://schemas.openxmlformats.org/officeDocument/2006/relationships" id="2147483651" r:id="R33f50ee89f144fe3"/>
    <p:sldLayoutId xmlns:r="http://schemas.openxmlformats.org/officeDocument/2006/relationships" id="2147483652" r:id="R4f92a82635ae4f9d"/>
    <p:sldLayoutId xmlns:r="http://schemas.openxmlformats.org/officeDocument/2006/relationships" id="2147483653" r:id="Re65326a6d0a947bc"/>
    <p:sldLayoutId xmlns:r="http://schemas.openxmlformats.org/officeDocument/2006/relationships" id="2147483654" r:id="Re81cbb0ba63c4d0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47eaf54cca9463b" /><Relationship Type="http://schemas.openxmlformats.org/officeDocument/2006/relationships/notesSlide" Target="/ppt/notesSlides/notesSlide1.xml" Id="R6fc1f9918bef48a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2A3EA55-5E74-46B3-BC50-C81D1992E13B}"/>
              </a:ext>
            </a:extLst>
          </p:cNvPr>
          <p:cNvSpPr>
            <a:spLocks xmlns:a="http://schemas.openxmlformats.org/drawingml/2006/main" noGrp="1"/>
          </p:cNvSpPr>
          <p:nvPr/>
        </p:nvSpPr>
        <p:spPr>
          <a:xfrm xmlns:a="http://schemas.openxmlformats.org/drawingml/2006/main">
            <a:off x="457200" y="285750"/>
            <a:ext cx="11277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52D"/>
                </a:solidFill>
                <a:latin typeface="Arial"/>
                <a:ea typeface="Arial"/>
                <a:cs typeface="Arial"/>
              </a:defRPr>
            </a:defPPr>
          </a:lstStyle>
          <a:p xmlns:a="http://schemas.openxmlformats.org/drawingml/2006/main">
            <a:pPr>
              <a:defRPr sz="3300" b="1">
                <a:solidFill>
                  <a:srgbClr val="18352D"/>
                </a:solidFill>
                <a:latin typeface="Arial"/>
                <a:ea typeface="Arial"/>
                <a:cs typeface="Arial"/>
              </a:defRPr>
            </a:pPr>
            <a:r>
              <a:rPr sz="3300" b="1">
                <a:solidFill>
                  <a:srgbClr val="18352D"/>
                </a:solidFill>
                <a:latin typeface="Arial"/>
                <a:ea typeface="Arial"/>
                <a:cs typeface="Arial"/>
              </a:rPr>
              <a:t>Structural comparison</a:t>
            </a:r>
          </a:p>
        </p:txBody>
      </p:sp>
      <p:sp>
        <p:nvSpPr>
          <p:cNvPr id="2" name="">
            <a:extLst xmlns:a="http://schemas.openxmlformats.org/drawingml/2006/main">
              <a:ext uri="{FF2B5EF4-FFF2-40B4-BE49-F238E27FC236}">
                <a16:creationId xmlns:a16="http://schemas.microsoft.com/office/drawing/2014/main" id="{68DDDB35-6D8B-489D-877B-ABD379C29682}"/>
              </a:ext>
            </a:extLst>
          </p:cNvPr>
          <p:cNvSpPr>
            <a:spLocks xmlns:a="http://schemas.openxmlformats.org/drawingml/2006/main" noGrp="1"/>
          </p:cNvSpPr>
          <p:nvPr/>
        </p:nvSpPr>
        <p:spPr>
          <a:xfrm xmlns:a="http://schemas.openxmlformats.org/drawingml/2006/main">
            <a:off x="457200" y="942975"/>
            <a:ext cx="11277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3655E"/>
                </a:solidFill>
                <a:latin typeface="Arial"/>
                <a:ea typeface="Arial"/>
                <a:cs typeface="Arial"/>
              </a:defRPr>
            </a:defPPr>
          </a:lstStyle>
          <a:p xmlns:a="http://schemas.openxmlformats.org/drawingml/2006/main">
            <a:pPr>
              <a:defRPr sz="1650" b="0">
                <a:solidFill>
                  <a:srgbClr val="53655E"/>
                </a:solidFill>
                <a:latin typeface="Arial"/>
                <a:ea typeface="Arial"/>
                <a:cs typeface="Arial"/>
              </a:defRPr>
            </a:pPr>
            <a:r>
              <a:rPr sz="1650" b="0">
                <a:solidFill>
                  <a:srgbClr val="53655E"/>
                </a:solidFill>
                <a:latin typeface="Arial"/>
                <a:ea typeface="Arial"/>
                <a:cs typeface="Arial"/>
              </a:rPr>
              <a:t>Green: Yes     Light green: qualified Yes*     White: No or no router</a:t>
            </a:r>
          </a:p>
        </p:txBody>
      </p:sp>
      <p:graphicFrame>
        <p:nvGraphicFramePr>
          <p:cNvPr id="3" name="">
            <a:extLst xmlns:a="http://schemas.openxmlformats.org/drawingml/2006/main">
              <a:ext uri="{FF2B5EF4-FFF2-40B4-BE49-F238E27FC236}">
                <a16:creationId xmlns:a16="http://schemas.microsoft.com/office/drawing/2014/main" id="{6524F865-BFB1-491B-ABBA-AA48FBDAA2AC}"/>
              </a:ext>
            </a:extLst>
          </p:cNvPr>
          <p:cNvGraphicFramePr/>
          <p:nvPr/>
        </p:nvGraphicFramePr>
        <p:xfrm>
          <a:off xmlns:a="http://schemas.openxmlformats.org/drawingml/2006/main" x="457200" y="1428750"/>
          <a:ext xmlns:a="http://schemas.openxmlformats.org/drawingml/2006/main" cx="11277600" cy="4114800"/>
        </p:xfrm>
        <a:graphic xmlns:a="http://schemas.openxmlformats.org/drawingml/2006/main">
          <a:graphicData uri="http://schemas.openxmlformats.org/drawingml/2006/table">
            <a:tbl>
              <a:tblPr/>
              <a:tblGrid>
                <a:gridCol w="2381250"/>
                <a:gridCol w="857250"/>
                <a:gridCol w="1190625"/>
                <a:gridCol w="2857500"/>
                <a:gridCol w="1619250"/>
                <a:gridCol w="2371725"/>
              </a:tblGrid>
              <a:tr h="514350">
                <a:tc>
                  <a:txBody>
                    <a:bodyPr/>
                    <a:lstStyle/>
                    <a:p>
                      <a:pPr algn="l"/>
                      <a:r>
                        <a:rPr sz="1725" b="1">
                          <a:solidFill>
                            <a:srgbClr val="FFFFFF"/>
                          </a:solidFill>
                          <a:latin typeface="Arial"/>
                          <a:ea typeface="Arial"/>
                          <a:cs typeface="Arial"/>
                        </a:rPr>
                        <a:t>Architecture</a:t>
                      </a:r>
                    </a:p>
                  </a:txBody>
                  <a:tcPr marL="91440" marR="91440" marT="45720" marB="45720">
                    <a:lnL w="9525">
                      <a:solidFill>
                        <a:srgbClr val="D9E3DE"/>
                      </a:solidFill>
                      <a:prstDash val="solid"/>
                    </a:lnL>
                    <a:lnR w="9525">
                      <a:solidFill>
                        <a:srgbClr val="D9E3DE"/>
                      </a:solidFill>
                      <a:prstDash val="solid"/>
                    </a:lnR>
                    <a:lnT w="9525">
                      <a:solidFill>
                        <a:srgbClr val="D9E3DE"/>
                      </a:solidFill>
                      <a:prstDash val="solid"/>
                    </a:lnT>
                    <a:lnB w="9525">
                      <a:solidFill>
                        <a:srgbClr val="D9E3DE"/>
                      </a:solidFill>
                      <a:prstDash val="solid"/>
                    </a:lnB>
                    <a:solidFill>
                      <a:srgbClr val="183F33"/>
                    </a:solidFill>
                  </a:tcPr>
                </a:tc>
                <a:tc>
                  <a:txBody>
                    <a:bodyPr/>
                    <a:lstStyle/>
                    <a:p>
                      <a:pPr algn="ctr"/>
                      <a:r>
                        <a:rPr sz="1725" b="1">
                          <a:solidFill>
                            <a:srgbClr val="FFFFFF"/>
                          </a:solidFill>
                          <a:latin typeface="Arial"/>
                          <a:ea typeface="Arial"/>
                          <a:cs typeface="Arial"/>
                        </a:rPr>
                        <a:t>MHA</a:t>
                      </a:r>
                    </a:p>
                  </a:txBody>
                  <a:tcPr marL="91440" marR="91440" marT="45720" marB="45720">
                    <a:lnR w="9525">
                      <a:solidFill>
                        <a:srgbClr val="D9E3DE"/>
                      </a:solidFill>
                      <a:prstDash val="solid"/>
                    </a:lnR>
                    <a:lnT w="9525">
                      <a:solidFill>
                        <a:srgbClr val="D9E3DE"/>
                      </a:solidFill>
                      <a:prstDash val="solid"/>
                    </a:lnT>
                    <a:lnB w="9525">
                      <a:solidFill>
                        <a:srgbClr val="D9E3DE"/>
                      </a:solidFill>
                      <a:prstDash val="solid"/>
                    </a:lnB>
                    <a:solidFill>
                      <a:srgbClr val="183F33"/>
                    </a:solidFill>
                  </a:tcPr>
                </a:tc>
                <a:tc>
                  <a:txBody>
                    <a:bodyPr/>
                    <a:lstStyle/>
                    <a:p>
                      <a:pPr algn="ctr"/>
                      <a:r>
                        <a:rPr sz="1725" b="1">
                          <a:solidFill>
                            <a:srgbClr val="FFFFFF"/>
                          </a:solidFill>
                          <a:latin typeface="Arial"/>
                          <a:ea typeface="Arial"/>
                          <a:cs typeface="Arial"/>
                        </a:rPr>
                        <a:t>FFN MoE</a:t>
                      </a:r>
                    </a:p>
                  </a:txBody>
                  <a:tcPr marL="91440" marR="91440" marT="45720" marB="45720">
                    <a:lnR w="9525">
                      <a:solidFill>
                        <a:srgbClr val="D9E3DE"/>
                      </a:solidFill>
                      <a:prstDash val="solid"/>
                    </a:lnR>
                    <a:lnT w="9525">
                      <a:solidFill>
                        <a:srgbClr val="D9E3DE"/>
                      </a:solidFill>
                      <a:prstDash val="solid"/>
                    </a:lnT>
                    <a:lnB w="9525">
                      <a:solidFill>
                        <a:srgbClr val="D9E3DE"/>
                      </a:solidFill>
                      <a:prstDash val="solid"/>
                    </a:lnB>
                    <a:solidFill>
                      <a:srgbClr val="183F33"/>
                    </a:solidFill>
                  </a:tcPr>
                </a:tc>
                <a:tc>
                  <a:txBody>
                    <a:bodyPr/>
                    <a:lstStyle/>
                    <a:p>
                      <a:pPr algn="l"/>
                      <a:r>
                        <a:rPr sz="1725" b="1">
                          <a:solidFill>
                            <a:srgbClr val="FFFFFF"/>
                          </a:solidFill>
                          <a:latin typeface="Arial"/>
                          <a:ea typeface="Arial"/>
                          <a:cs typeface="Arial"/>
                        </a:rPr>
                        <a:t>Router</a:t>
                      </a:r>
                    </a:p>
                  </a:txBody>
                  <a:tcPr marL="91440" marR="91440" marT="45720" marB="45720">
                    <a:lnR w="9525">
                      <a:solidFill>
                        <a:srgbClr val="D9E3DE"/>
                      </a:solidFill>
                      <a:prstDash val="solid"/>
                    </a:lnR>
                    <a:lnT w="9525">
                      <a:solidFill>
                        <a:srgbClr val="D9E3DE"/>
                      </a:solidFill>
                      <a:prstDash val="solid"/>
                    </a:lnT>
                    <a:lnB w="9525">
                      <a:solidFill>
                        <a:srgbClr val="D9E3DE"/>
                      </a:solidFill>
                      <a:prstDash val="solid"/>
                    </a:lnB>
                    <a:solidFill>
                      <a:srgbClr val="183F33"/>
                    </a:solidFill>
                  </a:tcPr>
                </a:tc>
                <a:tc>
                  <a:txBody>
                    <a:bodyPr/>
                    <a:lstStyle/>
                    <a:p>
                      <a:pPr algn="ctr"/>
                      <a:r>
                        <a:rPr sz="1725" b="1">
                          <a:solidFill>
                            <a:srgbClr val="FFFFFF"/>
                          </a:solidFill>
                          <a:latin typeface="Arial"/>
                          <a:ea typeface="Arial"/>
                          <a:cs typeface="Arial"/>
                        </a:rPr>
                        <a:t>Recurrence</a:t>
                      </a:r>
                    </a:p>
                  </a:txBody>
                  <a:tcPr marL="91440" marR="91440" marT="45720" marB="45720">
                    <a:lnR w="9525">
                      <a:solidFill>
                        <a:srgbClr val="D9E3DE"/>
                      </a:solidFill>
                      <a:prstDash val="solid"/>
                    </a:lnR>
                    <a:lnT w="9525">
                      <a:solidFill>
                        <a:srgbClr val="D9E3DE"/>
                      </a:solidFill>
                      <a:prstDash val="solid"/>
                    </a:lnT>
                    <a:lnB w="9525">
                      <a:solidFill>
                        <a:srgbClr val="D9E3DE"/>
                      </a:solidFill>
                      <a:prstDash val="solid"/>
                    </a:lnB>
                    <a:solidFill>
                      <a:srgbClr val="183F33"/>
                    </a:solidFill>
                  </a:tcPr>
                </a:tc>
                <a:tc>
                  <a:txBody>
                    <a:bodyPr/>
                    <a:lstStyle/>
                    <a:p>
                      <a:pPr algn="ctr"/>
                      <a:r>
                        <a:rPr sz="1725" b="1">
                          <a:solidFill>
                            <a:srgbClr val="FFFFFF"/>
                          </a:solidFill>
                          <a:latin typeface="Arial"/>
                          <a:ea typeface="Arial"/>
                          <a:cs typeface="Arial"/>
                        </a:rPr>
                        <a:t>Halting / skipping</a:t>
                      </a:r>
                    </a:p>
                  </a:txBody>
                  <a:tcPr marL="91440" marR="91440" marT="45720" marB="45720">
                    <a:lnR w="9525">
                      <a:solidFill>
                        <a:srgbClr val="D9E3DE"/>
                      </a:solidFill>
                      <a:prstDash val="solid"/>
                    </a:lnR>
                    <a:lnT w="9525">
                      <a:solidFill>
                        <a:srgbClr val="D9E3DE"/>
                      </a:solidFill>
                      <a:prstDash val="solid"/>
                    </a:lnT>
                    <a:lnB w="9525">
                      <a:solidFill>
                        <a:srgbClr val="D9E3DE"/>
                      </a:solidFill>
                      <a:prstDash val="solid"/>
                    </a:lnB>
                    <a:solidFill>
                      <a:srgbClr val="183F33"/>
                    </a:solidFill>
                  </a:tcPr>
                </a:tc>
              </a:tr>
              <a:tr h="514350">
                <a:tc>
                  <a:txBody>
                    <a:bodyPr/>
                    <a:lstStyle/>
                    <a:p>
                      <a:pPr algn="l"/>
                      <a:r>
                        <a:rPr sz="1725" b="1">
                          <a:solidFill>
                            <a:srgbClr val="18352D"/>
                          </a:solidFill>
                          <a:latin typeface="Arial"/>
                          <a:ea typeface="Arial"/>
                          <a:cs typeface="Arial"/>
                        </a:rPr>
                        <a:t>Vanilla Transformer</a:t>
                      </a:r>
                    </a:p>
                  </a:txBody>
                  <a:tcPr marL="91440" marR="91440" marT="45720" marB="45720">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a:lstStyle/>
                    <a:p>
                      <a:pPr algn="ctr"/>
                      <a:r>
                        <a:rPr sz="1725" b="0">
                          <a:solidFill>
                            <a:srgbClr val="18352D"/>
                          </a:solidFill>
                          <a:latin typeface="Arial"/>
                          <a:ea typeface="Arial"/>
                          <a:cs typeface="Arial"/>
                        </a:rPr>
                        <a:t>Yes</a:t>
                      </a:r>
                    </a:p>
                  </a:txBody>
                  <a:tcPr marL="91440" marR="91440" marT="45720" marB="45720">
                    <a:lnR w="9525">
                      <a:solidFill>
                        <a:srgbClr val="D9E3DE"/>
                      </a:solidFill>
                      <a:prstDash val="solid"/>
                    </a:lnR>
                    <a:lnB w="9525">
                      <a:solidFill>
                        <a:srgbClr val="D9E3DE"/>
                      </a:solidFill>
                      <a:prstDash val="solid"/>
                    </a:lnB>
                    <a:solidFill>
                      <a:srgbClr val="A9D8B5"/>
                    </a:solidFill>
                  </a:tcPr>
                </a:tc>
                <a:tc>
                  <a:txBody>
                    <a:bodyPr/>
                    <a:lstStyle/>
                    <a:p>
                      <a:pPr algn="ctr"/>
                      <a:r>
                        <a:rPr sz="1725" b="0">
                          <a:solidFill>
                            <a:srgbClr val="18352D"/>
                          </a:solidFill>
                          <a:latin typeface="Arial"/>
                          <a:ea typeface="Arial"/>
                          <a:cs typeface="Arial"/>
                        </a:rPr>
                        <a:t>No</a:t>
                      </a:r>
                    </a:p>
                  </a:txBody>
                  <a:tcPr marL="91440" marR="91440" marT="45720" marB="45720">
                    <a:lnR w="9525">
                      <a:solidFill>
                        <a:srgbClr val="D9E3DE"/>
                      </a:solidFill>
                      <a:prstDash val="solid"/>
                    </a:lnR>
                    <a:lnB w="9525">
                      <a:solidFill>
                        <a:srgbClr val="D9E3DE"/>
                      </a:solidFill>
                      <a:prstDash val="solid"/>
                    </a:lnB>
                    <a:solidFill>
                      <a:srgbClr val="FFFFFF"/>
                    </a:solidFill>
                  </a:tcPr>
                </a:tc>
                <a:tc>
                  <a:txBody>
                    <a:bodyPr/>
                    <a:lstStyle/>
                    <a:p>
                      <a:r>
                        <a:rPr sz="1725" b="0">
                          <a:solidFill>
                            <a:srgbClr val="18352D"/>
                          </a:solidFill>
                          <a:latin typeface="Arial"/>
                          <a:ea typeface="Arial"/>
                          <a:cs typeface="Arial"/>
                        </a:rPr>
                        <a:t/>
                      </a:r>
                    </a:p>
                  </a:txBody>
                  <a:tcPr marL="91440" marR="91440" marT="45720" marB="45720">
                    <a:lnR w="9525">
                      <a:solidFill>
                        <a:srgbClr val="D9E3DE"/>
                      </a:solidFill>
                      <a:prstDash val="solid"/>
                    </a:lnR>
                    <a:lnB w="9525">
                      <a:solidFill>
                        <a:srgbClr val="D9E3DE"/>
                      </a:solidFill>
                      <a:prstDash val="solid"/>
                    </a:lnB>
                    <a:solidFill>
                      <a:srgbClr val="FFFFFF"/>
                    </a:solidFill>
                  </a:tcPr>
                </a:tc>
                <a:tc>
                  <a:txBody>
                    <a:bodyPr/>
                    <a:lstStyle/>
                    <a:p>
                      <a:pPr algn="ctr"/>
                      <a:r>
                        <a:rPr sz="1725" b="0">
                          <a:solidFill>
                            <a:srgbClr val="18352D"/>
                          </a:solidFill>
                          <a:latin typeface="Arial"/>
                          <a:ea typeface="Arial"/>
                          <a:cs typeface="Arial"/>
                        </a:rPr>
                        <a:t>No</a:t>
                      </a:r>
                    </a:p>
                  </a:txBody>
                  <a:tcPr marL="91440" marR="91440" marT="45720" marB="45720">
                    <a:lnR w="9525">
                      <a:solidFill>
                        <a:srgbClr val="D9E3DE"/>
                      </a:solidFill>
                      <a:prstDash val="solid"/>
                    </a:lnR>
                    <a:lnB w="9525">
                      <a:solidFill>
                        <a:srgbClr val="D9E3DE"/>
                      </a:solidFill>
                      <a:prstDash val="solid"/>
                    </a:lnB>
                    <a:solidFill>
                      <a:srgbClr val="FFFFFF"/>
                    </a:solidFill>
                  </a:tcPr>
                </a:tc>
                <a:tc>
                  <a:txBody>
                    <a:bodyPr/>
                    <a:lstStyle/>
                    <a:p>
                      <a:pPr algn="ctr"/>
                      <a:r>
                        <a:rPr sz="1725" b="0">
                          <a:solidFill>
                            <a:srgbClr val="18352D"/>
                          </a:solidFill>
                          <a:latin typeface="Arial"/>
                          <a:ea typeface="Arial"/>
                          <a:cs typeface="Arial"/>
                        </a:rPr>
                        <a:t>No</a:t>
                      </a:r>
                    </a:p>
                  </a:txBody>
                  <a:tcPr marL="91440" marR="91440" marT="45720" marB="45720">
                    <a:lnR w="9525">
                      <a:solidFill>
                        <a:srgbClr val="D9E3DE"/>
                      </a:solidFill>
                      <a:prstDash val="solid"/>
                    </a:lnR>
                    <a:lnB w="9525">
                      <a:solidFill>
                        <a:srgbClr val="D9E3DE"/>
                      </a:solidFill>
                      <a:prstDash val="solid"/>
                    </a:lnB>
                    <a:solidFill>
                      <a:srgbClr val="FFFFFF"/>
                    </a:solidFill>
                  </a:tcPr>
                </a:tc>
              </a:tr>
              <a:tr h="514350">
                <a:tc>
                  <a:txBody>
                    <a:bodyPr/>
                    <a:lstStyle/>
                    <a:p>
                      <a:pPr algn="l"/>
                      <a:r>
                        <a:rPr sz="1725" b="1">
                          <a:solidFill>
                            <a:srgbClr val="18352D"/>
                          </a:solidFill>
                          <a:latin typeface="Arial"/>
                          <a:ea typeface="Arial"/>
                          <a:cs typeface="Arial"/>
                        </a:rPr>
                        <a:t>FFN-MoE Transformer</a:t>
                      </a:r>
                    </a:p>
                  </a:txBody>
                  <a:tcPr marL="91440" marR="91440" marT="45720" marB="45720">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a:lstStyle/>
                    <a:p>
                      <a:pPr algn="ctr"/>
                      <a:r>
                        <a:rPr sz="1725" b="0">
                          <a:solidFill>
                            <a:srgbClr val="18352D"/>
                          </a:solidFill>
                          <a:latin typeface="Arial"/>
                          <a:ea typeface="Arial"/>
                          <a:cs typeface="Arial"/>
                        </a:rPr>
                        <a:t>Yes</a:t>
                      </a:r>
                    </a:p>
                  </a:txBody>
                  <a:tcPr marL="91440" marR="91440" marT="45720" marB="45720">
                    <a:lnR w="9525">
                      <a:solidFill>
                        <a:srgbClr val="D9E3DE"/>
                      </a:solidFill>
                      <a:prstDash val="solid"/>
                    </a:lnR>
                    <a:lnB w="9525">
                      <a:solidFill>
                        <a:srgbClr val="D9E3DE"/>
                      </a:solidFill>
                      <a:prstDash val="solid"/>
                    </a:lnB>
                    <a:solidFill>
                      <a:srgbClr val="A9D8B5"/>
                    </a:solidFill>
                  </a:tcPr>
                </a:tc>
                <a:tc>
                  <a:txBody>
                    <a:bodyPr/>
                    <a:lstStyle/>
                    <a:p>
                      <a:pPr algn="ctr"/>
                      <a:r>
                        <a:rPr sz="1725" b="0">
                          <a:solidFill>
                            <a:srgbClr val="18352D"/>
                          </a:solidFill>
                          <a:latin typeface="Arial"/>
                          <a:ea typeface="Arial"/>
                          <a:cs typeface="Arial"/>
                        </a:rPr>
                        <a:t>Yes</a:t>
                      </a:r>
                    </a:p>
                  </a:txBody>
                  <a:tcPr marL="91440" marR="91440" marT="45720" marB="45720">
                    <a:lnR w="9525">
                      <a:solidFill>
                        <a:srgbClr val="D9E3DE"/>
                      </a:solidFill>
                      <a:prstDash val="solid"/>
                    </a:lnR>
                    <a:lnB w="9525">
                      <a:solidFill>
                        <a:srgbClr val="D9E3DE"/>
                      </a:solidFill>
                      <a:prstDash val="solid"/>
                    </a:lnB>
                    <a:solidFill>
                      <a:srgbClr val="A9D8B5"/>
                    </a:solidFill>
                  </a:tcPr>
                </a:tc>
                <a:tc>
                  <a:txBody>
                    <a:bodyPr/>
                    <a:lstStyle/>
                    <a:p>
                      <a:pPr algn="l"/>
                      <a:r>
                        <a:rPr sz="1725" b="0">
                          <a:solidFill>
                            <a:srgbClr val="18352D"/>
                          </a:solidFill>
                          <a:latin typeface="Arial"/>
                          <a:ea typeface="Arial"/>
                          <a:cs typeface="Arial"/>
                        </a:rPr>
                        <a:t>FFN</a:t>
                      </a:r>
                    </a:p>
                  </a:txBody>
                  <a:tcPr marL="91440" marR="91440" marT="45720" marB="45720">
                    <a:lnR w="9525">
                      <a:solidFill>
                        <a:srgbClr val="D9E3DE"/>
                      </a:solidFill>
                      <a:prstDash val="solid"/>
                    </a:lnR>
                    <a:lnB w="9525">
                      <a:solidFill>
                        <a:srgbClr val="D9E3DE"/>
                      </a:solidFill>
                      <a:prstDash val="solid"/>
                    </a:lnB>
                    <a:solidFill>
                      <a:srgbClr val="FFFFFF"/>
                    </a:solidFill>
                  </a:tcPr>
                </a:tc>
                <a:tc>
                  <a:txBody>
                    <a:bodyPr/>
                    <a:lstStyle/>
                    <a:p>
                      <a:pPr algn="ctr"/>
                      <a:r>
                        <a:rPr sz="1725" b="0">
                          <a:solidFill>
                            <a:srgbClr val="18352D"/>
                          </a:solidFill>
                          <a:latin typeface="Arial"/>
                          <a:ea typeface="Arial"/>
                          <a:cs typeface="Arial"/>
                        </a:rPr>
                        <a:t>No</a:t>
                      </a:r>
                    </a:p>
                  </a:txBody>
                  <a:tcPr marL="91440" marR="91440" marT="45720" marB="45720">
                    <a:lnR w="9525">
                      <a:solidFill>
                        <a:srgbClr val="D9E3DE"/>
                      </a:solidFill>
                      <a:prstDash val="solid"/>
                    </a:lnR>
                    <a:lnB w="9525">
                      <a:solidFill>
                        <a:srgbClr val="D9E3DE"/>
                      </a:solidFill>
                      <a:prstDash val="solid"/>
                    </a:lnB>
                    <a:solidFill>
                      <a:srgbClr val="FFFFFF"/>
                    </a:solidFill>
                  </a:tcPr>
                </a:tc>
                <a:tc>
                  <a:txBody>
                    <a:bodyPr/>
                    <a:lstStyle/>
                    <a:p>
                      <a:pPr algn="ctr"/>
                      <a:r>
                        <a:rPr sz="1725" b="0">
                          <a:solidFill>
                            <a:srgbClr val="18352D"/>
                          </a:solidFill>
                          <a:latin typeface="Arial"/>
                          <a:ea typeface="Arial"/>
                          <a:cs typeface="Arial"/>
                        </a:rPr>
                        <a:t>No</a:t>
                      </a:r>
                    </a:p>
                  </a:txBody>
                  <a:tcPr marL="91440" marR="91440" marT="45720" marB="45720">
                    <a:lnR w="9525">
                      <a:solidFill>
                        <a:srgbClr val="D9E3DE"/>
                      </a:solidFill>
                      <a:prstDash val="solid"/>
                    </a:lnR>
                    <a:lnB w="9525">
                      <a:solidFill>
                        <a:srgbClr val="D9E3DE"/>
                      </a:solidFill>
                      <a:prstDash val="solid"/>
                    </a:lnB>
                    <a:solidFill>
                      <a:srgbClr val="FFFFFF"/>
                    </a:solidFill>
                  </a:tcPr>
                </a:tc>
              </a:tr>
              <a:tr h="514350">
                <a:tc>
                  <a:txBody>
                    <a:bodyPr/>
                    <a:lstStyle/>
                    <a:p>
                      <a:pPr algn="l"/>
                      <a:r>
                        <a:rPr sz="1725" b="1">
                          <a:solidFill>
                            <a:srgbClr val="18352D"/>
                          </a:solidFill>
                          <a:latin typeface="Arial"/>
                          <a:ea typeface="Arial"/>
                          <a:cs typeface="Arial"/>
                        </a:rPr>
                        <a:t>UT</a:t>
                      </a:r>
                    </a:p>
                  </a:txBody>
                  <a:tcPr marL="91440" marR="91440" marT="45720" marB="45720">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a:lstStyle/>
                    <a:p>
                      <a:pPr algn="ctr"/>
                      <a:r>
                        <a:rPr sz="1725" b="0">
                          <a:solidFill>
                            <a:srgbClr val="18352D"/>
                          </a:solidFill>
                          <a:latin typeface="Arial"/>
                          <a:ea typeface="Arial"/>
                          <a:cs typeface="Arial"/>
                        </a:rPr>
                        <a:t>Yes</a:t>
                      </a:r>
                    </a:p>
                  </a:txBody>
                  <a:tcPr marL="91440" marR="91440" marT="45720" marB="45720">
                    <a:lnR w="9525">
                      <a:solidFill>
                        <a:srgbClr val="D9E3DE"/>
                      </a:solidFill>
                      <a:prstDash val="solid"/>
                    </a:lnR>
                    <a:lnB w="9525">
                      <a:solidFill>
                        <a:srgbClr val="D9E3DE"/>
                      </a:solidFill>
                      <a:prstDash val="solid"/>
                    </a:lnB>
                    <a:solidFill>
                      <a:srgbClr val="A9D8B5"/>
                    </a:solidFill>
                  </a:tcPr>
                </a:tc>
                <a:tc>
                  <a:txBody>
                    <a:bodyPr/>
                    <a:lstStyle/>
                    <a:p>
                      <a:pPr algn="ctr"/>
                      <a:r>
                        <a:rPr sz="1725" b="0">
                          <a:solidFill>
                            <a:srgbClr val="18352D"/>
                          </a:solidFill>
                          <a:latin typeface="Arial"/>
                          <a:ea typeface="Arial"/>
                          <a:cs typeface="Arial"/>
                        </a:rPr>
                        <a:t>No</a:t>
                      </a:r>
                    </a:p>
                  </a:txBody>
                  <a:tcPr marL="91440" marR="91440" marT="45720" marB="45720">
                    <a:lnR w="9525">
                      <a:solidFill>
                        <a:srgbClr val="D9E3DE"/>
                      </a:solidFill>
                      <a:prstDash val="solid"/>
                    </a:lnR>
                    <a:lnB w="9525">
                      <a:solidFill>
                        <a:srgbClr val="D9E3DE"/>
                      </a:solidFill>
                      <a:prstDash val="solid"/>
                    </a:lnB>
                    <a:solidFill>
                      <a:srgbClr val="FFFFFF"/>
                    </a:solidFill>
                  </a:tcPr>
                </a:tc>
                <a:tc>
                  <a:txBody>
                    <a:bodyPr/>
                    <a:lstStyle/>
                    <a:p>
                      <a:r>
                        <a:rPr sz="1725" b="0">
                          <a:solidFill>
                            <a:srgbClr val="18352D"/>
                          </a:solidFill>
                          <a:latin typeface="Arial"/>
                          <a:ea typeface="Arial"/>
                          <a:cs typeface="Arial"/>
                        </a:rPr>
                        <a:t/>
                      </a:r>
                    </a:p>
                  </a:txBody>
                  <a:tcPr marL="91440" marR="91440" marT="45720" marB="45720">
                    <a:lnR w="9525">
                      <a:solidFill>
                        <a:srgbClr val="D9E3DE"/>
                      </a:solidFill>
                      <a:prstDash val="solid"/>
                    </a:lnR>
                    <a:lnB w="9525">
                      <a:solidFill>
                        <a:srgbClr val="D9E3DE"/>
                      </a:solidFill>
                      <a:prstDash val="solid"/>
                    </a:lnB>
                    <a:solidFill>
                      <a:srgbClr val="FFFFFF"/>
                    </a:solidFill>
                  </a:tcPr>
                </a:tc>
                <a:tc>
                  <a:txBody>
                    <a:bodyPr/>
                    <a:lstStyle/>
                    <a:p>
                      <a:pPr algn="ctr"/>
                      <a:r>
                        <a:rPr sz="1725" b="0">
                          <a:solidFill>
                            <a:srgbClr val="18352D"/>
                          </a:solidFill>
                          <a:latin typeface="Arial"/>
                          <a:ea typeface="Arial"/>
                          <a:cs typeface="Arial"/>
                        </a:rPr>
                        <a:t>Yes</a:t>
                      </a:r>
                    </a:p>
                  </a:txBody>
                  <a:tcPr marL="91440" marR="91440" marT="45720" marB="45720">
                    <a:lnR w="9525">
                      <a:solidFill>
                        <a:srgbClr val="D9E3DE"/>
                      </a:solidFill>
                      <a:prstDash val="solid"/>
                    </a:lnR>
                    <a:lnB w="9525">
                      <a:solidFill>
                        <a:srgbClr val="D9E3DE"/>
                      </a:solidFill>
                      <a:prstDash val="solid"/>
                    </a:lnB>
                    <a:solidFill>
                      <a:srgbClr val="A9D8B5"/>
                    </a:solidFill>
                  </a:tcPr>
                </a:tc>
                <a:tc>
                  <a:txBody>
                    <a:bodyPr/>
                    <a:lstStyle/>
                    <a:p>
                      <a:pPr algn="ctr"/>
                      <a:r>
                        <a:rPr sz="1725" b="0">
                          <a:solidFill>
                            <a:srgbClr val="18352D"/>
                          </a:solidFill>
                          <a:latin typeface="Arial"/>
                          <a:ea typeface="Arial"/>
                          <a:cs typeface="Arial"/>
                        </a:rPr>
                        <a:t>Yes*</a:t>
                      </a:r>
                    </a:p>
                  </a:txBody>
                  <a:tcPr marL="91440" marR="91440" marT="45720" marB="45720">
                    <a:lnR w="9525">
                      <a:solidFill>
                        <a:srgbClr val="D9E3DE"/>
                      </a:solidFill>
                      <a:prstDash val="solid"/>
                    </a:lnR>
                    <a:lnB w="9525">
                      <a:solidFill>
                        <a:srgbClr val="D9E3DE"/>
                      </a:solidFill>
                      <a:prstDash val="solid"/>
                    </a:lnB>
                    <a:solidFill>
                      <a:srgbClr val="E3F1E5"/>
                    </a:solidFill>
                  </a:tcPr>
                </a:tc>
              </a:tr>
              <a:tr h="514350">
                <a:tc>
                  <a:txBody>
                    <a:bodyPr/>
                    <a:lstStyle/>
                    <a:p>
                      <a:pPr algn="l"/>
                      <a:r>
                        <a:rPr sz="1725" b="1">
                          <a:solidFill>
                            <a:srgbClr val="18352D"/>
                          </a:solidFill>
                          <a:latin typeface="Arial"/>
                          <a:ea typeface="Arial"/>
                          <a:cs typeface="Arial"/>
                        </a:rPr>
                        <a:t>MoA</a:t>
                      </a:r>
                    </a:p>
                  </a:txBody>
                  <a:tcPr marL="91440" marR="91440" marT="45720" marB="45720">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a:lstStyle/>
                    <a:p>
                      <a:pPr algn="ctr"/>
                      <a:r>
                        <a:rPr sz="1725" b="0">
                          <a:solidFill>
                            <a:srgbClr val="18352D"/>
                          </a:solidFill>
                          <a:latin typeface="Arial"/>
                          <a:ea typeface="Arial"/>
                          <a:cs typeface="Arial"/>
                        </a:rPr>
                        <a:t>Yes*</a:t>
                      </a:r>
                    </a:p>
                  </a:txBody>
                  <a:tcPr marL="91440" marR="91440" marT="45720" marB="45720">
                    <a:lnR w="9525">
                      <a:solidFill>
                        <a:srgbClr val="D9E3DE"/>
                      </a:solidFill>
                      <a:prstDash val="solid"/>
                    </a:lnR>
                    <a:lnB w="9525">
                      <a:solidFill>
                        <a:srgbClr val="D9E3DE"/>
                      </a:solidFill>
                      <a:prstDash val="solid"/>
                    </a:lnB>
                    <a:solidFill>
                      <a:srgbClr val="E3F1E5"/>
                    </a:solidFill>
                  </a:tcPr>
                </a:tc>
                <a:tc>
                  <a:txBody>
                    <a:bodyPr/>
                    <a:lstStyle/>
                    <a:p>
                      <a:pPr algn="ctr"/>
                      <a:r>
                        <a:rPr sz="1725" b="0">
                          <a:solidFill>
                            <a:srgbClr val="18352D"/>
                          </a:solidFill>
                          <a:latin typeface="Arial"/>
                          <a:ea typeface="Arial"/>
                          <a:cs typeface="Arial"/>
                        </a:rPr>
                        <a:t>No</a:t>
                      </a:r>
                    </a:p>
                  </a:txBody>
                  <a:tcPr marL="91440" marR="91440" marT="45720" marB="45720">
                    <a:lnR w="9525">
                      <a:solidFill>
                        <a:srgbClr val="D9E3DE"/>
                      </a:solidFill>
                      <a:prstDash val="solid"/>
                    </a:lnR>
                    <a:lnB w="9525">
                      <a:solidFill>
                        <a:srgbClr val="D9E3DE"/>
                      </a:solidFill>
                      <a:prstDash val="solid"/>
                    </a:lnB>
                    <a:solidFill>
                      <a:srgbClr val="FFFFFF"/>
                    </a:solidFill>
                  </a:tcPr>
                </a:tc>
                <a:tc>
                  <a:txBody>
                    <a:bodyPr/>
                    <a:lstStyle/>
                    <a:p>
                      <a:pPr algn="l"/>
                      <a:r>
                        <a:rPr sz="1725" b="0">
                          <a:solidFill>
                            <a:srgbClr val="18352D"/>
                          </a:solidFill>
                          <a:latin typeface="Arial"/>
                          <a:ea typeface="Arial"/>
                          <a:cs typeface="Arial"/>
                        </a:rPr>
                        <a:t>Attention head</a:t>
                      </a:r>
                    </a:p>
                  </a:txBody>
                  <a:tcPr marL="91440" marR="91440" marT="45720" marB="45720">
                    <a:lnR w="9525">
                      <a:solidFill>
                        <a:srgbClr val="D9E3DE"/>
                      </a:solidFill>
                      <a:prstDash val="solid"/>
                    </a:lnR>
                    <a:lnB w="9525">
                      <a:solidFill>
                        <a:srgbClr val="D9E3DE"/>
                      </a:solidFill>
                      <a:prstDash val="solid"/>
                    </a:lnB>
                    <a:solidFill>
                      <a:srgbClr val="FFFFFF"/>
                    </a:solidFill>
                  </a:tcPr>
                </a:tc>
                <a:tc>
                  <a:txBody>
                    <a:bodyPr/>
                    <a:lstStyle/>
                    <a:p>
                      <a:pPr algn="ctr"/>
                      <a:r>
                        <a:rPr sz="1725" b="0">
                          <a:solidFill>
                            <a:srgbClr val="18352D"/>
                          </a:solidFill>
                          <a:latin typeface="Arial"/>
                          <a:ea typeface="Arial"/>
                          <a:cs typeface="Arial"/>
                        </a:rPr>
                        <a:t>No</a:t>
                      </a:r>
                    </a:p>
                  </a:txBody>
                  <a:tcPr marL="91440" marR="91440" marT="45720" marB="45720">
                    <a:lnR w="9525">
                      <a:solidFill>
                        <a:srgbClr val="D9E3DE"/>
                      </a:solidFill>
                      <a:prstDash val="solid"/>
                    </a:lnR>
                    <a:lnB w="9525">
                      <a:solidFill>
                        <a:srgbClr val="D9E3DE"/>
                      </a:solidFill>
                      <a:prstDash val="solid"/>
                    </a:lnB>
                    <a:solidFill>
                      <a:srgbClr val="FFFFFF"/>
                    </a:solidFill>
                  </a:tcPr>
                </a:tc>
                <a:tc>
                  <a:txBody>
                    <a:bodyPr/>
                    <a:lstStyle/>
                    <a:p>
                      <a:pPr algn="ctr"/>
                      <a:r>
                        <a:rPr sz="1725" b="0">
                          <a:solidFill>
                            <a:srgbClr val="18352D"/>
                          </a:solidFill>
                          <a:latin typeface="Arial"/>
                          <a:ea typeface="Arial"/>
                          <a:cs typeface="Arial"/>
                        </a:rPr>
                        <a:t>No</a:t>
                      </a:r>
                    </a:p>
                  </a:txBody>
                  <a:tcPr marL="91440" marR="91440" marT="45720" marB="45720">
                    <a:lnR w="9525">
                      <a:solidFill>
                        <a:srgbClr val="D9E3DE"/>
                      </a:solidFill>
                      <a:prstDash val="solid"/>
                    </a:lnR>
                    <a:lnB w="9525">
                      <a:solidFill>
                        <a:srgbClr val="D9E3DE"/>
                      </a:solidFill>
                      <a:prstDash val="solid"/>
                    </a:lnB>
                    <a:solidFill>
                      <a:srgbClr val="FFFFFF"/>
                    </a:solidFill>
                  </a:tcPr>
                </a:tc>
              </a:tr>
              <a:tr h="514350">
                <a:tc>
                  <a:txBody>
                    <a:bodyPr/>
                    <a:lstStyle/>
                    <a:p>
                      <a:pPr algn="l"/>
                      <a:r>
                        <a:rPr sz="1725" b="1">
                          <a:solidFill>
                            <a:srgbClr val="18352D"/>
                          </a:solidFill>
                          <a:latin typeface="Arial"/>
                          <a:ea typeface="Arial"/>
                          <a:cs typeface="Arial"/>
                        </a:rPr>
                        <a:t>MoH</a:t>
                      </a:r>
                    </a:p>
                  </a:txBody>
                  <a:tcPr marL="91440" marR="91440" marT="45720" marB="45720">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a:lstStyle/>
                    <a:p>
                      <a:pPr algn="ctr"/>
                      <a:r>
                        <a:rPr sz="1725" b="0">
                          <a:solidFill>
                            <a:srgbClr val="18352D"/>
                          </a:solidFill>
                          <a:latin typeface="Arial"/>
                          <a:ea typeface="Arial"/>
                          <a:cs typeface="Arial"/>
                        </a:rPr>
                        <a:t>Yes*</a:t>
                      </a:r>
                    </a:p>
                  </a:txBody>
                  <a:tcPr marL="91440" marR="91440" marT="45720" marB="45720">
                    <a:lnR w="9525">
                      <a:solidFill>
                        <a:srgbClr val="D9E3DE"/>
                      </a:solidFill>
                      <a:prstDash val="solid"/>
                    </a:lnR>
                    <a:lnB w="9525">
                      <a:solidFill>
                        <a:srgbClr val="D9E3DE"/>
                      </a:solidFill>
                      <a:prstDash val="solid"/>
                    </a:lnB>
                    <a:solidFill>
                      <a:srgbClr val="E3F1E5"/>
                    </a:solidFill>
                  </a:tcPr>
                </a:tc>
                <a:tc>
                  <a:txBody>
                    <a:bodyPr/>
                    <a:lstStyle/>
                    <a:p>
                      <a:pPr algn="ctr"/>
                      <a:r>
                        <a:rPr sz="1725" b="0">
                          <a:solidFill>
                            <a:srgbClr val="18352D"/>
                          </a:solidFill>
                          <a:latin typeface="Arial"/>
                          <a:ea typeface="Arial"/>
                          <a:cs typeface="Arial"/>
                        </a:rPr>
                        <a:t>No</a:t>
                      </a:r>
                    </a:p>
                  </a:txBody>
                  <a:tcPr marL="91440" marR="91440" marT="45720" marB="45720">
                    <a:lnR w="9525">
                      <a:solidFill>
                        <a:srgbClr val="D9E3DE"/>
                      </a:solidFill>
                      <a:prstDash val="solid"/>
                    </a:lnR>
                    <a:lnB w="9525">
                      <a:solidFill>
                        <a:srgbClr val="D9E3DE"/>
                      </a:solidFill>
                      <a:prstDash val="solid"/>
                    </a:lnB>
                    <a:solidFill>
                      <a:srgbClr val="FFFFFF"/>
                    </a:solidFill>
                  </a:tcPr>
                </a:tc>
                <a:tc>
                  <a:txBody>
                    <a:bodyPr/>
                    <a:lstStyle/>
                    <a:p>
                      <a:pPr algn="l"/>
                      <a:r>
                        <a:rPr sz="1725" b="0">
                          <a:solidFill>
                            <a:srgbClr val="18352D"/>
                          </a:solidFill>
                          <a:latin typeface="Arial"/>
                          <a:ea typeface="Arial"/>
                          <a:cs typeface="Arial"/>
                        </a:rPr>
                        <a:t>Attention head</a:t>
                      </a:r>
                    </a:p>
                  </a:txBody>
                  <a:tcPr marL="91440" marR="91440" marT="45720" marB="45720">
                    <a:lnR w="9525">
                      <a:solidFill>
                        <a:srgbClr val="D9E3DE"/>
                      </a:solidFill>
                      <a:prstDash val="solid"/>
                    </a:lnR>
                    <a:lnB w="9525">
                      <a:solidFill>
                        <a:srgbClr val="D9E3DE"/>
                      </a:solidFill>
                      <a:prstDash val="solid"/>
                    </a:lnB>
                    <a:solidFill>
                      <a:srgbClr val="FFFFFF"/>
                    </a:solidFill>
                  </a:tcPr>
                </a:tc>
                <a:tc>
                  <a:txBody>
                    <a:bodyPr/>
                    <a:lstStyle/>
                    <a:p>
                      <a:pPr algn="ctr"/>
                      <a:r>
                        <a:rPr sz="1725" b="0">
                          <a:solidFill>
                            <a:srgbClr val="18352D"/>
                          </a:solidFill>
                          <a:latin typeface="Arial"/>
                          <a:ea typeface="Arial"/>
                          <a:cs typeface="Arial"/>
                        </a:rPr>
                        <a:t>No</a:t>
                      </a:r>
                    </a:p>
                  </a:txBody>
                  <a:tcPr marL="91440" marR="91440" marT="45720" marB="45720">
                    <a:lnR w="9525">
                      <a:solidFill>
                        <a:srgbClr val="D9E3DE"/>
                      </a:solidFill>
                      <a:prstDash val="solid"/>
                    </a:lnR>
                    <a:lnB w="9525">
                      <a:solidFill>
                        <a:srgbClr val="D9E3DE"/>
                      </a:solidFill>
                      <a:prstDash val="solid"/>
                    </a:lnB>
                    <a:solidFill>
                      <a:srgbClr val="FFFFFF"/>
                    </a:solidFill>
                  </a:tcPr>
                </a:tc>
                <a:tc>
                  <a:txBody>
                    <a:bodyPr/>
                    <a:lstStyle/>
                    <a:p>
                      <a:pPr algn="ctr"/>
                      <a:r>
                        <a:rPr sz="1725" b="0">
                          <a:solidFill>
                            <a:srgbClr val="18352D"/>
                          </a:solidFill>
                          <a:latin typeface="Arial"/>
                          <a:ea typeface="Arial"/>
                          <a:cs typeface="Arial"/>
                        </a:rPr>
                        <a:t>No</a:t>
                      </a:r>
                    </a:p>
                  </a:txBody>
                  <a:tcPr marL="91440" marR="91440" marT="45720" marB="45720">
                    <a:lnR w="9525">
                      <a:solidFill>
                        <a:srgbClr val="D9E3DE"/>
                      </a:solidFill>
                      <a:prstDash val="solid"/>
                    </a:lnR>
                    <a:lnB w="9525">
                      <a:solidFill>
                        <a:srgbClr val="D9E3DE"/>
                      </a:solidFill>
                      <a:prstDash val="solid"/>
                    </a:lnB>
                    <a:solidFill>
                      <a:srgbClr val="FFFFFF"/>
                    </a:solidFill>
                  </a:tcPr>
                </a:tc>
              </a:tr>
              <a:tr h="514350">
                <a:tc>
                  <a:txBody>
                    <a:bodyPr/>
                    <a:lstStyle/>
                    <a:p>
                      <a:pPr algn="l"/>
                      <a:r>
                        <a:rPr sz="1725" b="1">
                          <a:solidFill>
                            <a:srgbClr val="18352D"/>
                          </a:solidFill>
                          <a:latin typeface="Arial"/>
                          <a:ea typeface="Arial"/>
                          <a:cs typeface="Arial"/>
                        </a:rPr>
                        <a:t>SUT</a:t>
                      </a:r>
                    </a:p>
                  </a:txBody>
                  <a:tcPr marL="91440" marR="91440" marT="45720" marB="45720">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a:lstStyle/>
                    <a:p>
                      <a:pPr algn="ctr"/>
                      <a:r>
                        <a:rPr sz="1725" b="0">
                          <a:solidFill>
                            <a:srgbClr val="18352D"/>
                          </a:solidFill>
                          <a:latin typeface="Arial"/>
                          <a:ea typeface="Arial"/>
                          <a:cs typeface="Arial"/>
                        </a:rPr>
                        <a:t>Yes</a:t>
                      </a:r>
                    </a:p>
                  </a:txBody>
                  <a:tcPr marL="91440" marR="91440" marT="45720" marB="45720">
                    <a:lnR w="9525">
                      <a:solidFill>
                        <a:srgbClr val="D9E3DE"/>
                      </a:solidFill>
                      <a:prstDash val="solid"/>
                    </a:lnR>
                    <a:lnB w="9525">
                      <a:solidFill>
                        <a:srgbClr val="D9E3DE"/>
                      </a:solidFill>
                      <a:prstDash val="solid"/>
                    </a:lnB>
                    <a:solidFill>
                      <a:srgbClr val="A9D8B5"/>
                    </a:solidFill>
                  </a:tcPr>
                </a:tc>
                <a:tc>
                  <a:txBody>
                    <a:bodyPr/>
                    <a:lstStyle/>
                    <a:p>
                      <a:pPr algn="ctr"/>
                      <a:r>
                        <a:rPr sz="1725" b="0">
                          <a:solidFill>
                            <a:srgbClr val="18352D"/>
                          </a:solidFill>
                          <a:latin typeface="Arial"/>
                          <a:ea typeface="Arial"/>
                          <a:cs typeface="Arial"/>
                        </a:rPr>
                        <a:t>Yes</a:t>
                      </a:r>
                    </a:p>
                  </a:txBody>
                  <a:tcPr marL="91440" marR="91440" marT="45720" marB="45720">
                    <a:lnR w="9525">
                      <a:solidFill>
                        <a:srgbClr val="D9E3DE"/>
                      </a:solidFill>
                      <a:prstDash val="solid"/>
                    </a:lnR>
                    <a:lnB w="9525">
                      <a:solidFill>
                        <a:srgbClr val="D9E3DE"/>
                      </a:solidFill>
                      <a:prstDash val="solid"/>
                    </a:lnB>
                    <a:solidFill>
                      <a:srgbClr val="A9D8B5"/>
                    </a:solidFill>
                  </a:tcPr>
                </a:tc>
                <a:tc>
                  <a:txBody>
                    <a:bodyPr/>
                    <a:lstStyle/>
                    <a:p>
                      <a:pPr algn="l"/>
                      <a:r>
                        <a:rPr sz="1725" b="0">
                          <a:solidFill>
                            <a:srgbClr val="18352D"/>
                          </a:solidFill>
                          <a:latin typeface="Arial"/>
                          <a:ea typeface="Arial"/>
                          <a:cs typeface="Arial"/>
                        </a:rPr>
                        <a:t>Attention expert + FFN</a:t>
                      </a:r>
                    </a:p>
                  </a:txBody>
                  <a:tcPr marL="91440" marR="91440" marT="45720" marB="45720">
                    <a:lnR w="9525">
                      <a:solidFill>
                        <a:srgbClr val="D9E3DE"/>
                      </a:solidFill>
                      <a:prstDash val="solid"/>
                    </a:lnR>
                    <a:lnB w="9525">
                      <a:solidFill>
                        <a:srgbClr val="D9E3DE"/>
                      </a:solidFill>
                      <a:prstDash val="solid"/>
                    </a:lnB>
                    <a:solidFill>
                      <a:srgbClr val="FFFFFF"/>
                    </a:solidFill>
                  </a:tcPr>
                </a:tc>
                <a:tc>
                  <a:txBody>
                    <a:bodyPr/>
                    <a:lstStyle/>
                    <a:p>
                      <a:pPr algn="ctr"/>
                      <a:r>
                        <a:rPr sz="1725" b="0">
                          <a:solidFill>
                            <a:srgbClr val="18352D"/>
                          </a:solidFill>
                          <a:latin typeface="Arial"/>
                          <a:ea typeface="Arial"/>
                          <a:cs typeface="Arial"/>
                        </a:rPr>
                        <a:t>Yes</a:t>
                      </a:r>
                    </a:p>
                  </a:txBody>
                  <a:tcPr marL="91440" marR="91440" marT="45720" marB="45720">
                    <a:lnR w="9525">
                      <a:solidFill>
                        <a:srgbClr val="D9E3DE"/>
                      </a:solidFill>
                      <a:prstDash val="solid"/>
                    </a:lnR>
                    <a:lnB w="9525">
                      <a:solidFill>
                        <a:srgbClr val="D9E3DE"/>
                      </a:solidFill>
                      <a:prstDash val="solid"/>
                    </a:lnB>
                    <a:solidFill>
                      <a:srgbClr val="A9D8B5"/>
                    </a:solidFill>
                  </a:tcPr>
                </a:tc>
                <a:tc>
                  <a:txBody>
                    <a:bodyPr/>
                    <a:lstStyle/>
                    <a:p>
                      <a:pPr algn="ctr"/>
                      <a:r>
                        <a:rPr sz="1725" b="0">
                          <a:solidFill>
                            <a:srgbClr val="18352D"/>
                          </a:solidFill>
                          <a:latin typeface="Arial"/>
                          <a:ea typeface="Arial"/>
                          <a:cs typeface="Arial"/>
                        </a:rPr>
                        <a:t>Yes</a:t>
                      </a:r>
                    </a:p>
                  </a:txBody>
                  <a:tcPr marL="91440" marR="91440" marT="45720" marB="45720">
                    <a:lnR w="9525">
                      <a:solidFill>
                        <a:srgbClr val="D9E3DE"/>
                      </a:solidFill>
                      <a:prstDash val="solid"/>
                    </a:lnR>
                    <a:lnB w="9525">
                      <a:solidFill>
                        <a:srgbClr val="D9E3DE"/>
                      </a:solidFill>
                      <a:prstDash val="solid"/>
                    </a:lnB>
                    <a:solidFill>
                      <a:srgbClr val="A9D8B5"/>
                    </a:solidFill>
                  </a:tcPr>
                </a:tc>
              </a:tr>
              <a:tr h="514350">
                <a:tc>
                  <a:txBody>
                    <a:bodyPr/>
                    <a:lstStyle/>
                    <a:p>
                      <a:pPr algn="l"/>
                      <a:r>
                        <a:rPr sz="1725" b="1">
                          <a:solidFill>
                            <a:srgbClr val="18352D"/>
                          </a:solidFill>
                          <a:latin typeface="Arial"/>
                          <a:ea typeface="Arial"/>
                          <a:cs typeface="Arial"/>
                        </a:rPr>
                        <a:t>MoM</a:t>
                      </a:r>
                    </a:p>
                  </a:txBody>
                  <a:tcPr marL="91440" marR="91440" marT="45720" marB="45720">
                    <a:lnL w="9525">
                      <a:solidFill>
                        <a:srgbClr val="D9E3DE"/>
                      </a:solidFill>
                      <a:prstDash val="solid"/>
                    </a:lnL>
                    <a:lnR w="9525">
                      <a:solidFill>
                        <a:srgbClr val="D9E3DE"/>
                      </a:solidFill>
                      <a:prstDash val="solid"/>
                    </a:lnR>
                    <a:lnB w="9525">
                      <a:solidFill>
                        <a:srgbClr val="D9E3DE"/>
                      </a:solidFill>
                      <a:prstDash val="solid"/>
                    </a:lnB>
                    <a:solidFill>
                      <a:srgbClr val="F2F5F3"/>
                    </a:solidFill>
                  </a:tcPr>
                </a:tc>
                <a:tc>
                  <a:txBody>
                    <a:bodyPr/>
                    <a:lstStyle/>
                    <a:p>
                      <a:pPr algn="ctr"/>
                      <a:r>
                        <a:rPr sz="1725" b="0">
                          <a:solidFill>
                            <a:srgbClr val="18352D"/>
                          </a:solidFill>
                          <a:latin typeface="Arial"/>
                          <a:ea typeface="Arial"/>
                          <a:cs typeface="Arial"/>
                        </a:rPr>
                        <a:t>Yes</a:t>
                      </a:r>
                    </a:p>
                  </a:txBody>
                  <a:tcPr marL="91440" marR="91440" marT="45720" marB="45720">
                    <a:lnR w="9525">
                      <a:solidFill>
                        <a:srgbClr val="D9E3DE"/>
                      </a:solidFill>
                      <a:prstDash val="solid"/>
                    </a:lnR>
                    <a:lnB w="9525">
                      <a:solidFill>
                        <a:srgbClr val="D9E3DE"/>
                      </a:solidFill>
                      <a:prstDash val="solid"/>
                    </a:lnB>
                    <a:solidFill>
                      <a:srgbClr val="A9D8B5"/>
                    </a:solidFill>
                  </a:tcPr>
                </a:tc>
                <a:tc>
                  <a:txBody>
                    <a:bodyPr/>
                    <a:lstStyle/>
                    <a:p>
                      <a:pPr algn="ctr"/>
                      <a:r>
                        <a:rPr sz="1725" b="0">
                          <a:solidFill>
                            <a:srgbClr val="18352D"/>
                          </a:solidFill>
                          <a:latin typeface="Arial"/>
                          <a:ea typeface="Arial"/>
                          <a:cs typeface="Arial"/>
                        </a:rPr>
                        <a:t>Yes</a:t>
                      </a:r>
                    </a:p>
                  </a:txBody>
                  <a:tcPr marL="91440" marR="91440" marT="45720" marB="45720">
                    <a:lnR w="9525">
                      <a:solidFill>
                        <a:srgbClr val="D9E3DE"/>
                      </a:solidFill>
                      <a:prstDash val="solid"/>
                    </a:lnR>
                    <a:lnB w="9525">
                      <a:solidFill>
                        <a:srgbClr val="D9E3DE"/>
                      </a:solidFill>
                      <a:prstDash val="solid"/>
                    </a:lnB>
                    <a:solidFill>
                      <a:srgbClr val="A9D8B5"/>
                    </a:solidFill>
                  </a:tcPr>
                </a:tc>
                <a:tc>
                  <a:txBody>
                    <a:bodyPr/>
                    <a:lstStyle/>
                    <a:p>
                      <a:pPr algn="l"/>
                      <a:r>
                        <a:rPr sz="1725" b="0">
                          <a:solidFill>
                            <a:srgbClr val="18352D"/>
                          </a:solidFill>
                          <a:latin typeface="Arial"/>
                          <a:ea typeface="Arial"/>
                          <a:cs typeface="Arial"/>
                        </a:rPr>
                        <a:t>MHA module + FFN</a:t>
                      </a:r>
                    </a:p>
                  </a:txBody>
                  <a:tcPr marL="91440" marR="91440" marT="45720" marB="45720">
                    <a:lnR w="9525">
                      <a:solidFill>
                        <a:srgbClr val="D9E3DE"/>
                      </a:solidFill>
                      <a:prstDash val="solid"/>
                    </a:lnR>
                    <a:lnB w="9525">
                      <a:solidFill>
                        <a:srgbClr val="D9E3DE"/>
                      </a:solidFill>
                      <a:prstDash val="solid"/>
                    </a:lnB>
                    <a:solidFill>
                      <a:srgbClr val="FFFFFF"/>
                    </a:solidFill>
                  </a:tcPr>
                </a:tc>
                <a:tc>
                  <a:txBody>
                    <a:bodyPr/>
                    <a:lstStyle/>
                    <a:p>
                      <a:pPr algn="ctr"/>
                      <a:r>
                        <a:rPr sz="1725" b="0">
                          <a:solidFill>
                            <a:srgbClr val="18352D"/>
                          </a:solidFill>
                          <a:latin typeface="Arial"/>
                          <a:ea typeface="Arial"/>
                          <a:cs typeface="Arial"/>
                        </a:rPr>
                        <a:t>Yes*</a:t>
                      </a:r>
                    </a:p>
                  </a:txBody>
                  <a:tcPr marL="91440" marR="91440" marT="45720" marB="45720">
                    <a:lnR w="9525">
                      <a:solidFill>
                        <a:srgbClr val="D9E3DE"/>
                      </a:solidFill>
                      <a:prstDash val="solid"/>
                    </a:lnR>
                    <a:lnB w="9525">
                      <a:solidFill>
                        <a:srgbClr val="D9E3DE"/>
                      </a:solidFill>
                      <a:prstDash val="solid"/>
                    </a:lnB>
                    <a:solidFill>
                      <a:srgbClr val="E3F1E5"/>
                    </a:solidFill>
                  </a:tcPr>
                </a:tc>
                <a:tc>
                  <a:txBody>
                    <a:bodyPr/>
                    <a:lstStyle/>
                    <a:p>
                      <a:pPr algn="ctr"/>
                      <a:r>
                        <a:rPr sz="1725" b="0">
                          <a:solidFill>
                            <a:srgbClr val="18352D"/>
                          </a:solidFill>
                          <a:latin typeface="Arial"/>
                          <a:ea typeface="Arial"/>
                          <a:cs typeface="Arial"/>
                        </a:rPr>
                        <a:t>Yes*</a:t>
                      </a:r>
                    </a:p>
                  </a:txBody>
                  <a:tcPr marL="91440" marR="91440" marT="45720" marB="45720">
                    <a:lnR w="9525">
                      <a:solidFill>
                        <a:srgbClr val="D9E3DE"/>
                      </a:solidFill>
                      <a:prstDash val="solid"/>
                    </a:lnR>
                    <a:lnB w="9525">
                      <a:solidFill>
                        <a:srgbClr val="D9E3DE"/>
                      </a:solidFill>
                      <a:prstDash val="solid"/>
                    </a:lnB>
                    <a:solidFill>
                      <a:srgbClr val="E3F1E5"/>
                    </a:solidFill>
                  </a:tcPr>
                </a:tc>
              </a:tr>
            </a:tbl>
          </a:graphicData>
        </a:graphic>
      </p:graphicFrame>
      <p:sp>
        <p:nvSpPr>
          <p:cNvPr id="4" name="">
            <a:extLst xmlns:a="http://schemas.openxmlformats.org/drawingml/2006/main">
              <a:ext uri="{FF2B5EF4-FFF2-40B4-BE49-F238E27FC236}">
                <a16:creationId xmlns:a16="http://schemas.microsoft.com/office/drawing/2014/main" id="{AF32A4BE-4496-4932-AFA7-5E89AC90F4C5}"/>
              </a:ext>
            </a:extLst>
          </p:cNvPr>
          <p:cNvSpPr>
            <a:spLocks xmlns:a="http://schemas.openxmlformats.org/drawingml/2006/main" noGrp="1"/>
          </p:cNvSpPr>
          <p:nvPr/>
        </p:nvSpPr>
        <p:spPr>
          <a:xfrm xmlns:a="http://schemas.openxmlformats.org/drawingml/2006/main">
            <a:off x="457200" y="571500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55E"/>
                </a:solidFill>
                <a:latin typeface="Arial"/>
                <a:ea typeface="Arial"/>
                <a:cs typeface="Arial"/>
              </a:defRPr>
            </a:defPPr>
          </a:lstStyle>
          <a:p xmlns:a="http://schemas.openxmlformats.org/drawingml/2006/main">
            <a:pPr>
              <a:defRPr sz="1500" b="0">
                <a:solidFill>
                  <a:srgbClr val="53655E"/>
                </a:solidFill>
                <a:latin typeface="Arial"/>
                <a:ea typeface="Arial"/>
                <a:cs typeface="Arial"/>
              </a:defRPr>
            </a:pPr>
            <a:r>
              <a:rPr sz="1500" b="0">
                <a:solidFill>
                  <a:srgbClr val="53655E"/>
                </a:solidFill>
                <a:latin typeface="Arial"/>
                <a:ea typeface="Arial"/>
                <a:cs typeface="Arial"/>
              </a:rPr>
              <a:t>* MHA includes routed variants (MoA, MoH). UT halting is optional.</a:t>
            </a:r>
          </a:p>
        </p:txBody>
      </p:sp>
      <p:sp>
        <p:nvSpPr>
          <p:cNvPr id="5" name="">
            <a:extLst xmlns:a="http://schemas.openxmlformats.org/drawingml/2006/main">
              <a:ext uri="{FF2B5EF4-FFF2-40B4-BE49-F238E27FC236}">
                <a16:creationId xmlns:a16="http://schemas.microsoft.com/office/drawing/2014/main" id="{0C47F135-2533-415B-BF49-EFE943BE47A3}"/>
              </a:ext>
            </a:extLst>
          </p:cNvPr>
          <p:cNvSpPr>
            <a:spLocks xmlns:a="http://schemas.openxmlformats.org/drawingml/2006/main" noGrp="1"/>
          </p:cNvSpPr>
          <p:nvPr/>
        </p:nvSpPr>
        <p:spPr>
          <a:xfrm xmlns:a="http://schemas.openxmlformats.org/drawingml/2006/main">
            <a:off x="457200" y="601980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55E"/>
                </a:solidFill>
                <a:latin typeface="Arial"/>
                <a:ea typeface="Arial"/>
                <a:cs typeface="Arial"/>
              </a:defRPr>
            </a:defPPr>
          </a:lstStyle>
          <a:p xmlns:a="http://schemas.openxmlformats.org/drawingml/2006/main">
            <a:pPr>
              <a:defRPr sz="1500" b="0">
                <a:solidFill>
                  <a:srgbClr val="53655E"/>
                </a:solidFill>
                <a:latin typeface="Arial"/>
                <a:ea typeface="Arial"/>
                <a:cs typeface="Arial"/>
              </a:defRPr>
            </a:pPr>
            <a:r>
              <a:rPr sz="1500" b="0">
                <a:solidFill>
                  <a:srgbClr val="53655E"/>
                </a:solidFill>
                <a:latin typeface="Arial"/>
                <a:ea typeface="Arial"/>
                <a:cs typeface="Arial"/>
              </a:rPr>
              <a:t>Recurrence = reuse across depth. MoM reuses modules and optionally skips steps.</a:t>
            </a:r>
          </a:p>
        </p:txBody>
      </p:sp>
      <p:sp>
        <p:nvSpPr>
          <p:cNvPr id="6" name="">
            <a:extLst xmlns:a="http://schemas.openxmlformats.org/drawingml/2006/main">
              <a:ext uri="{FF2B5EF4-FFF2-40B4-BE49-F238E27FC236}">
                <a16:creationId xmlns:a16="http://schemas.microsoft.com/office/drawing/2014/main" id="{822EC7FF-D0C0-4C71-9DF8-8A4B00DFAF6F}"/>
              </a:ext>
            </a:extLst>
          </p:cNvPr>
          <p:cNvSpPr>
            <a:spLocks xmlns:a="http://schemas.openxmlformats.org/drawingml/2006/main" noGrp="1"/>
          </p:cNvSpPr>
          <p:nvPr/>
        </p:nvSpPr>
        <p:spPr>
          <a:xfrm xmlns:a="http://schemas.openxmlformats.org/drawingml/2006/main">
            <a:off x="457200" y="6438900"/>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87B72"/>
                </a:solidFill>
                <a:latin typeface="Arial"/>
                <a:ea typeface="Arial"/>
                <a:cs typeface="Arial"/>
              </a:defRPr>
            </a:defPPr>
          </a:lstStyle>
          <a:p xmlns:a="http://schemas.openxmlformats.org/drawingml/2006/main">
            <a:pPr>
              <a:defRPr sz="1200" b="0">
                <a:solidFill>
                  <a:srgbClr val="687B72"/>
                </a:solidFill>
                <a:latin typeface="Arial"/>
                <a:ea typeface="Arial"/>
                <a:cs typeface="Arial"/>
              </a:defRPr>
            </a:pPr>
            <a:r>
              <a:rPr sz="1200" b="0">
                <a:solidFill>
                  <a:srgbClr val="687B72"/>
                </a:solidFill>
                <a:latin typeface="Arial"/>
                <a:ea typeface="Arial"/>
                <a:cs typeface="Arial"/>
              </a:rPr>
              <a:t>Configurations shown follow the cited papers. Sources and qualifications are in the slide notes.</a:t>
            </a:r>
          </a:p>
        </p:txBody>
      </p:sp>
    </p:spTree>
    <p:extLst>
      <p:ext uri="{BB962C8B-B14F-4D97-AF65-F5344CB8AC3E}">
        <p14:creationId xmlns:p14="http://schemas.microsoft.com/office/powerpoint/2010/main" val="15170564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2026-10-15T17:43:37.8080000Z</dcterms:created>
  <dcterms:modified xsi:type="dcterms:W3CDTF">2026-10-15T17:43:37.8080000Z</dcterms:modified>
</coreProperties>
</file>