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3f3c01ed034070" /><Relationship Type="http://schemas.openxmlformats.org/officeDocument/2006/relationships/extended-properties" Target="/docProps/app.xml" Id="Rb64ada61a0754191" /><Relationship Type="http://schemas.openxmlformats.org/officeDocument/2006/relationships/officeDocument" Target="/ppt/presentation.xml" Id="R0ed9a597037349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95631d570e43f3"/>
  </p:sldMasterIdLst>
  <p:notesMasterIdLst>
    <p:notesMasterId xmlns:r="http://schemas.openxmlformats.org/officeDocument/2006/relationships" r:id="R8f8bab9435304aae"/>
  </p:notesMasterIdLst>
  <p:sldIdLst>
    <p:sldId xmlns:r="http://schemas.openxmlformats.org/officeDocument/2006/relationships" id="256" r:id="Rcb524f7672fb4c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8fdec02d844845" /><Relationship Type="http://schemas.openxmlformats.org/officeDocument/2006/relationships/slideMaster" Target="/ppt/slideMasters/slideMaster1.xml" Id="R1495631d570e43f3" /><Relationship Type="http://schemas.openxmlformats.org/officeDocument/2006/relationships/notesMaster" Target="/ppt/notesMasters/notesMaster1.xml" Id="R8f8bab9435304aae" /><Relationship Type="http://schemas.openxmlformats.org/officeDocument/2006/relationships/presProps" Target="/ppt/presProps.xml" Id="R91d9cef5f53947da" /><Relationship Type="http://schemas.openxmlformats.org/officeDocument/2006/relationships/tableStyles" Target="/ppt/tableStyles.xml" Id="R9e8dad0aeed74f15" /><Relationship Type="http://schemas.openxmlformats.org/officeDocument/2006/relationships/slide" Target="/ppt/slides/slide1.xml" Id="Rcb524f7672fb4c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f3eb80c8184d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07cf57fb0e4ef3" /><Relationship Type="http://schemas.openxmlformats.org/officeDocument/2006/relationships/notesMaster" Target="/ppt/notesMasters/notesMaster1.xml" Id="R1d468edb2a474d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Insert immediately after slide 6 of the revised deck. Standalone supplementary slide; the existing deck is unchanged. This revision replaces the distance table with a complete five-by-five matrix. Delta_ij is a scalar matrix entry, not theta, a learned vector, or an attention score. Delta is computed from token positions and the clipping range. Capital Delta denotes the full matrix. Rows enumerate query positions i; columns enumerate key positions j. The boxed entry at row 2, column 5 has raw offset 3, clipped to 2. It selects learned vector r_2, which interacts with query q_2 to produce the relative logit contribution. The vector is learned; the offset matrix is determined by positions. The same r_2 can give different scores for different queries.</a:t>
            </a:r>
          </a:p>
          <a:p xmlns:a="http://schemas.openxmlformats.org/drawingml/2006/main">
            <a:r>
              <a:t>W describes the relative-position embedding range in SUT's five-tuple (E,K,H,D,W). It is not the length of the token sequence or the top-K expert selection parameter. At each query position i, every allowed key position j has a pairwise offset. The relative-position vector selected by that offset contributes a query-dependent dot product to the attention logit, before softmax over keys. The sequence remains intact. Decoder causality and padding masks still apply.</a:t>
            </a:r>
          </a:p>
          <a:p xmlns:a="http://schemas.openxmlformats.org/drawingml/2006/main">
            <a:r>
              <a:t>The equations are a pedagogical one-head notation, not verbatim numbered equations in SUT. The paper states 2W+1 relative embeddings. The example uses the standard inclusive clipping convention [-W,W] to make the concept visible. In the public WMT code inspected on 2026-10-16, max_positions is 64, the lookup has 129 entries, and rel_pos_logits clips to [-63,63] before adding offset 64. Hence its extreme table slots are unused. Do not claim the illustrative W=2 example is that literal released-code configuration or infer all paper task configurations from the WMT implementation.</a:t>
            </a:r>
          </a:p>
          <a:p xmlns:a="http://schemas.openxmlformats.org/drawingml/2006/main">
            <a:r>
              <a:t>The code scales q by head_dim**-0.5 before both the content dot product and the relative-position dot product, consistent with the schematic score formula. rel_pos_logits computes j-i and gathers relative logits; forward adds them to attn_weights before softmax. For a new query position, the offset labels shift, so these are pairwise relations rather than one absolute vector added during sequence preprocessing.</a:t>
            </a:r>
          </a:p>
          <a:p xmlns:a="http://schemas.openxmlformats.org/drawingml/2006/main">
            <a:r>
              <a:t>Positive offsets select a different learned vector; they do not supply a positive scalar bias by themselves. This prevents the misconception that later tokens always receive more probability.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https://aclanthology.org/2023.emnlp-main.12.pdf (Section 3.1)</a:t>
            </a:r>
          </a:p>
          <a:p xmlns:a="http://schemas.openxmlformats.org/drawingml/2006/main">
            <a:r>
              <a:t>https://github.com/shawntan/SUT/blob/main/sut_layer/moa_attention.py (rel_pos_logits and forward)</a:t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matrix: \Delta=[\delta_{ij}]=\begin{bmatrix}0&amp;1&amp;2&amp;2&amp;2\\-1&amp;0&amp;1&amp;2&amp;\boxed{2}\\-2&amp;-1&amp;0&amp;1&amp;2\\-2&amp;-2&amp;-1&amp;0&amp;1\\-2&amp;-2&amp;-2&amp;-1&amp;0\end{bmatrix}</a:t>
            </a:r>
          </a:p>
          <a:p xmlns:a="http://schemas.openxmlformats.org/drawingml/2006/main">
            <a:r>
              <a:t>offset: \delta_{ij}=\operatorname{clip}(j-i,-W,W)</a:t>
            </a:r>
          </a:p>
          <a:p xmlns:a="http://schemas.openxmlformats.org/drawingml/2006/main">
            <a:r>
              <a:t>example: \delta_{2,5}=\operatorname{clip}(5-2,-2,2)=2</a:t>
            </a:r>
          </a:p>
          <a:p xmlns:a="http://schemas.openxmlformats.org/drawingml/2006/main">
            <a:r>
              <a:t>lookup: \delta_{2,5}=2\quad\longrightarrow\quad r_2\quad\longrightarrow\quad q_2^{\mathsf T}r_2</a:t>
            </a:r>
          </a:p>
          <a:p xmlns:a="http://schemas.openxmlformats.org/drawingml/2006/main">
            <a:r>
              <a:t>score: z_{ij}=\frac{q_i^{\mathsf T}k_j+\overbrace{q_i^{\mathsf T}r_{\delta_{ij}}}^{\text{relative-position contribution}}}{\sqrt{D}},\qquad a_{ij}=\operatorname{softmax}_j(z_{ij})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e902f8ca141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83fdf7390a489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3b194738ab417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06aecdeab44e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0baa2eccbe4a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ad65955af04d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E034BF-2169-4967-B28C-74DB99C8F7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27AA45C-761A-4C11-BB5A-70EA7EB59E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864038-5A82-4B43-83DD-2A9EF2249C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F87DFB-23A7-41E4-A1E7-73508C0B79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8FAEFFE-265A-4CDA-BCAA-0E80F5518B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24801F-6CA1-4C10-8D7D-7FC59C9765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F6509C-D583-4924-9910-E292CC6C3F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213333-6DC9-4E0C-975D-A8DEE0C031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9A5F63-62DF-4170-B2E9-6FC57676DB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788FB1-F61F-4C96-9FDA-8AAB036557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d67ae84dbc464b" /><Relationship Type="http://schemas.openxmlformats.org/officeDocument/2006/relationships/slideLayout" Target="/ppt/slideLayouts/slideLayout1.xml" Id="R9e06f88ed2f0435b" /><Relationship Type="http://schemas.openxmlformats.org/officeDocument/2006/relationships/slideLayout" Target="/ppt/slideLayouts/slideLayout2.xml" Id="Ra016ebfcf60e487c" /><Relationship Type="http://schemas.openxmlformats.org/officeDocument/2006/relationships/slideLayout" Target="/ppt/slideLayouts/slideLayout3.xml" Id="Rdc9a522aca114706" /><Relationship Type="http://schemas.openxmlformats.org/officeDocument/2006/relationships/slideLayout" Target="/ppt/slideLayouts/slideLayout4.xml" Id="Rd2f4318839d64eca" /><Relationship Type="http://schemas.openxmlformats.org/officeDocument/2006/relationships/slideLayout" Target="/ppt/slideLayouts/slideLayout5.xml" Id="R2b4342f1e1734256" /><Relationship Type="http://schemas.openxmlformats.org/officeDocument/2006/relationships/slideLayout" Target="/ppt/slideLayouts/slideLayout6.xml" Id="R21132a34bd9d4e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06f88ed2f0435b"/>
    <p:sldLayoutId xmlns:r="http://schemas.openxmlformats.org/officeDocument/2006/relationships" id="2147483650" r:id="Ra016ebfcf60e487c"/>
    <p:sldLayoutId xmlns:r="http://schemas.openxmlformats.org/officeDocument/2006/relationships" id="2147483651" r:id="Rdc9a522aca114706"/>
    <p:sldLayoutId xmlns:r="http://schemas.openxmlformats.org/officeDocument/2006/relationships" id="2147483652" r:id="Rd2f4318839d64eca"/>
    <p:sldLayoutId xmlns:r="http://schemas.openxmlformats.org/officeDocument/2006/relationships" id="2147483653" r:id="R2b4342f1e1734256"/>
    <p:sldLayoutId xmlns:r="http://schemas.openxmlformats.org/officeDocument/2006/relationships" id="2147483654" r:id="R21132a34bd9d4e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b3f3c57e634349" /><Relationship Type="http://schemas.openxmlformats.org/officeDocument/2006/relationships/image" Target="/ppt/media/image.png" Id="R05f54a82805e475f" /><Relationship Type="http://schemas.openxmlformats.org/officeDocument/2006/relationships/image" Target="/ppt/media/image2.png" Id="Rcde96bdf32eb466c" /><Relationship Type="http://schemas.openxmlformats.org/officeDocument/2006/relationships/image" Target="/ppt/media/image3.png" Id="R4f325a5d38f1417d" /><Relationship Type="http://schemas.openxmlformats.org/officeDocument/2006/relationships/image" Target="/ppt/media/image4.png" Id="Ra387a87634e54e95" /><Relationship Type="http://schemas.openxmlformats.org/officeDocument/2006/relationships/image" Target="/ppt/media/image5.png" Id="R8ecf9ca52bdb413b" /><Relationship Type="http://schemas.openxmlformats.org/officeDocument/2006/relationships/notesSlide" Target="/ppt/notesSlides/notesSlide1.xml" Id="R58915ca0ba5e44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55237-EBDE-4555-B6D4-2F044F25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648"/>
                </a:solidFill>
                <a:latin typeface="Arial"/>
                <a:ea typeface="Arial"/>
                <a:cs typeface="Arial"/>
              </a:rPr>
              <a:t>METHOD / RELATIVE POSITION IN MoMHA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F2600-E972-461D-A124-CB6AA81F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W and the relative-position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2D331-0D6E-4D5C-8AC2-8AE2E079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92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Five tokens, W =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0078D-64C2-420F-8B40-446709CC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Rows: query position i     Columns: key position j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E10DD-7E5A-4544-8DCE-4475519ABA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54a82805e475f"/>
          <a:stretch xmlns:a="http://schemas.openxmlformats.org/drawingml/2006/main"/>
        </p:blipFill>
        <p:spPr>
          <a:xfrm xmlns:a="http://schemas.openxmlformats.org/drawingml/2006/main">
            <a:off x="457200" y="2562195"/>
            <a:ext cx="5715000" cy="2343211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B2B0A-622B-488A-A0AC-E1DED54821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96bdf32eb466c"/>
          <a:stretch xmlns:a="http://schemas.openxmlformats.org/drawingml/2006/main"/>
        </p:blipFill>
        <p:spPr>
          <a:xfrm xmlns:a="http://schemas.openxmlformats.org/drawingml/2006/main">
            <a:off x="6800850" y="1478161"/>
            <a:ext cx="4933950" cy="49172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6947E-76F3-417A-B20A-04CA9EC4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90750"/>
            <a:ext cx="4933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δᵢⱼ: fixed distance label at row i, column j.</a:t>
            </a:r>
          </a:p>
          <a:p xmlns:a="http://schemas.openxmlformats.org/drawingml/2006/main">
            <a:pPr>
              <a:defRPr sz="180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Δ: the complete relative-position matrix.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8129D-484A-49A9-A896-B10DCF6C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933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Each label selects a D-dimensional vector.</a:t>
            </a:r>
          </a:p>
          <a:p xmlns:a="http://schemas.openxmlformats.org/drawingml/2006/main">
            <a:pPr>
              <a:defRPr sz="180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The vector components are learned during</a:t>
            </a:r>
          </a:p>
          <a:p xmlns:a="http://schemas.openxmlformats.org/drawingml/2006/main">
            <a:pPr>
              <a:defRPr sz="180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training; the distance labels are not learned.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31E65-471B-45A3-BD5A-3DFC80FD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33850"/>
            <a:ext cx="493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Boxed entry: query 2, key 5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12874-6ACB-4385-B285-55CD265198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25a5d38f1417d"/>
          <a:stretch xmlns:a="http://schemas.openxmlformats.org/drawingml/2006/main"/>
        </p:blipFill>
        <p:spPr>
          <a:xfrm xmlns:a="http://schemas.openxmlformats.org/drawingml/2006/main">
            <a:off x="7107749" y="4552950"/>
            <a:ext cx="4320153" cy="38100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E4F2B-36C2-43E6-AADC-479454F452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7a87634e54e95"/>
          <a:stretch xmlns:a="http://schemas.openxmlformats.org/drawingml/2006/main"/>
        </p:blipFill>
        <p:spPr>
          <a:xfrm xmlns:a="http://schemas.openxmlformats.org/drawingml/2006/main">
            <a:off x="6800850" y="5084805"/>
            <a:ext cx="4933950" cy="40314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8AC59-4081-4D4F-A135-14AB2EDD8F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f9ca52bdb413b"/>
          <a:stretch xmlns:a="http://schemas.openxmlformats.org/drawingml/2006/main"/>
        </p:blipFill>
        <p:spPr>
          <a:xfrm xmlns:a="http://schemas.openxmlformats.org/drawingml/2006/main">
            <a:off x="558759" y="5476875"/>
            <a:ext cx="5607131" cy="9048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13C6F-39D5-4F37-BCA6-F62CBD0F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743575"/>
            <a:ext cx="493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The matrix contains offsets, not attention scores.</a:t>
            </a:r>
          </a:p>
          <a:p xmlns:a="http://schemas.openxmlformats.org/drawingml/2006/main">
            <a:pPr>
              <a:defRPr sz="165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All unmasked tokens remain available to attention.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D91DF-7138-4A0C-9A5F-86D433A9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5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5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5E"/>
                </a:solidFill>
                <a:latin typeface="Arial"/>
                <a:ea typeface="Arial"/>
                <a:cs typeface="Arial"/>
              </a:rPr>
              <a:t>SUT §3.1 and author code. Illustrative W = 2 clipping; batch, head, expert indices and masks omitted.</a:t>
            </a:r>
          </a:p>
        </p:txBody>
      </p:sp>
    </p:spTree>
    <p:extLst>
      <p:ext uri="{BB962C8B-B14F-4D97-AF65-F5344CB8AC3E}">
        <p14:creationId xmlns:p14="http://schemas.microsoft.com/office/powerpoint/2010/main" val="88589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2026-10-16T01:49:59.6950000Z</dcterms:created>
  <dcterms:modified xsi:type="dcterms:W3CDTF">2026-10-16T01:49:59.6950000Z</dcterms:modified>
</coreProperties>
</file>