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8" r:id="rId5"/>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spoken explanation: Both models learn when to stop refining a token. UT adds gate scores. SUT interprets its gate as taking a fraction of the probability mass still available, like repeatedly breaking the remaining part of a stick. Once enough mass has been assigned to stopping, the token stops updating. ACT encourages earlier stopping.</a:t>
            </a:r>
          </a:p>
          <a:p>
            <a:r>
              <a:t>Use one-token notation throughout. q_l is a gate output in [0,1]. C_0=0. SUT begins with m_0=1; p_l=q_l m_(l-1) is unconditional stopping probability and m_l=(1-q_l)m_(l-1) is survival mass. Therefore p_l=q_l product_(j&lt;l)(1-q_j), exactly the stick-breaking algebra in SUT Equation 2 with q=alpha-hat and p=alpha. Cumulative SUT stopping mass is 1-m_l. UT uses cumulative q instead. The two learned gates need not have equal values or identical parameterizations; UT uses a sigmoid-linear gate, SUT an MLP.</a:t>
            </a:r>
          </a:p>
          <a:p>
            <a:r>
              <a:t>UT N is the first depth at which the cumulative q exceeds its threshold, subject to a depth cap. Its last interpolation update uses R=1-sum_(j&lt;N)q_j. This remainder fills to one, not merely to the threshold. R is distinct from SUT survival mass m. The per-token ACT ponder cost is N+R. SUT Equation 4 is expected stopping depth, sum_l l p_l. Average per-token costs over token positions and multiply by the training coefficient in the total loss. The full SUT objective is L_ACT=(1/T)sum_i sum_l l alpha_l^(i). The public ACTWrapper includes a surviving-mass-at-current-depth term for finite-depth accounting. These training penalties are not measured FLOPs or wall-clock runtime.</a:t>
            </a:r>
          </a:p>
          <a:p>
            <a:r>
              <a:t>Threshold values are omitted to keep the distinction visible; SUT paper uses .999. The strip illustration is a newly generated conceptual teaching aid, not an original paper figure or an empirical chart. Segment lengths are illustrative only. White area on the third strip denotes mass already assigned at a previous step, dark green newly assigned mass, pale green surviving mass.</a:t>
            </a:r>
          </a:p>
          <a:p/>
          <a:p>
            <a:r>
              <a:t>Sources:</a:t>
            </a:r>
          </a:p>
          <a:p>
            <a:r>
              <a:t>https://arxiv.org/pdf/1807.03819v3</a:t>
            </a:r>
          </a:p>
          <a:p>
            <a:r>
              <a:t>https://aclanthology.org/2023.emnlp-main.12.pdf</a:t>
            </a:r>
          </a:p>
          <a:p/>
          <a:p>
            <a:r>
              <a:t>LaTeX ut_acc: C_{\ell}=C_{\ell-1}+q_{\ell}</a:t>
            </a:r>
          </a:p>
          <a:p/>
          <a:p>
            <a:r>
              <a:t>LaTeX sut_break: p_{\ell}=q_{\ell}m_{\ell-1},\qquad m_{\ell}=(1-q_{\ell})m_{\ell-1}</a:t>
            </a:r>
          </a:p>
          <a:p/>
          <a:p>
            <a:r>
              <a:t>LaTeX ut_act: \rho_{\mathrm{UT}}=N+R,\qquad R=1-\sum_{j&lt;N}q_j</a:t>
            </a:r>
          </a:p>
          <a:p/>
          <a:p>
            <a:r>
              <a:t>LaTeX sut_act: \rho_{\mathrm{SUT}}=\sum_{\ell=1}^{L}\ell\,p_{\ell}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Suggested spoken explanation: Now both columns use x for the new block output and s for the combined output. UT combines the new x with the previous mixture s. SUT combines the surviving current x with explicitly weighted earlier x states. This is the difference in aggregation, not the fact that the block repeats. In SUT, an active query can read the combined states of other tokens, even if they have halted.</a:t>
            </a:r>
          </a:p>
          <a:p>
            <a:r>
              <a:t>UT formula comes from Appendix C new_state = update_weights * transformed_state + (1-update_weights) * previous_state. w_l is q_l before the last step, the remainder R on the last step, and zero after stopping. SUT Equation 3 becomes s_l=m_(l-1)x_l+sum_(j&lt;l)p_j x_j with m_(l-1)=1-sum_(j&lt;l)p_j. This uses exactly the original strict j&lt;l summation, avoiding an off-by-one interpretation that would count the current stopping probability twice. p_j=q_j product_(k&lt;j)(1-q_k).</a:t>
            </a:r>
          </a:p>
          <a:p>
            <a:r>
              <a:t>UT later factors (1-w_l) multiply the previous mixture, so older contributions are repeatedly rescaled. SUT exposes earlier stopping weights directly. Do not describe the original Graves ACT weighted sum as identical to UT Appendix C interpolation. UT raw transformed states, not merely its accumulated output, feed the next raw update in the Appendix C loop.</a:t>
            </a:r>
          </a:p>
          <a:p>
            <a:r>
              <a:t>In SUT Algorithm 1 the active query representation is raw h_(l-1)^(i) (our x), whereas K and V use S_(l-1), the matrix of combined states. Q/K/V here name inputs to projections, not already projected vectors. For a halted token, x and s are copied/no-op and remain available to other tokens, subject to attention masks. s need not itself be a LayerNorm output; it is a mixture of block outputs. This corrects the ambiguity in the previous three slides.</a:t>
            </a:r>
          </a:p>
          <a:p>
            <a:r>
              <a:t>The SUT paper has indexing edge cases around its pseudocode initialization; here we preserve Equation 3 and explain its state roles, rather than reproduce the first-iteration pseudocode literally.</a:t>
            </a:r>
          </a:p>
          <a:p/>
          <a:p>
            <a:r>
              <a:t>Sources:</a:t>
            </a:r>
          </a:p>
          <a:p>
            <a:r>
              <a:t>https://arxiv.org/pdf/1807.03819v3</a:t>
            </a:r>
          </a:p>
          <a:p>
            <a:r>
              <a:t>https://aclanthology.org/2023.emnlp-main.12.pdf</a:t>
            </a:r>
          </a:p>
          <a:p/>
          <a:p>
            <a:r>
              <a:t>LaTeX ut_mix: \mathbf{s}_{\ell}=\underbrace{w_{\ell}\mathbf{x}_{\ell}}_{\text{current block output}}+\underbrace{(1-w_{\ell})\mathbf{s}_{\ell-1}}_{\text{previous mixture}}</a:t>
            </a:r>
          </a:p>
          <a:p/>
          <a:p>
            <a:r>
              <a:t>LaTeX sut_mix: \mathbf{s}_{\ell}=\underbrace{m_{\ell-1}\mathbf{x}_{\ell}}_{\text{current surviving mass}}+\underbrace{\sum_{j&lt;\ell}p_j\mathbf{x}_j}_{\text{earlier stopping contributions}}</a:t>
            </a:r>
          </a:p>
          <a:p/>
          <a:p>
            <a:r>
              <a:t>LaTeX weights: w_{\ell}=q_{\ell}\;(\ell&lt;N),\qquad w_N=R</a:t>
            </a:r>
          </a:p>
          <a:p/>
          <a:p>
            <a:r>
              <a:t>LaTeX survival: m_{\ell-1}=1-\sum_{j&lt;\ell}p_j</a:t>
            </a:r>
          </a:p>
          <a:p/>
          <a:p>
            <a:r>
              <a:t>LaTeX attention: Q\leftarrow\mathbf{x}_{\ell-1}^{(i)},\qquad K,V\leftarrow\mathbf{S}_{\ell-1}</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a:lvl2pPr/>
            <a:lvl3pPr/>
            <a:lvl4pPr/>
            <a:lvl5pPr/>
            <a:lvl6pPr/>
            <a:lvl7pPr/>
            <a:lvl8p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a:lvl2pPr/>
            <a:lvl3pPr/>
            <a:lvl4pPr/>
            <a:lvl5pPr/>
            <a:lvl6pPr/>
            <a:lvl7pPr/>
            <a:lvl8p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a:lvl2pPr/>
            <a:lvl3pPr/>
            <a:lvl4pPr/>
            <a:lvl5pPr/>
            <a:lvl6pPr/>
            <a:lvl7pPr/>
            <a:lvl8p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a:lvl2pPr/>
            <a:lvl3pPr/>
            <a:lvl4pPr/>
            <a:lvl5pPr/>
            <a:lvl6pPr/>
            <a:lvl7pPr/>
            <a:lvl8p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a:lvl2pPr/>
            <a:lvl3pPr/>
            <a:lvl4pPr/>
            <a:lvl5pPr/>
            <a:lvl6pPr/>
            <a:lvl7pPr/>
            <a:lvl8p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a:lvl2pPr/>
            <a:lvl3pPr/>
            <a:lvl4pPr/>
            <a:lvl5pPr/>
            <a:lvl6pPr/>
            <a:lvl7pPr/>
            <a:lvl8p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a:lvl2pPr/>
            <a:lvl3pPr/>
            <a:lvl4pPr/>
            <a:lvl5pPr/>
            <a:lvl6pPr/>
            <a:lvl7pPr/>
            <a:lvl8p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0" Type="http://schemas.openxmlformats.org/officeDocument/2006/relationships/notesSlide" Target="../notesSlides/notesSlide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6.xml"/><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 name="矩形 15"/>
          <p:cNvSpPr>
            <a:spLocks noGrp="1"/>
          </p:cNvSpPr>
          <p:nvPr/>
        </p:nvSpPr>
        <p:spPr>
          <a:xfrm>
            <a:off x="457200" y="228600"/>
            <a:ext cx="11277600" cy="238125"/>
          </a:xfrm>
          <a:prstGeom prst="rect">
            <a:avLst/>
          </a:prstGeom>
          <a:noFill/>
          <a:ln w="0">
            <a:noFill/>
          </a:ln>
        </p:spPr>
        <p:txBody>
          <a:bodyPr/>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METHOD / HALTING AND SHARED DEPTH</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571500"/>
          </a:xfrm>
          <a:prstGeom prst="rect">
            <a:avLst/>
          </a:prstGeom>
          <a:noFill/>
          <a:ln w="0">
            <a:noFill/>
          </a:ln>
        </p:spPr>
        <p:txBody>
          <a:bodyPr/>
          <a:lstStyle>
            <a:defPPr>
              <a:defRPr sz="2925" b="1">
                <a:solidFill>
                  <a:srgbClr val="18352D"/>
                </a:solidFill>
                <a:latin typeface="Arial" panose="020B0604020202020204"/>
                <a:ea typeface="Arial" panose="020B0604020202020204"/>
                <a:cs typeface="Arial" panose="020B0604020202020204"/>
              </a:defRPr>
            </a:defPPr>
          </a:lstStyle>
          <a:p>
            <a:pPr>
              <a:defRPr sz="2925" b="1">
                <a:solidFill>
                  <a:srgbClr val="18352D"/>
                </a:solidFill>
                <a:latin typeface="Arial" panose="020B0604020202020204"/>
                <a:ea typeface="Arial" panose="020B0604020202020204"/>
                <a:cs typeface="Arial" panose="020B0604020202020204"/>
              </a:defRPr>
            </a:pPr>
            <a:r>
              <a:rPr sz="2925" b="1">
                <a:solidFill>
                  <a:srgbClr val="18352D"/>
                </a:solidFill>
                <a:latin typeface="Arial" panose="020B0604020202020204"/>
                <a:ea typeface="Arial" panose="020B0604020202020204"/>
                <a:cs typeface="Arial" panose="020B0604020202020204"/>
              </a:rPr>
              <a:t>Dynamic halting: addition versus stick breaking</a:t>
            </a:r>
            <a:endParaRPr sz="2925"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457200" y="1247775"/>
            <a:ext cx="11277600" cy="323850"/>
          </a:xfrm>
          <a:prstGeom prst="rect">
            <a:avLst/>
          </a:prstGeom>
          <a:noFill/>
          <a:ln w="0">
            <a:noFill/>
          </a:ln>
        </p:spPr>
        <p:txBody>
          <a:bodyPr/>
          <a:lstStyle>
            <a:defPPr>
              <a:defRPr sz="1650" b="0">
                <a:solidFill>
                  <a:srgbClr val="18352D"/>
                </a:solidFill>
                <a:latin typeface="Arial" panose="020B0604020202020204"/>
                <a:ea typeface="Arial" panose="020B0604020202020204"/>
                <a:cs typeface="Arial" panose="020B0604020202020204"/>
              </a:defRPr>
            </a:defPPr>
          </a:lstStyle>
          <a:p>
            <a:pPr>
              <a:defRPr sz="1650" b="0">
                <a:solidFill>
                  <a:srgbClr val="18352D"/>
                </a:solidFill>
                <a:latin typeface="Arial" panose="020B0604020202020204"/>
                <a:ea typeface="Arial" panose="020B0604020202020204"/>
                <a:cs typeface="Arial" panose="020B0604020202020204"/>
              </a:defRPr>
            </a:pPr>
            <a:r>
              <a:rPr sz="1650" b="0">
                <a:solidFill>
                  <a:srgbClr val="18352D"/>
                </a:solidFill>
                <a:latin typeface="Arial" panose="020B0604020202020204"/>
                <a:ea typeface="Arial" panose="020B0604020202020204"/>
                <a:cs typeface="Arial" panose="020B0604020202020204"/>
              </a:rPr>
              <a:t>One token across depth: q = gate output, m = remaining mass, p = mass assigned to stopping</a:t>
            </a:r>
            <a:endParaRPr sz="1650" b="0">
              <a:solidFill>
                <a:srgbClr val="18352D"/>
              </a:solidFill>
              <a:latin typeface="Arial" panose="020B0604020202020204"/>
              <a:ea typeface="Arial" panose="020B0604020202020204"/>
              <a:cs typeface="Arial" panose="020B0604020202020204"/>
            </a:endParaRPr>
          </a:p>
        </p:txBody>
      </p:sp>
      <p:sp>
        <p:nvSpPr>
          <p:cNvPr id="4" name="矩形 3"/>
          <p:cNvSpPr>
            <a:spLocks noGrp="1"/>
          </p:cNvSpPr>
          <p:nvPr/>
        </p:nvSpPr>
        <p:spPr>
          <a:xfrm>
            <a:off x="457200" y="1771650"/>
            <a:ext cx="5334000" cy="381000"/>
          </a:xfrm>
          <a:prstGeom prst="rect">
            <a:avLst/>
          </a:prstGeom>
          <a:noFill/>
          <a:ln w="0">
            <a:noFill/>
          </a:ln>
        </p:spPr>
        <p:txBody>
          <a:bodyPr/>
          <a:lstStyle>
            <a:defPPr>
              <a:defRPr sz="2175" b="1">
                <a:solidFill>
                  <a:srgbClr val="18352D"/>
                </a:solidFill>
                <a:latin typeface="Arial" panose="020B0604020202020204"/>
                <a:ea typeface="Arial" panose="020B0604020202020204"/>
                <a:cs typeface="Arial" panose="020B0604020202020204"/>
              </a:defRPr>
            </a:defPPr>
          </a:lstStyle>
          <a:p>
            <a:pPr>
              <a:defRPr sz="2175" b="1">
                <a:solidFill>
                  <a:srgbClr val="18352D"/>
                </a:solidFill>
                <a:latin typeface="Arial" panose="020B0604020202020204"/>
                <a:ea typeface="Arial" panose="020B0604020202020204"/>
                <a:cs typeface="Arial" panose="020B0604020202020204"/>
              </a:defRPr>
            </a:pPr>
            <a:r>
              <a:rPr sz="2175" b="1">
                <a:solidFill>
                  <a:srgbClr val="18352D"/>
                </a:solidFill>
                <a:latin typeface="Arial" panose="020B0604020202020204"/>
                <a:ea typeface="Arial" panose="020B0604020202020204"/>
                <a:cs typeface="Arial" panose="020B0604020202020204"/>
              </a:rPr>
              <a:t>UT: add the gate scores</a:t>
            </a:r>
            <a:endParaRPr sz="2175" b="1">
              <a:solidFill>
                <a:srgbClr val="18352D"/>
              </a:solidFill>
              <a:latin typeface="Arial" panose="020B0604020202020204"/>
              <a:ea typeface="Arial" panose="020B0604020202020204"/>
              <a:cs typeface="Arial" panose="020B0604020202020204"/>
            </a:endParaRPr>
          </a:p>
        </p:txBody>
      </p:sp>
      <p:sp>
        <p:nvSpPr>
          <p:cNvPr id="5" name="矩形 4"/>
          <p:cNvSpPr>
            <a:spLocks noGrp="1"/>
          </p:cNvSpPr>
          <p:nvPr/>
        </p:nvSpPr>
        <p:spPr>
          <a:xfrm>
            <a:off x="6400800" y="1771650"/>
            <a:ext cx="5334000" cy="381000"/>
          </a:xfrm>
          <a:prstGeom prst="rect">
            <a:avLst/>
          </a:prstGeom>
          <a:noFill/>
          <a:ln w="0">
            <a:noFill/>
          </a:ln>
        </p:spPr>
        <p:txBody>
          <a:bodyPr/>
          <a:lstStyle>
            <a:defPPr>
              <a:defRPr sz="2175" b="1">
                <a:solidFill>
                  <a:srgbClr val="18352D"/>
                </a:solidFill>
                <a:latin typeface="Arial" panose="020B0604020202020204"/>
                <a:ea typeface="Arial" panose="020B0604020202020204"/>
                <a:cs typeface="Arial" panose="020B0604020202020204"/>
              </a:defRPr>
            </a:defPPr>
          </a:lstStyle>
          <a:p>
            <a:pPr>
              <a:defRPr sz="2175" b="1">
                <a:solidFill>
                  <a:srgbClr val="18352D"/>
                </a:solidFill>
                <a:latin typeface="Arial" panose="020B0604020202020204"/>
                <a:ea typeface="Arial" panose="020B0604020202020204"/>
                <a:cs typeface="Arial" panose="020B0604020202020204"/>
              </a:defRPr>
            </a:pPr>
            <a:r>
              <a:rPr sz="2175" b="1">
                <a:solidFill>
                  <a:srgbClr val="18352D"/>
                </a:solidFill>
                <a:latin typeface="Arial" panose="020B0604020202020204"/>
                <a:ea typeface="Arial" panose="020B0604020202020204"/>
                <a:cs typeface="Arial" panose="020B0604020202020204"/>
              </a:rPr>
              <a:t>SUT: break the remaining mass</a:t>
            </a:r>
            <a:endParaRPr sz="2175" b="1">
              <a:solidFill>
                <a:srgbClr val="18352D"/>
              </a:solidFill>
              <a:latin typeface="Arial" panose="020B0604020202020204"/>
              <a:ea typeface="Arial" panose="020B0604020202020204"/>
              <a:cs typeface="Arial" panose="020B0604020202020204"/>
            </a:endParaRPr>
          </a:p>
        </p:txBody>
      </p:sp>
      <p:sp>
        <p:nvSpPr>
          <p:cNvPr id="8" name="矩形 7"/>
          <p:cNvSpPr>
            <a:spLocks noGrp="1"/>
          </p:cNvSpPr>
          <p:nvPr/>
        </p:nvSpPr>
        <p:spPr>
          <a:xfrm>
            <a:off x="623570" y="4076700"/>
            <a:ext cx="5334000" cy="752475"/>
          </a:xfrm>
          <a:prstGeom prst="rect">
            <a:avLst/>
          </a:prstGeom>
          <a:noFill/>
          <a:ln w="0">
            <a:noFill/>
          </a:ln>
        </p:spPr>
        <p:txBody>
          <a:bodyPr/>
          <a:lstStyle>
            <a:defPPr>
              <a:defRPr sz="1875" b="0">
                <a:solidFill>
                  <a:srgbClr val="18352D"/>
                </a:solidFill>
                <a:latin typeface="Arial" panose="020B0604020202020204"/>
                <a:ea typeface="Arial" panose="020B0604020202020204"/>
                <a:cs typeface="Arial" panose="020B0604020202020204"/>
              </a:defRPr>
            </a:defPPr>
          </a:lstStyle>
          <a:p>
            <a:pPr algn="l">
              <a:buClrTx/>
              <a:buSzTx/>
              <a:buFontTx/>
              <a:defRPr sz="1650" b="0">
                <a:solidFill>
                  <a:srgbClr val="18352D"/>
                </a:solidFill>
                <a:latin typeface="Arial" panose="020B0604020202020204"/>
                <a:ea typeface="Arial" panose="020B0604020202020204"/>
                <a:cs typeface="Arial" panose="020B0604020202020204"/>
              </a:defRPr>
            </a:pPr>
            <a:r>
              <a:rPr sz="1650" b="0">
                <a:solidFill>
                  <a:srgbClr val="18352D"/>
                </a:solidFill>
                <a:latin typeface="Arial" panose="020B0604020202020204"/>
                <a:ea typeface="Arial" panose="020B0604020202020204"/>
                <a:cs typeface="Arial" panose="020B0604020202020204"/>
              </a:rPr>
              <a:t>Stop at the threshold-crossing step N.</a:t>
            </a:r>
            <a:endParaRPr sz="1650" b="0">
              <a:solidFill>
                <a:srgbClr val="18352D"/>
              </a:solidFill>
              <a:latin typeface="Arial" panose="020B0604020202020204"/>
              <a:ea typeface="Arial" panose="020B0604020202020204"/>
              <a:cs typeface="Arial" panose="020B0604020202020204"/>
            </a:endParaRPr>
          </a:p>
          <a:p>
            <a:pPr algn="l">
              <a:buClrTx/>
              <a:buSzTx/>
              <a:buFontTx/>
              <a:defRPr sz="1650" b="0">
                <a:solidFill>
                  <a:srgbClr val="18352D"/>
                </a:solidFill>
                <a:latin typeface="Arial" panose="020B0604020202020204"/>
                <a:ea typeface="Arial" panose="020B0604020202020204"/>
                <a:cs typeface="Arial" panose="020B0604020202020204"/>
              </a:defRPr>
            </a:pPr>
            <a:r>
              <a:rPr sz="1650" b="0">
                <a:solidFill>
                  <a:srgbClr val="18352D"/>
                </a:solidFill>
                <a:latin typeface="Arial" panose="020B0604020202020204"/>
                <a:ea typeface="Arial" panose="020B0604020202020204"/>
                <a:cs typeface="Arial" panose="020B0604020202020204"/>
              </a:rPr>
              <a:t>Use the remainder R for the final update.</a:t>
            </a:r>
            <a:endParaRPr sz="1650" b="0">
              <a:solidFill>
                <a:srgbClr val="18352D"/>
              </a:solidFill>
              <a:latin typeface="Arial" panose="020B0604020202020204"/>
              <a:ea typeface="Arial" panose="020B0604020202020204"/>
              <a:cs typeface="Arial" panose="020B0604020202020204"/>
            </a:endParaRPr>
          </a:p>
        </p:txBody>
      </p:sp>
      <p:pic>
        <p:nvPicPr>
          <p:cNvPr id="9" name="图片 8"/>
          <p:cNvPicPr>
            <a:picLocks noChangeAspect="1"/>
          </p:cNvPicPr>
          <p:nvPr/>
        </p:nvPicPr>
        <p:blipFill>
          <a:blip r:embed="rId1"/>
          <a:stretch>
            <a:fillRect/>
          </a:stretch>
        </p:blipFill>
        <p:spPr>
          <a:xfrm>
            <a:off x="7546340" y="2162175"/>
            <a:ext cx="2564765" cy="1709420"/>
          </a:xfrm>
          <a:prstGeom prst="rect">
            <a:avLst/>
          </a:prstGeom>
        </p:spPr>
      </p:pic>
      <p:pic>
        <p:nvPicPr>
          <p:cNvPr id="10" name="图片 9"/>
          <p:cNvPicPr>
            <a:picLocks noChangeAspect="1"/>
          </p:cNvPicPr>
          <p:nvPr/>
        </p:nvPicPr>
        <p:blipFill>
          <a:blip r:embed="rId2"/>
          <a:stretch>
            <a:fillRect/>
          </a:stretch>
        </p:blipFill>
        <p:spPr>
          <a:xfrm>
            <a:off x="6384290" y="3789178"/>
            <a:ext cx="5334000" cy="342000"/>
          </a:xfrm>
          <a:prstGeom prst="rect">
            <a:avLst/>
          </a:prstGeom>
        </p:spPr>
      </p:pic>
      <p:sp>
        <p:nvSpPr>
          <p:cNvPr id="11" name="矩形 10"/>
          <p:cNvSpPr>
            <a:spLocks noGrp="1"/>
          </p:cNvSpPr>
          <p:nvPr/>
        </p:nvSpPr>
        <p:spPr>
          <a:xfrm>
            <a:off x="6311900" y="4220845"/>
            <a:ext cx="5334000" cy="457200"/>
          </a:xfrm>
          <a:prstGeom prst="rect">
            <a:avLst/>
          </a:prstGeom>
          <a:noFill/>
          <a:ln w="0">
            <a:noFill/>
          </a:ln>
        </p:spPr>
        <p:txBody>
          <a:bodyPr/>
          <a:lstStyle>
            <a:defPPr>
              <a:defRPr sz="1650" b="0">
                <a:solidFill>
                  <a:srgbClr val="18352D"/>
                </a:solidFill>
                <a:latin typeface="Arial" panose="020B0604020202020204"/>
                <a:ea typeface="Arial" panose="020B0604020202020204"/>
                <a:cs typeface="Arial" panose="020B0604020202020204"/>
              </a:defRPr>
            </a:defPPr>
          </a:lstStyle>
          <a:p>
            <a:pPr>
              <a:defRPr sz="1650" b="0">
                <a:solidFill>
                  <a:srgbClr val="18352D"/>
                </a:solidFill>
                <a:latin typeface="Arial" panose="020B0604020202020204"/>
                <a:ea typeface="Arial" panose="020B0604020202020204"/>
                <a:cs typeface="Arial" panose="020B0604020202020204"/>
              </a:defRPr>
            </a:pPr>
            <a:r>
              <a:rPr sz="1650" b="0">
                <a:solidFill>
                  <a:srgbClr val="18352D"/>
                </a:solidFill>
                <a:latin typeface="Arial" panose="020B0604020202020204"/>
                <a:ea typeface="Arial" panose="020B0604020202020204"/>
                <a:cs typeface="Arial" panose="020B0604020202020204"/>
              </a:rPr>
              <a:t>Stop when accumulated stopping mass reaches the threshold.</a:t>
            </a:r>
            <a:endParaRPr sz="1650" b="0">
              <a:solidFill>
                <a:srgbClr val="18352D"/>
              </a:solidFill>
              <a:latin typeface="Arial" panose="020B0604020202020204"/>
              <a:ea typeface="Arial" panose="020B0604020202020204"/>
              <a:cs typeface="Arial" panose="020B0604020202020204"/>
            </a:endParaRPr>
          </a:p>
        </p:txBody>
      </p:sp>
      <p:sp>
        <p:nvSpPr>
          <p:cNvPr id="12" name="矩形 11"/>
          <p:cNvSpPr>
            <a:spLocks noGrp="1"/>
          </p:cNvSpPr>
          <p:nvPr/>
        </p:nvSpPr>
        <p:spPr>
          <a:xfrm>
            <a:off x="551180" y="4796790"/>
            <a:ext cx="11277600" cy="352425"/>
          </a:xfrm>
          <a:prstGeom prst="rect">
            <a:avLst/>
          </a:prstGeom>
          <a:noFill/>
          <a:ln w="0">
            <a:noFill/>
          </a:ln>
        </p:spPr>
        <p:txBody>
          <a:bodyPr/>
          <a:lstStyle>
            <a:defPPr>
              <a:defRPr sz="1950" b="1">
                <a:solidFill>
                  <a:srgbClr val="246648"/>
                </a:solidFill>
                <a:latin typeface="Arial" panose="020B0604020202020204"/>
                <a:ea typeface="Arial" panose="020B0604020202020204"/>
                <a:cs typeface="Arial" panose="020B0604020202020204"/>
              </a:defRPr>
            </a:defPPr>
          </a:lstStyle>
          <a:p>
            <a:pPr>
              <a:defRPr sz="1950" b="1">
                <a:solidFill>
                  <a:srgbClr val="246648"/>
                </a:solidFill>
                <a:latin typeface="Arial" panose="020B0604020202020204"/>
                <a:ea typeface="Arial" panose="020B0604020202020204"/>
                <a:cs typeface="Arial" panose="020B0604020202020204"/>
              </a:defRPr>
            </a:pPr>
            <a:r>
              <a:rPr sz="1950" b="1">
                <a:solidFill>
                  <a:srgbClr val="246648"/>
                </a:solidFill>
                <a:latin typeface="Arial" panose="020B0604020202020204"/>
                <a:ea typeface="Arial" panose="020B0604020202020204"/>
                <a:cs typeface="Arial" panose="020B0604020202020204"/>
              </a:rPr>
              <a:t>ACT: penalize computation during training</a:t>
            </a:r>
            <a:endParaRPr sz="1950" b="1">
              <a:solidFill>
                <a:srgbClr val="246648"/>
              </a:solidFill>
              <a:latin typeface="Arial" panose="020B0604020202020204"/>
              <a:ea typeface="Arial" panose="020B0604020202020204"/>
              <a:cs typeface="Arial" panose="020B0604020202020204"/>
            </a:endParaRPr>
          </a:p>
        </p:txBody>
      </p:sp>
      <p:pic>
        <p:nvPicPr>
          <p:cNvPr id="14" name="图片 13"/>
          <p:cNvPicPr>
            <a:picLocks noChangeAspect="1"/>
          </p:cNvPicPr>
          <p:nvPr/>
        </p:nvPicPr>
        <p:blipFill>
          <a:blip r:embed="rId3"/>
          <a:stretch>
            <a:fillRect/>
          </a:stretch>
        </p:blipFill>
        <p:spPr>
          <a:xfrm>
            <a:off x="6456120" y="5142865"/>
            <a:ext cx="1346051" cy="628650"/>
          </a:xfrm>
          <a:prstGeom prst="rect">
            <a:avLst/>
          </a:prstGeom>
        </p:spPr>
      </p:pic>
      <p:sp>
        <p:nvSpPr>
          <p:cNvPr id="15" name="矩形 14"/>
          <p:cNvSpPr>
            <a:spLocks noGrp="1"/>
          </p:cNvSpPr>
          <p:nvPr/>
        </p:nvSpPr>
        <p:spPr>
          <a:xfrm>
            <a:off x="440690" y="6505575"/>
            <a:ext cx="11277600" cy="209550"/>
          </a:xfrm>
          <a:prstGeom prst="rect">
            <a:avLst/>
          </a:prstGeom>
          <a:noFill/>
          <a:ln w="0">
            <a:noFill/>
          </a:ln>
        </p:spPr>
        <p:txBody>
          <a:bodyPr/>
          <a:lstStyle>
            <a:defPPr>
              <a:defRPr sz="1125" b="0">
                <a:solidFill>
                  <a:srgbClr val="53655E"/>
                </a:solidFill>
                <a:latin typeface="Arial" panose="020B0604020202020204"/>
                <a:ea typeface="Arial" panose="020B0604020202020204"/>
                <a:cs typeface="Arial" panose="020B0604020202020204"/>
              </a:defRPr>
            </a:defPPr>
          </a:lstStyle>
          <a:p>
            <a:pPr>
              <a:defRPr sz="1125" b="0">
                <a:solidFill>
                  <a:srgbClr val="53655E"/>
                </a:solidFill>
                <a:latin typeface="Arial" panose="020B0604020202020204"/>
                <a:ea typeface="Arial" panose="020B0604020202020204"/>
                <a:cs typeface="Arial" panose="020B0604020202020204"/>
              </a:defRPr>
            </a:pPr>
            <a:r>
              <a:rPr sz="1125" b="0">
                <a:solidFill>
                  <a:srgbClr val="53655E"/>
                </a:solidFill>
                <a:latin typeface="Arial" panose="020B0604020202020204"/>
                <a:ea typeface="Arial" panose="020B0604020202020204"/>
                <a:cs typeface="Arial" panose="020B0604020202020204"/>
              </a:rPr>
              <a:t>Aligned notation, one-token costs. N = stopping depth; R = final UT remainder. SUT ACT = expected depth.</a:t>
            </a:r>
            <a:endParaRPr sz="1125" b="0">
              <a:solidFill>
                <a:srgbClr val="53655E"/>
              </a:solidFill>
              <a:latin typeface="Arial" panose="020B0604020202020204"/>
              <a:ea typeface="Arial" panose="020B0604020202020204"/>
              <a:cs typeface="Arial" panose="020B0604020202020204"/>
            </a:endParaRPr>
          </a:p>
        </p:txBody>
      </p:sp>
      <p:pic>
        <p:nvPicPr>
          <p:cNvPr id="17" name="图片 16"/>
          <p:cNvPicPr>
            <a:picLocks noChangeAspect="1"/>
          </p:cNvPicPr>
          <p:nvPr/>
        </p:nvPicPr>
        <p:blipFill>
          <a:blip r:embed="rId4"/>
          <a:stretch>
            <a:fillRect/>
          </a:stretch>
        </p:blipFill>
        <p:spPr>
          <a:xfrm>
            <a:off x="695325" y="2204720"/>
            <a:ext cx="3300095" cy="290195"/>
          </a:xfrm>
          <a:prstGeom prst="rect">
            <a:avLst/>
          </a:prstGeom>
        </p:spPr>
      </p:pic>
      <p:pic>
        <p:nvPicPr>
          <p:cNvPr id="18" name="图片 17"/>
          <p:cNvPicPr>
            <a:picLocks noChangeAspect="1"/>
          </p:cNvPicPr>
          <p:nvPr/>
        </p:nvPicPr>
        <p:blipFill>
          <a:blip r:embed="rId5"/>
          <a:stretch>
            <a:fillRect/>
          </a:stretch>
        </p:blipFill>
        <p:spPr>
          <a:xfrm>
            <a:off x="695325" y="2636520"/>
            <a:ext cx="4805045" cy="586105"/>
          </a:xfrm>
          <a:prstGeom prst="rect">
            <a:avLst/>
          </a:prstGeom>
        </p:spPr>
      </p:pic>
      <p:pic>
        <p:nvPicPr>
          <p:cNvPr id="19" name="图片 18"/>
          <p:cNvPicPr>
            <a:picLocks noChangeAspect="1"/>
          </p:cNvPicPr>
          <p:nvPr/>
        </p:nvPicPr>
        <p:blipFill>
          <a:blip r:embed="rId6"/>
          <a:srcRect r="46660" b="-25444"/>
          <a:stretch>
            <a:fillRect/>
          </a:stretch>
        </p:blipFill>
        <p:spPr>
          <a:xfrm>
            <a:off x="695325" y="3457575"/>
            <a:ext cx="1644650" cy="290195"/>
          </a:xfrm>
          <a:prstGeom prst="rect">
            <a:avLst/>
          </a:prstGeom>
        </p:spPr>
      </p:pic>
      <p:pic>
        <p:nvPicPr>
          <p:cNvPr id="20" name="图片 19"/>
          <p:cNvPicPr>
            <a:picLocks noChangeAspect="1"/>
          </p:cNvPicPr>
          <p:nvPr/>
        </p:nvPicPr>
        <p:blipFill>
          <a:blip r:embed="rId7"/>
          <a:srcRect r="-442"/>
          <a:stretch>
            <a:fillRect/>
          </a:stretch>
        </p:blipFill>
        <p:spPr>
          <a:xfrm>
            <a:off x="191770" y="5158105"/>
            <a:ext cx="5599430" cy="603885"/>
          </a:xfrm>
          <a:prstGeom prst="rect">
            <a:avLst/>
          </a:prstGeom>
        </p:spPr>
      </p:pic>
      <p:cxnSp>
        <p:nvCxnSpPr>
          <p:cNvPr id="22" name="直接连接符 21"/>
          <p:cNvCxnSpPr/>
          <p:nvPr/>
        </p:nvCxnSpPr>
        <p:spPr>
          <a:xfrm flipV="1">
            <a:off x="407670" y="4785995"/>
            <a:ext cx="11626850" cy="32385"/>
          </a:xfrm>
          <a:prstGeom prst="line">
            <a:avLst/>
          </a:prstGeom>
        </p:spPr>
        <p:style>
          <a:lnRef idx="2">
            <a:schemeClr val="accent1"/>
          </a:lnRef>
          <a:fillRef idx="0">
            <a:srgbClr val="FFFFFF"/>
          </a:fillRef>
          <a:effectRef idx="0">
            <a:srgbClr val="FFFFFF"/>
          </a:effectRef>
          <a:fontRef idx="minor">
            <a:schemeClr val="tx1"/>
          </a:fontRef>
        </p:style>
      </p:cxnSp>
      <p:cxnSp>
        <p:nvCxnSpPr>
          <p:cNvPr id="23" name="直接连接符 22"/>
          <p:cNvCxnSpPr/>
          <p:nvPr/>
        </p:nvCxnSpPr>
        <p:spPr>
          <a:xfrm>
            <a:off x="5941060" y="1831975"/>
            <a:ext cx="10795" cy="3901440"/>
          </a:xfrm>
          <a:prstGeom prst="line">
            <a:avLst/>
          </a:prstGeom>
          <a:ln w="28575" cmpd="sng">
            <a:solidFill>
              <a:schemeClr val="accent1">
                <a:shade val="50000"/>
              </a:schemeClr>
            </a:solidFill>
            <a:prstDash val="sysDot"/>
          </a:ln>
        </p:spPr>
        <p:style>
          <a:lnRef idx="2">
            <a:schemeClr val="accent1"/>
          </a:lnRef>
          <a:fillRef idx="0">
            <a:srgbClr val="FFFFFF"/>
          </a:fillRef>
          <a:effectRef idx="0">
            <a:srgbClr val="FFFFFF"/>
          </a:effectRef>
          <a:fontRef idx="minor">
            <a:schemeClr val="tx1"/>
          </a:fontRef>
        </p:style>
      </p:cxnSp>
      <p:pic>
        <p:nvPicPr>
          <p:cNvPr id="25" name="图片 24"/>
          <p:cNvPicPr>
            <a:picLocks noChangeAspect="1"/>
          </p:cNvPicPr>
          <p:nvPr/>
        </p:nvPicPr>
        <p:blipFill>
          <a:blip r:embed="rId8"/>
          <a:srcRect l="48023"/>
          <a:stretch>
            <a:fillRect/>
          </a:stretch>
        </p:blipFill>
        <p:spPr>
          <a:xfrm>
            <a:off x="5048185" y="5856605"/>
            <a:ext cx="1796480" cy="619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457200" y="228600"/>
            <a:ext cx="11277600" cy="238125"/>
          </a:xfrm>
          <a:prstGeom prst="rect">
            <a:avLst/>
          </a:prstGeom>
          <a:noFill/>
          <a:ln w="0">
            <a:noFill/>
          </a:ln>
        </p:spPr>
        <p:txBody>
          <a:bodyPr/>
          <a:lstStyle>
            <a:defPPr>
              <a:defRPr sz="1275" b="1">
                <a:solidFill>
                  <a:srgbClr val="246648"/>
                </a:solidFill>
                <a:latin typeface="Arial" panose="020B0604020202020204"/>
                <a:ea typeface="Arial" panose="020B0604020202020204"/>
                <a:cs typeface="Arial" panose="020B0604020202020204"/>
              </a:defRPr>
            </a:defPPr>
          </a:lstStyle>
          <a:p>
            <a:pPr>
              <a:defRPr sz="1275" b="1">
                <a:solidFill>
                  <a:srgbClr val="246648"/>
                </a:solidFill>
                <a:latin typeface="Arial" panose="020B0604020202020204"/>
                <a:ea typeface="Arial" panose="020B0604020202020204"/>
                <a:cs typeface="Arial" panose="020B0604020202020204"/>
              </a:defRPr>
            </a:pPr>
            <a:r>
              <a:rPr sz="1275" b="1">
                <a:solidFill>
                  <a:srgbClr val="246648"/>
                </a:solidFill>
                <a:latin typeface="Arial" panose="020B0604020202020204"/>
                <a:ea typeface="Arial" panose="020B0604020202020204"/>
                <a:cs typeface="Arial" panose="020B0604020202020204"/>
              </a:rPr>
              <a:t>METHOD / HALTING AND SHARED DEPTH</a:t>
            </a:r>
            <a:endParaRPr sz="1275" b="1">
              <a:solidFill>
                <a:srgbClr val="246648"/>
              </a:solidFill>
              <a:latin typeface="Arial" panose="020B0604020202020204"/>
              <a:ea typeface="Arial" panose="020B0604020202020204"/>
              <a:cs typeface="Arial" panose="020B0604020202020204"/>
            </a:endParaRPr>
          </a:p>
        </p:txBody>
      </p:sp>
      <p:sp>
        <p:nvSpPr>
          <p:cNvPr id="2" name="矩形 1"/>
          <p:cNvSpPr>
            <a:spLocks noGrp="1"/>
          </p:cNvSpPr>
          <p:nvPr/>
        </p:nvSpPr>
        <p:spPr>
          <a:xfrm>
            <a:off x="457200" y="581025"/>
            <a:ext cx="11277600" cy="571500"/>
          </a:xfrm>
          <a:prstGeom prst="rect">
            <a:avLst/>
          </a:prstGeom>
          <a:noFill/>
          <a:ln w="0">
            <a:noFill/>
          </a:ln>
        </p:spPr>
        <p:txBody>
          <a:bodyPr/>
          <a:lstStyle>
            <a:defPPr>
              <a:defRPr sz="2925" b="1">
                <a:solidFill>
                  <a:srgbClr val="18352D"/>
                </a:solidFill>
                <a:latin typeface="Arial" panose="020B0604020202020204"/>
                <a:ea typeface="Arial" panose="020B0604020202020204"/>
                <a:cs typeface="Arial" panose="020B0604020202020204"/>
              </a:defRPr>
            </a:defPPr>
          </a:lstStyle>
          <a:p>
            <a:pPr>
              <a:defRPr sz="2925" b="1">
                <a:solidFill>
                  <a:srgbClr val="18352D"/>
                </a:solidFill>
                <a:latin typeface="Arial" panose="020B0604020202020204"/>
                <a:ea typeface="Arial" panose="020B0604020202020204"/>
                <a:cs typeface="Arial" panose="020B0604020202020204"/>
              </a:defRPr>
            </a:pPr>
            <a:r>
              <a:rPr sz="2925" b="1">
                <a:solidFill>
                  <a:srgbClr val="18352D"/>
                </a:solidFill>
                <a:latin typeface="Arial" panose="020B0604020202020204"/>
                <a:ea typeface="Arial" panose="020B0604020202020204"/>
                <a:cs typeface="Arial" panose="020B0604020202020204"/>
              </a:rPr>
              <a:t>State aggregation: compare the same quantities</a:t>
            </a:r>
            <a:endParaRPr sz="2925" b="1">
              <a:solidFill>
                <a:srgbClr val="18352D"/>
              </a:solidFill>
              <a:latin typeface="Arial" panose="020B0604020202020204"/>
              <a:ea typeface="Arial" panose="020B0604020202020204"/>
              <a:cs typeface="Arial" panose="020B0604020202020204"/>
            </a:endParaRPr>
          </a:p>
        </p:txBody>
      </p:sp>
      <p:sp>
        <p:nvSpPr>
          <p:cNvPr id="3" name="矩形 2"/>
          <p:cNvSpPr>
            <a:spLocks noGrp="1"/>
          </p:cNvSpPr>
          <p:nvPr/>
        </p:nvSpPr>
        <p:spPr>
          <a:xfrm>
            <a:off x="457200" y="1247775"/>
            <a:ext cx="11277600" cy="323850"/>
          </a:xfrm>
          <a:prstGeom prst="rect">
            <a:avLst/>
          </a:prstGeom>
          <a:noFill/>
          <a:ln w="0">
            <a:noFill/>
          </a:ln>
        </p:spPr>
        <p:txBody>
          <a:bodyPr/>
          <a:lstStyle>
            <a:defPPr>
              <a:defRPr sz="1650" b="0">
                <a:solidFill>
                  <a:srgbClr val="18352D"/>
                </a:solidFill>
                <a:latin typeface="Arial" panose="020B0604020202020204"/>
                <a:ea typeface="Arial" panose="020B0604020202020204"/>
                <a:cs typeface="Arial" panose="020B0604020202020204"/>
              </a:defRPr>
            </a:defPPr>
          </a:lstStyle>
          <a:p>
            <a:pPr>
              <a:defRPr sz="1650" b="0">
                <a:solidFill>
                  <a:srgbClr val="18352D"/>
                </a:solidFill>
                <a:latin typeface="Arial" panose="020B0604020202020204"/>
                <a:ea typeface="Arial" panose="020B0604020202020204"/>
                <a:cs typeface="Arial" panose="020B0604020202020204"/>
              </a:defRPr>
            </a:pPr>
            <a:r>
              <a:rPr sz="1650" b="0">
                <a:solidFill>
                  <a:srgbClr val="18352D"/>
                </a:solidFill>
                <a:latin typeface="Arial" panose="020B0604020202020204"/>
                <a:ea typeface="Arial" panose="020B0604020202020204"/>
                <a:cs typeface="Arial" panose="020B0604020202020204"/>
              </a:rPr>
              <a:t>Same symbols in both columns: x = block output, s = combined state, l = refinement depth</a:t>
            </a:r>
            <a:endParaRPr sz="1650" b="0">
              <a:solidFill>
                <a:srgbClr val="18352D"/>
              </a:solidFill>
              <a:latin typeface="Arial" panose="020B0604020202020204"/>
              <a:ea typeface="Arial" panose="020B0604020202020204"/>
              <a:cs typeface="Arial" panose="020B0604020202020204"/>
            </a:endParaRPr>
          </a:p>
        </p:txBody>
      </p:sp>
      <p:sp>
        <p:nvSpPr>
          <p:cNvPr id="4" name="矩形 3"/>
          <p:cNvSpPr>
            <a:spLocks noGrp="1"/>
          </p:cNvSpPr>
          <p:nvPr/>
        </p:nvSpPr>
        <p:spPr>
          <a:xfrm>
            <a:off x="457200" y="1762125"/>
            <a:ext cx="5334000" cy="381000"/>
          </a:xfrm>
          <a:prstGeom prst="rect">
            <a:avLst/>
          </a:prstGeom>
          <a:noFill/>
          <a:ln w="0">
            <a:noFill/>
          </a:ln>
        </p:spPr>
        <p:txBody>
          <a:bodyPr/>
          <a:lstStyle>
            <a:defPPr>
              <a:defRPr sz="2100" b="1">
                <a:solidFill>
                  <a:srgbClr val="18352D"/>
                </a:solidFill>
                <a:latin typeface="Arial" panose="020B0604020202020204"/>
                <a:ea typeface="Arial" panose="020B0604020202020204"/>
                <a:cs typeface="Arial" panose="020B0604020202020204"/>
              </a:defRPr>
            </a:defPPr>
          </a:lstStyle>
          <a:p>
            <a:pPr>
              <a:defRPr sz="2100" b="1">
                <a:solidFill>
                  <a:srgbClr val="18352D"/>
                </a:solidFill>
                <a:latin typeface="Arial" panose="020B0604020202020204"/>
                <a:ea typeface="Arial" panose="020B0604020202020204"/>
                <a:cs typeface="Arial" panose="020B0604020202020204"/>
              </a:defRPr>
            </a:pPr>
            <a:r>
              <a:rPr sz="2100" b="1">
                <a:solidFill>
                  <a:srgbClr val="18352D"/>
                </a:solidFill>
                <a:latin typeface="Arial" panose="020B0604020202020204"/>
                <a:ea typeface="Arial" panose="020B0604020202020204"/>
                <a:cs typeface="Arial" panose="020B0604020202020204"/>
              </a:rPr>
              <a:t>UT: update the previous mixture</a:t>
            </a:r>
            <a:endParaRPr sz="2100" b="1">
              <a:solidFill>
                <a:srgbClr val="18352D"/>
              </a:solidFill>
              <a:latin typeface="Arial" panose="020B0604020202020204"/>
              <a:ea typeface="Arial" panose="020B0604020202020204"/>
              <a:cs typeface="Arial" panose="020B0604020202020204"/>
            </a:endParaRPr>
          </a:p>
        </p:txBody>
      </p:sp>
      <p:sp>
        <p:nvSpPr>
          <p:cNvPr id="5" name="矩形 4"/>
          <p:cNvSpPr>
            <a:spLocks noGrp="1"/>
          </p:cNvSpPr>
          <p:nvPr/>
        </p:nvSpPr>
        <p:spPr>
          <a:xfrm>
            <a:off x="6400800" y="1762125"/>
            <a:ext cx="5334000" cy="381000"/>
          </a:xfrm>
          <a:prstGeom prst="rect">
            <a:avLst/>
          </a:prstGeom>
          <a:noFill/>
          <a:ln w="0">
            <a:noFill/>
          </a:ln>
        </p:spPr>
        <p:txBody>
          <a:bodyPr/>
          <a:lstStyle>
            <a:defPPr>
              <a:defRPr sz="2100" b="1">
                <a:solidFill>
                  <a:srgbClr val="18352D"/>
                </a:solidFill>
                <a:latin typeface="Arial" panose="020B0604020202020204"/>
                <a:ea typeface="Arial" panose="020B0604020202020204"/>
                <a:cs typeface="Arial" panose="020B0604020202020204"/>
              </a:defRPr>
            </a:defPPr>
          </a:lstStyle>
          <a:p>
            <a:pPr>
              <a:defRPr sz="2100" b="1">
                <a:solidFill>
                  <a:srgbClr val="18352D"/>
                </a:solidFill>
                <a:latin typeface="Arial" panose="020B0604020202020204"/>
                <a:ea typeface="Arial" panose="020B0604020202020204"/>
                <a:cs typeface="Arial" panose="020B0604020202020204"/>
              </a:defRPr>
            </a:pPr>
            <a:r>
              <a:rPr sz="2100" b="1">
                <a:solidFill>
                  <a:srgbClr val="18352D"/>
                </a:solidFill>
                <a:latin typeface="Arial" panose="020B0604020202020204"/>
                <a:ea typeface="Arial" panose="020B0604020202020204"/>
                <a:cs typeface="Arial" panose="020B0604020202020204"/>
              </a:rPr>
              <a:t>SUT: retain explicit stopping weights</a:t>
            </a:r>
            <a:endParaRPr sz="2100" b="1">
              <a:solidFill>
                <a:srgbClr val="18352D"/>
              </a:solidFill>
              <a:latin typeface="Arial" panose="020B0604020202020204"/>
              <a:ea typeface="Arial" panose="020B0604020202020204"/>
              <a:cs typeface="Arial" panose="020B0604020202020204"/>
            </a:endParaRPr>
          </a:p>
        </p:txBody>
      </p:sp>
      <p:pic>
        <p:nvPicPr>
          <p:cNvPr id="7" name="图片 6"/>
          <p:cNvPicPr>
            <a:picLocks noChangeAspect="1"/>
          </p:cNvPicPr>
          <p:nvPr/>
        </p:nvPicPr>
        <p:blipFill>
          <a:blip r:embed="rId1"/>
          <a:stretch>
            <a:fillRect/>
          </a:stretch>
        </p:blipFill>
        <p:spPr>
          <a:xfrm>
            <a:off x="6573040" y="2305050"/>
            <a:ext cx="4989520" cy="990600"/>
          </a:xfrm>
          <a:prstGeom prst="rect">
            <a:avLst/>
          </a:prstGeom>
        </p:spPr>
      </p:pic>
      <p:pic>
        <p:nvPicPr>
          <p:cNvPr id="9" name="图片 8"/>
          <p:cNvPicPr>
            <a:picLocks noChangeAspect="1"/>
          </p:cNvPicPr>
          <p:nvPr/>
        </p:nvPicPr>
        <p:blipFill>
          <a:blip r:embed="rId2"/>
          <a:stretch>
            <a:fillRect/>
          </a:stretch>
        </p:blipFill>
        <p:spPr>
          <a:xfrm>
            <a:off x="8196008" y="3457575"/>
            <a:ext cx="1743584" cy="523875"/>
          </a:xfrm>
          <a:prstGeom prst="rect">
            <a:avLst/>
          </a:prstGeom>
        </p:spPr>
      </p:pic>
      <p:sp>
        <p:nvSpPr>
          <p:cNvPr id="11" name="矩形 10"/>
          <p:cNvSpPr>
            <a:spLocks noGrp="1"/>
          </p:cNvSpPr>
          <p:nvPr/>
        </p:nvSpPr>
        <p:spPr>
          <a:xfrm>
            <a:off x="6400800" y="4143375"/>
            <a:ext cx="5334000" cy="352425"/>
          </a:xfrm>
          <a:prstGeom prst="rect">
            <a:avLst/>
          </a:prstGeom>
          <a:noFill/>
          <a:ln w="0">
            <a:noFill/>
          </a:ln>
        </p:spPr>
        <p:txBody>
          <a:bodyPr/>
          <a:lstStyle>
            <a:defPPr>
              <a:defRPr sz="1725" b="0">
                <a:solidFill>
                  <a:srgbClr val="18352D"/>
                </a:solidFill>
                <a:latin typeface="Arial" panose="020B0604020202020204"/>
                <a:ea typeface="Arial" panose="020B0604020202020204"/>
                <a:cs typeface="Arial" panose="020B0604020202020204"/>
              </a:defRPr>
            </a:defPPr>
          </a:lstStyle>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Earlier block outputs keep their stopping weights.</a:t>
            </a:r>
            <a:endParaRPr sz="1725" b="0">
              <a:solidFill>
                <a:srgbClr val="18352D"/>
              </a:solidFill>
              <a:latin typeface="Arial" panose="020B0604020202020204"/>
              <a:ea typeface="Arial" panose="020B0604020202020204"/>
              <a:cs typeface="Arial" panose="020B0604020202020204"/>
            </a:endParaRPr>
          </a:p>
        </p:txBody>
      </p:sp>
      <p:pic>
        <p:nvPicPr>
          <p:cNvPr id="14" name="图片 13"/>
          <p:cNvPicPr>
            <a:picLocks noChangeAspect="1"/>
          </p:cNvPicPr>
          <p:nvPr/>
        </p:nvPicPr>
        <p:blipFill>
          <a:blip r:embed="rId3"/>
          <a:stretch>
            <a:fillRect/>
          </a:stretch>
        </p:blipFill>
        <p:spPr>
          <a:xfrm>
            <a:off x="6644947" y="4648200"/>
            <a:ext cx="2083457" cy="1647825"/>
          </a:xfrm>
          <a:prstGeom prst="rect">
            <a:avLst/>
          </a:prstGeom>
        </p:spPr>
      </p:pic>
      <p:sp>
        <p:nvSpPr>
          <p:cNvPr id="15" name="矩形 14"/>
          <p:cNvSpPr>
            <a:spLocks noGrp="1"/>
          </p:cNvSpPr>
          <p:nvPr/>
        </p:nvSpPr>
        <p:spPr>
          <a:xfrm>
            <a:off x="9201150" y="4772025"/>
            <a:ext cx="2533650" cy="876300"/>
          </a:xfrm>
          <a:prstGeom prst="rect">
            <a:avLst/>
          </a:prstGeom>
          <a:noFill/>
          <a:ln w="0">
            <a:noFill/>
          </a:ln>
        </p:spPr>
        <p:txBody>
          <a:bodyPr/>
          <a:lstStyle>
            <a:defPPr>
              <a:defRPr sz="1725" b="0">
                <a:solidFill>
                  <a:srgbClr val="18352D"/>
                </a:solidFill>
                <a:latin typeface="Arial" panose="020B0604020202020204"/>
                <a:ea typeface="Arial" panose="020B0604020202020204"/>
                <a:cs typeface="Arial" panose="020B0604020202020204"/>
              </a:defRPr>
            </a:defPPr>
          </a:lstStyle>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SUT attention reads</a:t>
            </a:r>
            <a:endParaRPr sz="1725" b="0">
              <a:solidFill>
                <a:srgbClr val="18352D"/>
              </a:solidFill>
              <a:latin typeface="Arial" panose="020B0604020202020204"/>
              <a:ea typeface="Arial" panose="020B0604020202020204"/>
              <a:cs typeface="Arial" panose="020B0604020202020204"/>
            </a:endParaRPr>
          </a:p>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combined states from</a:t>
            </a:r>
            <a:endParaRPr sz="1725" b="0">
              <a:solidFill>
                <a:srgbClr val="18352D"/>
              </a:solidFill>
              <a:latin typeface="Arial" panose="020B0604020202020204"/>
              <a:ea typeface="Arial" panose="020B0604020202020204"/>
              <a:cs typeface="Arial" panose="020B0604020202020204"/>
            </a:endParaRPr>
          </a:p>
          <a:p>
            <a:pPr>
              <a:defRPr sz="1725" b="0">
                <a:solidFill>
                  <a:srgbClr val="18352D"/>
                </a:solidFill>
                <a:latin typeface="Arial" panose="020B0604020202020204"/>
                <a:ea typeface="Arial" panose="020B0604020202020204"/>
                <a:cs typeface="Arial" panose="020B0604020202020204"/>
              </a:defRPr>
            </a:pPr>
            <a:r>
              <a:rPr sz="1725" b="0">
                <a:solidFill>
                  <a:srgbClr val="18352D"/>
                </a:solidFill>
                <a:latin typeface="Arial" panose="020B0604020202020204"/>
                <a:ea typeface="Arial" panose="020B0604020202020204"/>
                <a:cs typeface="Arial" panose="020B0604020202020204"/>
              </a:rPr>
              <a:t>all allowed tokens.</a:t>
            </a:r>
            <a:endParaRPr sz="1725" b="0">
              <a:solidFill>
                <a:srgbClr val="18352D"/>
              </a:solidFill>
              <a:latin typeface="Arial" panose="020B0604020202020204"/>
              <a:ea typeface="Arial" panose="020B0604020202020204"/>
              <a:cs typeface="Arial" panose="020B0604020202020204"/>
            </a:endParaRPr>
          </a:p>
        </p:txBody>
      </p:sp>
      <p:pic>
        <p:nvPicPr>
          <p:cNvPr id="16" name="图片 15"/>
          <p:cNvPicPr>
            <a:picLocks noChangeAspect="1"/>
          </p:cNvPicPr>
          <p:nvPr/>
        </p:nvPicPr>
        <p:blipFill>
          <a:blip r:embed="rId4"/>
          <a:stretch>
            <a:fillRect/>
          </a:stretch>
        </p:blipFill>
        <p:spPr>
          <a:xfrm>
            <a:off x="9201150" y="5855614"/>
            <a:ext cx="2533650" cy="299797"/>
          </a:xfrm>
          <a:prstGeom prst="rect">
            <a:avLst/>
          </a:prstGeom>
        </p:spPr>
      </p:pic>
      <p:sp>
        <p:nvSpPr>
          <p:cNvPr id="17" name="矩形 16"/>
          <p:cNvSpPr>
            <a:spLocks noGrp="1"/>
          </p:cNvSpPr>
          <p:nvPr/>
        </p:nvSpPr>
        <p:spPr>
          <a:xfrm>
            <a:off x="457200" y="6505575"/>
            <a:ext cx="11277600" cy="209550"/>
          </a:xfrm>
          <a:prstGeom prst="rect">
            <a:avLst/>
          </a:prstGeom>
          <a:noFill/>
          <a:ln w="0">
            <a:noFill/>
          </a:ln>
        </p:spPr>
        <p:txBody>
          <a:bodyPr/>
          <a:lstStyle>
            <a:defPPr>
              <a:defRPr sz="1125" b="0">
                <a:solidFill>
                  <a:srgbClr val="53655E"/>
                </a:solidFill>
                <a:latin typeface="Arial" panose="020B0604020202020204"/>
                <a:ea typeface="Arial" panose="020B0604020202020204"/>
                <a:cs typeface="Arial" panose="020B0604020202020204"/>
              </a:defRPr>
            </a:defPPr>
          </a:lstStyle>
          <a:p>
            <a:pPr>
              <a:defRPr sz="1125" b="0">
                <a:solidFill>
                  <a:srgbClr val="53655E"/>
                </a:solidFill>
                <a:latin typeface="Arial" panose="020B0604020202020204"/>
                <a:ea typeface="Arial" panose="020B0604020202020204"/>
                <a:cs typeface="Arial" panose="020B0604020202020204"/>
              </a:defRPr>
            </a:pPr>
            <a:r>
              <a:rPr sz="1125" b="0">
                <a:solidFill>
                  <a:srgbClr val="53655E"/>
                </a:solidFill>
                <a:latin typeface="Arial" panose="020B0604020202020204"/>
                <a:ea typeface="Arial" panose="020B0604020202020204"/>
                <a:cs typeface="Arial" panose="020B0604020202020204"/>
              </a:rPr>
              <a:t>UT Appendix C and SUT Equation 3 / Algorithm 1, rewritten in aligned notation. Capital S stacks token states.</a:t>
            </a:r>
            <a:endParaRPr sz="1125" b="0">
              <a:solidFill>
                <a:srgbClr val="53655E"/>
              </a:solidFill>
              <a:latin typeface="Arial" panose="020B0604020202020204"/>
              <a:ea typeface="Arial" panose="020B0604020202020204"/>
              <a:cs typeface="Arial" panose="020B0604020202020204"/>
            </a:endParaRPr>
          </a:p>
        </p:txBody>
      </p:sp>
      <p:pic>
        <p:nvPicPr>
          <p:cNvPr id="19" name="图片 18"/>
          <p:cNvPicPr>
            <a:picLocks noChangeAspect="1"/>
          </p:cNvPicPr>
          <p:nvPr/>
        </p:nvPicPr>
        <p:blipFill>
          <a:blip r:embed="rId5"/>
          <a:stretch>
            <a:fillRect/>
          </a:stretch>
        </p:blipFill>
        <p:spPr>
          <a:xfrm>
            <a:off x="622935" y="2309495"/>
            <a:ext cx="4658360" cy="781050"/>
          </a:xfrm>
          <a:prstGeom prst="rect">
            <a:avLst/>
          </a:prstGeom>
        </p:spPr>
      </p:pic>
      <p:sp>
        <p:nvSpPr>
          <p:cNvPr id="20" name="矩形 19"/>
          <p:cNvSpPr>
            <a:spLocks noGrp="1"/>
          </p:cNvSpPr>
          <p:nvPr/>
        </p:nvSpPr>
        <p:spPr>
          <a:xfrm>
            <a:off x="262890" y="4555490"/>
            <a:ext cx="1821815" cy="275590"/>
          </a:xfrm>
          <a:prstGeom prst="rect">
            <a:avLst/>
          </a:prstGeom>
          <a:noFill/>
          <a:ln w="0">
            <a:noFill/>
          </a:ln>
        </p:spPr>
        <p:txBody>
          <a:bodyPr/>
          <a:lstStyle>
            <a:defPPr>
              <a:defRPr sz="1875" b="1">
                <a:solidFill>
                  <a:srgbClr val="18352D"/>
                </a:solidFill>
                <a:latin typeface="Arial" panose="020B0604020202020204"/>
                <a:ea typeface="Arial" panose="020B0604020202020204"/>
                <a:cs typeface="Arial" panose="020B0604020202020204"/>
              </a:defRPr>
            </a:defPPr>
          </a:lstStyle>
          <a:p>
            <a:pPr>
              <a:defRPr sz="1875" b="1">
                <a:solidFill>
                  <a:srgbClr val="18352D"/>
                </a:solidFill>
                <a:latin typeface="Arial" panose="020B0604020202020204"/>
                <a:ea typeface="Arial" panose="020B0604020202020204"/>
                <a:cs typeface="Arial" panose="020B0604020202020204"/>
              </a:defRPr>
            </a:pPr>
            <a:r>
              <a:rPr sz="1875" b="1">
                <a:solidFill>
                  <a:srgbClr val="18352D"/>
                </a:solidFill>
                <a:latin typeface="Arial" panose="020B0604020202020204"/>
                <a:ea typeface="Arial" panose="020B0604020202020204"/>
                <a:cs typeface="Arial" panose="020B0604020202020204"/>
              </a:rPr>
              <a:t>UT </a:t>
            </a:r>
            <a:endParaRPr sz="1875" b="1">
              <a:solidFill>
                <a:srgbClr val="18352D"/>
              </a:solidFill>
              <a:latin typeface="Arial" panose="020B0604020202020204"/>
              <a:ea typeface="Arial" panose="020B0604020202020204"/>
              <a:cs typeface="Arial" panose="020B0604020202020204"/>
            </a:endParaRPr>
          </a:p>
        </p:txBody>
      </p:sp>
      <p:sp>
        <p:nvSpPr>
          <p:cNvPr id="21" name="矩形 20"/>
          <p:cNvSpPr>
            <a:spLocks noGrp="1"/>
          </p:cNvSpPr>
          <p:nvPr/>
        </p:nvSpPr>
        <p:spPr>
          <a:xfrm>
            <a:off x="5303520" y="4555490"/>
            <a:ext cx="1821815" cy="275590"/>
          </a:xfrm>
          <a:prstGeom prst="rect">
            <a:avLst/>
          </a:prstGeom>
          <a:noFill/>
          <a:ln w="0">
            <a:noFill/>
          </a:ln>
        </p:spPr>
        <p:txBody>
          <a:bodyPr/>
          <a:lstStyle>
            <a:defPPr>
              <a:defRPr sz="1875" b="1">
                <a:solidFill>
                  <a:srgbClr val="18352D"/>
                </a:solidFill>
                <a:latin typeface="Arial" panose="020B0604020202020204"/>
                <a:ea typeface="Arial" panose="020B0604020202020204"/>
                <a:cs typeface="Arial" panose="020B0604020202020204"/>
              </a:defRPr>
            </a:defPPr>
          </a:lstStyle>
          <a:p>
            <a:pPr>
              <a:defRPr sz="1875" b="1">
                <a:solidFill>
                  <a:srgbClr val="18352D"/>
                </a:solidFill>
                <a:latin typeface="Arial" panose="020B0604020202020204"/>
                <a:ea typeface="Arial" panose="020B0604020202020204"/>
                <a:cs typeface="Arial" panose="020B0604020202020204"/>
              </a:defRPr>
            </a:pPr>
            <a:r>
              <a:rPr sz="1875" b="1">
                <a:solidFill>
                  <a:srgbClr val="18352D"/>
                </a:solidFill>
                <a:latin typeface="Arial" panose="020B0604020202020204"/>
                <a:ea typeface="Arial" panose="020B0604020202020204"/>
                <a:cs typeface="Arial" panose="020B0604020202020204"/>
              </a:rPr>
              <a:t>SUT</a:t>
            </a:r>
            <a:endParaRPr sz="1875" b="1">
              <a:solidFill>
                <a:srgbClr val="18352D"/>
              </a:solidFill>
              <a:latin typeface="Arial" panose="020B0604020202020204"/>
              <a:ea typeface="Arial" panose="020B0604020202020204"/>
              <a:cs typeface="Arial" panose="020B0604020202020204"/>
            </a:endParaRPr>
          </a:p>
        </p:txBody>
      </p:sp>
      <p:pic>
        <p:nvPicPr>
          <p:cNvPr id="22" name="图片 21"/>
          <p:cNvPicPr>
            <a:picLocks noChangeAspect="1"/>
          </p:cNvPicPr>
          <p:nvPr/>
        </p:nvPicPr>
        <p:blipFill>
          <a:blip r:embed="rId6"/>
          <a:stretch>
            <a:fillRect/>
          </a:stretch>
        </p:blipFill>
        <p:spPr>
          <a:xfrm>
            <a:off x="911225" y="3256915"/>
            <a:ext cx="2120265" cy="3362960"/>
          </a:xfrm>
          <a:prstGeom prst="rect">
            <a:avLst/>
          </a:prstGeom>
        </p:spPr>
      </p:pic>
      <p:pic>
        <p:nvPicPr>
          <p:cNvPr id="23" name="图片 22"/>
          <p:cNvPicPr>
            <a:picLocks noChangeAspect="1"/>
          </p:cNvPicPr>
          <p:nvPr/>
        </p:nvPicPr>
        <p:blipFill>
          <a:blip r:embed="rId7"/>
          <a:stretch>
            <a:fillRect/>
          </a:stretch>
        </p:blipFill>
        <p:spPr>
          <a:xfrm>
            <a:off x="3287395" y="3359150"/>
            <a:ext cx="2121535" cy="2878455"/>
          </a:xfrm>
          <a:prstGeom prst="rect">
            <a:avLst/>
          </a:prstGeom>
        </p:spPr>
      </p:pic>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962</Words>
  <Application>WPS 演示</Application>
  <PresentationFormat>Converted Presentation</PresentationFormat>
  <Paragraphs>41</Paragraphs>
  <Slides>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vt:i4>
      </vt:variant>
    </vt:vector>
  </HeadingPairs>
  <TitlesOfParts>
    <vt:vector size="11" baseType="lpstr">
      <vt:lpstr>Arial</vt:lpstr>
      <vt:lpstr>宋体</vt:lpstr>
      <vt:lpstr>Wingdings</vt:lpstr>
      <vt:lpstr>Arial</vt:lpstr>
      <vt:lpstr>微软雅黑</vt:lpstr>
      <vt:lpstr>Arial Unicode MS</vt:lpstr>
      <vt:lpstr>Aptos</vt:lpstr>
      <vt:lpstr>Segoe UI</vt:lpstr>
      <vt:lpstr>ChatGPT</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Shawnಠ_ರೃ</cp:lastModifiedBy>
  <cp:revision>1</cp:revision>
  <dcterms:created xsi:type="dcterms:W3CDTF">2026-10-16T03:23:13Z</dcterms:created>
  <dcterms:modified xsi:type="dcterms:W3CDTF">2026-10-16T03:23:13Z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0945E35B67424BD1BD8296FC1C5C386C_12</vt:lpwstr>
  </property>
</Properties>
</file>