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1bf2b1bdfe490e" /><Relationship Type="http://schemas.openxmlformats.org/officeDocument/2006/relationships/extended-properties" Target="/docProps/app.xml" Id="R86c1aa900c534aab" /><Relationship Type="http://schemas.openxmlformats.org/officeDocument/2006/relationships/officeDocument" Target="/ppt/presentation.xml" Id="Rd53c0f51453246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bc73cee5484cdb"/>
  </p:sldMasterIdLst>
  <p:notesMasterIdLst>
    <p:notesMasterId xmlns:r="http://schemas.openxmlformats.org/officeDocument/2006/relationships" r:id="R74293ac1aafa4db0"/>
  </p:notesMasterIdLst>
  <p:sldIdLst>
    <p:sldId xmlns:r="http://schemas.openxmlformats.org/officeDocument/2006/relationships" id="256" r:id="Ra5e893ddf1e340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a1fecbd6f14624" /><Relationship Type="http://schemas.openxmlformats.org/officeDocument/2006/relationships/slideMaster" Target="/ppt/slideMasters/slideMaster1.xml" Id="R23bc73cee5484cdb" /><Relationship Type="http://schemas.openxmlformats.org/officeDocument/2006/relationships/notesMaster" Target="/ppt/notesMasters/notesMaster1.xml" Id="R74293ac1aafa4db0" /><Relationship Type="http://schemas.openxmlformats.org/officeDocument/2006/relationships/presProps" Target="/ppt/presProps.xml" Id="R34206887342941b9" /><Relationship Type="http://schemas.openxmlformats.org/officeDocument/2006/relationships/tableStyles" Target="/ppt/tableStyles.xml" Id="Rd258a5b96c054f08" /><Relationship Type="http://schemas.openxmlformats.org/officeDocument/2006/relationships/slide" Target="/ppt/slides/slide1.xml" Id="Ra5e893ddf1e340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b0078b2bd54c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b9c8ac98c49ac" /><Relationship Type="http://schemas.openxmlformats.org/officeDocument/2006/relationships/notesMaster" Target="/ppt/notesMasters/notesMaster1.xml" Id="R31948ecc7de94f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Insert immediately after slide 6 of the revised deck. This revision adds an explicit distinction between fixed distance labels and trainable relative-position vectors. In the displayed row-oriented table, R has five rows and three columns. Each row is the transpose of a column vector r_d in R^3. W controls the number of available distance vectors, D their dimension. All numeric vector entries are invented for illustration, not learned values extracted from the paper. During training the model loss backpropagates through the relative-position score to update the selected embedding vectors. The integer delta labels are not trained. With q_2=[1,2,3]^T and r_2=[.2,-.5,.1]^T, their dot product is -.5, a scalar. The symbol is delta, not theta. Standalone supplementary slide; the existing deck is unchanged. This revision replaces the distance table with a complete five-by-five matrix. Delta_ij is a scalar matrix entry, not theta, a learned vector, or an attention score. Delta is computed from token positions and the clipping range. Capital Delta denotes the full matrix. Rows enumerate query positions i; columns enumerate key positions j. The boxed entry at row 2, column 5 has raw offset 3, clipped to 2. It selects learned vector r_2, which interacts with query q_2 to produce the relative logit contribution. The vector is learned; the offset matrix is determined by positions. The same r_2 can give different scores for different queries.</a:t>
            </a:r>
          </a:p>
          <a:p xmlns:a="http://schemas.openxmlformats.org/drawingml/2006/main">
            <a:r>
              <a:t>W describes the relative-position embedding range in SUT's five-tuple (E,K,H,D,W). It is not the length of the token sequence or the top-K expert selection parameter. At each query position i, every allowed key position j has a pairwise offset. The relative-position vector selected by that offset contributes a query-dependent dot product to the attention logit, before softmax over keys. The sequence remains intact. Decoder causality and padding masks still apply.</a:t>
            </a:r>
          </a:p>
          <a:p xmlns:a="http://schemas.openxmlformats.org/drawingml/2006/main">
            <a:r>
              <a:t>The equations are a pedagogical one-head notation, not verbatim numbered equations in SUT. The paper states 2W+1 relative embeddings. The example uses the standard inclusive clipping convention [-W,W] to make the concept visible. In the public WMT code inspected on 2026-10-16, max_positions is 64, the lookup has 129 entries, and rel_pos_logits clips to [-63,63] before adding offset 64. Hence its extreme table slots are unused. Do not claim the illustrative W=2 example is that literal released-code configuration or infer all paper task configurations from the WMT implementation.</a:t>
            </a:r>
          </a:p>
          <a:p xmlns:a="http://schemas.openxmlformats.org/drawingml/2006/main">
            <a:r>
              <a:t>The code scales q by head_dim**-0.5 before both the content dot product and the relative-position dot product, consistent with the schematic score formula. rel_pos_logits computes j-i and gathers relative logits; forward adds them to attn_weights before softmax. For a new query position, the offset labels shift, so these are pairwise relations rather than one absolute vector added during sequence preprocessing.</a:t>
            </a:r>
          </a:p>
          <a:p xmlns:a="http://schemas.openxmlformats.org/drawingml/2006/main">
            <a:r>
              <a:t>Positive offsets select a different learned vector; they do not supply a positive scalar bias by themselves. This prevents the misconception that later tokens always receive more probability.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https://aclanthology.org/2023.emnlp-main.12.pdf (Section 3.1)</a:t>
            </a:r>
          </a:p>
          <a:p xmlns:a="http://schemas.openxmlformats.org/drawingml/2006/main">
            <a:r>
              <a:t>https://github.com/shawntan/SUT/blob/main/sut_layer/moa_attention.py (rel_pos_logits and forward)</a:t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offset: \delta_{ij}=\operatorname{clip}(j-i,-W,W)</a:t>
            </a:r>
          </a:p>
          <a:p xmlns:a="http://schemas.openxmlformats.org/drawingml/2006/main">
            <a:r>
              <a:t>matrix: \Delta=[\delta_{ij}]=\begin{bmatrix}0&amp;1&amp;2&amp;2&amp;2\\-1&amp;0&amp;1&amp;2&amp;\boxed{2}\\-2&amp;-1&amp;0&amp;1&amp;2\\-2&amp;-2&amp;-1&amp;0&amp;1\\-2&amp;-2&amp;-2&amp;-1&amp;0\end{bmatrix}</a:t>
            </a:r>
          </a:p>
          <a:p xmlns:a="http://schemas.openxmlformats.org/drawingml/2006/main">
            <a:r>
              <a:t>shape: W=2,\quad D=3,\quad R\in\mathbb{R}^{(2W+1)\times D}=\mathbb{R}^{5\times3}</a:t>
            </a:r>
          </a:p>
          <a:p xmlns:a="http://schemas.openxmlformats.org/drawingml/2006/main">
            <a:r>
              <a:t>learned: \begin{array}{c|rrr}r_{-2}^{\mathsf T}&amp;0.1&amp;0.3&amp;-0.2\\r_{-1}^{\mathsf T}&amp;0.4&amp;-0.1&amp;0.2\\r_0^{\mathsf T}&amp;0.2&amp;0.0&amp;0.1\\r_1^{\mathsf T}&amp;-0.3&amp;0.2&amp;0.4\\r_2^{\mathsf T}&amp;\boxed{0.2}&amp;\boxed{-0.5}&amp;\boxed{0.1}\end{array}</a:t>
            </a:r>
          </a:p>
          <a:p xmlns:a="http://schemas.openxmlformats.org/drawingml/2006/main">
            <a:r>
              <a:t>lookup: \delta_{2,5}=2\quad\Longrightarrow\quad r_{\delta_{2,5}}=r_2=\begin{bmatrix}0.2&amp;-0.5&amp;0.1\end{bmatrix}^{\mathsf T}\in\mathbb{R}^{3}</a:t>
            </a:r>
          </a:p>
          <a:p xmlns:a="http://schemas.openxmlformats.org/drawingml/2006/main">
            <a:r>
              <a:t>scalar: q_2=\begin{bmatrix}1&amp;2&amp;3\end{bmatrix}^{\mathsf T}\quad\Longrightarrow\quad q_2^{\mathsf T}r_2=1(0.2)+2(-0.5)+3(0.1)=-0.5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ab075a2d341f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668d0090146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bd37e7e9a4b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39809224445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fc49e74d34f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9d5286166b40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620736-CCD3-46CE-AEED-4C144C4555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AA42799-586B-4883-9598-26371A4ED22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15BC09-1510-4A05-BEFA-E923CB504B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F92EB5-61AB-46F2-A3AD-C64FC9BBE1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9E10745-A383-49C4-8E64-0F2B5DC274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591422-80EC-4235-882D-321DF06FAD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6F1677-A20B-4BD1-AAE8-6E8DA7B1E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089E85B-6066-47BD-80FC-443D9FC84F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8577DF-318D-4412-AAD8-3C58C68B93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F64039-55E5-4FD6-AB95-C255213F29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00ae7568d249c5" /><Relationship Type="http://schemas.openxmlformats.org/officeDocument/2006/relationships/slideLayout" Target="/ppt/slideLayouts/slideLayout1.xml" Id="Rb1b31f6db4bb4ffc" /><Relationship Type="http://schemas.openxmlformats.org/officeDocument/2006/relationships/slideLayout" Target="/ppt/slideLayouts/slideLayout2.xml" Id="Rf29745ae26044b4b" /><Relationship Type="http://schemas.openxmlformats.org/officeDocument/2006/relationships/slideLayout" Target="/ppt/slideLayouts/slideLayout3.xml" Id="Rcfa21070a0714aaa" /><Relationship Type="http://schemas.openxmlformats.org/officeDocument/2006/relationships/slideLayout" Target="/ppt/slideLayouts/slideLayout4.xml" Id="R7cdc19ba65db4472" /><Relationship Type="http://schemas.openxmlformats.org/officeDocument/2006/relationships/slideLayout" Target="/ppt/slideLayouts/slideLayout5.xml" Id="R68eff714db47424c" /><Relationship Type="http://schemas.openxmlformats.org/officeDocument/2006/relationships/slideLayout" Target="/ppt/slideLayouts/slideLayout6.xml" Id="R45db8161754e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b31f6db4bb4ffc"/>
    <p:sldLayoutId xmlns:r="http://schemas.openxmlformats.org/officeDocument/2006/relationships" id="2147483650" r:id="Rf29745ae26044b4b"/>
    <p:sldLayoutId xmlns:r="http://schemas.openxmlformats.org/officeDocument/2006/relationships" id="2147483651" r:id="Rcfa21070a0714aaa"/>
    <p:sldLayoutId xmlns:r="http://schemas.openxmlformats.org/officeDocument/2006/relationships" id="2147483652" r:id="R7cdc19ba65db4472"/>
    <p:sldLayoutId xmlns:r="http://schemas.openxmlformats.org/officeDocument/2006/relationships" id="2147483653" r:id="R68eff714db47424c"/>
    <p:sldLayoutId xmlns:r="http://schemas.openxmlformats.org/officeDocument/2006/relationships" id="2147483654" r:id="R45db8161754e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28ef9e1d54cd5" /><Relationship Type="http://schemas.openxmlformats.org/officeDocument/2006/relationships/image" Target="/ppt/media/image.png" Id="Rf747d467acf742d4" /><Relationship Type="http://schemas.openxmlformats.org/officeDocument/2006/relationships/image" Target="/ppt/media/image2.png" Id="R3f6a52d18e054b31" /><Relationship Type="http://schemas.openxmlformats.org/officeDocument/2006/relationships/image" Target="/ppt/media/image3.png" Id="Re48411100ff44bf3" /><Relationship Type="http://schemas.openxmlformats.org/officeDocument/2006/relationships/image" Target="/ppt/media/image4.png" Id="R80d9f25e5adc4ed9" /><Relationship Type="http://schemas.openxmlformats.org/officeDocument/2006/relationships/image" Target="/ppt/media/image5.png" Id="Rc06841b0593946f1" /><Relationship Type="http://schemas.openxmlformats.org/officeDocument/2006/relationships/image" Target="/ppt/media/image6.png" Id="R02420e0beb194a55" /><Relationship Type="http://schemas.openxmlformats.org/officeDocument/2006/relationships/notesSlide" Target="/ppt/notesSlides/notesSlide1.xml" Id="R346a71fbe57841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5779AC-50BC-402F-A6B5-C8CA510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466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6648"/>
                </a:solidFill>
                <a:latin typeface="Arial"/>
                <a:ea typeface="Arial"/>
                <a:cs typeface="Arial"/>
              </a:rPr>
              <a:t>METHOD / RELATIVE POSITION IN MoMHA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DDC24-CD99-4120-97B2-DC3E52FD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"/>
            <a:ext cx="11277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Relative-position labels and learned vectors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96760-9DE1-49BD-A5F8-6A116B7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Fixed distance labels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E699C-C5E7-42C4-A922-D4E516929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Computed from token positions; not learned.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A6A89-428A-4479-901C-4D8BC34FC2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47d467acf742d4"/>
          <a:stretch xmlns:a="http://schemas.openxmlformats.org/drawingml/2006/main"/>
        </p:blipFill>
        <p:spPr>
          <a:xfrm xmlns:a="http://schemas.openxmlformats.org/drawingml/2006/main">
            <a:off x="878076" y="2305050"/>
            <a:ext cx="4587498" cy="4572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B403-0A4A-496F-BB88-4210073EAB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a52d18e054b31"/>
          <a:stretch xmlns:a="http://schemas.openxmlformats.org/drawingml/2006/main"/>
        </p:blipFill>
        <p:spPr>
          <a:xfrm xmlns:a="http://schemas.openxmlformats.org/drawingml/2006/main">
            <a:off x="581557" y="2952750"/>
            <a:ext cx="5180536" cy="2124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74B78-106D-4FB2-8D94-11597312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Rows: query i     Columns: key 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E2B1D-D376-49A5-BB28-81647A75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516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352D"/>
                </a:solidFill>
                <a:latin typeface="Arial"/>
                <a:ea typeface="Arial"/>
                <a:cs typeface="Arial"/>
              </a:rPr>
              <a:t>Learned embedding table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B5267-DE4B-48BC-A5E3-543DA2C2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516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Training updates these vector components.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D7262E-9612-472E-9F36-383D4F465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8411100ff44bf3"/>
          <a:stretch xmlns:a="http://schemas.openxmlformats.org/drawingml/2006/main"/>
        </p:blipFill>
        <p:spPr>
          <a:xfrm xmlns:a="http://schemas.openxmlformats.org/drawingml/2006/main">
            <a:off x="6572250" y="2345460"/>
            <a:ext cx="5162550" cy="31923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9457B-6363-4701-8F52-46172C3D7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9f25e5adc4ed9"/>
          <a:stretch xmlns:a="http://schemas.openxmlformats.org/drawingml/2006/main"/>
        </p:blipFill>
        <p:spPr>
          <a:xfrm xmlns:a="http://schemas.openxmlformats.org/drawingml/2006/main">
            <a:off x="7537992" y="2876550"/>
            <a:ext cx="3231067" cy="21812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6FFBAB-5BD4-4DD2-B328-C8D269A8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5302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835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352D"/>
                </a:solidFill>
                <a:latin typeface="Arial"/>
                <a:ea typeface="Arial"/>
                <a:cs typeface="Arial"/>
              </a:rPr>
              <a:t>Illustrative values; each vector has D components.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60DE8-1FC0-4C81-B3F3-8872C1EE44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841b0593946f1"/>
          <a:stretch xmlns:a="http://schemas.openxmlformats.org/drawingml/2006/main"/>
        </p:blipFill>
        <p:spPr>
          <a:xfrm xmlns:a="http://schemas.openxmlformats.org/drawingml/2006/main">
            <a:off x="3083941" y="5591175"/>
            <a:ext cx="6024118" cy="352425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59AAC-6E48-4416-BB90-E283E46A4A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20e0beb194a55"/>
          <a:stretch xmlns:a="http://schemas.openxmlformats.org/drawingml/2006/main"/>
        </p:blipFill>
        <p:spPr>
          <a:xfrm xmlns:a="http://schemas.openxmlformats.org/drawingml/2006/main">
            <a:off x="2298976" y="6076950"/>
            <a:ext cx="7594048" cy="3238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65F8B-7CCE-488F-9BC7-E416A9FD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532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3655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5E"/>
                </a:solidFill>
                <a:latin typeface="Arial"/>
                <a:ea typeface="Arial"/>
                <a:cs typeface="Arial"/>
              </a:rPr>
              <a:t>δ = delta (a scalar label). R stores learned vectors as rows here. SUT §3.1 and author code; illustrative clipping.</a:t>
            </a:r>
          </a:p>
        </p:txBody>
      </p:sp>
    </p:spTree>
    <p:extLst>
      <p:ext uri="{BB962C8B-B14F-4D97-AF65-F5344CB8AC3E}">
        <p14:creationId xmlns:p14="http://schemas.microsoft.com/office/powerpoint/2010/main" val="978099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2026-10-16T01:43:35.9980000Z</dcterms:created>
  <dcterms:modified xsi:type="dcterms:W3CDTF">2026-10-16T01:43:35.9980000Z</dcterms:modified>
</coreProperties>
</file>